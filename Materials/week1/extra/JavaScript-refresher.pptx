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387" r:id="rId3"/>
    <p:sldId id="296" r:id="rId4"/>
    <p:sldId id="297" r:id="rId5"/>
    <p:sldId id="298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10" r:id="rId15"/>
    <p:sldId id="319" r:id="rId16"/>
    <p:sldId id="322" r:id="rId17"/>
    <p:sldId id="323" r:id="rId18"/>
    <p:sldId id="408" r:id="rId19"/>
    <p:sldId id="378" r:id="rId20"/>
    <p:sldId id="400" r:id="rId21"/>
    <p:sldId id="318" r:id="rId22"/>
    <p:sldId id="265" r:id="rId23"/>
    <p:sldId id="271" r:id="rId24"/>
    <p:sldId id="274" r:id="rId25"/>
    <p:sldId id="273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B50"/>
    <a:srgbClr val="FF574B"/>
    <a:srgbClr val="D34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28"/>
    <p:restoredTop sz="86395"/>
  </p:normalViewPr>
  <p:slideViewPr>
    <p:cSldViewPr snapToGrid="0" snapToObjects="1">
      <p:cViewPr varScale="1">
        <p:scale>
          <a:sx n="120" d="100"/>
          <a:sy n="120" d="100"/>
        </p:scale>
        <p:origin x="216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4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24575,'0'-6'0,"0"2"0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1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24575,'5'5'0,"-1"-1"0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0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24575,'0'-5'0,"0"1"0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6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6-28T01:47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24575,'5'0'0,"-1"0"0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9303C-990E-0D45-B731-A2CA79BABE19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D0EF1A-3C61-A042-846C-CB454307A8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9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F539-EFFE-4545-8560-8B85D420C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E099-A4CF-C148-8D5A-DC7DCE6E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4F13F-321A-6C44-A529-3C63949C7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77D4B-E972-3F48-8AB6-BC30D35A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37F83-FC1F-964D-9D14-71EC1C06A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8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88E1E-8C7B-BF49-ADDF-0DBF11C19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981E-8F9B-D64C-9D10-A1DF59034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20193-341C-E347-A42A-A1A21E43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18F1D-D2AE-3E45-9684-41082CDD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77C00-9FE2-D644-877F-E440C7FD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47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B7A-866B-8144-B7A1-B3D2CE8B4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9333F-7620-324C-821F-9AD4629D8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1DDB4-466A-D142-8FFA-437B8B3B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42E0-284F-5746-B82C-C36E036E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C5C72-09E6-E047-BEF5-956CDC65F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B2E35-2AE7-6F47-B4DA-83DE0DF4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AD58-35EE-E345-9223-93C0D708C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EF8E7-11C7-6E44-9C23-E6F8B255FA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8C67-D211-A347-94D3-2566B042C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FAA6E-E7CE-1B4F-A78D-8055C20F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079D9-12B3-A149-9192-6D6EE5E58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0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17B05-85DB-5A4D-931F-231EBBA11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10373-280F-CA46-BE02-633860BE9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A25CD-D56D-9749-8FA7-012A6FFB1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940AEA-A232-8E45-B81D-24868FB2C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B3D5C-B45E-294F-899C-37B8ABB44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3D68E-FDF7-C045-8CAA-189B56B2E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13D46-B78B-B34E-A26D-1E905B74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8BDADF-5108-CD45-9618-15BBE060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9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9E0C-142B-1A4D-89C5-B127E318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2823E-3DFF-BC40-A52F-4043983F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D8986-40E4-9C4C-9000-D7F27294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2C31-69A8-2541-8800-BF60933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5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6F4BA-B7C3-0B40-A517-3063895B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7E2D8-25FE-5D4E-AA84-54C5D96B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8086-56AB-5846-9B21-24E9FACF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5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28B-CB7D-4949-BDCD-CEA57AD65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2BEB-180F-2C4F-AD00-7398A27FF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9D24-1922-914E-8AE1-EDB93293A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C72B2-DD18-5848-8941-A617E3E7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8227D4-8A18-8847-B7F4-B294D0E2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1A7C-E471-BB41-A5AE-D7F2A5EF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60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BA7A-65F6-804A-9941-BCE8970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38F054-1226-C841-8344-D63DBC021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1DC94-414C-3F41-B393-D969AAC6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E8132-7D31-F647-A931-5987A506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F137E-B2CD-DD4D-BF38-E08630C9F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F7E92-EA36-7B48-A10F-1F43EE78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4E04-9F9F-AB48-88B1-E1883CD3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57EA1-F037-8B4E-9A3A-2DE41A3DE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B8C3C-2D4F-BE41-8BC7-084B83BEF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2D0DE-14FE-1D40-BE53-A452852B6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1D8C1-DBB4-6047-9F3A-27574BE7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89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564D8-A2EB-6040-A321-450F2B3B5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9CC6-DE46-8941-A1E0-A04320741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B8749-56EB-B24A-9291-4EBB8B55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BE29-13B7-C144-9FE6-C43F1BC6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BD64-DA0B-7445-BB80-5A502968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1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7259" y="544678"/>
            <a:ext cx="1035304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87525" y="3924300"/>
            <a:ext cx="961694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669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03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0518A-80A7-B946-A2C0-357FF80B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66F8D-B95D-3748-A8C1-B613B61AC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1E4AA-0008-E746-A8C3-917D9ECC1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38E33-E634-164E-9160-E9D257145221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44B1-065E-4C4F-8DD6-AB2140588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1CFFB-C884-9249-B66F-52213D904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301A9-E266-4A4D-81C0-23C5428F3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46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www.w3schools.com/js/js_datatypes.asp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amel_case" TargetMode="External"/><Relationship Id="rId2" Type="http://schemas.openxmlformats.org/officeDocument/2006/relationships/hyperlink" Target="http://www.w3schools.com/js/js_reserved.asp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variables.asp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understanding-let-const-and-var-keywords/" TargetMode="External"/><Relationship Id="rId2" Type="http://schemas.openxmlformats.org/officeDocument/2006/relationships/hyperlink" Target="https://www.w3schools.com/js/js_es6.asp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5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8B91-A0EF-6441-AC27-9667FD447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44324"/>
            <a:ext cx="12192000" cy="2472633"/>
          </a:xfrm>
          <a:ln>
            <a:noFill/>
          </a:ln>
          <a:effectLst>
            <a:outerShdw blurRad="165100" dist="1016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COMP 1842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15634-394B-C140-BAEF-ABAB8B492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40041"/>
            <a:ext cx="12192000" cy="862267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Week1 </a:t>
            </a:r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- JS refresher</a:t>
            </a:r>
          </a:p>
          <a:p>
            <a:r>
              <a:rPr lang="en-US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</a:rPr>
              <a:t>Matt Prichard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14:cNvPr>
              <p14:cNvContentPartPr/>
              <p14:nvPr/>
            </p14:nvContentPartPr>
            <p14:xfrm>
              <a:off x="8651014" y="2840692"/>
              <a:ext cx="360" cy="3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7C0677-BBE1-414B-814E-FB526796BA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2374" y="283169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14:cNvPr>
              <p14:cNvContentPartPr/>
              <p14:nvPr/>
            </p14:nvContentPartPr>
            <p14:xfrm>
              <a:off x="7568494" y="1355692"/>
              <a:ext cx="3600" cy="3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850E275-2940-D64F-8F9D-8FEA90F263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9854" y="1347052"/>
                <a:ext cx="2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14:cNvPr>
              <p14:cNvContentPartPr/>
              <p14:nvPr/>
            </p14:nvContentPartPr>
            <p14:xfrm>
              <a:off x="5078734" y="3049852"/>
              <a:ext cx="36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C9CF2D3-71F9-664F-83A1-4ACBF70396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70094" y="3041212"/>
                <a:ext cx="18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14:cNvPr>
              <p14:cNvContentPartPr/>
              <p14:nvPr/>
            </p14:nvContentPartPr>
            <p14:xfrm>
              <a:off x="5525854" y="1776532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FDACCB0-A54B-354A-A3EC-60B7525CDF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17214" y="17675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14:cNvPr>
              <p14:cNvContentPartPr/>
              <p14:nvPr/>
            </p14:nvContentPartPr>
            <p14:xfrm>
              <a:off x="768814" y="1290172"/>
              <a:ext cx="36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465448C-44AF-1340-8608-65DF607A06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9814" y="1281532"/>
                <a:ext cx="2124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06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What is JavaScript?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029"/>
            <a:ext cx="10515600" cy="5026846"/>
          </a:xfrm>
        </p:spPr>
        <p:txBody>
          <a:bodyPr>
            <a:normAutofit fontScale="92500" lnSpcReduction="10000"/>
          </a:bodyPr>
          <a:lstStyle/>
          <a:p>
            <a:pPr marL="355600" indent="-342900">
              <a:lnSpc>
                <a:spcPct val="150000"/>
              </a:lnSpc>
              <a:spcBef>
                <a:spcPts val="434"/>
              </a:spcBef>
              <a:tabLst>
                <a:tab pos="354965" algn="l"/>
                <a:tab pos="355600" algn="l"/>
              </a:tabLst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was designed to add interactivity and to provide client-side programming to HTML pages</a:t>
            </a:r>
          </a:p>
          <a:p>
            <a:pPr marL="355600" marR="1421130" indent="-342900">
              <a:lnSpc>
                <a:spcPct val="150000"/>
              </a:lnSpc>
              <a:spcBef>
                <a:spcPts val="505"/>
              </a:spcBef>
              <a:tabLst>
                <a:tab pos="354965" algn="l"/>
                <a:tab pos="355600" algn="l"/>
              </a:tabLst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JavaScript is a scripting language or a lightweight  programming language .</a:t>
            </a:r>
          </a:p>
          <a:p>
            <a:pPr marL="355600" marR="5080" indent="-342900">
              <a:lnSpc>
                <a:spcPct val="150000"/>
              </a:lnSpc>
              <a:spcBef>
                <a:spcPts val="575"/>
              </a:spcBef>
              <a:tabLst>
                <a:tab pos="354965" algn="l"/>
                <a:tab pos="355600" algn="l"/>
              </a:tabLst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Executable JavaScript may be included into an HTML page as  either...</a:t>
            </a:r>
          </a:p>
          <a:p>
            <a:pPr marL="801370" lvl="1" indent="-342900">
              <a:lnSpc>
                <a:spcPct val="150000"/>
              </a:lnSpc>
              <a:spcBef>
                <a:spcPts val="720"/>
              </a:spcBef>
              <a:tabLst>
                <a:tab pos="641350" algn="l"/>
              </a:tabLst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External - a separate file containing JavaScript</a:t>
            </a:r>
          </a:p>
          <a:p>
            <a:pPr marL="801370" lvl="1" indent="-342900">
              <a:lnSpc>
                <a:spcPct val="150000"/>
              </a:lnSpc>
              <a:spcBef>
                <a:spcPts val="505"/>
              </a:spcBef>
              <a:tabLst>
                <a:tab pos="641350" algn="l"/>
              </a:tabLst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Embedded - as the content of a &lt;script&gt; element</a:t>
            </a:r>
          </a:p>
          <a:p>
            <a:pPr marL="801370" lvl="1" indent="-342900">
              <a:lnSpc>
                <a:spcPct val="150000"/>
              </a:lnSpc>
              <a:spcBef>
                <a:spcPts val="625"/>
              </a:spcBef>
              <a:tabLst>
                <a:tab pos="641350" algn="l"/>
              </a:tabLst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Inline - as the value of an HTML event attribute</a:t>
            </a:r>
          </a:p>
          <a:p>
            <a:pPr marL="355600" indent="-342900">
              <a:lnSpc>
                <a:spcPct val="150000"/>
              </a:lnSpc>
              <a:spcBef>
                <a:spcPts val="815"/>
              </a:spcBef>
              <a:tabLst>
                <a:tab pos="354965" algn="l"/>
                <a:tab pos="355600" algn="l"/>
              </a:tabLst>
            </a:pP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Everyone can use JavaScript without purchasing a license</a:t>
            </a:r>
            <a:endParaRPr lang="en-GB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13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9456" y="2026921"/>
            <a:ext cx="1432559" cy="2621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07488" y="1929898"/>
            <a:ext cx="4779010" cy="278281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</a:pPr>
            <a:r>
              <a:rPr lang="en-GB" sz="2000" spc="-125" dirty="0">
                <a:solidFill>
                  <a:srgbClr val="7F7F7F"/>
                </a:solidFill>
              </a:rPr>
              <a:t>If you only remember one thing from today…</a:t>
            </a:r>
            <a:br>
              <a:rPr lang="en-GB" sz="8000" spc="-125" dirty="0">
                <a:solidFill>
                  <a:srgbClr val="7F7F7F"/>
                </a:solidFill>
              </a:rPr>
            </a:br>
            <a:r>
              <a:rPr sz="8000" spc="-125" dirty="0">
                <a:solidFill>
                  <a:srgbClr val="7F7F7F"/>
                </a:solidFill>
              </a:rPr>
              <a:t>JavaScript  </a:t>
            </a:r>
            <a:r>
              <a:rPr sz="8000" spc="-229" dirty="0">
                <a:solidFill>
                  <a:srgbClr val="7F7F7F"/>
                </a:solidFill>
              </a:rPr>
              <a:t>is </a:t>
            </a:r>
            <a:r>
              <a:rPr sz="8000" spc="-5" dirty="0">
                <a:solidFill>
                  <a:srgbClr val="7F7F7F"/>
                </a:solidFill>
              </a:rPr>
              <a:t>not</a:t>
            </a:r>
            <a:r>
              <a:rPr sz="8000" spc="155" dirty="0">
                <a:solidFill>
                  <a:srgbClr val="7F7F7F"/>
                </a:solidFill>
              </a:rPr>
              <a:t> </a:t>
            </a:r>
            <a:r>
              <a:rPr sz="8000" spc="-229" dirty="0">
                <a:solidFill>
                  <a:srgbClr val="7F7F7F"/>
                </a:solidFill>
              </a:rPr>
              <a:t>Java</a:t>
            </a:r>
            <a:endParaRPr sz="8000" dirty="0"/>
          </a:p>
        </p:txBody>
      </p:sp>
      <p:sp>
        <p:nvSpPr>
          <p:cNvPr id="4" name="object 4"/>
          <p:cNvSpPr/>
          <p:nvPr/>
        </p:nvSpPr>
        <p:spPr>
          <a:xfrm>
            <a:off x="6440013" y="1269372"/>
            <a:ext cx="4450594" cy="43192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0" y="1095755"/>
            <a:ext cx="9144000" cy="2621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1380" marR="5080" indent="-869315" algn="ctr">
              <a:lnSpc>
                <a:spcPct val="110200"/>
              </a:lnSpc>
              <a:spcBef>
                <a:spcPts val="105"/>
              </a:spcBef>
            </a:pPr>
            <a:r>
              <a:rPr lang="en-GB" sz="8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JavaScript</a:t>
            </a:r>
          </a:p>
          <a:p>
            <a:pPr marL="881380" marR="5080" indent="-869315" algn="ctr">
              <a:lnSpc>
                <a:spcPct val="110200"/>
              </a:lnSpc>
              <a:spcBef>
                <a:spcPts val="105"/>
              </a:spcBef>
            </a:pPr>
            <a:r>
              <a:rPr lang="en-GB" sz="80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Refresher</a:t>
            </a:r>
            <a:endParaRPr sz="8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24001" y="4474534"/>
            <a:ext cx="914399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4400" spc="-10" dirty="0">
                <a:solidFill>
                  <a:srgbClr val="7F7F7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demonstration</a:t>
            </a:r>
            <a:r>
              <a:rPr lang="en-GB" sz="4400" spc="-10" dirty="0">
                <a:solidFill>
                  <a:srgbClr val="7F7F7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endParaRPr sz="4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752600" y="4343401"/>
            <a:ext cx="8229600" cy="2217787"/>
          </a:xfrm>
          <a:prstGeom prst="rect">
            <a:avLst/>
          </a:prstGeom>
          <a:ln w="19050">
            <a:noFill/>
          </a:ln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390"/>
              </a:spcBef>
            </a:pP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To insert a JavaScript into an HTML page, use the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 </a:t>
            </a: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tag. The </a:t>
            </a:r>
            <a:r>
              <a:rPr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 </a:t>
            </a: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and </a:t>
            </a:r>
            <a:r>
              <a:rPr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&lt;/script&gt; </a:t>
            </a: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tells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where the JavaScript starts and ends. The lines between the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  </a:t>
            </a:r>
            <a:r>
              <a:rPr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&lt;script&gt;</a:t>
            </a:r>
            <a:r>
              <a:rPr lang="en-GB"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latin typeface="Helvetica Neue Light" panose="02000403000000020004" pitchFamily="2" charset="0"/>
                <a:ea typeface="Helvetica Neue Light" panose="02000403000000020004" pitchFamily="2" charset="0"/>
                <a:cs typeface="Helvetica Neue" panose="02000503000000020004" pitchFamily="2" charset="0"/>
              </a:rPr>
              <a:t>and </a:t>
            </a:r>
            <a:r>
              <a:rPr sz="2400" dirty="0">
                <a:latin typeface="Courier New" panose="02070309020205020404" pitchFamily="49" charset="0"/>
                <a:ea typeface="Helvetica Neue Light" panose="02000403000000020004" pitchFamily="2" charset="0"/>
                <a:cs typeface="Courier New" panose="02070309020205020404" pitchFamily="49" charset="0"/>
              </a:rPr>
              <a:t>&lt;/script&gt;</a:t>
            </a:r>
            <a:r>
              <a:rPr sz="2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 contain the JavaScript.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EF7428-1A6E-EB44-9504-742F358B2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2400"/>
            <a:ext cx="8623300" cy="402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9940" y="486157"/>
            <a:ext cx="46228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>
                <a:solidFill>
                  <a:srgbClr val="000000"/>
                </a:solidFill>
              </a:rPr>
              <a:t>Alert </a:t>
            </a:r>
            <a:r>
              <a:rPr spc="-5" dirty="0">
                <a:solidFill>
                  <a:srgbClr val="000000"/>
                </a:solidFill>
              </a:rPr>
              <a:t>box </a:t>
            </a:r>
            <a:r>
              <a:rPr spc="-130" dirty="0">
                <a:solidFill>
                  <a:srgbClr val="000000"/>
                </a:solidFill>
              </a:rPr>
              <a:t>in</a:t>
            </a:r>
            <a:r>
              <a:rPr spc="40" dirty="0">
                <a:solidFill>
                  <a:srgbClr val="000000"/>
                </a:solidFill>
              </a:rPr>
              <a:t> </a:t>
            </a:r>
            <a:r>
              <a:rPr spc="-180" dirty="0">
                <a:solidFill>
                  <a:srgbClr val="000000"/>
                </a:solidFill>
              </a:rPr>
              <a:t>FireFox</a:t>
            </a:r>
          </a:p>
        </p:txBody>
      </p:sp>
      <p:sp>
        <p:nvSpPr>
          <p:cNvPr id="3" name="object 3"/>
          <p:cNvSpPr/>
          <p:nvPr/>
        </p:nvSpPr>
        <p:spPr>
          <a:xfrm>
            <a:off x="1981200" y="1600201"/>
            <a:ext cx="8229600" cy="45259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299F91-EDEC-7B4D-AE9B-17605B232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1" y="914400"/>
            <a:ext cx="8825633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3314" y="2274314"/>
            <a:ext cx="734123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5" dirty="0">
                <a:latin typeface="Courier New"/>
                <a:cs typeface="Courier New"/>
              </a:rPr>
              <a:t>console.log(expression);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2439" y="3035807"/>
            <a:ext cx="5663184" cy="1901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76927" y="3947160"/>
            <a:ext cx="5416296" cy="9845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31207" y="3069335"/>
            <a:ext cx="5563680" cy="1799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32287" y="3070200"/>
            <a:ext cx="5562600" cy="1798955"/>
          </a:xfrm>
          <a:custGeom>
            <a:avLst/>
            <a:gdLst/>
            <a:ahLst/>
            <a:cxnLst/>
            <a:rect l="l" t="t" r="r" b="b"/>
            <a:pathLst>
              <a:path w="5562600" h="1798954">
                <a:moveTo>
                  <a:pt x="0" y="884261"/>
                </a:moveTo>
                <a:lnTo>
                  <a:pt x="927099" y="884261"/>
                </a:lnTo>
                <a:lnTo>
                  <a:pt x="45668" y="0"/>
                </a:lnTo>
                <a:lnTo>
                  <a:pt x="2317751" y="884261"/>
                </a:lnTo>
                <a:lnTo>
                  <a:pt x="5562603" y="884261"/>
                </a:lnTo>
                <a:lnTo>
                  <a:pt x="5562603" y="1036660"/>
                </a:lnTo>
                <a:lnTo>
                  <a:pt x="5562603" y="1265260"/>
                </a:lnTo>
                <a:lnTo>
                  <a:pt x="5562603" y="1798661"/>
                </a:lnTo>
                <a:lnTo>
                  <a:pt x="2317751" y="1798661"/>
                </a:lnTo>
                <a:lnTo>
                  <a:pt x="927099" y="1798661"/>
                </a:lnTo>
                <a:lnTo>
                  <a:pt x="0" y="1798661"/>
                </a:lnTo>
                <a:lnTo>
                  <a:pt x="0" y="1265260"/>
                </a:lnTo>
                <a:lnTo>
                  <a:pt x="0" y="1036660"/>
                </a:lnTo>
                <a:lnTo>
                  <a:pt x="0" y="884261"/>
                </a:lnTo>
                <a:close/>
              </a:path>
            </a:pathLst>
          </a:custGeom>
          <a:ln w="12700">
            <a:solidFill>
              <a:srgbClr val="0045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ubTitle" idx="4"/>
          </p:nvPr>
        </p:nvSpPr>
        <p:spPr>
          <a:xfrm>
            <a:off x="2489644" y="3924300"/>
            <a:ext cx="7212710" cy="766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4055" marR="5080" indent="0">
              <a:lnSpc>
                <a:spcPct val="129000"/>
              </a:lnSpc>
              <a:spcBef>
                <a:spcPts val="100"/>
              </a:spcBef>
              <a:buNone/>
            </a:pPr>
            <a:r>
              <a:rPr spc="-90" dirty="0"/>
              <a:t>evaluates </a:t>
            </a:r>
            <a:r>
              <a:rPr spc="-80" dirty="0"/>
              <a:t>the </a:t>
            </a:r>
            <a:r>
              <a:rPr spc="-60" dirty="0"/>
              <a:t>expression </a:t>
            </a:r>
            <a:r>
              <a:rPr spc="-40" dirty="0"/>
              <a:t>and </a:t>
            </a:r>
            <a:r>
              <a:rPr spc="-55" dirty="0"/>
              <a:t>displays</a:t>
            </a:r>
            <a:r>
              <a:rPr lang="en-GB" spc="-55" dirty="0"/>
              <a:t> </a:t>
            </a:r>
            <a:r>
              <a:rPr spc="-55" dirty="0"/>
              <a:t>the </a:t>
            </a:r>
            <a:r>
              <a:rPr spc="-90" dirty="0"/>
              <a:t>result</a:t>
            </a:r>
            <a:r>
              <a:rPr spc="-340" dirty="0"/>
              <a:t> </a:t>
            </a:r>
            <a:r>
              <a:rPr spc="-50" dirty="0"/>
              <a:t>in </a:t>
            </a:r>
            <a:r>
              <a:rPr spc="-80" dirty="0"/>
              <a:t>the </a:t>
            </a:r>
            <a:r>
              <a:rPr spc="-95" dirty="0"/>
              <a:t>JavaScript</a:t>
            </a:r>
            <a:r>
              <a:rPr spc="-275" dirty="0"/>
              <a:t> </a:t>
            </a:r>
            <a:r>
              <a:rPr spc="-45" dirty="0"/>
              <a:t>Console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1769C9-BE13-8F2E-92F5-73589EEA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6" y="1151915"/>
            <a:ext cx="11807967" cy="471801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1" y="304800"/>
            <a:ext cx="3259457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10" dirty="0">
                <a:solidFill>
                  <a:srgbClr val="000000"/>
                </a:solidFill>
              </a:rPr>
              <a:t>innerHTML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2133600" y="1447801"/>
            <a:ext cx="8305800" cy="3417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Another </a:t>
            </a:r>
            <a:r>
              <a:rPr sz="2800" spc="-5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way </a:t>
            </a:r>
            <a:r>
              <a:rPr sz="2800" spc="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sz="28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get </a:t>
            </a:r>
            <a:r>
              <a:rPr sz="2800" spc="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output </a:t>
            </a:r>
            <a:r>
              <a:rPr sz="2800" spc="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sz="2800" spc="-4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sz="2800" spc="-6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screen </a:t>
            </a:r>
            <a:r>
              <a:rPr sz="2800" spc="-8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is </a:t>
            </a:r>
            <a:r>
              <a:rPr sz="2800" spc="-6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using  </a:t>
            </a:r>
            <a:r>
              <a:rPr sz="2800" spc="-7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innerHTML</a:t>
            </a:r>
            <a:endParaRPr sz="280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469900" marR="339725" indent="-457200">
              <a:lnSpc>
                <a:spcPct val="150000"/>
              </a:lnSpc>
              <a:spcBef>
                <a:spcPts val="72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800" spc="-9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This </a:t>
            </a:r>
            <a:r>
              <a:rPr sz="2800" spc="-6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allows us </a:t>
            </a:r>
            <a:r>
              <a:rPr sz="2800" spc="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sz="2800" spc="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output </a:t>
            </a:r>
            <a:r>
              <a:rPr sz="2800" spc="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to </a:t>
            </a:r>
            <a:r>
              <a:rPr sz="2800" spc="-9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any </a:t>
            </a:r>
            <a:r>
              <a:rPr sz="2800" spc="-7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HTML </a:t>
            </a:r>
            <a:r>
              <a:rPr sz="2800" spc="-6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  </a:t>
            </a:r>
            <a:r>
              <a:rPr sz="2800" spc="-3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 </a:t>
            </a:r>
            <a:r>
              <a:rPr sz="2800" spc="-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know </a:t>
            </a:r>
            <a:r>
              <a:rPr sz="2800" spc="-4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the </a:t>
            </a:r>
            <a:r>
              <a:rPr sz="2800" spc="6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‘id’</a:t>
            </a:r>
            <a:r>
              <a:rPr sz="2800" spc="3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sz="2800" spc="-2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of.</a:t>
            </a:r>
            <a:endParaRPr sz="280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  <a:p>
            <a:pPr marL="469900" indent="-457200">
              <a:lnSpc>
                <a:spcPct val="150000"/>
              </a:lnSpc>
              <a:spcBef>
                <a:spcPts val="134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2800" spc="-13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We </a:t>
            </a:r>
            <a:r>
              <a:rPr sz="2800" spc="-5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create </a:t>
            </a:r>
            <a:r>
              <a:rPr sz="2800" spc="-8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 </a:t>
            </a:r>
            <a:r>
              <a:rPr lang="en-GB" sz="2800" spc="-8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HTML </a:t>
            </a:r>
            <a:r>
              <a:rPr sz="2800" spc="-6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element </a:t>
            </a:r>
            <a:r>
              <a:rPr sz="2800" spc="-4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and </a:t>
            </a:r>
            <a:r>
              <a:rPr sz="2800" spc="-8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give </a:t>
            </a:r>
            <a:r>
              <a:rPr sz="2800" spc="-3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it </a:t>
            </a:r>
            <a:r>
              <a:rPr sz="2800" spc="-85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an</a:t>
            </a:r>
            <a:r>
              <a:rPr sz="2800" spc="43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 </a:t>
            </a:r>
            <a:r>
              <a:rPr sz="2800" spc="-90" dirty="0">
                <a:latin typeface="Helvetica Neue Light" panose="02000403000000020004" pitchFamily="2" charset="0"/>
                <a:ea typeface="Helvetica Neue Light" panose="02000403000000020004" pitchFamily="2" charset="0"/>
                <a:cs typeface="Arial"/>
              </a:rPr>
              <a:t>ID.</a:t>
            </a:r>
            <a:endParaRPr sz="2800" dirty="0">
              <a:latin typeface="Helvetica Neue Light" panose="02000403000000020004" pitchFamily="2" charset="0"/>
              <a:ea typeface="Helvetica Neue Light" panose="02000403000000020004" pitchFamily="2" charset="0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3B476-5165-0B41-B5B9-F2658FEEB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5304894"/>
            <a:ext cx="7224000" cy="11721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66DBEA2-2A2C-6541-B55D-BE5D97D78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352" y="3071284"/>
            <a:ext cx="7912100" cy="74930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143" y="512570"/>
            <a:ext cx="3672840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>
                <a:solidFill>
                  <a:srgbClr val="000000"/>
                </a:solidFill>
              </a:rPr>
              <a:t>innerHTML</a:t>
            </a:r>
            <a:r>
              <a:rPr sz="4000" spc="-40" dirty="0">
                <a:solidFill>
                  <a:srgbClr val="000000"/>
                </a:solidFill>
              </a:rPr>
              <a:t> </a:t>
            </a:r>
            <a:r>
              <a:rPr sz="4000" spc="10" dirty="0">
                <a:solidFill>
                  <a:srgbClr val="000000"/>
                </a:solidFill>
              </a:rPr>
              <a:t>cont.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2161032" y="1271016"/>
            <a:ext cx="7946135" cy="18074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18944" y="1325880"/>
            <a:ext cx="7915656" cy="1161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9800" y="1295400"/>
            <a:ext cx="7848600" cy="1711960"/>
          </a:xfrm>
          <a:custGeom>
            <a:avLst/>
            <a:gdLst/>
            <a:ahLst/>
            <a:cxnLst/>
            <a:rect l="l" t="t" r="r" b="b"/>
            <a:pathLst>
              <a:path w="7848600" h="1711960">
                <a:moveTo>
                  <a:pt x="3270250" y="1066800"/>
                </a:moveTo>
                <a:lnTo>
                  <a:pt x="1308100" y="1066800"/>
                </a:lnTo>
                <a:lnTo>
                  <a:pt x="2356548" y="1711960"/>
                </a:lnTo>
                <a:lnTo>
                  <a:pt x="3270250" y="1066800"/>
                </a:lnTo>
                <a:close/>
              </a:path>
              <a:path w="7848600" h="1711960">
                <a:moveTo>
                  <a:pt x="7848600" y="0"/>
                </a:moveTo>
                <a:lnTo>
                  <a:pt x="0" y="0"/>
                </a:lnTo>
                <a:lnTo>
                  <a:pt x="0" y="1066800"/>
                </a:lnTo>
                <a:lnTo>
                  <a:pt x="7848600" y="1066800"/>
                </a:lnTo>
                <a:lnTo>
                  <a:pt x="7848600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09800" y="1295400"/>
            <a:ext cx="7848600" cy="1711960"/>
          </a:xfrm>
          <a:custGeom>
            <a:avLst/>
            <a:gdLst/>
            <a:ahLst/>
            <a:cxnLst/>
            <a:rect l="l" t="t" r="r" b="b"/>
            <a:pathLst>
              <a:path w="7848600" h="1711960">
                <a:moveTo>
                  <a:pt x="0" y="0"/>
                </a:moveTo>
                <a:lnTo>
                  <a:pt x="1308100" y="0"/>
                </a:lnTo>
                <a:lnTo>
                  <a:pt x="3270251" y="0"/>
                </a:lnTo>
                <a:lnTo>
                  <a:pt x="7848604" y="0"/>
                </a:lnTo>
                <a:lnTo>
                  <a:pt x="7848604" y="622302"/>
                </a:lnTo>
                <a:lnTo>
                  <a:pt x="7848604" y="889004"/>
                </a:lnTo>
                <a:lnTo>
                  <a:pt x="7848604" y="1066800"/>
                </a:lnTo>
                <a:lnTo>
                  <a:pt x="3270251" y="1066800"/>
                </a:lnTo>
                <a:lnTo>
                  <a:pt x="2356541" y="1711960"/>
                </a:lnTo>
                <a:lnTo>
                  <a:pt x="1308100" y="1066800"/>
                </a:lnTo>
                <a:lnTo>
                  <a:pt x="0" y="1066800"/>
                </a:lnTo>
                <a:lnTo>
                  <a:pt x="0" y="889004"/>
                </a:lnTo>
                <a:lnTo>
                  <a:pt x="0" y="62230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36141" y="1355853"/>
            <a:ext cx="7699375" cy="1823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6205" marR="5080" indent="-2348230">
              <a:lnSpc>
                <a:spcPct val="118300"/>
              </a:lnSpc>
              <a:spcBef>
                <a:spcPts val="100"/>
              </a:spcBef>
            </a:pPr>
            <a:r>
              <a:rPr sz="2400" spc="-95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sz="2400" spc="-70" dirty="0">
                <a:solidFill>
                  <a:srgbClr val="0D0D0D"/>
                </a:solidFill>
                <a:latin typeface="Arial"/>
                <a:cs typeface="Arial"/>
              </a:rPr>
              <a:t>getElementById() </a:t>
            </a:r>
            <a:r>
              <a:rPr sz="2400" spc="-10" dirty="0">
                <a:solidFill>
                  <a:srgbClr val="0D0D0D"/>
                </a:solidFill>
                <a:latin typeface="Arial"/>
                <a:cs typeface="Arial"/>
              </a:rPr>
              <a:t>method </a:t>
            </a:r>
            <a:r>
              <a:rPr sz="2400" spc="-45" dirty="0">
                <a:solidFill>
                  <a:srgbClr val="0D0D0D"/>
                </a:solidFill>
                <a:latin typeface="Arial"/>
                <a:cs typeface="Arial"/>
              </a:rPr>
              <a:t>accesses </a:t>
            </a:r>
            <a:r>
              <a:rPr sz="2400" spc="-35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sz="2400" spc="-40" dirty="0">
                <a:solidFill>
                  <a:srgbClr val="0D0D0D"/>
                </a:solidFill>
                <a:latin typeface="Arial"/>
                <a:cs typeface="Arial"/>
              </a:rPr>
              <a:t>first </a:t>
            </a:r>
            <a:r>
              <a:rPr sz="2400" spc="-55" dirty="0">
                <a:solidFill>
                  <a:srgbClr val="0D0D0D"/>
                </a:solidFill>
                <a:latin typeface="Arial"/>
                <a:cs typeface="Arial"/>
              </a:rPr>
              <a:t>element  </a:t>
            </a:r>
            <a:r>
              <a:rPr sz="2400" spc="-15" dirty="0">
                <a:solidFill>
                  <a:srgbClr val="0D0D0D"/>
                </a:solidFill>
                <a:latin typeface="Arial"/>
                <a:cs typeface="Arial"/>
              </a:rPr>
              <a:t>with </a:t>
            </a:r>
            <a:r>
              <a:rPr sz="2400" spc="-35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sz="2400" spc="-40" dirty="0">
                <a:solidFill>
                  <a:srgbClr val="0D0D0D"/>
                </a:solidFill>
                <a:latin typeface="Arial"/>
                <a:cs typeface="Arial"/>
              </a:rPr>
              <a:t>specified</a:t>
            </a:r>
            <a:r>
              <a:rPr sz="2400" spc="2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D0D0D"/>
                </a:solidFill>
                <a:latin typeface="Arial"/>
                <a:cs typeface="Arial"/>
              </a:rPr>
              <a:t>id.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spcBef>
                <a:spcPts val="40"/>
              </a:spcBef>
            </a:pPr>
            <a:endParaRPr sz="33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84833" y="3761231"/>
            <a:ext cx="7946135" cy="23835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45208" y="4983479"/>
            <a:ext cx="8110728" cy="1161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126197" y="3733801"/>
            <a:ext cx="7848600" cy="2290445"/>
          </a:xfrm>
          <a:custGeom>
            <a:avLst/>
            <a:gdLst/>
            <a:ahLst/>
            <a:cxnLst/>
            <a:rect l="l" t="t" r="r" b="b"/>
            <a:pathLst>
              <a:path w="7848600" h="2290445">
                <a:moveTo>
                  <a:pt x="7848600" y="1223073"/>
                </a:moveTo>
                <a:lnTo>
                  <a:pt x="0" y="1223073"/>
                </a:lnTo>
                <a:lnTo>
                  <a:pt x="0" y="2289873"/>
                </a:lnTo>
                <a:lnTo>
                  <a:pt x="7848600" y="2289873"/>
                </a:lnTo>
                <a:lnTo>
                  <a:pt x="7848600" y="1223073"/>
                </a:lnTo>
                <a:close/>
              </a:path>
              <a:path w="7848600" h="2290445">
                <a:moveTo>
                  <a:pt x="6499974" y="0"/>
                </a:moveTo>
                <a:lnTo>
                  <a:pt x="4578350" y="1223073"/>
                </a:lnTo>
                <a:lnTo>
                  <a:pt x="6540500" y="1223073"/>
                </a:lnTo>
                <a:lnTo>
                  <a:pt x="6499974" y="0"/>
                </a:lnTo>
                <a:close/>
              </a:path>
            </a:pathLst>
          </a:custGeom>
          <a:solidFill>
            <a:srgbClr val="95B3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33600" y="3729920"/>
            <a:ext cx="7848600" cy="2290445"/>
          </a:xfrm>
          <a:custGeom>
            <a:avLst/>
            <a:gdLst/>
            <a:ahLst/>
            <a:cxnLst/>
            <a:rect l="l" t="t" r="r" b="b"/>
            <a:pathLst>
              <a:path w="7848600" h="2290445">
                <a:moveTo>
                  <a:pt x="0" y="1223080"/>
                </a:moveTo>
                <a:lnTo>
                  <a:pt x="4578352" y="1223080"/>
                </a:lnTo>
                <a:lnTo>
                  <a:pt x="6499983" y="0"/>
                </a:lnTo>
                <a:lnTo>
                  <a:pt x="6540503" y="1223080"/>
                </a:lnTo>
                <a:lnTo>
                  <a:pt x="7848604" y="1223080"/>
                </a:lnTo>
                <a:lnTo>
                  <a:pt x="7848604" y="1400884"/>
                </a:lnTo>
                <a:lnTo>
                  <a:pt x="7848604" y="1667578"/>
                </a:lnTo>
                <a:lnTo>
                  <a:pt x="7848604" y="2289881"/>
                </a:lnTo>
                <a:lnTo>
                  <a:pt x="6540503" y="2289881"/>
                </a:lnTo>
                <a:lnTo>
                  <a:pt x="4578352" y="2289881"/>
                </a:lnTo>
                <a:lnTo>
                  <a:pt x="0" y="2289881"/>
                </a:lnTo>
                <a:lnTo>
                  <a:pt x="0" y="1667578"/>
                </a:lnTo>
                <a:lnTo>
                  <a:pt x="0" y="1400884"/>
                </a:lnTo>
                <a:lnTo>
                  <a:pt x="0" y="1223080"/>
                </a:lnTo>
                <a:close/>
              </a:path>
            </a:pathLst>
          </a:custGeom>
          <a:ln w="12700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257774" y="5013452"/>
            <a:ext cx="7603490" cy="8455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59710" marR="5080" indent="-2747645">
              <a:lnSpc>
                <a:spcPct val="118300"/>
              </a:lnSpc>
              <a:spcBef>
                <a:spcPts val="100"/>
              </a:spcBef>
            </a:pPr>
            <a:r>
              <a:rPr sz="2400" spc="-80" dirty="0">
                <a:solidFill>
                  <a:srgbClr val="0D0D0D"/>
                </a:solidFill>
                <a:latin typeface="Arial"/>
                <a:cs typeface="Arial"/>
              </a:rPr>
              <a:t>Then </a:t>
            </a:r>
            <a:r>
              <a:rPr sz="2400" spc="-30" dirty="0">
                <a:solidFill>
                  <a:srgbClr val="0D0D0D"/>
                </a:solidFill>
                <a:latin typeface="Arial"/>
                <a:cs typeface="Arial"/>
              </a:rPr>
              <a:t>access </a:t>
            </a:r>
            <a:r>
              <a:rPr sz="2400" spc="-35" dirty="0">
                <a:solidFill>
                  <a:srgbClr val="0D0D0D"/>
                </a:solidFill>
                <a:latin typeface="Arial"/>
                <a:cs typeface="Arial"/>
              </a:rPr>
              <a:t>the </a:t>
            </a:r>
            <a:r>
              <a:rPr sz="2400" spc="-65" dirty="0">
                <a:solidFill>
                  <a:srgbClr val="0D0D0D"/>
                </a:solidFill>
                <a:latin typeface="Arial"/>
                <a:cs typeface="Arial"/>
              </a:rPr>
              <a:t>inner HTML </a:t>
            </a:r>
            <a:r>
              <a:rPr sz="2400" spc="-30" dirty="0">
                <a:solidFill>
                  <a:srgbClr val="0D0D0D"/>
                </a:solidFill>
                <a:latin typeface="Arial"/>
                <a:cs typeface="Arial"/>
              </a:rPr>
              <a:t>property </a:t>
            </a:r>
            <a:r>
              <a:rPr sz="2400" spc="-25" dirty="0">
                <a:solidFill>
                  <a:srgbClr val="0D0D0D"/>
                </a:solidFill>
                <a:latin typeface="Arial"/>
                <a:cs typeface="Arial"/>
              </a:rPr>
              <a:t>of </a:t>
            </a:r>
            <a:r>
              <a:rPr sz="2400" spc="-15" dirty="0">
                <a:solidFill>
                  <a:srgbClr val="0D0D0D"/>
                </a:solidFill>
                <a:latin typeface="Arial"/>
                <a:cs typeface="Arial"/>
              </a:rPr>
              <a:t>that </a:t>
            </a:r>
            <a:r>
              <a:rPr sz="2400" spc="-50" dirty="0">
                <a:solidFill>
                  <a:srgbClr val="0D0D0D"/>
                </a:solidFill>
                <a:latin typeface="Arial"/>
                <a:cs typeface="Arial"/>
              </a:rPr>
              <a:t>element </a:t>
            </a:r>
            <a:r>
              <a:rPr sz="2400" spc="-35" dirty="0">
                <a:solidFill>
                  <a:srgbClr val="0D0D0D"/>
                </a:solidFill>
                <a:latin typeface="Arial"/>
                <a:cs typeface="Arial"/>
              </a:rPr>
              <a:t>and  </a:t>
            </a:r>
            <a:r>
              <a:rPr sz="2400" spc="-60" dirty="0">
                <a:solidFill>
                  <a:srgbClr val="0D0D0D"/>
                </a:solidFill>
                <a:latin typeface="Arial"/>
                <a:cs typeface="Arial"/>
              </a:rPr>
              <a:t>assign </a:t>
            </a:r>
            <a:r>
              <a:rPr sz="2400" spc="-25" dirty="0">
                <a:solidFill>
                  <a:srgbClr val="0D0D0D"/>
                </a:solidFill>
                <a:latin typeface="Arial"/>
                <a:cs typeface="Arial"/>
              </a:rPr>
              <a:t>it </a:t>
            </a:r>
            <a:r>
              <a:rPr sz="2400" spc="-90" dirty="0">
                <a:solidFill>
                  <a:srgbClr val="0D0D0D"/>
                </a:solidFill>
                <a:latin typeface="Arial"/>
                <a:cs typeface="Arial"/>
              </a:rPr>
              <a:t>a</a:t>
            </a:r>
            <a:r>
              <a:rPr sz="2400" spc="60" dirty="0">
                <a:solidFill>
                  <a:srgbClr val="0D0D0D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0D0D0D"/>
                </a:solidFill>
                <a:latin typeface="Arial"/>
                <a:cs typeface="Arial"/>
              </a:rPr>
              <a:t>value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C21372-C34B-EC40-A2B1-D5A8CDC2D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600200"/>
            <a:ext cx="9144000" cy="35970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0100" y="377190"/>
            <a:ext cx="551180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>
                <a:solidFill>
                  <a:srgbClr val="000000"/>
                </a:solidFill>
              </a:rPr>
              <a:t>Inner </a:t>
            </a:r>
            <a:r>
              <a:rPr spc="-50" dirty="0">
                <a:solidFill>
                  <a:srgbClr val="000000"/>
                </a:solidFill>
              </a:rPr>
              <a:t>html </a:t>
            </a:r>
            <a:r>
              <a:rPr spc="-130" dirty="0">
                <a:solidFill>
                  <a:srgbClr val="000000"/>
                </a:solidFill>
              </a:rPr>
              <a:t>in </a:t>
            </a:r>
            <a:r>
              <a:rPr spc="-165" dirty="0">
                <a:solidFill>
                  <a:srgbClr val="000000"/>
                </a:solidFill>
              </a:rPr>
              <a:t>a</a:t>
            </a:r>
            <a:r>
              <a:rPr spc="265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browser</a:t>
            </a:r>
          </a:p>
        </p:txBody>
      </p:sp>
      <p:sp>
        <p:nvSpPr>
          <p:cNvPr id="3" name="object 3"/>
          <p:cNvSpPr/>
          <p:nvPr/>
        </p:nvSpPr>
        <p:spPr>
          <a:xfrm>
            <a:off x="2217918" y="1600200"/>
            <a:ext cx="7756169" cy="2180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974850" y="1593850"/>
            <a:ext cx="8242300" cy="4538980"/>
          </a:xfrm>
          <a:custGeom>
            <a:avLst/>
            <a:gdLst/>
            <a:ahLst/>
            <a:cxnLst/>
            <a:rect l="l" t="t" r="r" b="b"/>
            <a:pathLst>
              <a:path w="8242300" h="4538980">
                <a:moveTo>
                  <a:pt x="0" y="0"/>
                </a:moveTo>
                <a:lnTo>
                  <a:pt x="8242304" y="0"/>
                </a:lnTo>
                <a:lnTo>
                  <a:pt x="8242304" y="4538662"/>
                </a:lnTo>
                <a:lnTo>
                  <a:pt x="0" y="453866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834150" y="1925328"/>
            <a:ext cx="11039576" cy="3491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9020D-A5D1-9E40-8DF5-0578647F4EC9}"/>
              </a:ext>
            </a:extLst>
          </p:cNvPr>
          <p:cNvSpPr txBox="1"/>
          <p:nvPr/>
        </p:nvSpPr>
        <p:spPr>
          <a:xfrm>
            <a:off x="640795" y="228601"/>
            <a:ext cx="11426287" cy="1475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Debugging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Access the Console in your browser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BFD17F-A869-12E3-7309-D01795F2A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81" y="3623682"/>
            <a:ext cx="11323545" cy="20145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8848" y="2438463"/>
            <a:ext cx="5048368" cy="14859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600" spc="5" dirty="0"/>
              <a:t>Variables</a:t>
            </a:r>
            <a:endParaRPr sz="9600" dirty="0"/>
          </a:p>
        </p:txBody>
      </p:sp>
    </p:spTree>
    <p:extLst>
      <p:ext uri="{BB962C8B-B14F-4D97-AF65-F5344CB8AC3E}">
        <p14:creationId xmlns:p14="http://schemas.microsoft.com/office/powerpoint/2010/main" val="37604303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2212341" y="2392362"/>
            <a:ext cx="7618095" cy="13354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20345">
              <a:lnSpc>
                <a:spcPts val="5200"/>
              </a:lnSpc>
              <a:tabLst>
                <a:tab pos="1353820" algn="l"/>
                <a:tab pos="4707255" algn="l"/>
              </a:tabLst>
            </a:pPr>
            <a:r>
              <a:rPr sz="44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var	</a:t>
            </a:r>
            <a:r>
              <a:rPr sz="4400" spc="-5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messag</a:t>
            </a:r>
            <a:r>
              <a:rPr sz="44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e =	</a:t>
            </a:r>
            <a:r>
              <a:rPr sz="4400" spc="-5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“Hello”;  console.log(message);</a:t>
            </a:r>
            <a:endParaRPr sz="4400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2006137" y="405677"/>
            <a:ext cx="3081512" cy="1238114"/>
          </a:xfrm>
          <a:prstGeom prst="wedgeRoundRectCallout">
            <a:avLst>
              <a:gd name="adj1" fmla="val -22131"/>
              <a:gd name="adj2" fmla="val 126261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Tells </a:t>
            </a:r>
            <a:r>
              <a:rPr lang="en-US" sz="2400" spc="35" dirty="0">
                <a:solidFill>
                  <a:schemeClr val="tx1"/>
                </a:solidFill>
                <a:latin typeface="Helvetica Neue Light"/>
                <a:cs typeface="Helvetica Neue Light"/>
              </a:rPr>
              <a:t>JavaScript </a:t>
            </a:r>
            <a:r>
              <a:rPr lang="en-US" sz="2400" spc="20" dirty="0">
                <a:solidFill>
                  <a:schemeClr val="tx1"/>
                </a:solidFill>
                <a:latin typeface="Helvetica Neue Light"/>
                <a:cs typeface="Helvetica Neue Light"/>
              </a:rPr>
              <a:t>this</a:t>
            </a:r>
            <a:r>
              <a:rPr lang="en-US" sz="2400" spc="-150" dirty="0">
                <a:solidFill>
                  <a:schemeClr val="tx1"/>
                </a:solidFill>
                <a:latin typeface="Helvetica Neue Light"/>
                <a:cs typeface="Helvetica Neue Light"/>
              </a:rPr>
              <a:t> </a:t>
            </a:r>
            <a:r>
              <a:rPr lang="en-US" sz="2400" spc="10" dirty="0">
                <a:solidFill>
                  <a:schemeClr val="tx1"/>
                </a:solidFill>
                <a:latin typeface="Helvetica Neue Light"/>
                <a:cs typeface="Helvetica Neue Light"/>
              </a:rPr>
              <a:t>is </a:t>
            </a:r>
            <a:r>
              <a:rPr lang="en-US" sz="2400" spc="5" dirty="0">
                <a:solidFill>
                  <a:schemeClr val="tx1"/>
                </a:solidFill>
                <a:latin typeface="Helvetica Neue Light"/>
                <a:cs typeface="Helvetica Neue Light"/>
              </a:rPr>
              <a:t>a</a:t>
            </a:r>
            <a:r>
              <a:rPr lang="en-US" sz="2400" spc="-130" dirty="0">
                <a:solidFill>
                  <a:schemeClr val="tx1"/>
                </a:solidFill>
                <a:latin typeface="Helvetica Neue Light"/>
                <a:cs typeface="Helvetica Neue Light"/>
              </a:rPr>
              <a:t> </a:t>
            </a:r>
            <a:r>
              <a:rPr lang="en-US" sz="2400" spc="20" dirty="0">
                <a:solidFill>
                  <a:schemeClr val="tx1"/>
                </a:solidFill>
                <a:latin typeface="Helvetica Neue Light"/>
                <a:cs typeface="Helvetica Neue Light"/>
              </a:rPr>
              <a:t>variable</a:t>
            </a:r>
            <a:endParaRPr lang="en-US" sz="2400" dirty="0">
              <a:solidFill>
                <a:schemeClr val="tx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5476412" y="405677"/>
            <a:ext cx="4859521" cy="1238114"/>
          </a:xfrm>
          <a:prstGeom prst="wedgeRoundRectCallout">
            <a:avLst>
              <a:gd name="adj1" fmla="val -46439"/>
              <a:gd name="adj2" fmla="val 119982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Variable name (Some are reserved).</a:t>
            </a:r>
          </a:p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Variable names in lowercase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2212340" y="4580989"/>
            <a:ext cx="3680536" cy="1238114"/>
          </a:xfrm>
          <a:prstGeom prst="wedgeRoundRectCallout">
            <a:avLst>
              <a:gd name="adj1" fmla="val -21779"/>
              <a:gd name="adj2" fmla="val -112361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Outputs the contents of the variable </a:t>
            </a:r>
            <a:r>
              <a:rPr lang="en-US" sz="2400" i="1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message</a:t>
            </a:r>
            <a:endParaRPr lang="en-US" sz="2400" i="1" dirty="0">
              <a:solidFill>
                <a:schemeClr val="tx1"/>
              </a:solidFill>
              <a:latin typeface="Helvetica Neue Light"/>
              <a:cs typeface="Helvetica Neue Light"/>
            </a:endParaRPr>
          </a:p>
        </p:txBody>
      </p:sp>
      <p:sp>
        <p:nvSpPr>
          <p:cNvPr id="28" name="Rounded Rectangular Callout 27"/>
          <p:cNvSpPr/>
          <p:nvPr/>
        </p:nvSpPr>
        <p:spPr>
          <a:xfrm>
            <a:off x="6655396" y="4595761"/>
            <a:ext cx="3680536" cy="1238114"/>
          </a:xfrm>
          <a:prstGeom prst="wedgeRoundRectCallout">
            <a:avLst>
              <a:gd name="adj1" fmla="val 11669"/>
              <a:gd name="adj2" fmla="val -176203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Puts the word </a:t>
            </a:r>
            <a:r>
              <a:rPr lang="en-US" sz="2400" i="1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Hello</a:t>
            </a: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 into the variable </a:t>
            </a:r>
            <a:r>
              <a:rPr lang="en-US" sz="2400" i="1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message</a:t>
            </a:r>
            <a:endParaRPr lang="en-US" sz="2400" i="1" dirty="0">
              <a:solidFill>
                <a:schemeClr val="tx1"/>
              </a:solidFill>
              <a:latin typeface="Helvetica Neue Light"/>
              <a:cs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366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2341" y="2361882"/>
            <a:ext cx="438467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353820" algn="l"/>
                <a:tab pos="3365500" algn="l"/>
              </a:tabLst>
            </a:pPr>
            <a:r>
              <a:rPr sz="44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var	</a:t>
            </a:r>
            <a:r>
              <a:rPr sz="4400" spc="-5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ag</a:t>
            </a:r>
            <a:r>
              <a:rPr sz="4400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e =	</a:t>
            </a:r>
            <a:r>
              <a:rPr sz="4400" spc="-5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29;</a:t>
            </a:r>
            <a:endParaRPr sz="4400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12341" y="3022282"/>
            <a:ext cx="5725795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4400" spc="-5" dirty="0">
                <a:solidFill>
                  <a:schemeClr val="bg1">
                    <a:lumMod val="50000"/>
                  </a:schemeClr>
                </a:solidFill>
                <a:latin typeface="Courier New"/>
                <a:cs typeface="Courier New"/>
              </a:rPr>
              <a:t>console.log(age);</a:t>
            </a:r>
            <a:endParaRPr sz="4400" dirty="0">
              <a:solidFill>
                <a:schemeClr val="bg1">
                  <a:lumMod val="50000"/>
                </a:schemeClr>
              </a:solidFill>
              <a:latin typeface="Courier New"/>
              <a:cs typeface="Courier New"/>
            </a:endParaRPr>
          </a:p>
        </p:txBody>
      </p:sp>
      <p:sp>
        <p:nvSpPr>
          <p:cNvPr id="17" name="Rounded Rectangular Callout 16"/>
          <p:cNvSpPr/>
          <p:nvPr/>
        </p:nvSpPr>
        <p:spPr>
          <a:xfrm>
            <a:off x="1831341" y="829309"/>
            <a:ext cx="4001583" cy="814482"/>
          </a:xfrm>
          <a:prstGeom prst="wedgeRoundRectCallout">
            <a:avLst>
              <a:gd name="adj1" fmla="val 43924"/>
              <a:gd name="adj2" fmla="val 138739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Numbers don’t have quotes</a:t>
            </a:r>
            <a:endParaRPr lang="en-US" sz="2400" dirty="0">
              <a:solidFill>
                <a:schemeClr val="tx1"/>
              </a:solidFill>
              <a:latin typeface="Helvetica Neue Light"/>
              <a:cs typeface="Helvetica Neue Light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6597015" y="829310"/>
            <a:ext cx="3777660" cy="1227473"/>
          </a:xfrm>
          <a:prstGeom prst="wedgeRoundRectCallout">
            <a:avLst>
              <a:gd name="adj1" fmla="val -48159"/>
              <a:gd name="adj2" fmla="val 96110"/>
              <a:gd name="adj3" fmla="val 16667"/>
            </a:avLst>
          </a:prstGeom>
          <a:gradFill flip="none" rotWithShape="1">
            <a:gsLst>
              <a:gs pos="0">
                <a:schemeClr val="dk1">
                  <a:tint val="50000"/>
                  <a:satMod val="300000"/>
                  <a:alpha val="31000"/>
                </a:schemeClr>
              </a:gs>
              <a:gs pos="35000">
                <a:schemeClr val="dk1">
                  <a:tint val="37000"/>
                  <a:satMod val="300000"/>
                  <a:alpha val="31000"/>
                </a:schemeClr>
              </a:gs>
              <a:gs pos="100000">
                <a:schemeClr val="dk1">
                  <a:tint val="15000"/>
                  <a:satMod val="350000"/>
                  <a:alpha val="31000"/>
                </a:schemeClr>
              </a:gs>
            </a:gsLst>
            <a:lin ang="16200000" scaled="1"/>
            <a:tileRect/>
          </a:gra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30000"/>
              </a:lnSpc>
            </a:pPr>
            <a:r>
              <a:rPr lang="en-US" sz="2400" spc="-25" dirty="0">
                <a:solidFill>
                  <a:schemeClr val="tx1"/>
                </a:solidFill>
                <a:latin typeface="Helvetica Neue Light"/>
                <a:cs typeface="Helvetica Neue Light"/>
              </a:rPr>
              <a:t>Puts the number 29 into  the variable age</a:t>
            </a:r>
          </a:p>
        </p:txBody>
      </p:sp>
    </p:spTree>
    <p:extLst>
      <p:ext uri="{BB962C8B-B14F-4D97-AF65-F5344CB8AC3E}">
        <p14:creationId xmlns:p14="http://schemas.microsoft.com/office/powerpoint/2010/main" val="390668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20101" y="555426"/>
            <a:ext cx="7943698" cy="16589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indent="-635">
              <a:lnSpc>
                <a:spcPct val="130000"/>
              </a:lnSpc>
              <a:tabLst>
                <a:tab pos="2369185" algn="l"/>
                <a:tab pos="2476500" algn="l"/>
                <a:tab pos="2783205" algn="l"/>
                <a:tab pos="4833620" algn="l"/>
                <a:tab pos="5290185" algn="l"/>
                <a:tab pos="6676390" algn="l"/>
              </a:tabLst>
            </a:pPr>
            <a:r>
              <a:rPr lang="en-GB" sz="2800" spc="300" dirty="0">
                <a:solidFill>
                  <a:schemeClr val="bg1">
                    <a:lumMod val="50000"/>
                  </a:schemeClr>
                </a:solidFill>
                <a:latin typeface="Helvetica Neue Light"/>
                <a:cs typeface="Helvetica Neue Light"/>
              </a:rPr>
              <a:t>“JavaScript has dynamic data types, This means the same variable can be used as different types.”</a:t>
            </a:r>
            <a:endParaRPr sz="2800" spc="300" dirty="0">
              <a:solidFill>
                <a:schemeClr val="bg1">
                  <a:lumMod val="50000"/>
                </a:schemeClr>
              </a:solidFill>
              <a:latin typeface="Helvetica Neue Light"/>
              <a:cs typeface="Helvetica Neue Light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2120101" y="6071747"/>
            <a:ext cx="583142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solidFill>
                  <a:srgbClr val="FFFFFF"/>
                </a:solidFill>
                <a:latin typeface="Helvetica Neue Light"/>
                <a:cs typeface="Helvetica Neue Light"/>
                <a:hlinkClick r:id="rId2"/>
              </a:rPr>
              <a:t>http://www.w3schools.com/js/js_datatypes.asp</a:t>
            </a:r>
            <a:endParaRPr dirty="0">
              <a:latin typeface="Helvetica Neue Light"/>
              <a:cs typeface="Helvetica Neue Light"/>
            </a:endParaRPr>
          </a:p>
        </p:txBody>
      </p:sp>
      <p:pic>
        <p:nvPicPr>
          <p:cNvPr id="5" name="Picture 4" descr="Screen Shot 2015-12-15 at 14.02.5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101" y="2661007"/>
            <a:ext cx="8899536" cy="30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527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names 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289209"/>
            <a:ext cx="8229600" cy="5267518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dirty="0"/>
              <a:t>Must begin with a letter, $ or _ Can’t start with a number.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dirty="0"/>
              <a:t>Can contain letters, numbers, $ and _ Can’t contain a hyphen (-) or full stop (.)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dirty="0"/>
              <a:t>Cannot use reserved words as they  ‘do something’ in the language – full list:</a:t>
            </a:r>
          </a:p>
          <a:p>
            <a:pPr marL="400050" lvl="1" indent="0">
              <a:lnSpc>
                <a:spcPct val="130000"/>
              </a:lnSpc>
              <a:buNone/>
            </a:pPr>
            <a:r>
              <a:rPr lang="en-US" sz="2200" dirty="0">
                <a:hlinkClick r:id="rId2"/>
              </a:rPr>
              <a:t>http://www.w3schools.com/js/js_reserved.asp</a:t>
            </a:r>
            <a:endParaRPr lang="en-US" sz="2200" dirty="0"/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b="1" dirty="0">
                <a:solidFill>
                  <a:srgbClr val="FF0000"/>
                </a:solidFill>
              </a:rPr>
              <a:t>Variable names are case sensitive </a:t>
            </a:r>
            <a:r>
              <a:rPr lang="en-US" sz="2200" dirty="0"/>
              <a:t>‘dog’ and Dog’ are different.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dirty="0"/>
              <a:t>Use names that describe the information the variable stores.</a:t>
            </a:r>
          </a:p>
          <a:p>
            <a:pPr marL="514350" indent="-514350">
              <a:lnSpc>
                <a:spcPct val="130000"/>
              </a:lnSpc>
              <a:buFont typeface="+mj-lt"/>
              <a:buAutoNum type="arabicPeriod"/>
            </a:pPr>
            <a:r>
              <a:rPr lang="en-US" sz="2200" dirty="0"/>
              <a:t>If using more than one word use a Capital letter for each word after the first ( </a:t>
            </a:r>
            <a:r>
              <a:rPr lang="en-US" sz="2200" dirty="0">
                <a:hlinkClick r:id="rId3"/>
              </a:rPr>
              <a:t>camelCase</a:t>
            </a:r>
            <a:r>
              <a:rPr lang="en-US" sz="2200" dirty="0"/>
              <a:t> – </a:t>
            </a:r>
            <a:r>
              <a:rPr lang="en-US" sz="2200" dirty="0" err="1"/>
              <a:t>camelCaps</a:t>
            </a:r>
            <a:r>
              <a:rPr lang="en-US" sz="2200" dirty="0"/>
              <a:t> ) or use underscores (not hyphens) to join words.</a:t>
            </a:r>
          </a:p>
        </p:txBody>
      </p:sp>
    </p:spTree>
    <p:extLst>
      <p:ext uri="{BB962C8B-B14F-4D97-AF65-F5344CB8AC3E}">
        <p14:creationId xmlns:p14="http://schemas.microsoft.com/office/powerpoint/2010/main" val="41002094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403351"/>
            <a:ext cx="10077450" cy="4911724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“Concatenation (from Latin </a:t>
            </a:r>
            <a:r>
              <a:rPr lang="en-US" sz="2400" dirty="0" err="1"/>
              <a:t>concatenare</a:t>
            </a:r>
            <a:r>
              <a:rPr lang="en-US" sz="2400" dirty="0"/>
              <a:t>, to link together) is taking two or more separately located things and placing them side-by-side next to each other so that they can now be treated as one thing.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In computer programming two or more character strings can be concatenated for the purpose of saving space or so that they can be addressed as a single item.”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/>
              <a:t>In JavaScript you use the </a:t>
            </a:r>
            <a:r>
              <a:rPr lang="en-US" b="1" dirty="0">
                <a:solidFill>
                  <a:schemeClr val="tx1"/>
                </a:solidFill>
              </a:rPr>
              <a:t>+</a:t>
            </a:r>
            <a:r>
              <a:rPr lang="en-US" sz="2400" dirty="0"/>
              <a:t> symbol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Courier New"/>
                <a:cs typeface="Courier New"/>
              </a:rPr>
              <a:t>“string1” + “string2” + variable3 + “ ” </a:t>
            </a:r>
          </a:p>
        </p:txBody>
      </p:sp>
    </p:spTree>
    <p:extLst>
      <p:ext uri="{BB962C8B-B14F-4D97-AF65-F5344CB8AC3E}">
        <p14:creationId xmlns:p14="http://schemas.microsoft.com/office/powerpoint/2010/main" val="2674153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86603" y="0"/>
            <a:ext cx="12910782" cy="7451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1801" y="1738454"/>
            <a:ext cx="6172199" cy="266290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algn="ctr">
              <a:lnSpc>
                <a:spcPts val="10270"/>
              </a:lnSpc>
              <a:spcBef>
                <a:spcPts val="100"/>
              </a:spcBef>
            </a:pPr>
            <a:r>
              <a:rPr sz="8800" spc="-27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8800" spc="80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8800" spc="-6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8800" spc="-19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800" spc="-12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8800" spc="-335" dirty="0">
                <a:solidFill>
                  <a:srgbClr val="FFFFFF"/>
                </a:solidFill>
                <a:latin typeface="Trebuchet MS"/>
                <a:cs typeface="Trebuchet MS"/>
              </a:rPr>
              <a:t>ts</a:t>
            </a:r>
            <a:endParaRPr sz="8800" dirty="0">
              <a:latin typeface="Trebuchet MS"/>
              <a:cs typeface="Trebuchet MS"/>
            </a:endParaRPr>
          </a:p>
          <a:p>
            <a:pPr algn="ctr">
              <a:lnSpc>
                <a:spcPts val="10270"/>
              </a:lnSpc>
            </a:pPr>
            <a:r>
              <a:rPr sz="8800" spc="-10" dirty="0">
                <a:solidFill>
                  <a:srgbClr val="FFFFFF"/>
                </a:solidFill>
                <a:latin typeface="Courier New"/>
                <a:cs typeface="Courier New"/>
              </a:rPr>
              <a:t>//</a:t>
            </a:r>
            <a:r>
              <a:rPr sz="8800" spc="-17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8800" spc="-10" dirty="0">
                <a:solidFill>
                  <a:srgbClr val="FFFFFF"/>
                </a:solidFill>
                <a:latin typeface="Courier New"/>
                <a:cs typeface="Courier New"/>
              </a:rPr>
              <a:t>………</a:t>
            </a:r>
            <a:endParaRPr sz="8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Crash course continues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43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As I have said this module will be focused on JavaScript, but when we begin using </a:t>
            </a:r>
            <a:r>
              <a:rPr lang="en-GB" spc="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Vue.js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(which is clearly written in JavaScript), I will discuss the code as we get to it.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 can’t stress enough the importance of working through some W3schools tutorials in your own time.</a:t>
            </a:r>
          </a:p>
          <a:p>
            <a:pPr lvl="1"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4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let vs const vs var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435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I highly </a:t>
            </a:r>
            <a:r>
              <a:rPr lang="en-GB" spc="80" dirty="0">
                <a:solidFill>
                  <a:srgbClr val="FF0000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recommend you read 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this section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</a:t>
            </a:r>
            <a:r>
              <a:rPr lang="en-GB" spc="80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https://www.w3schools.com/js/js_variables.asp</a:t>
            </a: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6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Always declare JavaScript variables with var, let, or const.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var keyword is used in all JavaScript code from 1995 to 2015.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let and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keywords were added to JavaScript in 2015.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If you want your code to run in an older browser, you must use var.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08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const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984"/>
            <a:ext cx="10515600" cy="50748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keyword was introduced in 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ES6 (2015)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cannot be Redeclared.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cannot be Reassigned.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have Block Scope.</a:t>
            </a:r>
          </a:p>
          <a:p>
            <a:pPr>
              <a:lnSpc>
                <a:spcPct val="170000"/>
              </a:lnSpc>
            </a:pPr>
            <a:r>
              <a:rPr lang="en-GB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As a general rule, always declare a variable with </a:t>
            </a:r>
            <a:r>
              <a:rPr lang="en-GB" b="1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b="1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unless you know that the value will change. 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Use </a:t>
            </a:r>
            <a:r>
              <a:rPr lang="en-GB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const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 when you declare:</a:t>
            </a:r>
          </a:p>
          <a:p>
            <a:pPr>
              <a:lnSpc>
                <a:spcPct val="17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A new Array, a new Object or a new Function</a:t>
            </a: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90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E374D-4349-6643-A8A9-2AAD365A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spc="60" dirty="0">
                <a:solidFill>
                  <a:srgbClr val="D3473F"/>
                </a:solidFill>
                <a:latin typeface="American Typewriter" panose="02090604020004020304" pitchFamily="18" charset="77"/>
                <a:ea typeface="Helvetica Neue Thin" panose="020B0403020202020204" pitchFamily="34" charset="0"/>
                <a:cs typeface="Georgia Pro Cond Black" panose="020F0502020204030204" pitchFamily="34" charset="0"/>
              </a:rPr>
              <a:t>let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443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The let keyword was introduced in 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2"/>
              </a:rPr>
              <a:t>ES6 (2015)</a:t>
            </a: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let cannot be Redeclared.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let must be Declared before use.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Variables defined with let have Block Scope.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Helvetica Neue Light" panose="02000403000000020004" pitchFamily="2" charset="0"/>
                <a:ea typeface="Helvetica Neue Light" panose="02000403000000020004" pitchFamily="2" charset="0"/>
                <a:hlinkClick r:id="rId3"/>
              </a:rPr>
              <a:t>https://www.freecodecamp.org/news/understanding-let-const-and-var-keywords/</a:t>
            </a: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pc="80" dirty="0">
              <a:solidFill>
                <a:schemeClr val="tx1">
                  <a:lumMod val="85000"/>
                  <a:lumOff val="15000"/>
                </a:schemeClr>
              </a:solidFill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>
              <a:lnSpc>
                <a:spcPct val="150000"/>
              </a:lnSpc>
            </a:pPr>
            <a:endParaRPr lang="en-GB" sz="2400" spc="8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41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5B50">
                <a:alpha val="83137"/>
              </a:srgbClr>
            </a:gs>
            <a:gs pos="41000">
              <a:srgbClr val="FF574B">
                <a:lumMod val="87000"/>
                <a:lumOff val="13000"/>
              </a:srgbClr>
            </a:gs>
            <a:gs pos="100000">
              <a:srgbClr val="FF574B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A0D87F-49D7-0149-8CAF-6C97CFF25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247136"/>
            <a:ext cx="12192000" cy="5152767"/>
          </a:xfrm>
          <a:effectLst>
            <a:outerShdw blurRad="266700" dist="127000" dir="13500000" algn="br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GB" sz="40000" spc="70" dirty="0">
                <a:solidFill>
                  <a:schemeClr val="bg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447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838</Words>
  <Application>Microsoft Macintosh PowerPoint</Application>
  <PresentationFormat>Widescreen</PresentationFormat>
  <Paragraphs>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American Typewriter</vt:lpstr>
      <vt:lpstr>Arial</vt:lpstr>
      <vt:lpstr>Calibri</vt:lpstr>
      <vt:lpstr>Calibri Light</vt:lpstr>
      <vt:lpstr>Courier New</vt:lpstr>
      <vt:lpstr>Helvetica Neue</vt:lpstr>
      <vt:lpstr>Helvetica Neue Light</vt:lpstr>
      <vt:lpstr>Helvetica Neue Thin</vt:lpstr>
      <vt:lpstr>Times New Roman</vt:lpstr>
      <vt:lpstr>Trebuchet MS</vt:lpstr>
      <vt:lpstr>Office Theme</vt:lpstr>
      <vt:lpstr>COMP 1842</vt:lpstr>
      <vt:lpstr>What is JavaScript?</vt:lpstr>
      <vt:lpstr>If you only remember one thing from today… JavaScript  is not Java</vt:lpstr>
      <vt:lpstr>PowerPoint Presentation</vt:lpstr>
      <vt:lpstr>PowerPoint Presentation</vt:lpstr>
      <vt:lpstr>Alert box in FireFox</vt:lpstr>
      <vt:lpstr>PowerPoint Presentation</vt:lpstr>
      <vt:lpstr>PowerPoint Presentation</vt:lpstr>
      <vt:lpstr>PowerPoint Presentation</vt:lpstr>
      <vt:lpstr>innerHTML</vt:lpstr>
      <vt:lpstr>innerHTML cont.</vt:lpstr>
      <vt:lpstr>PowerPoint Presentation</vt:lpstr>
      <vt:lpstr>Inner html in a browser</vt:lpstr>
      <vt:lpstr>PowerPoint Presentation</vt:lpstr>
      <vt:lpstr>Variables</vt:lpstr>
      <vt:lpstr>PowerPoint Presentation</vt:lpstr>
      <vt:lpstr>PowerPoint Presentation</vt:lpstr>
      <vt:lpstr>PowerPoint Presentation</vt:lpstr>
      <vt:lpstr>Variable names - summary</vt:lpstr>
      <vt:lpstr>Concatenation</vt:lpstr>
      <vt:lpstr>Comments // ………</vt:lpstr>
      <vt:lpstr>Crash course continues</vt:lpstr>
      <vt:lpstr>let vs const vs var</vt:lpstr>
      <vt:lpstr>const</vt:lpstr>
      <vt:lpstr>let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1321</dc:title>
  <dc:creator>Matthew Prichard</dc:creator>
  <cp:lastModifiedBy>Matthew Prichard</cp:lastModifiedBy>
  <cp:revision>52</cp:revision>
  <dcterms:created xsi:type="dcterms:W3CDTF">2020-06-28T01:46:05Z</dcterms:created>
  <dcterms:modified xsi:type="dcterms:W3CDTF">2025-01-09T10:37:49Z</dcterms:modified>
</cp:coreProperties>
</file>