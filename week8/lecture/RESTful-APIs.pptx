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74" r:id="rId4"/>
    <p:sldId id="357" r:id="rId5"/>
    <p:sldId id="358" r:id="rId6"/>
    <p:sldId id="360" r:id="rId7"/>
    <p:sldId id="359" r:id="rId8"/>
    <p:sldId id="361" r:id="rId9"/>
    <p:sldId id="362" r:id="rId10"/>
    <p:sldId id="363" r:id="rId11"/>
    <p:sldId id="364" r:id="rId12"/>
    <p:sldId id="365" r:id="rId13"/>
    <p:sldId id="366" r:id="rId14"/>
    <p:sldId id="367" r:id="rId15"/>
    <p:sldId id="368" r:id="rId16"/>
    <p:sldId id="370" r:id="rId17"/>
    <p:sldId id="371" r:id="rId18"/>
    <p:sldId id="372" r:id="rId19"/>
    <p:sldId id="373" r:id="rId20"/>
    <p:sldId id="374" r:id="rId21"/>
    <p:sldId id="289" r:id="rId22"/>
    <p:sldId id="377" r:id="rId23"/>
    <p:sldId id="369" r:id="rId24"/>
    <p:sldId id="375" r:id="rId25"/>
    <p:sldId id="270" r:id="rId26"/>
    <p:sldId id="388" r:id="rId27"/>
    <p:sldId id="378" r:id="rId28"/>
    <p:sldId id="379" r:id="rId29"/>
    <p:sldId id="380" r:id="rId30"/>
    <p:sldId id="381" r:id="rId31"/>
    <p:sldId id="382" r:id="rId32"/>
    <p:sldId id="384" r:id="rId33"/>
    <p:sldId id="385" r:id="rId34"/>
    <p:sldId id="376" r:id="rId35"/>
    <p:sldId id="387" r:id="rId36"/>
    <p:sldId id="391" r:id="rId37"/>
    <p:sldId id="390" r:id="rId38"/>
    <p:sldId id="392" r:id="rId39"/>
    <p:sldId id="393" r:id="rId40"/>
    <p:sldId id="394" r:id="rId41"/>
    <p:sldId id="395" r:id="rId42"/>
    <p:sldId id="396" r:id="rId43"/>
    <p:sldId id="397" r:id="rId44"/>
    <p:sldId id="398" r:id="rId45"/>
    <p:sldId id="399" r:id="rId46"/>
    <p:sldId id="400" r:id="rId47"/>
    <p:sldId id="401" r:id="rId48"/>
    <p:sldId id="402" r:id="rId49"/>
    <p:sldId id="403" r:id="rId50"/>
    <p:sldId id="404" r:id="rId51"/>
    <p:sldId id="405" r:id="rId52"/>
    <p:sldId id="406" r:id="rId53"/>
    <p:sldId id="407" r:id="rId54"/>
    <p:sldId id="389" r:id="rId55"/>
    <p:sldId id="408" r:id="rId56"/>
    <p:sldId id="409" r:id="rId57"/>
    <p:sldId id="410" r:id="rId58"/>
    <p:sldId id="386" r:id="rId59"/>
    <p:sldId id="355" r:id="rId60"/>
    <p:sldId id="411" r:id="rId61"/>
    <p:sldId id="412" r:id="rId62"/>
    <p:sldId id="413" r:id="rId63"/>
    <p:sldId id="414" r:id="rId64"/>
    <p:sldId id="415" r:id="rId65"/>
    <p:sldId id="416" r:id="rId66"/>
    <p:sldId id="323" r:id="rId67"/>
    <p:sldId id="356" r:id="rId68"/>
    <p:sldId id="290" r:id="rId69"/>
    <p:sldId id="262"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74B"/>
    <a:srgbClr val="D3473F"/>
    <a:srgbClr val="FF5B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097"/>
    <p:restoredTop sz="86395"/>
  </p:normalViewPr>
  <p:slideViewPr>
    <p:cSldViewPr snapToGrid="0" snapToObjects="1">
      <p:cViewPr varScale="1">
        <p:scale>
          <a:sx n="110" d="100"/>
          <a:sy n="110" d="100"/>
        </p:scale>
        <p:origin x="192" y="552"/>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4.141"/>
    </inkml:context>
    <inkml:brush xml:id="br0">
      <inkml:brushProperty name="width" value="0.05" units="cm"/>
      <inkml:brushProperty name="height" value="0.05" units="cm"/>
      <inkml:brushProperty name="color" value="#E71224"/>
    </inkml:brush>
  </inkml:definitions>
  <inkml:trace contextRef="#ctx0" brushRef="#br0">1 10 24575,'0'-6'0,"0"2"0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15.093"/>
    </inkml:context>
    <inkml:brush xml:id="br0">
      <inkml:brushProperty name="width" value="0.05" units="cm"/>
      <inkml:brushProperty name="height" value="0.05" units="cm"/>
      <inkml:brushProperty name="color" value="#E71224"/>
    </inkml:brush>
  </inkml:definitions>
  <inkml:trace contextRef="#ctx0" brushRef="#br0">1 1 24575,'5'5'0,"-1"-1"0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0.298"/>
    </inkml:context>
    <inkml:brush xml:id="br0">
      <inkml:brushProperty name="width" value="0.05" units="cm"/>
      <inkml:brushProperty name="height" value="0.05" units="cm"/>
      <inkml:brushProperty name="color" value="#E71224"/>
    </inkml:brush>
  </inkml:definitions>
  <inkml:trace contextRef="#ctx0" brushRef="#br0">1 10 24575,'0'-5'0,"0"1"0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6.089"/>
    </inkml:context>
    <inkml:brush xml:id="br0">
      <inkml:brushProperty name="width" value="0.05" units="cm"/>
      <inkml:brushProperty name="height" value="0.05" units="cm"/>
      <inkml:brushProperty name="color" value="#E71224"/>
    </inkml:brush>
  </inkml:definitions>
  <inkml:trace contextRef="#ctx0" brushRef="#br0">1 0 24575,'0'0'0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6-28T01:47:28.710"/>
    </inkml:context>
    <inkml:brush xml:id="br0">
      <inkml:brushProperty name="width" value="0.05" units="cm"/>
      <inkml:brushProperty name="height" value="0.05" units="cm"/>
      <inkml:brushProperty name="color" value="#E71224"/>
    </inkml:brush>
  </inkml:definitions>
  <inkml:trace contextRef="#ctx0" brushRef="#br0">0 1 24575,'5'0'0,"-1"0"0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F539-EFFE-4545-8560-8B85D420C59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A27E099-A4CF-C148-8D5A-DC7DCE6EA0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614F13F-321A-6C44-A529-3C63949C72C6}"/>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97777D4B-E972-3F48-8AB6-BC30D35A46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F37F83-FC1F-964D-9D14-71EC1C06AE71}"/>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63798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88E1E-8C7B-BF49-ADDF-0DBF11C19E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196981E-8F9B-D64C-9D10-A1DF590341E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6020193-341C-E347-A42A-A1A21E43FF77}"/>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2B618F1D-D2AE-3E45-9684-41082CDD0F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C77C00-9FE2-D644-877F-E440C7FDB26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12644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9FB7A-866B-8144-B7A1-B3D2CE8B4D3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EA9333F-7620-324C-821F-9AD4629D80B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41DDB4-466A-D142-8FFA-437B8B3B2108}"/>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0E5B42E0-284F-5746-B82C-C36E036E5B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C5C72-09E6-E047-BEF5-956CDC65F70E}"/>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32786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B2E35-2AE7-6F47-B4DA-83DE0DF4746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FCAD58-35EE-E345-9223-93C0D708CAE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64EF8E7-11C7-6E44-9C23-E6F8B255FA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1588C67-D211-A347-94D3-2566B042CEAC}"/>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6" name="Footer Placeholder 5">
            <a:extLst>
              <a:ext uri="{FF2B5EF4-FFF2-40B4-BE49-F238E27FC236}">
                <a16:creationId xmlns:a16="http://schemas.microsoft.com/office/drawing/2014/main" id="{BF3FAA6E-E7CE-1B4F-A78D-8055C20FF5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6079D9-12B3-A149-9192-6D6EE5E58F8C}"/>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1696109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17B05-85DB-5A4D-931F-231EBBA11290}"/>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6F10373-280F-CA46-BE02-633860BE99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50A25CD-D56D-9749-8FA7-012A6FFB1AD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B1940AEA-A232-8E45-B81D-24868FB2C4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2DB3D5C-B45E-294F-899C-37B8ABB4452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F43D68E-FDF7-C045-8CAA-189B56B2E697}"/>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8" name="Footer Placeholder 7">
            <a:extLst>
              <a:ext uri="{FF2B5EF4-FFF2-40B4-BE49-F238E27FC236}">
                <a16:creationId xmlns:a16="http://schemas.microsoft.com/office/drawing/2014/main" id="{7C413D46-B78B-B34E-A26D-1E905B740B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BDADF-5108-CD45-9618-15BBE06090DB}"/>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9949294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59E0C-142B-1A4D-89C5-B127E3184B4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98F2823E-3DFF-BC40-A52F-4043983FB2DD}"/>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4" name="Footer Placeholder 3">
            <a:extLst>
              <a:ext uri="{FF2B5EF4-FFF2-40B4-BE49-F238E27FC236}">
                <a16:creationId xmlns:a16="http://schemas.microsoft.com/office/drawing/2014/main" id="{124D8986-40E4-9C4C-9000-D7F27294F6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36A2C31-69A8-2541-8800-BF6093390D3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2805145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E6F4BA-B7C3-0B40-A517-3063895B03DF}"/>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3" name="Footer Placeholder 2">
            <a:extLst>
              <a:ext uri="{FF2B5EF4-FFF2-40B4-BE49-F238E27FC236}">
                <a16:creationId xmlns:a16="http://schemas.microsoft.com/office/drawing/2014/main" id="{4797E2D8-25FE-5D4E-AA84-54C5D96B6F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73C8086-56AB-5846-9B21-24E9FACF9EE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564853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5128B-CB7D-4949-BDCD-CEA57AD6536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4C22BEB-180F-2C4F-AD00-7398A27FFD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D449D24-1922-914E-8AE1-EDB93293A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6CC72B2-DD18-5848-8941-A617E3E7920F}"/>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6" name="Footer Placeholder 5">
            <a:extLst>
              <a:ext uri="{FF2B5EF4-FFF2-40B4-BE49-F238E27FC236}">
                <a16:creationId xmlns:a16="http://schemas.microsoft.com/office/drawing/2014/main" id="{688227D4-8A18-8847-B7F4-B294D0E212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41A7C-E471-BB41-A5AE-D7F2A5EF524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012060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BA7A-65F6-804A-9941-BCE8970B95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A38F054-1226-C841-8344-D63DBC0215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C11DC94-414C-3F41-B393-D969AAC6A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DE8132-7D31-F647-A931-5987A506D35F}"/>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6" name="Footer Placeholder 5">
            <a:extLst>
              <a:ext uri="{FF2B5EF4-FFF2-40B4-BE49-F238E27FC236}">
                <a16:creationId xmlns:a16="http://schemas.microsoft.com/office/drawing/2014/main" id="{59DF137E-B2CD-DD4D-BF38-E08630C9F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EF7E92-EA36-7B48-A10F-1F43EE78FE1D}"/>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384561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4E04-9F9F-AB48-88B1-E1883CD331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2657EA1-F037-8B4E-9A3A-2DE41A3DEF8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8DB8C3C-2D4F-BE41-8BC7-084B83BEFA84}"/>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D612D0DE-14FE-1D40-BE53-A452852B6E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71D8C1-DBB4-6047-9F3A-27574BE70FD2}"/>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3181895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A564D8-A2EB-6040-A321-450F2B3B531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E19CC6-DE46-8941-A1E0-A043207418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84B8749-56EB-B24A-9291-4EBB8B556CFA}"/>
              </a:ext>
            </a:extLst>
          </p:cNvPr>
          <p:cNvSpPr>
            <a:spLocks noGrp="1"/>
          </p:cNvSpPr>
          <p:nvPr>
            <p:ph type="dt" sz="half" idx="10"/>
          </p:nvPr>
        </p:nvSpPr>
        <p:spPr/>
        <p:txBody>
          <a:body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527ABE29-13B7-C144-9FE6-C43F1BC65D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9BD64-DA0B-7445-BB80-5A502968ADB6}"/>
              </a:ext>
            </a:extLst>
          </p:cNvPr>
          <p:cNvSpPr>
            <a:spLocks noGrp="1"/>
          </p:cNvSpPr>
          <p:nvPr>
            <p:ph type="sldNum" sz="quarter" idx="12"/>
          </p:nvPr>
        </p:nvSpPr>
        <p:spPr/>
        <p:txBody>
          <a:bodyPr/>
          <a:lstStyle/>
          <a:p>
            <a:fld id="{C68301A9-E266-4A4D-81C0-23C5428F31B4}" type="slidenum">
              <a:rPr lang="en-US" smtClean="0"/>
              <a:t>‹#›</a:t>
            </a:fld>
            <a:endParaRPr lang="en-US"/>
          </a:p>
        </p:txBody>
      </p:sp>
    </p:spTree>
    <p:extLst>
      <p:ext uri="{BB962C8B-B14F-4D97-AF65-F5344CB8AC3E}">
        <p14:creationId xmlns:p14="http://schemas.microsoft.com/office/powerpoint/2010/main" val="689319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A0518A-80A7-B946-A2C0-357FF80B48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66F8D-B95D-3748-A8C1-B613B61AC5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01E4AA-0008-E746-A8C3-917D9ECC1F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E38E33-E634-164E-9160-E9D257145221}" type="datetimeFigureOut">
              <a:rPr lang="en-US" smtClean="0"/>
              <a:t>3/3/25</a:t>
            </a:fld>
            <a:endParaRPr lang="en-US"/>
          </a:p>
        </p:txBody>
      </p:sp>
      <p:sp>
        <p:nvSpPr>
          <p:cNvPr id="5" name="Footer Placeholder 4">
            <a:extLst>
              <a:ext uri="{FF2B5EF4-FFF2-40B4-BE49-F238E27FC236}">
                <a16:creationId xmlns:a16="http://schemas.microsoft.com/office/drawing/2014/main" id="{32A644B1-065E-4C4F-8DD6-AB21405884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71CFFB-C884-9249-B66F-52213D9049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8301A9-E266-4A4D-81C0-23C5428F31B4}" type="slidenum">
              <a:rPr lang="en-US" smtClean="0"/>
              <a:t>‹#›</a:t>
            </a:fld>
            <a:endParaRPr lang="en-US"/>
          </a:p>
        </p:txBody>
      </p:sp>
    </p:spTree>
    <p:extLst>
      <p:ext uri="{BB962C8B-B14F-4D97-AF65-F5344CB8AC3E}">
        <p14:creationId xmlns:p14="http://schemas.microsoft.com/office/powerpoint/2010/main" val="18321462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customXml" Target="../ink/ink4.xml"/><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customXml" Target="../ink/ink3.xml"/><Relationship Id="rId5" Type="http://schemas.openxmlformats.org/officeDocument/2006/relationships/image" Target="../media/image2.png"/><Relationship Id="rId10" Type="http://schemas.openxmlformats.org/officeDocument/2006/relationships/image" Target="../media/image4.png"/><Relationship Id="rId4" Type="http://schemas.openxmlformats.org/officeDocument/2006/relationships/customXml" Target="../ink/ink2.xml"/><Relationship Id="rId9" Type="http://schemas.openxmlformats.org/officeDocument/2006/relationships/customXml" Target="../ink/ink5.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en.wikipedia.org/wiki/Representational_state_transfer#Reference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twitter.com/OzzyOsbourn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codementor.io/@olatundegaruba/nodejs-restful-apis-in-10-minutes-q0sgsfhb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en.wikipedia.org/wiki/Uniform_Resource_Identifier"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simplilearn.com/tutorials/nodejs-tutorial/body-parser-in-express-js" TargetMode="Externa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hyperlink" Target="http://localhost:3000/tasks" TargetMode="External"/><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hyperlink" Target="https://tech.joellemena.com/tech/how-to-resolve-the-error-fsevents-node-cannot-be-opened-because-the-developer-cannot-be-verified/" TargetMode="External"/><Relationship Id="rId2" Type="http://schemas.openxmlformats.org/officeDocument/2006/relationships/hyperlink" Target="https://stackoverflow.com/questions/77587325/deprecationwarning-the-punycode-module-is-deprecated"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hyperlink" Target="https://code.tutsplus.com/tutorials/a-beginners-guide-to-http-and-rest--net-16340" TargetMode="External"/><Relationship Id="rId2" Type="http://schemas.openxmlformats.org/officeDocument/2006/relationships/hyperlink" Target="https://aws.amazon.com/what-is/api" TargetMode="External"/><Relationship Id="rId1" Type="http://schemas.openxmlformats.org/officeDocument/2006/relationships/slideLayout" Target="../slideLayouts/slideLayout2.xml"/><Relationship Id="rId6" Type="http://schemas.openxmlformats.org/officeDocument/2006/relationships/hyperlink" Target="https://www.codementor.io/@olatundegaruba/nodejs-restful-apis-in-10-minutes-q0sgsfhbd" TargetMode="External"/><Relationship Id="rId5" Type="http://schemas.openxmlformats.org/officeDocument/2006/relationships/hyperlink" Target="https://www.freecodecamp.org/news/what-is-rest-rest-api-definition-for-beginners" TargetMode="External"/><Relationship Id="rId4" Type="http://schemas.openxmlformats.org/officeDocument/2006/relationships/hyperlink" Target="https://medium.com/extend/what-is-rest-a-simple-explanation-for-beginners-part-1-introduction-b4a072f8740f" TargetMode="External"/></Relationships>
</file>

<file path=ppt/slides/_rels/slide68.xml.rels><?xml version="1.0" encoding="UTF-8" standalone="yes"?>
<Relationships xmlns="http://schemas.openxmlformats.org/package/2006/relationships"><Relationship Id="rId2" Type="http://schemas.openxmlformats.org/officeDocument/2006/relationships/image" Target="../media/image39.gi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574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FC8B91-A0EF-6441-AC27-9667FD447C0F}"/>
              </a:ext>
            </a:extLst>
          </p:cNvPr>
          <p:cNvSpPr>
            <a:spLocks noGrp="1"/>
          </p:cNvSpPr>
          <p:nvPr>
            <p:ph type="ctrTitle"/>
          </p:nvPr>
        </p:nvSpPr>
        <p:spPr>
          <a:xfrm>
            <a:off x="0" y="1604375"/>
            <a:ext cx="12192000" cy="2472633"/>
          </a:xfrm>
          <a:ln>
            <a:noFill/>
          </a:ln>
          <a:effectLst>
            <a:outerShdw blurRad="165100" dist="101600" dir="5400000" algn="t" rotWithShape="0">
              <a:prstClr val="black">
                <a:alpha val="40000"/>
              </a:prstClr>
            </a:outerShdw>
          </a:effectLst>
        </p:spPr>
        <p:txBody>
          <a:bodyPr>
            <a:noAutofit/>
          </a:bodyPr>
          <a:lstStyle/>
          <a:p>
            <a:r>
              <a:rPr lang="en-US" sz="1500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COMP 1842</a:t>
            </a:r>
          </a:p>
        </p:txBody>
      </p:sp>
      <p:sp>
        <p:nvSpPr>
          <p:cNvPr id="3" name="Subtitle 2">
            <a:extLst>
              <a:ext uri="{FF2B5EF4-FFF2-40B4-BE49-F238E27FC236}">
                <a16:creationId xmlns:a16="http://schemas.microsoft.com/office/drawing/2014/main" id="{7CC15634-394B-C140-BAEF-ABAB8B4926C9}"/>
              </a:ext>
            </a:extLst>
          </p:cNvPr>
          <p:cNvSpPr>
            <a:spLocks noGrp="1"/>
          </p:cNvSpPr>
          <p:nvPr>
            <p:ph type="subTitle" idx="1"/>
          </p:nvPr>
        </p:nvSpPr>
        <p:spPr>
          <a:xfrm>
            <a:off x="0" y="4640041"/>
            <a:ext cx="12192000" cy="1244392"/>
          </a:xfrm>
        </p:spPr>
        <p:txBody>
          <a:bodyPr>
            <a:normAutofit fontScale="92500" lnSpcReduction="10000"/>
          </a:bodyPr>
          <a:lstStyle/>
          <a:p>
            <a:r>
              <a:rPr lang="en-US" dirty="0">
                <a:solidFill>
                  <a:schemeClr val="bg1"/>
                </a:solidFill>
                <a:latin typeface="Helvetica Neue Thin" panose="020B0403020202020204" pitchFamily="34" charset="0"/>
                <a:ea typeface="Helvetica Neue Thin" panose="020B0403020202020204" pitchFamily="34" charset="0"/>
              </a:rPr>
              <a:t>Week 8 - RESTful APIs</a:t>
            </a:r>
          </a:p>
          <a:p>
            <a:endParaRPr lang="en-US" dirty="0">
              <a:solidFill>
                <a:schemeClr val="bg1"/>
              </a:solidFill>
              <a:latin typeface="Helvetica Neue Thin" panose="020B0403020202020204" pitchFamily="34" charset="0"/>
              <a:ea typeface="Helvetica Neue Thin" panose="020B0403020202020204" pitchFamily="34" charset="0"/>
            </a:endParaRPr>
          </a:p>
          <a:p>
            <a:r>
              <a:rPr lang="en-US" dirty="0">
                <a:solidFill>
                  <a:schemeClr val="bg1"/>
                </a:solidFill>
                <a:latin typeface="Helvetica Neue Thin" panose="020B0403020202020204" pitchFamily="34" charset="0"/>
                <a:ea typeface="Helvetica Neue Thin" panose="020B0403020202020204" pitchFamily="34" charset="0"/>
              </a:rPr>
              <a:t>Matt Prichard</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D7C0677-BBE1-414B-814E-FB526796BABE}"/>
                  </a:ext>
                </a:extLst>
              </p14:cNvPr>
              <p14:cNvContentPartPr/>
              <p14:nvPr/>
            </p14:nvContentPartPr>
            <p14:xfrm>
              <a:off x="8651014" y="2840692"/>
              <a:ext cx="360" cy="3600"/>
            </p14:xfrm>
          </p:contentPart>
        </mc:Choice>
        <mc:Fallback xmlns="">
          <p:pic>
            <p:nvPicPr>
              <p:cNvPr id="5" name="Ink 4">
                <a:extLst>
                  <a:ext uri="{FF2B5EF4-FFF2-40B4-BE49-F238E27FC236}">
                    <a16:creationId xmlns:a16="http://schemas.microsoft.com/office/drawing/2014/main" id="{DD7C0677-BBE1-414B-814E-FB526796BABE}"/>
                  </a:ext>
                </a:extLst>
              </p:cNvPr>
              <p:cNvPicPr/>
              <p:nvPr/>
            </p:nvPicPr>
            <p:blipFill>
              <a:blip r:embed="rId3"/>
              <a:stretch>
                <a:fillRect/>
              </a:stretch>
            </p:blipFill>
            <p:spPr>
              <a:xfrm>
                <a:off x="8642374" y="283169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2850E275-2940-D64F-8F9D-8FEA90F263CD}"/>
                  </a:ext>
                </a:extLst>
              </p14:cNvPr>
              <p14:cNvContentPartPr/>
              <p14:nvPr/>
            </p14:nvContentPartPr>
            <p14:xfrm>
              <a:off x="7568494" y="1355692"/>
              <a:ext cx="3600" cy="3600"/>
            </p14:xfrm>
          </p:contentPart>
        </mc:Choice>
        <mc:Fallback xmlns="">
          <p:pic>
            <p:nvPicPr>
              <p:cNvPr id="6" name="Ink 5">
                <a:extLst>
                  <a:ext uri="{FF2B5EF4-FFF2-40B4-BE49-F238E27FC236}">
                    <a16:creationId xmlns:a16="http://schemas.microsoft.com/office/drawing/2014/main" id="{2850E275-2940-D64F-8F9D-8FEA90F263CD}"/>
                  </a:ext>
                </a:extLst>
              </p:cNvPr>
              <p:cNvPicPr/>
              <p:nvPr/>
            </p:nvPicPr>
            <p:blipFill>
              <a:blip r:embed="rId5"/>
              <a:stretch>
                <a:fillRect/>
              </a:stretch>
            </p:blipFill>
            <p:spPr>
              <a:xfrm>
                <a:off x="7559854" y="1347052"/>
                <a:ext cx="2124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3C9CF2D3-71F9-664F-83A1-4ACBF7039607}"/>
                  </a:ext>
                </a:extLst>
              </p14:cNvPr>
              <p14:cNvContentPartPr/>
              <p14:nvPr/>
            </p14:nvContentPartPr>
            <p14:xfrm>
              <a:off x="5078734" y="3049852"/>
              <a:ext cx="360" cy="3600"/>
            </p14:xfrm>
          </p:contentPart>
        </mc:Choice>
        <mc:Fallback xmlns="">
          <p:pic>
            <p:nvPicPr>
              <p:cNvPr id="7" name="Ink 6">
                <a:extLst>
                  <a:ext uri="{FF2B5EF4-FFF2-40B4-BE49-F238E27FC236}">
                    <a16:creationId xmlns:a16="http://schemas.microsoft.com/office/drawing/2014/main" id="{3C9CF2D3-71F9-664F-83A1-4ACBF7039607}"/>
                  </a:ext>
                </a:extLst>
              </p:cNvPr>
              <p:cNvPicPr/>
              <p:nvPr/>
            </p:nvPicPr>
            <p:blipFill>
              <a:blip r:embed="rId3"/>
              <a:stretch>
                <a:fillRect/>
              </a:stretch>
            </p:blipFill>
            <p:spPr>
              <a:xfrm>
                <a:off x="5070094" y="3041212"/>
                <a:ext cx="1800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8FDACCB0-A54B-354A-A3EC-60B7525CDF0A}"/>
                  </a:ext>
                </a:extLst>
              </p14:cNvPr>
              <p14:cNvContentPartPr/>
              <p14:nvPr/>
            </p14:nvContentPartPr>
            <p14:xfrm>
              <a:off x="5525854" y="1776532"/>
              <a:ext cx="360" cy="360"/>
            </p14:xfrm>
          </p:contentPart>
        </mc:Choice>
        <mc:Fallback xmlns="">
          <p:pic>
            <p:nvPicPr>
              <p:cNvPr id="8" name="Ink 7">
                <a:extLst>
                  <a:ext uri="{FF2B5EF4-FFF2-40B4-BE49-F238E27FC236}">
                    <a16:creationId xmlns:a16="http://schemas.microsoft.com/office/drawing/2014/main" id="{8FDACCB0-A54B-354A-A3EC-60B7525CDF0A}"/>
                  </a:ext>
                </a:extLst>
              </p:cNvPr>
              <p:cNvPicPr/>
              <p:nvPr/>
            </p:nvPicPr>
            <p:blipFill>
              <a:blip r:embed="rId8"/>
              <a:stretch>
                <a:fillRect/>
              </a:stretch>
            </p:blipFill>
            <p:spPr>
              <a:xfrm>
                <a:off x="5517214" y="1767532"/>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6465448C-44AF-1340-8608-65DF607A0667}"/>
                  </a:ext>
                </a:extLst>
              </p14:cNvPr>
              <p14:cNvContentPartPr/>
              <p14:nvPr/>
            </p14:nvContentPartPr>
            <p14:xfrm>
              <a:off x="768814" y="1290172"/>
              <a:ext cx="3600" cy="360"/>
            </p14:xfrm>
          </p:contentPart>
        </mc:Choice>
        <mc:Fallback xmlns="">
          <p:pic>
            <p:nvPicPr>
              <p:cNvPr id="9" name="Ink 8">
                <a:extLst>
                  <a:ext uri="{FF2B5EF4-FFF2-40B4-BE49-F238E27FC236}">
                    <a16:creationId xmlns:a16="http://schemas.microsoft.com/office/drawing/2014/main" id="{6465448C-44AF-1340-8608-65DF607A0667}"/>
                  </a:ext>
                </a:extLst>
              </p:cNvPr>
              <p:cNvPicPr/>
              <p:nvPr/>
            </p:nvPicPr>
            <p:blipFill>
              <a:blip r:embed="rId10"/>
              <a:stretch>
                <a:fillRect/>
              </a:stretch>
            </p:blipFill>
            <p:spPr>
              <a:xfrm>
                <a:off x="759814" y="1281532"/>
                <a:ext cx="21240" cy="18000"/>
              </a:xfrm>
              <a:prstGeom prst="rect">
                <a:avLst/>
              </a:prstGeom>
            </p:spPr>
          </p:pic>
        </mc:Fallback>
      </mc:AlternateContent>
    </p:spTree>
    <p:extLst>
      <p:ext uri="{BB962C8B-B14F-4D97-AF65-F5344CB8AC3E}">
        <p14:creationId xmlns:p14="http://schemas.microsoft.com/office/powerpoint/2010/main" val="1634206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Introduction</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825625"/>
            <a:ext cx="5690972" cy="4351338"/>
          </a:xfrm>
        </p:spPr>
        <p:txBody>
          <a:bodyPr>
            <a:normAutofit/>
          </a:bodyPr>
          <a:lstStyle/>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API</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REST</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Methods/Verbs</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Coding a simple API</a:t>
            </a:r>
          </a:p>
          <a:p>
            <a:pPr marL="0" indent="0">
              <a:lnSpc>
                <a:spcPct val="150000"/>
              </a:lnSpc>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rPr>
              <a:t>Testing in Postcode</a:t>
            </a:r>
          </a:p>
        </p:txBody>
      </p:sp>
      <p:pic>
        <p:nvPicPr>
          <p:cNvPr id="2" name="Picture 2" descr="Simple and Easy way to Build a RESTful API using Node.js | opencodez">
            <a:extLst>
              <a:ext uri="{FF2B5EF4-FFF2-40B4-BE49-F238E27FC236}">
                <a16:creationId xmlns:a16="http://schemas.microsoft.com/office/drawing/2014/main" id="{E454037E-9011-374C-A634-AD6962B3B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4646" y="1315109"/>
            <a:ext cx="5996054" cy="4227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6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API</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81241"/>
            <a:ext cx="10515600" cy="4351338"/>
          </a:xfrm>
        </p:spPr>
        <p:txBody>
          <a:bodyPr>
            <a:noAutofit/>
          </a:bodyPr>
          <a:lstStyle/>
          <a:p>
            <a:pPr marL="0" indent="0" algn="l">
              <a:lnSpc>
                <a:spcPct val="150000"/>
              </a:lnSpc>
              <a:buNone/>
            </a:pPr>
            <a:r>
              <a:rPr lang="en-GB" sz="2400" b="1" dirty="0">
                <a:solidFill>
                  <a:srgbClr val="232F3E"/>
                </a:solidFill>
                <a:effectLst/>
                <a:latin typeface="Helvetica Neue Light" panose="02000403000000020004" pitchFamily="2" charset="0"/>
                <a:ea typeface="Helvetica Neue Light" panose="02000403000000020004" pitchFamily="2" charset="0"/>
              </a:rPr>
              <a:t>What is an API?</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APIs are mechanisms that enable two software components to communicate with each other using a set of definitions and protocols.</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For example, the met office’s software system contains daily weather data.</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The weather app on your phone “talks” to this system via APIs and shows you daily weather updates on your phone.</a:t>
            </a:r>
          </a:p>
        </p:txBody>
      </p:sp>
    </p:spTree>
    <p:extLst>
      <p:ext uri="{BB962C8B-B14F-4D97-AF65-F5344CB8AC3E}">
        <p14:creationId xmlns:p14="http://schemas.microsoft.com/office/powerpoint/2010/main" val="2322016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API</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98114"/>
            <a:ext cx="10515600" cy="5002686"/>
          </a:xfrm>
        </p:spPr>
        <p:txBody>
          <a:bodyPr>
            <a:noAutofit/>
          </a:bodyPr>
          <a:lstStyle/>
          <a:p>
            <a:pPr marL="0" indent="0" algn="l">
              <a:lnSpc>
                <a:spcPct val="150000"/>
              </a:lnSpc>
              <a:buNone/>
            </a:pPr>
            <a:r>
              <a:rPr lang="en-GB" sz="2400" b="1" dirty="0">
                <a:solidFill>
                  <a:srgbClr val="232F3E"/>
                </a:solidFill>
                <a:effectLst/>
                <a:latin typeface="Helvetica Neue Light" panose="02000403000000020004" pitchFamily="2" charset="0"/>
                <a:ea typeface="Helvetica Neue Light" panose="02000403000000020004" pitchFamily="2" charset="0"/>
              </a:rPr>
              <a:t>What does API stand for?</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API stands for Application Programming Interface. In the context of APIs, the word </a:t>
            </a:r>
            <a:r>
              <a:rPr lang="en-GB" sz="2400" b="1" dirty="0">
                <a:solidFill>
                  <a:srgbClr val="FF574B"/>
                </a:solidFill>
                <a:effectLst/>
                <a:latin typeface="Helvetica Neue Light" panose="02000403000000020004" pitchFamily="2" charset="0"/>
                <a:ea typeface="Helvetica Neue Light" panose="02000403000000020004" pitchFamily="2" charset="0"/>
              </a:rPr>
              <a:t>Application</a:t>
            </a:r>
            <a:r>
              <a:rPr lang="en-GB" sz="2400" dirty="0">
                <a:solidFill>
                  <a:srgbClr val="333333"/>
                </a:solidFill>
                <a:effectLst/>
                <a:latin typeface="Helvetica Neue Light" panose="02000403000000020004" pitchFamily="2" charset="0"/>
                <a:ea typeface="Helvetica Neue Light" panose="02000403000000020004" pitchFamily="2" charset="0"/>
              </a:rPr>
              <a:t> refers to any software with a distinct function.</a:t>
            </a:r>
          </a:p>
          <a:p>
            <a:pPr>
              <a:lnSpc>
                <a:spcPct val="150000"/>
              </a:lnSpc>
            </a:pPr>
            <a:r>
              <a:rPr lang="en-GB" sz="2400" b="1" dirty="0">
                <a:solidFill>
                  <a:srgbClr val="FF574B"/>
                </a:solidFill>
                <a:latin typeface="Helvetica Neue Light" panose="02000403000000020004" pitchFamily="2" charset="0"/>
                <a:ea typeface="Helvetica Neue Light" panose="02000403000000020004" pitchFamily="2" charset="0"/>
              </a:rPr>
              <a:t>I</a:t>
            </a:r>
            <a:r>
              <a:rPr lang="en-GB" sz="2400" b="1" dirty="0">
                <a:solidFill>
                  <a:srgbClr val="FF574B"/>
                </a:solidFill>
                <a:effectLst/>
                <a:latin typeface="Helvetica Neue Light" panose="02000403000000020004" pitchFamily="2" charset="0"/>
                <a:ea typeface="Helvetica Neue Light" panose="02000403000000020004" pitchFamily="2" charset="0"/>
              </a:rPr>
              <a:t>nterface</a:t>
            </a:r>
            <a:r>
              <a:rPr lang="en-GB" sz="2400" dirty="0">
                <a:solidFill>
                  <a:srgbClr val="333333"/>
                </a:solidFill>
                <a:effectLst/>
                <a:latin typeface="Helvetica Neue Light" panose="02000403000000020004" pitchFamily="2" charset="0"/>
                <a:ea typeface="Helvetica Neue Light" panose="02000403000000020004" pitchFamily="2" charset="0"/>
              </a:rPr>
              <a:t> can be thought of as a contract of service between two applications. This contract defines how the two communicate with each other using requests and responses.</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Their API documentation contains information on how developers are to structure those requests and responses.</a:t>
            </a:r>
          </a:p>
        </p:txBody>
      </p:sp>
    </p:spTree>
    <p:extLst>
      <p:ext uri="{BB962C8B-B14F-4D97-AF65-F5344CB8AC3E}">
        <p14:creationId xmlns:p14="http://schemas.microsoft.com/office/powerpoint/2010/main" val="3301631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How do APIs work?</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90189"/>
            <a:ext cx="10515600" cy="5002686"/>
          </a:xfrm>
        </p:spPr>
        <p:txBody>
          <a:bodyPr>
            <a:noAutofit/>
          </a:bodyPr>
          <a:lstStyle/>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API architecture is usually explained in terms of client and server. </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The application sending the request is called the client, and the application sending the response is called the server. </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So in the weather example, the Met office’s weather database is the server, and the mobile app is the client. </a:t>
            </a:r>
          </a:p>
          <a:p>
            <a:pPr marL="0" indent="0" algn="l">
              <a:lnSpc>
                <a:spcPct val="150000"/>
              </a:lnSpc>
              <a:buNone/>
            </a:pPr>
            <a:endParaRPr lang="en-GB" sz="2400" dirty="0">
              <a:solidFill>
                <a:srgbClr val="333333"/>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98922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How do APIs work?</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398114"/>
            <a:ext cx="10515600" cy="5002686"/>
          </a:xfrm>
        </p:spPr>
        <p:txBody>
          <a:bodyPr>
            <a:noAutofit/>
          </a:bodyPr>
          <a:lstStyle/>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 program that has an API implies that some parts of its data is exposed for the client to use. The client could be the frontend of the same program or an external program.</a:t>
            </a:r>
          </a:p>
          <a:p>
            <a:pPr>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In order to get this data, a structured request has to be sent to the API. If the request meets the desired requirements, a response which contains the data gets sent back to where the request was made. This response usually comes in the form of JSON or XML data.</a:t>
            </a:r>
          </a:p>
          <a:p>
            <a:pPr marL="0" indent="0" algn="l">
              <a:lnSpc>
                <a:spcPct val="150000"/>
              </a:lnSpc>
              <a:buNone/>
            </a:pPr>
            <a:endParaRPr lang="en-GB" sz="2400" dirty="0">
              <a:solidFill>
                <a:srgbClr val="333333"/>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84273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API example</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5002686"/>
          </a:xfrm>
        </p:spPr>
        <p:txBody>
          <a:bodyPr>
            <a:noAutofit/>
          </a:bodyPr>
          <a:lstStyle/>
          <a:p>
            <a:pPr>
              <a:lnSpc>
                <a:spcPct val="150000"/>
              </a:lnSpc>
            </a:pPr>
            <a:r>
              <a:rPr lang="en-GB" sz="2200" dirty="0">
                <a:solidFill>
                  <a:srgbClr val="333333"/>
                </a:solidFill>
                <a:effectLst/>
                <a:latin typeface="Helvetica Neue Light" panose="02000403000000020004" pitchFamily="2" charset="0"/>
                <a:ea typeface="Helvetica Neue Light" panose="02000403000000020004" pitchFamily="2" charset="0"/>
              </a:rPr>
              <a:t>Imagine visiting a new restaurant. You're there to order food, and since you haven't been there before, you don't exactly know what type of food they serve.</a:t>
            </a:r>
          </a:p>
          <a:p>
            <a:pPr>
              <a:lnSpc>
                <a:spcPct val="150000"/>
              </a:lnSpc>
            </a:pPr>
            <a:r>
              <a:rPr lang="en-GB" sz="2200" dirty="0">
                <a:solidFill>
                  <a:srgbClr val="333333"/>
                </a:solidFill>
                <a:effectLst/>
                <a:latin typeface="Helvetica Neue Light" panose="02000403000000020004" pitchFamily="2" charset="0"/>
                <a:ea typeface="Helvetica Neue Light" panose="02000403000000020004" pitchFamily="2" charset="0"/>
              </a:rPr>
              <a:t>The </a:t>
            </a:r>
            <a:r>
              <a:rPr lang="en-GB" sz="2200" dirty="0">
                <a:solidFill>
                  <a:srgbClr val="333333"/>
                </a:solidFill>
                <a:latin typeface="Helvetica Neue Light" panose="02000403000000020004" pitchFamily="2" charset="0"/>
                <a:ea typeface="Helvetica Neue Light" panose="02000403000000020004" pitchFamily="2" charset="0"/>
              </a:rPr>
              <a:t>waiter</a:t>
            </a:r>
            <a:r>
              <a:rPr lang="en-GB" sz="2200" dirty="0">
                <a:solidFill>
                  <a:srgbClr val="333333"/>
                </a:solidFill>
                <a:effectLst/>
                <a:latin typeface="Helvetica Neue Light" panose="02000403000000020004" pitchFamily="2" charset="0"/>
                <a:ea typeface="Helvetica Neue Light" panose="02000403000000020004" pitchFamily="2" charset="0"/>
              </a:rPr>
              <a:t> then approaches you with a menu so you can pick what you'd like to eat. After making your choice, the </a:t>
            </a:r>
            <a:r>
              <a:rPr lang="en-GB" sz="2200" dirty="0">
                <a:solidFill>
                  <a:srgbClr val="333333"/>
                </a:solidFill>
                <a:latin typeface="Helvetica Neue Light" panose="02000403000000020004" pitchFamily="2" charset="0"/>
                <a:ea typeface="Helvetica Neue Light" panose="02000403000000020004" pitchFamily="2" charset="0"/>
              </a:rPr>
              <a:t>waiter</a:t>
            </a:r>
            <a:r>
              <a:rPr lang="en-GB" sz="2200" dirty="0">
                <a:solidFill>
                  <a:srgbClr val="333333"/>
                </a:solidFill>
                <a:effectLst/>
                <a:latin typeface="Helvetica Neue Light" panose="02000403000000020004" pitchFamily="2" charset="0"/>
                <a:ea typeface="Helvetica Neue Light" panose="02000403000000020004" pitchFamily="2" charset="0"/>
              </a:rPr>
              <a:t> then goes to the kitchen and gets your food.</a:t>
            </a:r>
          </a:p>
          <a:p>
            <a:pPr>
              <a:lnSpc>
                <a:spcPct val="150000"/>
              </a:lnSpc>
            </a:pPr>
            <a:r>
              <a:rPr lang="en-GB" sz="2200" dirty="0">
                <a:solidFill>
                  <a:srgbClr val="333333"/>
                </a:solidFill>
                <a:effectLst/>
                <a:latin typeface="Helvetica Neue Light" panose="02000403000000020004" pitchFamily="2" charset="0"/>
                <a:ea typeface="Helvetica Neue Light" panose="02000403000000020004" pitchFamily="2" charset="0"/>
              </a:rPr>
              <a:t>In this case, the </a:t>
            </a:r>
            <a:r>
              <a:rPr lang="en-GB" sz="2200" dirty="0">
                <a:solidFill>
                  <a:srgbClr val="333333"/>
                </a:solidFill>
                <a:latin typeface="Helvetica Neue Light" panose="02000403000000020004" pitchFamily="2" charset="0"/>
                <a:ea typeface="Helvetica Neue Light" panose="02000403000000020004" pitchFamily="2" charset="0"/>
              </a:rPr>
              <a:t>waiter</a:t>
            </a:r>
            <a:r>
              <a:rPr lang="en-GB" sz="2200" dirty="0">
                <a:solidFill>
                  <a:srgbClr val="333333"/>
                </a:solidFill>
                <a:effectLst/>
                <a:latin typeface="Helvetica Neue Light" panose="02000403000000020004" pitchFamily="2" charset="0"/>
                <a:ea typeface="Helvetica Neue Light" panose="02000403000000020004" pitchFamily="2" charset="0"/>
              </a:rPr>
              <a:t> is the API who is connecting you to the kitchen. The API's documentation is the menu. The request is made when you pick what you'd like to eat, and the response is the food being served.</a:t>
            </a:r>
          </a:p>
        </p:txBody>
      </p:sp>
    </p:spTree>
    <p:extLst>
      <p:ext uri="{BB962C8B-B14F-4D97-AF65-F5344CB8AC3E}">
        <p14:creationId xmlns:p14="http://schemas.microsoft.com/office/powerpoint/2010/main" val="80705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is a web API?</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5002686"/>
          </a:xfrm>
        </p:spPr>
        <p:txBody>
          <a:bodyPr>
            <a:noAutofit/>
          </a:bodyPr>
          <a:lstStyle/>
          <a:p>
            <a:pPr algn="l">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A Web API or Web Service API is an application processing interface between a web server and web browser. All web services are APIs but not all APIs are web services. REST API is a special type of Web API that uses a standard architectural style.</a:t>
            </a:r>
          </a:p>
          <a:p>
            <a:pPr algn="l">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The different terms around APIs, like Java API or service APIs, exist because historically, APIs were created before the world wide web. Modern web APIs are REST APIs and the terms can be used interchangeably.</a:t>
            </a:r>
          </a:p>
        </p:txBody>
      </p:sp>
    </p:spTree>
    <p:extLst>
      <p:ext uri="{BB962C8B-B14F-4D97-AF65-F5344CB8AC3E}">
        <p14:creationId xmlns:p14="http://schemas.microsoft.com/office/powerpoint/2010/main" val="300031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What are REST APIs?</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5002686"/>
          </a:xfrm>
        </p:spPr>
        <p:txBody>
          <a:bodyPr>
            <a:noAutofit/>
          </a:bodyPr>
          <a:lstStyle/>
          <a:p>
            <a:pPr algn="l">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REST stands for </a:t>
            </a:r>
            <a:r>
              <a:rPr lang="en-GB" sz="2400" dirty="0" err="1">
                <a:solidFill>
                  <a:srgbClr val="333333"/>
                </a:solidFill>
                <a:effectLst/>
                <a:latin typeface="Helvetica Neue Light" panose="02000403000000020004" pitchFamily="2" charset="0"/>
                <a:ea typeface="Helvetica Neue Light" panose="02000403000000020004" pitchFamily="2" charset="0"/>
              </a:rPr>
              <a:t>REpresentational</a:t>
            </a:r>
            <a:r>
              <a:rPr lang="en-GB" sz="2400" dirty="0">
                <a:solidFill>
                  <a:srgbClr val="333333"/>
                </a:solidFill>
                <a:effectLst/>
                <a:latin typeface="Helvetica Neue Light" panose="02000403000000020004" pitchFamily="2" charset="0"/>
                <a:ea typeface="Helvetica Neue Light" panose="02000403000000020004" pitchFamily="2" charset="0"/>
              </a:rPr>
              <a:t> State Transfer. REST defines a set of functions like GET, PUT, DELETE, etc. that clients can use to access server data. Clients and servers exchange data using HTTP.</a:t>
            </a:r>
          </a:p>
          <a:p>
            <a:pPr algn="l">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The main feature of REST API is statelessness. Statelessness means that servers do not save client data between requests.</a:t>
            </a:r>
          </a:p>
          <a:p>
            <a:pPr algn="l">
              <a:lnSpc>
                <a:spcPct val="150000"/>
              </a:lnSpc>
            </a:pPr>
            <a:r>
              <a:rPr lang="en-GB" sz="2400" dirty="0">
                <a:solidFill>
                  <a:srgbClr val="333333"/>
                </a:solidFill>
                <a:effectLst/>
                <a:latin typeface="Helvetica Neue Light" panose="02000403000000020004" pitchFamily="2" charset="0"/>
                <a:ea typeface="Helvetica Neue Light" panose="02000403000000020004" pitchFamily="2" charset="0"/>
              </a:rPr>
              <a:t>Client requests to the server are similar to URLs you type in your browser to visit a website. The response from the server is plain data, without the typical graphical rendering of a web page.</a:t>
            </a:r>
          </a:p>
        </p:txBody>
      </p:sp>
    </p:spTree>
    <p:extLst>
      <p:ext uri="{BB962C8B-B14F-4D97-AF65-F5344CB8AC3E}">
        <p14:creationId xmlns:p14="http://schemas.microsoft.com/office/powerpoint/2010/main" val="2103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6679" y="351501"/>
            <a:ext cx="6002110" cy="1495425"/>
          </a:xfrm>
        </p:spPr>
        <p:txBody>
          <a:bodyPr>
            <a:normAutofit/>
          </a:bodyPr>
          <a:lstStyle/>
          <a:p>
            <a:r>
              <a:rPr lang="en-US" sz="4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REST – History</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6679" y="1846926"/>
            <a:ext cx="6002110" cy="4446995"/>
          </a:xfrm>
        </p:spPr>
        <p:txBody>
          <a:bodyPr>
            <a:normAutofit fontScale="92500" lnSpcReduction="10000"/>
          </a:bodyPr>
          <a:lstStyle/>
          <a:p>
            <a:pPr marL="0" indent="0">
              <a:lnSpc>
                <a:spcPct val="150000"/>
              </a:lnSpc>
              <a:buNone/>
            </a:pPr>
            <a:r>
              <a:rPr lang="en-GB" sz="2400" dirty="0">
                <a:effectLst/>
                <a:latin typeface="Helvetica Neue Light" panose="02000403000000020004" pitchFamily="2" charset="0"/>
                <a:ea typeface="Helvetica Neue Light" panose="02000403000000020004" pitchFamily="2" charset="0"/>
              </a:rPr>
              <a:t>REST was defined by Roy Fielding, a computer scientist.</a:t>
            </a:r>
          </a:p>
          <a:p>
            <a:pPr marL="0" indent="0">
              <a:lnSpc>
                <a:spcPct val="150000"/>
              </a:lnSpc>
              <a:buNone/>
            </a:pPr>
            <a:r>
              <a:rPr lang="en-GB" sz="2400" dirty="0">
                <a:effectLst/>
                <a:latin typeface="Helvetica Neue Light" panose="02000403000000020004" pitchFamily="2" charset="0"/>
                <a:ea typeface="Helvetica Neue Light" panose="02000403000000020004" pitchFamily="2" charset="0"/>
              </a:rPr>
              <a:t>He presented the REST principles in his PhD dissertation in 2000.</a:t>
            </a:r>
          </a:p>
          <a:p>
            <a:pPr marL="0" indent="0">
              <a:lnSpc>
                <a:spcPct val="150000"/>
              </a:lnSpc>
              <a:buNone/>
            </a:pPr>
            <a:endParaRPr lang="en-GB" sz="2400" dirty="0">
              <a:latin typeface="Helvetica Neue Light" panose="02000403000000020004" pitchFamily="2" charset="0"/>
              <a:ea typeface="Helvetica Neue Light" panose="02000403000000020004" pitchFamily="2" charset="0"/>
            </a:endParaRPr>
          </a:p>
          <a:p>
            <a:pPr marL="0" indent="0">
              <a:lnSpc>
                <a:spcPct val="150000"/>
              </a:lnSpc>
              <a:buNone/>
            </a:pPr>
            <a:r>
              <a:rPr lang="en-GB" sz="2400" dirty="0">
                <a:effectLst/>
                <a:latin typeface="Helvetica Neue Light" panose="02000403000000020004" pitchFamily="2" charset="0"/>
                <a:ea typeface="Helvetica Neue Light" panose="02000403000000020004" pitchFamily="2" charset="0"/>
              </a:rPr>
              <a:t>Further reading:</a:t>
            </a:r>
          </a:p>
          <a:p>
            <a:pPr marL="0" indent="0">
              <a:lnSpc>
                <a:spcPct val="150000"/>
              </a:lnSpc>
              <a:buNone/>
            </a:pPr>
            <a:r>
              <a:rPr lang="en-GB" sz="2400" dirty="0">
                <a:effectLst/>
                <a:latin typeface="Helvetica Neue Light" panose="02000403000000020004" pitchFamily="2" charset="0"/>
                <a:ea typeface="Helvetica Neue Light" panose="02000403000000020004" pitchFamily="2" charset="0"/>
                <a:hlinkClick r:id="rId2"/>
              </a:rPr>
              <a:t>https://en.wikipedia.org/wiki/Representational_state_transfer#References</a:t>
            </a:r>
            <a:endParaRPr lang="en-GB" sz="2400" dirty="0">
              <a:latin typeface="Helvetica Neue Light" panose="02000403000000020004" pitchFamily="2" charset="0"/>
              <a:ea typeface="Helvetica Neue Light" panose="02000403000000020004" pitchFamily="2" charset="0"/>
            </a:endParaRPr>
          </a:p>
          <a:p>
            <a:pPr marL="0" indent="0">
              <a:buNone/>
            </a:pPr>
            <a:endParaRPr lang="en-GB" sz="2000" dirty="0">
              <a:effectLst/>
              <a:latin typeface="Helvetica Neue Light" panose="02000403000000020004" pitchFamily="2" charset="0"/>
              <a:ea typeface="Helvetica Neue Light" panose="02000403000000020004" pitchFamily="2" charset="0"/>
            </a:endParaRPr>
          </a:p>
        </p:txBody>
      </p:sp>
      <p:pic>
        <p:nvPicPr>
          <p:cNvPr id="2050" name="Picture 2" descr="A person standing at a podium&#10;&#10;Description automatically generated with medium confidence">
            <a:extLst>
              <a:ext uri="{FF2B5EF4-FFF2-40B4-BE49-F238E27FC236}">
                <a16:creationId xmlns:a16="http://schemas.microsoft.com/office/drawing/2014/main" id="{6AB6725E-3325-3AF2-CBF0-C6AAA48975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34"/>
          <a:stretch/>
        </p:blipFill>
        <p:spPr bwMode="auto">
          <a:xfrm>
            <a:off x="7199440" y="10"/>
            <a:ext cx="4992560" cy="6857990"/>
          </a:xfrm>
          <a:prstGeom prst="rect">
            <a:avLst/>
          </a:prstGeom>
          <a:noFill/>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826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2 key terms - client</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515600" cy="5002686"/>
          </a:xfrm>
        </p:spPr>
        <p:txBody>
          <a:bodyPr>
            <a:noAutofit/>
          </a:bodyPr>
          <a:lstStyle/>
          <a:p>
            <a:pPr marL="0" indent="0">
              <a:lnSpc>
                <a:spcPct val="150000"/>
              </a:lnSpc>
              <a:buNone/>
            </a:pPr>
            <a:r>
              <a:rPr lang="en-GB" sz="2400" b="1" dirty="0">
                <a:solidFill>
                  <a:srgbClr val="D3473F"/>
                </a:solidFill>
                <a:effectLst/>
                <a:latin typeface="Helvetica Neue Light" panose="02000403000000020004" pitchFamily="2" charset="0"/>
                <a:ea typeface="Helvetica Neue Light" panose="02000403000000020004" pitchFamily="2" charset="0"/>
              </a:rPr>
              <a:t>Client</a:t>
            </a:r>
            <a:endParaRPr lang="en-GB" sz="2400" dirty="0">
              <a:solidFill>
                <a:srgbClr val="292929"/>
              </a:solidFill>
              <a:effectLst/>
              <a:latin typeface="Helvetica Neue Light" panose="02000403000000020004" pitchFamily="2" charset="0"/>
              <a:ea typeface="Helvetica Neue Light" panose="02000403000000020004" pitchFamily="2" charset="0"/>
            </a:endParaRPr>
          </a:p>
          <a:p>
            <a:pPr>
              <a:lnSpc>
                <a:spcPct val="150000"/>
              </a:lnSpc>
            </a:pPr>
            <a:r>
              <a:rPr lang="en-GB" sz="2400" dirty="0">
                <a:solidFill>
                  <a:srgbClr val="292929"/>
                </a:solidFill>
                <a:latin typeface="Helvetica Neue Light" panose="02000403000000020004" pitchFamily="2" charset="0"/>
                <a:ea typeface="Helvetica Neue Light" panose="02000403000000020004" pitchFamily="2" charset="0"/>
              </a:rPr>
              <a:t>T</a:t>
            </a:r>
            <a:r>
              <a:rPr lang="en-GB" sz="2400" dirty="0">
                <a:solidFill>
                  <a:srgbClr val="292929"/>
                </a:solidFill>
                <a:effectLst/>
                <a:latin typeface="Helvetica Neue Light" panose="02000403000000020004" pitchFamily="2" charset="0"/>
                <a:ea typeface="Helvetica Neue Light" panose="02000403000000020004" pitchFamily="2" charset="0"/>
              </a:rPr>
              <a:t>he client is the person or software who uses the API. It can be a developer, for example you, as a developer, can use Twitter API to read and write data from Twitter, create a new tweet and do more actions in a program that you write. Your program will call Twitter’s API.</a:t>
            </a:r>
          </a:p>
          <a:p>
            <a:pPr>
              <a:lnSpc>
                <a:spcPct val="150000"/>
              </a:lnSpc>
            </a:pPr>
            <a:r>
              <a:rPr lang="en-GB" sz="2400" dirty="0">
                <a:solidFill>
                  <a:srgbClr val="292929"/>
                </a:solidFill>
                <a:effectLst/>
                <a:latin typeface="Helvetica Neue Light" panose="02000403000000020004" pitchFamily="2" charset="0"/>
                <a:ea typeface="Helvetica Neue Light" panose="02000403000000020004" pitchFamily="2" charset="0"/>
              </a:rPr>
              <a:t>The client can also be a web browser. When you go to Twitter website, your browser is the client who calls Twitter API and uses the returned data to render information on the screen.</a:t>
            </a:r>
          </a:p>
        </p:txBody>
      </p:sp>
    </p:spTree>
    <p:extLst>
      <p:ext uri="{BB962C8B-B14F-4D97-AF65-F5344CB8AC3E}">
        <p14:creationId xmlns:p14="http://schemas.microsoft.com/office/powerpoint/2010/main" val="113696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2 key terms - Resource</a:t>
            </a:r>
            <a:endParaRPr lang="en-US" sz="32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775868" cy="5002686"/>
          </a:xfrm>
        </p:spPr>
        <p:txBody>
          <a:bodyPr>
            <a:noAutofit/>
          </a:bodyPr>
          <a:lstStyle/>
          <a:p>
            <a:pPr marL="0" indent="0" algn="l">
              <a:buNone/>
            </a:pPr>
            <a:r>
              <a:rPr lang="en-GB" sz="2400" b="1" dirty="0">
                <a:solidFill>
                  <a:srgbClr val="D3473F"/>
                </a:solidFill>
                <a:effectLst/>
                <a:latin typeface="HELVETICA NEUE LIGHT" panose="02000403000000020004" pitchFamily="2" charset="0"/>
                <a:ea typeface="HELVETICA NEUE LIGHT" panose="02000403000000020004" pitchFamily="2" charset="0"/>
              </a:rPr>
              <a:t>Resource</a:t>
            </a:r>
            <a:endParaRPr lang="en-GB" sz="2400" dirty="0">
              <a:solidFill>
                <a:srgbClr val="292929"/>
              </a:solidFill>
              <a:effectLst/>
              <a:latin typeface="Helvetica Neue Light" panose="02000403000000020004" pitchFamily="2" charset="0"/>
              <a:ea typeface="Helvetica Neue Light" panose="02000403000000020004" pitchFamily="2" charset="0"/>
            </a:endParaRPr>
          </a:p>
          <a:p>
            <a:pPr>
              <a:lnSpc>
                <a:spcPct val="150000"/>
              </a:lnSpc>
            </a:pPr>
            <a:r>
              <a:rPr lang="en-GB" sz="2400" dirty="0">
                <a:solidFill>
                  <a:srgbClr val="292929"/>
                </a:solidFill>
                <a:latin typeface="Helvetica Neue Light" panose="02000403000000020004" pitchFamily="2" charset="0"/>
                <a:ea typeface="Helvetica Neue Light" panose="02000403000000020004" pitchFamily="2" charset="0"/>
              </a:rPr>
              <a:t>A</a:t>
            </a:r>
            <a:r>
              <a:rPr lang="en-GB" sz="2400" dirty="0">
                <a:solidFill>
                  <a:srgbClr val="292929"/>
                </a:solidFill>
                <a:effectLst/>
                <a:latin typeface="Helvetica Neue Light" panose="02000403000000020004" pitchFamily="2" charset="0"/>
                <a:ea typeface="Helvetica Neue Light" panose="02000403000000020004" pitchFamily="2" charset="0"/>
              </a:rPr>
              <a:t> resource can be any object the API can provide information about.</a:t>
            </a:r>
          </a:p>
          <a:p>
            <a:pPr>
              <a:lnSpc>
                <a:spcPct val="150000"/>
              </a:lnSpc>
            </a:pPr>
            <a:r>
              <a:rPr lang="en-GB" sz="2400" dirty="0">
                <a:solidFill>
                  <a:srgbClr val="292929"/>
                </a:solidFill>
                <a:effectLst/>
                <a:latin typeface="Helvetica Neue Light" panose="02000403000000020004" pitchFamily="2" charset="0"/>
                <a:ea typeface="Helvetica Neue Light" panose="02000403000000020004" pitchFamily="2" charset="0"/>
              </a:rPr>
              <a:t>In Instagram’s API, for example, a resource can be a user, a photo, a hashtag.</a:t>
            </a:r>
          </a:p>
          <a:p>
            <a:pPr>
              <a:lnSpc>
                <a:spcPct val="150000"/>
              </a:lnSpc>
            </a:pPr>
            <a:r>
              <a:rPr lang="en-GB" sz="2400" dirty="0">
                <a:solidFill>
                  <a:srgbClr val="292929"/>
                </a:solidFill>
                <a:effectLst/>
                <a:latin typeface="Helvetica Neue Light" panose="02000403000000020004" pitchFamily="2" charset="0"/>
                <a:ea typeface="Helvetica Neue Light" panose="02000403000000020004" pitchFamily="2" charset="0"/>
              </a:rPr>
              <a:t>Each resource has a unique identifier.</a:t>
            </a:r>
          </a:p>
          <a:p>
            <a:pPr>
              <a:lnSpc>
                <a:spcPct val="150000"/>
              </a:lnSpc>
            </a:pPr>
            <a:r>
              <a:rPr lang="en-GB" sz="2400" dirty="0">
                <a:solidFill>
                  <a:srgbClr val="292929"/>
                </a:solidFill>
                <a:effectLst/>
                <a:latin typeface="Helvetica Neue Light" panose="02000403000000020004" pitchFamily="2" charset="0"/>
                <a:ea typeface="Helvetica Neue Light" panose="02000403000000020004" pitchFamily="2" charset="0"/>
              </a:rPr>
              <a:t>The identifier can be a name or a number.</a:t>
            </a:r>
          </a:p>
        </p:txBody>
      </p:sp>
    </p:spTree>
    <p:extLst>
      <p:ext uri="{BB962C8B-B14F-4D97-AF65-F5344CB8AC3E}">
        <p14:creationId xmlns:p14="http://schemas.microsoft.com/office/powerpoint/2010/main" val="3003113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4800"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RE</a:t>
            </a:r>
            <a:r>
              <a:rPr lang="en-US" sz="4800" spc="60" dirty="0" err="1">
                <a:latin typeface="American Typewriter" panose="02090604020004020304" pitchFamily="18" charset="77"/>
                <a:ea typeface="Helvetica Neue Thin" panose="020B0403020202020204" pitchFamily="34" charset="0"/>
                <a:cs typeface="Georgia Pro Cond Black" panose="020F0502020204030204" pitchFamily="34" charset="0"/>
              </a:rPr>
              <a:t>presentational</a:t>
            </a:r>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S</a:t>
            </a:r>
            <a:r>
              <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rPr>
              <a:t>tate</a:t>
            </a:r>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a:t>
            </a:r>
            <a:r>
              <a:rPr lang="en-US" sz="4800" spc="60" dirty="0">
                <a:solidFill>
                  <a:srgbClr val="FF574B"/>
                </a:solidFill>
                <a:latin typeface="American Typewriter" panose="02090604020004020304" pitchFamily="18" charset="77"/>
                <a:ea typeface="Helvetica Neue Thin" panose="020B0403020202020204" pitchFamily="34" charset="0"/>
                <a:cs typeface="Georgia Pro Cond Black" panose="020F0502020204030204" pitchFamily="34" charset="0"/>
              </a:rPr>
              <a:t>T</a:t>
            </a:r>
            <a:r>
              <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rPr>
              <a:t>ransfer.</a:t>
            </a: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775868" cy="5002686"/>
          </a:xfrm>
        </p:spPr>
        <p:txBody>
          <a:bodyPr>
            <a:noAutofit/>
          </a:bodyPr>
          <a:lstStyle/>
          <a:p>
            <a:pPr>
              <a:lnSpc>
                <a:spcPct val="150000"/>
              </a:lnSpc>
            </a:pPr>
            <a:r>
              <a:rPr lang="en-GB" sz="2400" dirty="0">
                <a:effectLst/>
                <a:latin typeface="Helvetica Neue Light" panose="02000403000000020004" pitchFamily="2" charset="0"/>
                <a:ea typeface="Helvetica Neue Light" panose="02000403000000020004" pitchFamily="2" charset="0"/>
              </a:rPr>
              <a:t>It means when a RESTful API is called, the server will </a:t>
            </a:r>
            <a:r>
              <a:rPr lang="en-GB" sz="2400" i="1" dirty="0">
                <a:solidFill>
                  <a:srgbClr val="FF0000"/>
                </a:solidFill>
                <a:effectLst/>
                <a:latin typeface="Helvetica Neue Light" panose="02000403000000020004" pitchFamily="2" charset="0"/>
                <a:ea typeface="Helvetica Neue Light" panose="02000403000000020004" pitchFamily="2" charset="0"/>
              </a:rPr>
              <a:t>transfer</a:t>
            </a:r>
            <a:r>
              <a:rPr lang="en-GB" sz="2400" dirty="0">
                <a:effectLst/>
                <a:latin typeface="Helvetica Neue Light" panose="02000403000000020004" pitchFamily="2" charset="0"/>
                <a:ea typeface="Helvetica Neue Light" panose="02000403000000020004" pitchFamily="2" charset="0"/>
              </a:rPr>
              <a:t> to the client a </a:t>
            </a:r>
            <a:r>
              <a:rPr lang="en-GB" sz="2400" i="1" dirty="0">
                <a:solidFill>
                  <a:srgbClr val="D3473F"/>
                </a:solidFill>
                <a:effectLst/>
                <a:latin typeface="Helvetica Neue Light" panose="02000403000000020004" pitchFamily="2" charset="0"/>
                <a:ea typeface="Helvetica Neue Light" panose="02000403000000020004" pitchFamily="2" charset="0"/>
              </a:rPr>
              <a:t>representation</a:t>
            </a:r>
            <a:r>
              <a:rPr lang="en-GB" sz="2400" dirty="0">
                <a:effectLst/>
                <a:latin typeface="Helvetica Neue Light" panose="02000403000000020004" pitchFamily="2" charset="0"/>
                <a:ea typeface="Helvetica Neue Light" panose="02000403000000020004" pitchFamily="2" charset="0"/>
              </a:rPr>
              <a:t> of the </a:t>
            </a:r>
            <a:r>
              <a:rPr lang="en-GB" sz="2400" i="1" dirty="0">
                <a:solidFill>
                  <a:srgbClr val="D3473F"/>
                </a:solidFill>
                <a:effectLst/>
                <a:latin typeface="Helvetica Neue Light" panose="02000403000000020004" pitchFamily="2" charset="0"/>
                <a:ea typeface="Helvetica Neue Light" panose="02000403000000020004" pitchFamily="2" charset="0"/>
              </a:rPr>
              <a:t>state</a:t>
            </a:r>
            <a:r>
              <a:rPr lang="en-GB" sz="2400" dirty="0">
                <a:effectLst/>
                <a:latin typeface="Helvetica Neue Light" panose="02000403000000020004" pitchFamily="2" charset="0"/>
                <a:ea typeface="Helvetica Neue Light" panose="02000403000000020004" pitchFamily="2" charset="0"/>
              </a:rPr>
              <a:t> of the requested resource.</a:t>
            </a:r>
          </a:p>
          <a:p>
            <a:pPr>
              <a:lnSpc>
                <a:spcPct val="150000"/>
              </a:lnSpc>
            </a:pPr>
            <a:r>
              <a:rPr lang="en-GB" sz="2400" dirty="0">
                <a:effectLst/>
                <a:latin typeface="Helvetica Neue Light" panose="02000403000000020004" pitchFamily="2" charset="0"/>
                <a:ea typeface="Helvetica Neue Light" panose="02000403000000020004" pitchFamily="2" charset="0"/>
              </a:rPr>
              <a:t>For example, when a developer calls Instagram API to fetch a specific user (the resource), the API will return the state of that user, including their name, the number of posts that user posted on Instagram so far, how many followers they have, and more.</a:t>
            </a:r>
          </a:p>
          <a:p>
            <a:pPr>
              <a:lnSpc>
                <a:spcPct val="150000"/>
              </a:lnSpc>
            </a:pPr>
            <a:r>
              <a:rPr lang="en-GB" sz="2400" dirty="0">
                <a:effectLst/>
                <a:latin typeface="Helvetica Neue Light" panose="02000403000000020004" pitchFamily="2" charset="0"/>
                <a:ea typeface="Helvetica Neue Light" panose="02000403000000020004" pitchFamily="2" charset="0"/>
              </a:rPr>
              <a:t>The representation of the state will most likely be  be in a JSON format</a:t>
            </a:r>
          </a:p>
        </p:txBody>
      </p:sp>
    </p:spTree>
    <p:extLst>
      <p:ext uri="{BB962C8B-B14F-4D97-AF65-F5344CB8AC3E}">
        <p14:creationId xmlns:p14="http://schemas.microsoft.com/office/powerpoint/2010/main" val="4106758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API call</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690688"/>
            <a:ext cx="10775868" cy="5002686"/>
          </a:xfrm>
        </p:spPr>
        <p:txBody>
          <a:bodyPr>
            <a:noAutofit/>
          </a:bodyPr>
          <a:lstStyle/>
          <a:p>
            <a:pPr marL="0" indent="0" algn="l">
              <a:lnSpc>
                <a:spcPct val="150000"/>
              </a:lnSpc>
              <a:buNone/>
            </a:pPr>
            <a:r>
              <a:rPr lang="en-GB" sz="2400" dirty="0">
                <a:solidFill>
                  <a:srgbClr val="292929"/>
                </a:solidFill>
                <a:effectLst/>
                <a:latin typeface="Helvetica Neue Light" panose="02000403000000020004" pitchFamily="2" charset="0"/>
                <a:ea typeface="Helvetica Neue Light" panose="02000403000000020004" pitchFamily="2" charset="0"/>
              </a:rPr>
              <a:t>What the server does when you, the client, call one of its APIs depends on 2 things that you need to provide to the server:</a:t>
            </a:r>
          </a:p>
          <a:p>
            <a:pPr marL="457200" indent="-457200" algn="l">
              <a:lnSpc>
                <a:spcPct val="150000"/>
              </a:lnSpc>
              <a:buFont typeface="+mj-lt"/>
              <a:buAutoNum type="arabicPeriod"/>
            </a:pPr>
            <a:r>
              <a:rPr lang="en-GB" sz="2400" dirty="0">
                <a:solidFill>
                  <a:srgbClr val="292929"/>
                </a:solidFill>
                <a:effectLst/>
                <a:latin typeface="Helvetica Neue Light" panose="02000403000000020004" pitchFamily="2" charset="0"/>
                <a:ea typeface="Helvetica Neue Light" panose="02000403000000020004" pitchFamily="2" charset="0"/>
              </a:rPr>
              <a:t>An identifier for the resource you are interested in. This is the URL for the resource, also known as the </a:t>
            </a:r>
            <a:r>
              <a:rPr lang="en-GB" sz="2400" b="1" dirty="0">
                <a:solidFill>
                  <a:srgbClr val="D3473F"/>
                </a:solidFill>
                <a:effectLst/>
                <a:latin typeface="Helvetica Neue Light" panose="02000403000000020004" pitchFamily="2" charset="0"/>
                <a:ea typeface="Helvetica Neue Light" panose="02000403000000020004" pitchFamily="2" charset="0"/>
              </a:rPr>
              <a:t>endpoint</a:t>
            </a:r>
            <a:r>
              <a:rPr lang="en-GB" sz="2400" dirty="0">
                <a:solidFill>
                  <a:srgbClr val="292929"/>
                </a:solidFill>
                <a:effectLst/>
                <a:latin typeface="Helvetica Neue Light" panose="02000403000000020004" pitchFamily="2" charset="0"/>
                <a:ea typeface="Helvetica Neue Light" panose="02000403000000020004" pitchFamily="2" charset="0"/>
              </a:rPr>
              <a:t>. In fact, URL stands for Uniform Resource Locator.</a:t>
            </a:r>
          </a:p>
          <a:p>
            <a:pPr marL="457200" indent="-457200" algn="l">
              <a:lnSpc>
                <a:spcPct val="150000"/>
              </a:lnSpc>
              <a:buFont typeface="+mj-lt"/>
              <a:buAutoNum type="arabicPeriod"/>
            </a:pPr>
            <a:r>
              <a:rPr lang="en-GB" sz="2400" dirty="0">
                <a:solidFill>
                  <a:srgbClr val="292929"/>
                </a:solidFill>
                <a:effectLst/>
                <a:latin typeface="Helvetica Neue Light" panose="02000403000000020004" pitchFamily="2" charset="0"/>
                <a:ea typeface="Helvetica Neue Light" panose="02000403000000020004" pitchFamily="2" charset="0"/>
              </a:rPr>
              <a:t>The operation you want the server to perform on that resource, in the form of an HTTP method, or verb. The common HTTP methods are GET, POST, PUT, and DELETE.</a:t>
            </a:r>
          </a:p>
        </p:txBody>
      </p:sp>
    </p:spTree>
    <p:extLst>
      <p:ext uri="{BB962C8B-B14F-4D97-AF65-F5344CB8AC3E}">
        <p14:creationId xmlns:p14="http://schemas.microsoft.com/office/powerpoint/2010/main" val="253794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API call example</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0830"/>
            <a:ext cx="10775868" cy="5002686"/>
          </a:xfrm>
        </p:spPr>
        <p:txBody>
          <a:bodyPr>
            <a:noAutofit/>
          </a:bodyPr>
          <a:lstStyle/>
          <a:p>
            <a:pPr>
              <a:lnSpc>
                <a:spcPct val="150000"/>
              </a:lnSpc>
            </a:pPr>
            <a:r>
              <a:rPr lang="en-GB" sz="2200" dirty="0">
                <a:solidFill>
                  <a:srgbClr val="292929"/>
                </a:solidFill>
                <a:effectLst/>
                <a:latin typeface="Helvetica Neue Light" panose="02000403000000020004" pitchFamily="2" charset="0"/>
                <a:ea typeface="Helvetica Neue Light" panose="02000403000000020004" pitchFamily="2" charset="0"/>
              </a:rPr>
              <a:t>For example, fetching a specific Twitter user, using Twitter’s RESTful API, will require a URL that identifies that user and the HTTP method GET.</a:t>
            </a:r>
          </a:p>
          <a:p>
            <a:pPr>
              <a:lnSpc>
                <a:spcPct val="150000"/>
              </a:lnSpc>
            </a:pPr>
            <a:r>
              <a:rPr lang="en-GB" sz="2200" dirty="0">
                <a:solidFill>
                  <a:srgbClr val="292929"/>
                </a:solidFill>
                <a:effectLst/>
                <a:latin typeface="Helvetica Neue Light" panose="02000403000000020004" pitchFamily="2" charset="0"/>
                <a:ea typeface="Helvetica Neue Light" panose="02000403000000020004" pitchFamily="2" charset="0"/>
              </a:rPr>
              <a:t>Another example, this URL: </a:t>
            </a:r>
            <a:r>
              <a:rPr lang="en-GB" sz="2200" dirty="0">
                <a:solidFill>
                  <a:srgbClr val="292929"/>
                </a:solidFill>
                <a:effectLst/>
                <a:latin typeface="Helvetica Neue Light" panose="02000403000000020004" pitchFamily="2" charset="0"/>
                <a:ea typeface="Helvetica Neue Light" panose="02000403000000020004" pitchFamily="2" charset="0"/>
                <a:hlinkClick r:id="rId2"/>
              </a:rPr>
              <a:t>https://twitter.com/OzzyOsbourne</a:t>
            </a:r>
            <a:r>
              <a:rPr lang="en-GB" sz="2200" dirty="0">
                <a:solidFill>
                  <a:srgbClr val="292929"/>
                </a:solidFill>
                <a:effectLst/>
                <a:latin typeface="Helvetica Neue Light" panose="02000403000000020004" pitchFamily="2" charset="0"/>
                <a:ea typeface="Helvetica Neue Light" panose="02000403000000020004" pitchFamily="2" charset="0"/>
              </a:rPr>
              <a:t> has the unique identifier for Ozzy Osbourne’s (AKA th</a:t>
            </a:r>
            <a:r>
              <a:rPr lang="en-GB" sz="2200" dirty="0">
                <a:solidFill>
                  <a:srgbClr val="292929"/>
                </a:solidFill>
                <a:latin typeface="Helvetica Neue Light" panose="02000403000000020004" pitchFamily="2" charset="0"/>
                <a:ea typeface="Helvetica Neue Light" panose="02000403000000020004" pitchFamily="2" charset="0"/>
              </a:rPr>
              <a:t>e Prince of darkness) </a:t>
            </a:r>
            <a:r>
              <a:rPr lang="en-GB" sz="2200" dirty="0">
                <a:solidFill>
                  <a:srgbClr val="292929"/>
                </a:solidFill>
                <a:effectLst/>
                <a:latin typeface="Helvetica Neue Light" panose="02000403000000020004" pitchFamily="2" charset="0"/>
                <a:ea typeface="Helvetica Neue Light" panose="02000403000000020004" pitchFamily="2" charset="0"/>
              </a:rPr>
              <a:t>Twitter page, which is his username, </a:t>
            </a:r>
            <a:r>
              <a:rPr lang="en-GB" sz="2200" dirty="0" err="1">
                <a:solidFill>
                  <a:srgbClr val="292929"/>
                </a:solidFill>
                <a:effectLst/>
                <a:latin typeface="Helvetica Neue Light" panose="02000403000000020004" pitchFamily="2" charset="0"/>
                <a:ea typeface="Helvetica Neue Light" panose="02000403000000020004" pitchFamily="2" charset="0"/>
              </a:rPr>
              <a:t>OzzyOsbourne</a:t>
            </a:r>
            <a:r>
              <a:rPr lang="en-GB" sz="2200" dirty="0">
                <a:solidFill>
                  <a:srgbClr val="292929"/>
                </a:solidFill>
                <a:effectLst/>
                <a:latin typeface="Helvetica Neue Light" panose="02000403000000020004" pitchFamily="2" charset="0"/>
                <a:ea typeface="Helvetica Neue Light" panose="02000403000000020004" pitchFamily="2" charset="0"/>
              </a:rPr>
              <a:t>.</a:t>
            </a:r>
          </a:p>
          <a:p>
            <a:pPr>
              <a:lnSpc>
                <a:spcPct val="150000"/>
              </a:lnSpc>
            </a:pPr>
            <a:r>
              <a:rPr lang="en-GB" sz="2200" dirty="0">
                <a:solidFill>
                  <a:srgbClr val="292929"/>
                </a:solidFill>
                <a:effectLst/>
                <a:latin typeface="Helvetica Neue Light" panose="02000403000000020004" pitchFamily="2" charset="0"/>
                <a:ea typeface="Helvetica Neue Light" panose="02000403000000020004" pitchFamily="2" charset="0"/>
              </a:rPr>
              <a:t>Twitter uses the username as the identifier, and indeed Twitter usernames are unique — there are no 2 Twitter users with the same username.</a:t>
            </a:r>
          </a:p>
          <a:p>
            <a:pPr>
              <a:lnSpc>
                <a:spcPct val="150000"/>
              </a:lnSpc>
            </a:pPr>
            <a:r>
              <a:rPr lang="en-GB" sz="2200" dirty="0">
                <a:solidFill>
                  <a:srgbClr val="292929"/>
                </a:solidFill>
                <a:effectLst/>
                <a:latin typeface="Helvetica Neue Light" panose="02000403000000020004" pitchFamily="2" charset="0"/>
                <a:ea typeface="Helvetica Neue Light" panose="02000403000000020004" pitchFamily="2" charset="0"/>
              </a:rPr>
              <a:t>The HTTP method GET indicates that we want to get the </a:t>
            </a:r>
            <a:r>
              <a:rPr lang="en-GB" sz="2200" b="1" dirty="0">
                <a:solidFill>
                  <a:srgbClr val="D3473F"/>
                </a:solidFill>
                <a:effectLst/>
                <a:latin typeface="Helvetica Neue Light" panose="02000403000000020004" pitchFamily="2" charset="0"/>
                <a:ea typeface="Helvetica Neue Light" panose="02000403000000020004" pitchFamily="2" charset="0"/>
              </a:rPr>
              <a:t>state</a:t>
            </a:r>
            <a:r>
              <a:rPr lang="en-GB" sz="2200" dirty="0">
                <a:solidFill>
                  <a:srgbClr val="292929"/>
                </a:solidFill>
                <a:effectLst/>
                <a:latin typeface="Helvetica Neue Light" panose="02000403000000020004" pitchFamily="2" charset="0"/>
                <a:ea typeface="Helvetica Neue Light" panose="02000403000000020004" pitchFamily="2" charset="0"/>
              </a:rPr>
              <a:t> (currently sober) of that user.</a:t>
            </a:r>
          </a:p>
        </p:txBody>
      </p:sp>
    </p:spTree>
    <p:extLst>
      <p:ext uri="{BB962C8B-B14F-4D97-AF65-F5344CB8AC3E}">
        <p14:creationId xmlns:p14="http://schemas.microsoft.com/office/powerpoint/2010/main" val="144455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72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Methods / Verbs</a:t>
            </a:r>
          </a:p>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refresher</a:t>
            </a:r>
          </a:p>
        </p:txBody>
      </p:sp>
    </p:spTree>
    <p:extLst>
      <p:ext uri="{BB962C8B-B14F-4D97-AF65-F5344CB8AC3E}">
        <p14:creationId xmlns:p14="http://schemas.microsoft.com/office/powerpoint/2010/main" val="759225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GET</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0830"/>
            <a:ext cx="10775868" cy="5002686"/>
          </a:xfrm>
        </p:spPr>
        <p:txBody>
          <a:bodyPr>
            <a:noAutofit/>
          </a:bodyPr>
          <a:lstStyle/>
          <a:p>
            <a:pPr>
              <a:lnSpc>
                <a:spcPct val="150000"/>
              </a:lnSpc>
            </a:pPr>
            <a:r>
              <a:rPr lang="en-GB" sz="2400" dirty="0">
                <a:latin typeface="Helvetica Neue Light" panose="02000403000000020004" pitchFamily="2" charset="0"/>
                <a:ea typeface="Helvetica Neue Light" panose="02000403000000020004" pitchFamily="2" charset="0"/>
              </a:rPr>
              <a:t>GET</a:t>
            </a:r>
            <a:r>
              <a:rPr lang="en-GB" sz="2400" dirty="0">
                <a:solidFill>
                  <a:srgbClr val="3A3A3A"/>
                </a:solidFill>
                <a:effectLst/>
                <a:latin typeface="Helvetica Neue Light" panose="02000403000000020004" pitchFamily="2" charset="0"/>
                <a:ea typeface="Helvetica Neue Light" panose="02000403000000020004" pitchFamily="2" charset="0"/>
              </a:rPr>
              <a:t> is the simplest type of HTTP request method—the one that browsers use each time you click a link or type a URL into the address bar. It instructs the server to transmit the data identified by the URL to the client.</a:t>
            </a:r>
          </a:p>
          <a:p>
            <a:pPr>
              <a:lnSpc>
                <a:spcPct val="150000"/>
              </a:lnSpc>
            </a:pPr>
            <a:r>
              <a:rPr lang="en-GB" sz="2400" dirty="0">
                <a:solidFill>
                  <a:srgbClr val="3A3A3A"/>
                </a:solidFill>
                <a:effectLst/>
                <a:latin typeface="Helvetica Neue Light" panose="02000403000000020004" pitchFamily="2" charset="0"/>
                <a:ea typeface="Helvetica Neue Light" panose="02000403000000020004" pitchFamily="2" charset="0"/>
              </a:rPr>
              <a:t>Data should never be modified on the server side as a result of a </a:t>
            </a:r>
            <a:r>
              <a:rPr lang="en-GB" sz="2400" dirty="0">
                <a:latin typeface="Helvetica Neue Light" panose="02000403000000020004" pitchFamily="2" charset="0"/>
                <a:ea typeface="Helvetica Neue Light" panose="02000403000000020004" pitchFamily="2" charset="0"/>
              </a:rPr>
              <a:t>GET</a:t>
            </a:r>
            <a:r>
              <a:rPr lang="en-GB" sz="2400" dirty="0">
                <a:solidFill>
                  <a:srgbClr val="3A3A3A"/>
                </a:solidFill>
                <a:effectLst/>
                <a:latin typeface="Helvetica Neue Light" panose="02000403000000020004" pitchFamily="2" charset="0"/>
                <a:ea typeface="Helvetica Neue Light" panose="02000403000000020004" pitchFamily="2" charset="0"/>
              </a:rPr>
              <a:t> request.</a:t>
            </a:r>
          </a:p>
          <a:p>
            <a:pPr>
              <a:lnSpc>
                <a:spcPct val="150000"/>
              </a:lnSpc>
            </a:pPr>
            <a:r>
              <a:rPr lang="en-GB" sz="2400" dirty="0">
                <a:solidFill>
                  <a:srgbClr val="3A3A3A"/>
                </a:solidFill>
                <a:effectLst/>
                <a:latin typeface="Helvetica Neue Light" panose="02000403000000020004" pitchFamily="2" charset="0"/>
                <a:ea typeface="Helvetica Neue Light" panose="02000403000000020004" pitchFamily="2" charset="0"/>
              </a:rPr>
              <a:t>In this sense, a </a:t>
            </a:r>
            <a:r>
              <a:rPr lang="en-GB" sz="2400" dirty="0">
                <a:latin typeface="Helvetica Neue Light" panose="02000403000000020004" pitchFamily="2" charset="0"/>
                <a:ea typeface="Helvetica Neue Light" panose="02000403000000020004" pitchFamily="2" charset="0"/>
              </a:rPr>
              <a:t>GET</a:t>
            </a:r>
            <a:r>
              <a:rPr lang="en-GB" sz="2400" dirty="0">
                <a:solidFill>
                  <a:srgbClr val="3A3A3A"/>
                </a:solidFill>
                <a:effectLst/>
                <a:latin typeface="Helvetica Neue Light" panose="02000403000000020004" pitchFamily="2" charset="0"/>
                <a:ea typeface="Helvetica Neue Light" panose="02000403000000020004" pitchFamily="2" charset="0"/>
              </a:rPr>
              <a:t> request is read-only, but of course, once the client receives the data, it is free to do any operation with it on its own side—for instance, format it for display.</a:t>
            </a:r>
            <a:endParaRPr lang="en-GB" sz="2400" dirty="0">
              <a:solidFill>
                <a:srgbClr val="292929"/>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849007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POST</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0830"/>
            <a:ext cx="10775868" cy="5002686"/>
          </a:xfrm>
        </p:spPr>
        <p:txBody>
          <a:bodyPr>
            <a:noAutofit/>
          </a:bodyPr>
          <a:lstStyle/>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Use POST APIs to create new subordinate resources, e.g., a file is subordinate to a directory containing it or a row is subordinate to a database table.</a:t>
            </a:r>
          </a:p>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When talking strictly about REST, POST methods are used to create a new resource into the collection of resources.</a:t>
            </a:r>
          </a:p>
        </p:txBody>
      </p:sp>
    </p:spTree>
    <p:extLst>
      <p:ext uri="{BB962C8B-B14F-4D97-AF65-F5344CB8AC3E}">
        <p14:creationId xmlns:p14="http://schemas.microsoft.com/office/powerpoint/2010/main" val="36670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PUT</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0830"/>
            <a:ext cx="10775868" cy="5002686"/>
          </a:xfrm>
        </p:spPr>
        <p:txBody>
          <a:bodyPr>
            <a:noAutofit/>
          </a:bodyPr>
          <a:lstStyle/>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Use PUT APIs primarily to update an existing resource (if the resource does not exist, then API may decide to create a new resource or not).</a:t>
            </a:r>
          </a:p>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PUT API Response Codes</a:t>
            </a:r>
          </a:p>
          <a:p>
            <a:pPr lvl="1">
              <a:lnSpc>
                <a:spcPct val="150000"/>
              </a:lnSpc>
            </a:pPr>
            <a:r>
              <a:rPr lang="en-GB" sz="2000" dirty="0">
                <a:solidFill>
                  <a:srgbClr val="222222"/>
                </a:solidFill>
                <a:effectLst/>
                <a:latin typeface="Helvetica Neue Light" panose="02000403000000020004" pitchFamily="2" charset="0"/>
                <a:ea typeface="Helvetica Neue Light" panose="02000403000000020004" pitchFamily="2" charset="0"/>
              </a:rPr>
              <a:t>If a new resource has been created by the PUT API, the origin server MUST inform the user agent via the HTTP response code 201 (Created) response.</a:t>
            </a:r>
          </a:p>
          <a:p>
            <a:pPr lvl="1">
              <a:lnSpc>
                <a:spcPct val="150000"/>
              </a:lnSpc>
            </a:pPr>
            <a:r>
              <a:rPr lang="en-GB" sz="2000" dirty="0">
                <a:solidFill>
                  <a:srgbClr val="222222"/>
                </a:solidFill>
                <a:effectLst/>
                <a:latin typeface="Helvetica Neue Light" panose="02000403000000020004" pitchFamily="2" charset="0"/>
                <a:ea typeface="Helvetica Neue Light" panose="02000403000000020004" pitchFamily="2" charset="0"/>
              </a:rPr>
              <a:t>If an existing resource is modified the 200 (OK) response code SHOULD be sent to indicate successful completion of the request.</a:t>
            </a:r>
          </a:p>
          <a:p>
            <a:pPr algn="l">
              <a:lnSpc>
                <a:spcPct val="150000"/>
              </a:lnSpc>
            </a:pPr>
            <a:endParaRPr lang="en-GB" sz="2400" dirty="0">
              <a:solidFill>
                <a:srgbClr val="222222"/>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551511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4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DELETE</a:t>
            </a:r>
            <a:endParaRPr lang="en-US" sz="4800" spc="60" dirty="0">
              <a:latin typeface="American Typewriter" panose="02090604020004020304" pitchFamily="18" charset="77"/>
              <a:ea typeface="Helvetica Neue Thin" panose="020B0403020202020204" pitchFamily="34" charset="0"/>
              <a:cs typeface="Georgia Pro Cond Black" panose="020F0502020204030204" pitchFamily="34" charset="0"/>
            </a:endParaRPr>
          </a:p>
        </p:txBody>
      </p:sp>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38200" y="1470830"/>
            <a:ext cx="10775868" cy="5002686"/>
          </a:xfrm>
        </p:spPr>
        <p:txBody>
          <a:bodyPr>
            <a:noAutofit/>
          </a:bodyPr>
          <a:lstStyle/>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As the name applies, DELETE APIs delete the resources (identified by the Request-URI).</a:t>
            </a:r>
          </a:p>
          <a:p>
            <a:pPr algn="l">
              <a:lnSpc>
                <a:spcPct val="150000"/>
              </a:lnSpc>
            </a:pPr>
            <a:r>
              <a:rPr lang="en-GB" sz="2400" dirty="0">
                <a:solidFill>
                  <a:srgbClr val="222222"/>
                </a:solidFill>
                <a:effectLst/>
                <a:latin typeface="Helvetica Neue Light" panose="02000403000000020004" pitchFamily="2" charset="0"/>
                <a:ea typeface="Helvetica Neue Light" panose="02000403000000020004" pitchFamily="2" charset="0"/>
              </a:rPr>
              <a:t>If you DELETE a resource, it’s removed from the collection of resources.</a:t>
            </a:r>
          </a:p>
          <a:p>
            <a:pPr algn="l">
              <a:lnSpc>
                <a:spcPct val="150000"/>
              </a:lnSpc>
            </a:pPr>
            <a:r>
              <a:rPr lang="en-GB" sz="2400" dirty="0">
                <a:latin typeface="Helvetica Neue Light" panose="02000403000000020004" pitchFamily="2" charset="0"/>
                <a:ea typeface="Helvetica Neue Light" panose="02000403000000020004" pitchFamily="2" charset="0"/>
              </a:rPr>
              <a:t>DELETE</a:t>
            </a:r>
            <a:r>
              <a:rPr lang="en-GB" sz="2400" dirty="0">
                <a:solidFill>
                  <a:srgbClr val="3A3A3A"/>
                </a:solidFill>
                <a:effectLst/>
                <a:latin typeface="Helvetica Neue Light" panose="02000403000000020004" pitchFamily="2" charset="0"/>
                <a:ea typeface="Helvetica Neue Light" panose="02000403000000020004" pitchFamily="2" charset="0"/>
              </a:rPr>
              <a:t> should perform the contrary of </a:t>
            </a:r>
            <a:r>
              <a:rPr lang="en-GB" sz="2400" dirty="0">
                <a:latin typeface="Helvetica Neue Light" panose="02000403000000020004" pitchFamily="2" charset="0"/>
                <a:ea typeface="Helvetica Neue Light" panose="02000403000000020004" pitchFamily="2" charset="0"/>
              </a:rPr>
              <a:t>PUT</a:t>
            </a:r>
            <a:r>
              <a:rPr lang="en-GB" sz="2400" dirty="0">
                <a:solidFill>
                  <a:srgbClr val="3A3A3A"/>
                </a:solidFill>
                <a:effectLst/>
                <a:latin typeface="Helvetica Neue Light" panose="02000403000000020004" pitchFamily="2" charset="0"/>
                <a:ea typeface="Helvetica Neue Light" panose="02000403000000020004" pitchFamily="2" charset="0"/>
              </a:rPr>
              <a:t>; it should be used when you want to delete the resource identified by the URL of the request.</a:t>
            </a:r>
            <a:endParaRPr lang="en-GB" sz="2400" dirty="0">
              <a:solidFill>
                <a:srgbClr val="222222"/>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26661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pPr algn="ctr"/>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CRUD</a:t>
            </a:r>
          </a:p>
        </p:txBody>
      </p:sp>
      <p:sp>
        <p:nvSpPr>
          <p:cNvPr id="6" name="Content Placeholder 5">
            <a:extLst>
              <a:ext uri="{FF2B5EF4-FFF2-40B4-BE49-F238E27FC236}">
                <a16:creationId xmlns:a16="http://schemas.microsoft.com/office/drawing/2014/main" id="{A153ADA8-0141-A042-8F21-6E1E9963016B}"/>
              </a:ext>
            </a:extLst>
          </p:cNvPr>
          <p:cNvSpPr>
            <a:spLocks noGrp="1"/>
          </p:cNvSpPr>
          <p:nvPr>
            <p:ph idx="1"/>
          </p:nvPr>
        </p:nvSpPr>
        <p:spPr>
          <a:xfrm>
            <a:off x="838200" y="2486313"/>
            <a:ext cx="10515600" cy="4122831"/>
          </a:xfrm>
        </p:spPr>
        <p:txBody>
          <a:bodyPr>
            <a:normAutofit lnSpcReduction="10000"/>
          </a:bodyPr>
          <a:lstStyle/>
          <a:p>
            <a:pPr marL="0" indent="0" algn="ctr">
              <a:lnSpc>
                <a:spcPct val="150000"/>
              </a:lnSpc>
              <a:buNone/>
            </a:pPr>
            <a:r>
              <a:rPr lang="en-GB" sz="4000" dirty="0">
                <a:solidFill>
                  <a:schemeClr val="tx1">
                    <a:lumMod val="95000"/>
                    <a:lumOff val="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CREATE = POST</a:t>
            </a:r>
          </a:p>
          <a:p>
            <a:pPr marL="0" indent="0" algn="ctr">
              <a:lnSpc>
                <a:spcPct val="150000"/>
              </a:lnSpc>
              <a:buNone/>
            </a:pPr>
            <a:r>
              <a:rPr lang="en-GB" sz="4000" dirty="0">
                <a:solidFill>
                  <a:schemeClr val="tx1">
                    <a:lumMod val="95000"/>
                    <a:lumOff val="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READ = GET</a:t>
            </a:r>
          </a:p>
          <a:p>
            <a:pPr marL="0" indent="0" algn="ctr">
              <a:lnSpc>
                <a:spcPct val="150000"/>
              </a:lnSpc>
              <a:buNone/>
            </a:pPr>
            <a:r>
              <a:rPr lang="en-GB" sz="4000" dirty="0">
                <a:solidFill>
                  <a:schemeClr val="tx1">
                    <a:lumMod val="95000"/>
                    <a:lumOff val="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UPDATE = PUT</a:t>
            </a:r>
          </a:p>
          <a:p>
            <a:pPr marL="0" indent="0" algn="ctr">
              <a:lnSpc>
                <a:spcPct val="150000"/>
              </a:lnSpc>
              <a:buNone/>
            </a:pPr>
            <a:r>
              <a:rPr lang="en-GB" sz="4000" dirty="0">
                <a:solidFill>
                  <a:schemeClr val="tx1">
                    <a:lumMod val="95000"/>
                    <a:lumOff val="5000"/>
                  </a:schemeClr>
                </a:solidFill>
                <a:latin typeface="Helvetica Neue Medium" panose="02000503000000020004" pitchFamily="2" charset="0"/>
                <a:ea typeface="Helvetica Neue Medium" panose="02000503000000020004" pitchFamily="2" charset="0"/>
                <a:cs typeface="Helvetica Neue Medium" panose="02000503000000020004" pitchFamily="2" charset="0"/>
              </a:rPr>
              <a:t>DELETE = DELETE</a:t>
            </a:r>
            <a:endParaRPr lang="en-GB" sz="4000"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endParaRPr>
          </a:p>
          <a:p>
            <a:pPr marL="0" indent="0">
              <a:lnSpc>
                <a:spcPct val="150000"/>
              </a:lnSpc>
              <a:buNone/>
            </a:pPr>
            <a:endParaRPr lang="en-GB" sz="2000" dirty="0">
              <a:latin typeface="Helvetica Neue Light" panose="02000403000000020004" pitchFamily="2" charset="0"/>
              <a:ea typeface="Helvetica Neue Light" panose="02000403000000020004" pitchFamily="2" charset="0"/>
            </a:endParaRPr>
          </a:p>
        </p:txBody>
      </p:sp>
      <p:sp>
        <p:nvSpPr>
          <p:cNvPr id="5" name="Content Placeholder 5">
            <a:extLst>
              <a:ext uri="{FF2B5EF4-FFF2-40B4-BE49-F238E27FC236}">
                <a16:creationId xmlns:a16="http://schemas.microsoft.com/office/drawing/2014/main" id="{A5D124AF-338A-7B49-8794-75793605530A}"/>
              </a:ext>
            </a:extLst>
          </p:cNvPr>
          <p:cNvSpPr txBox="1">
            <a:spLocks/>
          </p:cNvSpPr>
          <p:nvPr/>
        </p:nvSpPr>
        <p:spPr>
          <a:xfrm>
            <a:off x="721970" y="1507393"/>
            <a:ext cx="10748059" cy="7959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None/>
            </a:pPr>
            <a:r>
              <a:rPr lang="en-GB" dirty="0">
                <a:solidFill>
                  <a:schemeClr val="tx1">
                    <a:lumMod val="95000"/>
                    <a:lumOff val="5000"/>
                  </a:schemeClr>
                </a:solidFill>
                <a:latin typeface="Helvetica Neue Light" panose="02000403000000020004" pitchFamily="2" charset="0"/>
                <a:ea typeface="Helvetica Neue Light" panose="02000403000000020004" pitchFamily="2" charset="0"/>
                <a:cs typeface="Helvetica Neue Medium" panose="02000503000000020004" pitchFamily="2" charset="0"/>
              </a:rPr>
              <a:t>Functionality mapped to HTTP ‘verbs’ or ‘request methods’</a:t>
            </a:r>
            <a:endParaRPr lang="en-GB"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406865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604855D6-A6A0-FEE9-66C9-A76C9E7C31E8}"/>
              </a:ext>
            </a:extLst>
          </p:cNvPr>
          <p:cNvGraphicFramePr>
            <a:graphicFrameLocks noGrp="1"/>
          </p:cNvGraphicFramePr>
          <p:nvPr>
            <p:ph idx="1"/>
            <p:extLst>
              <p:ext uri="{D42A27DB-BD31-4B8C-83A1-F6EECF244321}">
                <p14:modId xmlns:p14="http://schemas.microsoft.com/office/powerpoint/2010/main" val="220482677"/>
              </p:ext>
            </p:extLst>
          </p:nvPr>
        </p:nvGraphicFramePr>
        <p:xfrm>
          <a:off x="491063" y="300717"/>
          <a:ext cx="11159068" cy="6306808"/>
        </p:xfrm>
        <a:graphic>
          <a:graphicData uri="http://schemas.openxmlformats.org/drawingml/2006/table">
            <a:tbl>
              <a:tblPr/>
              <a:tblGrid>
                <a:gridCol w="2789767">
                  <a:extLst>
                    <a:ext uri="{9D8B030D-6E8A-4147-A177-3AD203B41FA5}">
                      <a16:colId xmlns:a16="http://schemas.microsoft.com/office/drawing/2014/main" val="1579328064"/>
                    </a:ext>
                  </a:extLst>
                </a:gridCol>
                <a:gridCol w="2789767">
                  <a:extLst>
                    <a:ext uri="{9D8B030D-6E8A-4147-A177-3AD203B41FA5}">
                      <a16:colId xmlns:a16="http://schemas.microsoft.com/office/drawing/2014/main" val="3667660771"/>
                    </a:ext>
                  </a:extLst>
                </a:gridCol>
                <a:gridCol w="2789767">
                  <a:extLst>
                    <a:ext uri="{9D8B030D-6E8A-4147-A177-3AD203B41FA5}">
                      <a16:colId xmlns:a16="http://schemas.microsoft.com/office/drawing/2014/main" val="1636878480"/>
                    </a:ext>
                  </a:extLst>
                </a:gridCol>
                <a:gridCol w="2789767">
                  <a:extLst>
                    <a:ext uri="{9D8B030D-6E8A-4147-A177-3AD203B41FA5}">
                      <a16:colId xmlns:a16="http://schemas.microsoft.com/office/drawing/2014/main" val="677786220"/>
                    </a:ext>
                  </a:extLst>
                </a:gridCol>
              </a:tblGrid>
              <a:tr h="659248">
                <a:tc>
                  <a:txBody>
                    <a:bodyPr/>
                    <a:lstStyle/>
                    <a:p>
                      <a:pPr fontAlgn="t"/>
                      <a:r>
                        <a:rPr lang="en-GB" sz="2000" b="1" i="0">
                          <a:effectLst/>
                          <a:latin typeface="Helvetica Neue Light" panose="02000403000000020004" pitchFamily="2" charset="0"/>
                          <a:ea typeface="Helvetica Neue Light" panose="02000403000000020004" pitchFamily="2" charset="0"/>
                        </a:rPr>
                        <a:t>HTTP Method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1" i="0">
                          <a:effectLst/>
                          <a:latin typeface="Helvetica Neue Light" panose="02000403000000020004" pitchFamily="2" charset="0"/>
                          <a:ea typeface="Helvetica Neue Light" panose="02000403000000020004" pitchFamily="2" charset="0"/>
                        </a:rPr>
                        <a:t>CRUD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1" i="0">
                          <a:effectLst/>
                          <a:latin typeface="Helvetica Neue Light" panose="02000403000000020004" pitchFamily="2" charset="0"/>
                          <a:ea typeface="Helvetica Neue Light" panose="02000403000000020004" pitchFamily="2" charset="0"/>
                        </a:rPr>
                        <a:t>Collection Resource (e.g. /users)</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1" i="0" dirty="0">
                          <a:effectLst/>
                          <a:latin typeface="Helvetica Neue Light" panose="02000403000000020004" pitchFamily="2" charset="0"/>
                          <a:ea typeface="Helvetica Neue Light" panose="02000403000000020004" pitchFamily="2" charset="0"/>
                        </a:rPr>
                        <a:t>Single Resource (e.g. /users/123)</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extLst>
                  <a:ext uri="{0D108BD9-81ED-4DB2-BD59-A6C34878D82A}">
                    <a16:rowId xmlns:a16="http://schemas.microsoft.com/office/drawing/2014/main" val="4288859518"/>
                  </a:ext>
                </a:extLst>
              </a:tr>
              <a:tr h="1253083">
                <a:tc>
                  <a:txBody>
                    <a:bodyPr/>
                    <a:lstStyle/>
                    <a:p>
                      <a:pPr fontAlgn="t"/>
                      <a:r>
                        <a:rPr lang="en-GB" sz="2000" b="0" i="0">
                          <a:effectLst/>
                          <a:latin typeface="Helvetica Neue Light" panose="02000403000000020004" pitchFamily="2" charset="0"/>
                          <a:ea typeface="Helvetica Neue Light" panose="02000403000000020004" pitchFamily="2" charset="0"/>
                        </a:rPr>
                        <a:t>POST</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dirty="0">
                          <a:effectLst/>
                          <a:latin typeface="Helvetica Neue Light" panose="02000403000000020004" pitchFamily="2" charset="0"/>
                          <a:ea typeface="Helvetica Neue Light" panose="02000403000000020004" pitchFamily="2" charset="0"/>
                        </a:rPr>
                        <a:t>Create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201 (Created), ‘Location’ header with link to /users/{id} containing new ID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Avoid using POST on a single resource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extLst>
                  <a:ext uri="{0D108BD9-81ED-4DB2-BD59-A6C34878D82A}">
                    <a16:rowId xmlns:a16="http://schemas.microsoft.com/office/drawing/2014/main" val="3220298086"/>
                  </a:ext>
                </a:extLst>
              </a:tr>
              <a:tr h="1253083">
                <a:tc>
                  <a:txBody>
                    <a:bodyPr/>
                    <a:lstStyle/>
                    <a:p>
                      <a:pPr fontAlgn="t"/>
                      <a:r>
                        <a:rPr lang="en-GB" sz="2000" b="0" i="0">
                          <a:effectLst/>
                          <a:latin typeface="Helvetica Neue Light" panose="02000403000000020004" pitchFamily="2" charset="0"/>
                          <a:ea typeface="Helvetica Neue Light" panose="02000403000000020004" pitchFamily="2" charset="0"/>
                        </a:rPr>
                        <a:t>GET</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Read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200 (OK), list of users. Use pagination, sorting, and filtering to navigate big lists</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200 (OK), single user. 404 (Not Found), if ID not found or invalid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extLst>
                  <a:ext uri="{0D108BD9-81ED-4DB2-BD59-A6C34878D82A}">
                    <a16:rowId xmlns:a16="http://schemas.microsoft.com/office/drawing/2014/main" val="1775762925"/>
                  </a:ext>
                </a:extLst>
              </a:tr>
              <a:tr h="1492735">
                <a:tc>
                  <a:txBody>
                    <a:bodyPr/>
                    <a:lstStyle/>
                    <a:p>
                      <a:pPr fontAlgn="t"/>
                      <a:r>
                        <a:rPr lang="en-GB" sz="2000" b="0" i="0">
                          <a:effectLst/>
                          <a:latin typeface="Helvetica Neue Light" panose="02000403000000020004" pitchFamily="2" charset="0"/>
                          <a:ea typeface="Helvetica Neue Light" panose="02000403000000020004" pitchFamily="2" charset="0"/>
                        </a:rPr>
                        <a:t>PUT</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Update/Replace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405 (Method not allowed), unless you want to update every resource in the entire collection of resource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dirty="0">
                          <a:effectLst/>
                          <a:latin typeface="Helvetica Neue Light" panose="02000403000000020004" pitchFamily="2" charset="0"/>
                          <a:ea typeface="Helvetica Neue Light" panose="02000403000000020004" pitchFamily="2" charset="0"/>
                        </a:rPr>
                        <a:t>200 (OK) or 204 (No Content). Use 404 (Not Found), if ID is not found or invalid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extLst>
                  <a:ext uri="{0D108BD9-81ED-4DB2-BD59-A6C34878D82A}">
                    <a16:rowId xmlns:a16="http://schemas.microsoft.com/office/drawing/2014/main" val="2855500631"/>
                  </a:ext>
                </a:extLst>
              </a:tr>
              <a:tr h="1492735">
                <a:tc>
                  <a:txBody>
                    <a:bodyPr/>
                    <a:lstStyle/>
                    <a:p>
                      <a:pPr fontAlgn="t"/>
                      <a:r>
                        <a:rPr lang="en-GB" sz="2000" b="0" i="0" dirty="0">
                          <a:effectLst/>
                          <a:latin typeface="Helvetica Neue Light" panose="02000403000000020004" pitchFamily="2" charset="0"/>
                          <a:ea typeface="Helvetica Neue Light" panose="02000403000000020004" pitchFamily="2" charset="0"/>
                        </a:rPr>
                        <a:t>DELETE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Delete</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a:effectLst/>
                          <a:latin typeface="Helvetica Neue Light" panose="02000403000000020004" pitchFamily="2" charset="0"/>
                          <a:ea typeface="Helvetica Neue Light" panose="02000403000000020004" pitchFamily="2" charset="0"/>
                        </a:rPr>
                        <a:t>405 (Method not allowed), unless you want to delete the whole collection — use with caution</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tc>
                  <a:txBody>
                    <a:bodyPr/>
                    <a:lstStyle/>
                    <a:p>
                      <a:pPr fontAlgn="t"/>
                      <a:r>
                        <a:rPr lang="en-GB" sz="2000" b="0" i="0" dirty="0">
                          <a:effectLst/>
                          <a:latin typeface="Helvetica Neue Light" panose="02000403000000020004" pitchFamily="2" charset="0"/>
                          <a:ea typeface="Helvetica Neue Light" panose="02000403000000020004" pitchFamily="2" charset="0"/>
                        </a:rPr>
                        <a:t>200 (OK). 404 (Not Found), if ID not found or invalid</a:t>
                      </a:r>
                    </a:p>
                  </a:txBody>
                  <a:tcPr marL="40290" marR="40290" marT="20145" marB="20145">
                    <a:lnL w="9525" cap="flat" cmpd="sng" algn="ctr">
                      <a:solidFill>
                        <a:srgbClr val="7042F0"/>
                      </a:solidFill>
                      <a:prstDash val="solid"/>
                      <a:round/>
                      <a:headEnd type="none" w="med" len="med"/>
                      <a:tailEnd type="none" w="med" len="med"/>
                    </a:lnL>
                    <a:lnR w="9525" cap="flat" cmpd="sng" algn="ctr">
                      <a:solidFill>
                        <a:srgbClr val="7042F0"/>
                      </a:solidFill>
                      <a:prstDash val="solid"/>
                      <a:round/>
                      <a:headEnd type="none" w="med" len="med"/>
                      <a:tailEnd type="none" w="med" len="med"/>
                    </a:lnR>
                    <a:lnT w="9525" cap="flat" cmpd="sng" algn="ctr">
                      <a:solidFill>
                        <a:srgbClr val="7042F0"/>
                      </a:solidFill>
                      <a:prstDash val="solid"/>
                      <a:round/>
                      <a:headEnd type="none" w="med" len="med"/>
                      <a:tailEnd type="none" w="med" len="med"/>
                    </a:lnT>
                    <a:lnB w="9525" cap="flat" cmpd="sng" algn="ctr">
                      <a:solidFill>
                        <a:srgbClr val="7042F0"/>
                      </a:solidFill>
                      <a:prstDash val="solid"/>
                      <a:round/>
                      <a:headEnd type="none" w="med" len="med"/>
                      <a:tailEnd type="none" w="med" len="med"/>
                    </a:lnB>
                    <a:solidFill>
                      <a:srgbClr val="FFFFFF"/>
                    </a:solidFill>
                  </a:tcPr>
                </a:tc>
                <a:extLst>
                  <a:ext uri="{0D108BD9-81ED-4DB2-BD59-A6C34878D82A}">
                    <a16:rowId xmlns:a16="http://schemas.microsoft.com/office/drawing/2014/main" val="302244299"/>
                  </a:ext>
                </a:extLst>
              </a:tr>
            </a:tbl>
          </a:graphicData>
        </a:graphic>
      </p:graphicFrame>
    </p:spTree>
    <p:extLst>
      <p:ext uri="{BB962C8B-B14F-4D97-AF65-F5344CB8AC3E}">
        <p14:creationId xmlns:p14="http://schemas.microsoft.com/office/powerpoint/2010/main" val="2749262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Making a ‘simple’ REST API</a:t>
            </a:r>
          </a:p>
        </p:txBody>
      </p:sp>
    </p:spTree>
    <p:extLst>
      <p:ext uri="{BB962C8B-B14F-4D97-AF65-F5344CB8AC3E}">
        <p14:creationId xmlns:p14="http://schemas.microsoft.com/office/powerpoint/2010/main" val="3555550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802574" y="330798"/>
            <a:ext cx="10775868" cy="1735508"/>
          </a:xfrm>
        </p:spPr>
        <p:txBody>
          <a:bodyPr>
            <a:noAutofit/>
          </a:bodyPr>
          <a:lstStyle/>
          <a:p>
            <a:pPr marL="0" indent="0" algn="l">
              <a:lnSpc>
                <a:spcPct val="150000"/>
              </a:lnSpc>
              <a:buNone/>
            </a:pPr>
            <a:r>
              <a:rPr lang="en-GB" sz="2000" dirty="0">
                <a:solidFill>
                  <a:srgbClr val="222222"/>
                </a:solidFill>
                <a:effectLst/>
                <a:latin typeface="Helvetica Neue Light" panose="02000403000000020004" pitchFamily="2" charset="0"/>
                <a:ea typeface="Helvetica Neue Light" panose="02000403000000020004" pitchFamily="2" charset="0"/>
              </a:rPr>
              <a:t>Based on the following tutorial: </a:t>
            </a:r>
            <a:r>
              <a:rPr lang="en-GB" sz="2000" dirty="0">
                <a:solidFill>
                  <a:srgbClr val="222222"/>
                </a:solidFill>
                <a:effectLst/>
                <a:latin typeface="Helvetica Neue Light" panose="02000403000000020004" pitchFamily="2" charset="0"/>
                <a:ea typeface="Helvetica Neue Light" panose="02000403000000020004" pitchFamily="2" charset="0"/>
                <a:hlinkClick r:id="rId2"/>
              </a:rPr>
              <a:t>https://www.codementor.io/@olatundegaruba/nodejs-restful-apis-in-10-minutes-q0sgsfhbd</a:t>
            </a:r>
            <a:endParaRPr lang="en-GB" sz="2000" dirty="0">
              <a:solidFill>
                <a:srgbClr val="222222"/>
              </a:solidFill>
              <a:effectLst/>
              <a:latin typeface="Helvetica Neue Light" panose="02000403000000020004" pitchFamily="2" charset="0"/>
              <a:ea typeface="Helvetica Neue Light" panose="02000403000000020004" pitchFamily="2" charset="0"/>
            </a:endParaRPr>
          </a:p>
          <a:p>
            <a:pPr marL="0" indent="0" algn="l">
              <a:lnSpc>
                <a:spcPct val="150000"/>
              </a:lnSpc>
              <a:buNone/>
            </a:pPr>
            <a:endParaRPr lang="en-GB" sz="2400" dirty="0">
              <a:solidFill>
                <a:srgbClr val="222222"/>
              </a:solidFill>
              <a:effectLst/>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FFAE8BD2-B1DC-BA5F-2DFB-CAB778318E2E}"/>
              </a:ext>
            </a:extLst>
          </p:cNvPr>
          <p:cNvPicPr>
            <a:picLocks noChangeAspect="1"/>
          </p:cNvPicPr>
          <p:nvPr/>
        </p:nvPicPr>
        <p:blipFill>
          <a:blip r:embed="rId3"/>
          <a:stretch>
            <a:fillRect/>
          </a:stretch>
        </p:blipFill>
        <p:spPr>
          <a:xfrm>
            <a:off x="1689278" y="1485913"/>
            <a:ext cx="8813444" cy="5041289"/>
          </a:xfrm>
          <a:prstGeom prst="rect">
            <a:avLst/>
          </a:prstGeom>
          <a:solidFill>
            <a:schemeClr val="bg1">
              <a:lumMod val="50000"/>
            </a:schemeClr>
          </a:solidFill>
          <a:ln>
            <a:solidFill>
              <a:schemeClr val="bg1">
                <a:lumMod val="50000"/>
              </a:schemeClr>
            </a:solidFill>
          </a:ln>
        </p:spPr>
      </p:pic>
    </p:spTree>
    <p:extLst>
      <p:ext uri="{BB962C8B-B14F-4D97-AF65-F5344CB8AC3E}">
        <p14:creationId xmlns:p14="http://schemas.microsoft.com/office/powerpoint/2010/main" val="38724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6" name="Picture 10" descr="MongoDB Logo - LogoDix">
            <a:extLst>
              <a:ext uri="{FF2B5EF4-FFF2-40B4-BE49-F238E27FC236}">
                <a16:creationId xmlns:a16="http://schemas.microsoft.com/office/drawing/2014/main" id="{8F8908B8-E842-1411-455A-4498E55CB32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480" t="16565" r="22843" b="21791"/>
          <a:stretch/>
        </p:blipFill>
        <p:spPr bwMode="auto">
          <a:xfrm>
            <a:off x="9499600" y="4575440"/>
            <a:ext cx="1854200" cy="2052901"/>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Assumptions – Prerequisites </a:t>
            </a:r>
          </a:p>
        </p:txBody>
      </p:sp>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1864194"/>
            <a:ext cx="10515600" cy="3129612"/>
          </a:xfrm>
        </p:spPr>
        <p:txBody>
          <a:bodyPr>
            <a:normAutofit/>
          </a:bodyPr>
          <a:lstStyle/>
          <a:p>
            <a:pPr marL="457200" indent="-457200">
              <a:lnSpc>
                <a:spcPct val="150000"/>
              </a:lnSpc>
              <a:buFont typeface="+mj-lt"/>
              <a:buAutoNum type="arabicPeriod"/>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You have node and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npm</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installed.</a:t>
            </a:r>
          </a:p>
          <a:p>
            <a:pPr marL="457200" indent="-457200">
              <a:lnSpc>
                <a:spcPct val="150000"/>
              </a:lnSpc>
              <a:buFont typeface="+mj-lt"/>
              <a:buAutoNum type="arabicPeriod"/>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You have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mongoDB</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installed locally or are using your University Mongo account.</a:t>
            </a:r>
          </a:p>
          <a:p>
            <a:pPr marL="457200" indent="-457200">
              <a:lnSpc>
                <a:spcPct val="150000"/>
              </a:lnSpc>
              <a:buFont typeface="+mj-lt"/>
              <a:buAutoNum type="arabicPeriod"/>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You have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nodemon</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installed globally as we did last week.</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4100" name="Picture 4" descr="Enviar SMS con node.js - Altiria">
            <a:extLst>
              <a:ext uri="{FF2B5EF4-FFF2-40B4-BE49-F238E27FC236}">
                <a16:creationId xmlns:a16="http://schemas.microsoft.com/office/drawing/2014/main" id="{E735999B-B114-6A93-FE49-DB41D43B0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051" y="4889328"/>
            <a:ext cx="1528956" cy="152895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077D8F5F-CA62-1AE4-C850-869F7180A0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654" y="5259678"/>
            <a:ext cx="2092530" cy="812290"/>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nodemon SVG Vector Logos - Vector Logo Zone">
            <a:extLst>
              <a:ext uri="{FF2B5EF4-FFF2-40B4-BE49-F238E27FC236}">
                <a16:creationId xmlns:a16="http://schemas.microsoft.com/office/drawing/2014/main" id="{22CC2B65-184E-F4E9-EBFE-D2C014D483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3653" y="4575440"/>
            <a:ext cx="4089390" cy="2044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259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54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Setting up the structure and installing the dependencies</a:t>
            </a:r>
          </a:p>
        </p:txBody>
      </p:sp>
    </p:spTree>
    <p:extLst>
      <p:ext uri="{BB962C8B-B14F-4D97-AF65-F5344CB8AC3E}">
        <p14:creationId xmlns:p14="http://schemas.microsoft.com/office/powerpoint/2010/main" val="19628721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fontScale="90000"/>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File structure - </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similar to last week</a:t>
            </a:r>
          </a:p>
        </p:txBody>
      </p:sp>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1525527"/>
            <a:ext cx="10515600" cy="3129612"/>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In the root of your G Drive create folders</a:t>
            </a:r>
          </a:p>
          <a:p>
            <a:pPr marL="0" indent="0">
              <a:lnSpc>
                <a:spcPct val="150000"/>
              </a:lnSpc>
              <a:buNone/>
            </a:pP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todoListApi</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&gt;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api</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&gt; controllers</a:t>
            </a: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&gt; models</a:t>
            </a: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&gt; routes</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grpSp>
        <p:nvGrpSpPr>
          <p:cNvPr id="8" name="Group 7">
            <a:extLst>
              <a:ext uri="{FF2B5EF4-FFF2-40B4-BE49-F238E27FC236}">
                <a16:creationId xmlns:a16="http://schemas.microsoft.com/office/drawing/2014/main" id="{CC6A1770-C549-A0A0-10D7-AF3DAE7ECA27}"/>
              </a:ext>
            </a:extLst>
          </p:cNvPr>
          <p:cNvGrpSpPr/>
          <p:nvPr/>
        </p:nvGrpSpPr>
        <p:grpSpPr>
          <a:xfrm>
            <a:off x="512393" y="5126423"/>
            <a:ext cx="11167213" cy="1378236"/>
            <a:chOff x="512393" y="4437305"/>
            <a:chExt cx="11167213" cy="1378236"/>
          </a:xfrm>
        </p:grpSpPr>
        <p:pic>
          <p:nvPicPr>
            <p:cNvPr id="2" name="Picture 1">
              <a:extLst>
                <a:ext uri="{FF2B5EF4-FFF2-40B4-BE49-F238E27FC236}">
                  <a16:creationId xmlns:a16="http://schemas.microsoft.com/office/drawing/2014/main" id="{70B3D601-116E-B4FB-147C-11D836A54C5A}"/>
                </a:ext>
              </a:extLst>
            </p:cNvPr>
            <p:cNvPicPr>
              <a:picLocks noChangeAspect="1"/>
            </p:cNvPicPr>
            <p:nvPr/>
          </p:nvPicPr>
          <p:blipFill rotWithShape="1">
            <a:blip r:embed="rId2"/>
            <a:srcRect r="11321"/>
            <a:stretch/>
          </p:blipFill>
          <p:spPr>
            <a:xfrm>
              <a:off x="512394" y="4489978"/>
              <a:ext cx="11167212" cy="1325563"/>
            </a:xfrm>
            <a:prstGeom prst="rect">
              <a:avLst/>
            </a:prstGeom>
            <a:ln>
              <a:solidFill>
                <a:schemeClr val="bg1">
                  <a:lumMod val="50000"/>
                </a:schemeClr>
              </a:solidFill>
            </a:ln>
          </p:spPr>
        </p:pic>
        <p:sp>
          <p:nvSpPr>
            <p:cNvPr id="5" name="Rectangle 4">
              <a:extLst>
                <a:ext uri="{FF2B5EF4-FFF2-40B4-BE49-F238E27FC236}">
                  <a16:creationId xmlns:a16="http://schemas.microsoft.com/office/drawing/2014/main" id="{FDE094BD-AFA0-5239-A541-918004A53236}"/>
                </a:ext>
              </a:extLst>
            </p:cNvPr>
            <p:cNvSpPr/>
            <p:nvPr/>
          </p:nvSpPr>
          <p:spPr>
            <a:xfrm>
              <a:off x="512393" y="5332473"/>
              <a:ext cx="4804673" cy="483068"/>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83AF30F-7902-23D7-2B47-6AC9787D071A}"/>
                </a:ext>
              </a:extLst>
            </p:cNvPr>
            <p:cNvSpPr/>
            <p:nvPr/>
          </p:nvSpPr>
          <p:spPr>
            <a:xfrm>
              <a:off x="630926" y="4437305"/>
              <a:ext cx="4804673" cy="483068"/>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a:extLst>
              <a:ext uri="{FF2B5EF4-FFF2-40B4-BE49-F238E27FC236}">
                <a16:creationId xmlns:a16="http://schemas.microsoft.com/office/drawing/2014/main" id="{4F54F49F-4DBA-1C1A-40BB-09DC465B3230}"/>
              </a:ext>
            </a:extLst>
          </p:cNvPr>
          <p:cNvPicPr>
            <a:picLocks noChangeAspect="1"/>
          </p:cNvPicPr>
          <p:nvPr/>
        </p:nvPicPr>
        <p:blipFill>
          <a:blip r:embed="rId3"/>
          <a:stretch>
            <a:fillRect/>
          </a:stretch>
        </p:blipFill>
        <p:spPr>
          <a:xfrm>
            <a:off x="6685751" y="1806530"/>
            <a:ext cx="4993855" cy="2089120"/>
          </a:xfrm>
          <a:prstGeom prst="rect">
            <a:avLst/>
          </a:prstGeom>
          <a:ln>
            <a:solidFill>
              <a:schemeClr val="bg1">
                <a:lumMod val="65000"/>
              </a:schemeClr>
            </a:solidFill>
          </a:ln>
        </p:spPr>
      </p:pic>
    </p:spTree>
    <p:extLst>
      <p:ext uri="{BB962C8B-B14F-4D97-AF65-F5344CB8AC3E}">
        <p14:creationId xmlns:p14="http://schemas.microsoft.com/office/powerpoint/2010/main" val="1427892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304800" y="130055"/>
            <a:ext cx="10515600" cy="2054345"/>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Using the node command prompt</a:t>
            </a:r>
          </a:p>
          <a:p>
            <a:pPr marL="0" indent="0">
              <a:lnSpc>
                <a:spcPct val="150000"/>
              </a:lnSpc>
              <a:buNone/>
            </a:pPr>
            <a:r>
              <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cd </a:t>
            </a:r>
            <a:r>
              <a:rPr lang="en-GB" sz="24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todoListApi</a:t>
            </a:r>
            <a:endPar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a:p>
            <a:pPr marL="0" indent="0">
              <a:lnSpc>
                <a:spcPct val="150000"/>
              </a:lnSpc>
              <a:buNone/>
            </a:pPr>
            <a:r>
              <a:rPr lang="en-GB" sz="24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a:t>
            </a:r>
            <a:r>
              <a:rPr lang="en-GB" sz="24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init</a:t>
            </a:r>
            <a:r>
              <a:rPr lang="en-GB" sz="24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-y</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endParaRPr>
          </a:p>
        </p:txBody>
      </p:sp>
      <p:pic>
        <p:nvPicPr>
          <p:cNvPr id="12" name="Picture 11">
            <a:extLst>
              <a:ext uri="{FF2B5EF4-FFF2-40B4-BE49-F238E27FC236}">
                <a16:creationId xmlns:a16="http://schemas.microsoft.com/office/drawing/2014/main" id="{F66E617B-6B68-091C-97F9-061210F0E87B}"/>
              </a:ext>
            </a:extLst>
          </p:cNvPr>
          <p:cNvPicPr>
            <a:picLocks noChangeAspect="1"/>
          </p:cNvPicPr>
          <p:nvPr/>
        </p:nvPicPr>
        <p:blipFill>
          <a:blip r:embed="rId2"/>
          <a:stretch>
            <a:fillRect/>
          </a:stretch>
        </p:blipFill>
        <p:spPr>
          <a:xfrm>
            <a:off x="5012266" y="778932"/>
            <a:ext cx="6874934" cy="5821517"/>
          </a:xfrm>
          <a:prstGeom prst="rect">
            <a:avLst/>
          </a:prstGeom>
        </p:spPr>
      </p:pic>
    </p:spTree>
    <p:extLst>
      <p:ext uri="{BB962C8B-B14F-4D97-AF65-F5344CB8AC3E}">
        <p14:creationId xmlns:p14="http://schemas.microsoft.com/office/powerpoint/2010/main" val="4142147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299388"/>
            <a:ext cx="10515600" cy="2054345"/>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Open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todoListApi</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folder in VS code, In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package.json</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add</a:t>
            </a:r>
          </a:p>
          <a:p>
            <a:pPr marL="0" indent="0">
              <a:lnSpc>
                <a:spcPct val="150000"/>
              </a:lnSpc>
              <a:buNone/>
            </a:pPr>
            <a:r>
              <a:rPr lang="en-GB" sz="2400" dirty="0">
                <a:effectLst/>
                <a:latin typeface="Courier New" panose="02070309020205020404" pitchFamily="49" charset="0"/>
                <a:cs typeface="Courier New" panose="02070309020205020404" pitchFamily="49" charset="0"/>
              </a:rPr>
              <a:t>"start": "</a:t>
            </a:r>
            <a:r>
              <a:rPr lang="en-GB" sz="2400" dirty="0" err="1">
                <a:effectLst/>
                <a:latin typeface="Courier New" panose="02070309020205020404" pitchFamily="49" charset="0"/>
                <a:cs typeface="Courier New" panose="02070309020205020404" pitchFamily="49" charset="0"/>
              </a:rPr>
              <a:t>nodemon</a:t>
            </a:r>
            <a:r>
              <a:rPr lang="en-GB" sz="2400" dirty="0">
                <a:effectLst/>
                <a:latin typeface="Courier New" panose="02070309020205020404" pitchFamily="49" charset="0"/>
                <a:cs typeface="Courier New" panose="02070309020205020404" pitchFamily="49" charset="0"/>
              </a:rPr>
              <a:t> </a:t>
            </a:r>
            <a:r>
              <a:rPr lang="en-GB" sz="2400" dirty="0" err="1">
                <a:effectLst/>
                <a:latin typeface="Courier New" panose="02070309020205020404" pitchFamily="49" charset="0"/>
                <a:cs typeface="Courier New" panose="02070309020205020404" pitchFamily="49" charset="0"/>
              </a:rPr>
              <a:t>server.js</a:t>
            </a:r>
            <a:r>
              <a:rPr lang="en-GB" sz="2400" dirty="0">
                <a:effectLst/>
                <a:latin typeface="Courier New" panose="02070309020205020404" pitchFamily="49" charset="0"/>
                <a:cs typeface="Courier New" panose="02070309020205020404" pitchFamily="49" charset="0"/>
              </a:rPr>
              <a:t>”</a:t>
            </a:r>
          </a:p>
          <a:p>
            <a:pPr marL="0" indent="0">
              <a:lnSpc>
                <a:spcPct val="150000"/>
              </a:lnSpc>
              <a:buNone/>
            </a:pPr>
            <a:r>
              <a:rPr lang="en-GB" sz="2400" spc="50" dirty="0">
                <a:latin typeface="Helvetica Neue Light" panose="02000403000000020004" pitchFamily="2" charset="0"/>
                <a:ea typeface="Helvetica Neue Light" panose="02000403000000020004" pitchFamily="2" charset="0"/>
                <a:cs typeface="Courier New" panose="02070309020205020404" pitchFamily="49" charset="0"/>
              </a:rPr>
              <a:t>To the scripts around line 8</a:t>
            </a:r>
          </a:p>
        </p:txBody>
      </p:sp>
      <p:pic>
        <p:nvPicPr>
          <p:cNvPr id="2" name="Picture 1">
            <a:extLst>
              <a:ext uri="{FF2B5EF4-FFF2-40B4-BE49-F238E27FC236}">
                <a16:creationId xmlns:a16="http://schemas.microsoft.com/office/drawing/2014/main" id="{27AF0263-8230-A747-2E33-96360DDB2B43}"/>
              </a:ext>
            </a:extLst>
          </p:cNvPr>
          <p:cNvPicPr>
            <a:picLocks noChangeAspect="1"/>
          </p:cNvPicPr>
          <p:nvPr/>
        </p:nvPicPr>
        <p:blipFill>
          <a:blip r:embed="rId2"/>
          <a:stretch>
            <a:fillRect/>
          </a:stretch>
        </p:blipFill>
        <p:spPr>
          <a:xfrm>
            <a:off x="838200" y="2544234"/>
            <a:ext cx="10882005" cy="3920067"/>
          </a:xfrm>
          <a:prstGeom prst="rect">
            <a:avLst/>
          </a:prstGeom>
        </p:spPr>
      </p:pic>
    </p:spTree>
    <p:extLst>
      <p:ext uri="{BB962C8B-B14F-4D97-AF65-F5344CB8AC3E}">
        <p14:creationId xmlns:p14="http://schemas.microsoft.com/office/powerpoint/2010/main" val="2780880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973666" y="556093"/>
            <a:ext cx="10515600" cy="1326212"/>
          </a:xfrm>
        </p:spPr>
        <p:txBody>
          <a:bodyPr>
            <a:normAutofit/>
          </a:bodyPr>
          <a:lstStyle/>
          <a:p>
            <a:pPr marL="0" indent="0">
              <a:lnSpc>
                <a:spcPct val="150000"/>
              </a:lnSpc>
              <a:buNone/>
            </a:pPr>
            <a:r>
              <a:rPr lang="en-GB"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install express</a:t>
            </a:r>
          </a:p>
        </p:txBody>
      </p:sp>
      <p:pic>
        <p:nvPicPr>
          <p:cNvPr id="4" name="Picture 3">
            <a:extLst>
              <a:ext uri="{FF2B5EF4-FFF2-40B4-BE49-F238E27FC236}">
                <a16:creationId xmlns:a16="http://schemas.microsoft.com/office/drawing/2014/main" id="{F30183B5-7CB2-EDAC-0C83-A916103E6385}"/>
              </a:ext>
            </a:extLst>
          </p:cNvPr>
          <p:cNvPicPr>
            <a:picLocks noChangeAspect="1"/>
          </p:cNvPicPr>
          <p:nvPr/>
        </p:nvPicPr>
        <p:blipFill>
          <a:blip r:embed="rId2"/>
          <a:stretch>
            <a:fillRect/>
          </a:stretch>
        </p:blipFill>
        <p:spPr>
          <a:xfrm>
            <a:off x="973666" y="1918881"/>
            <a:ext cx="9947652" cy="3719920"/>
          </a:xfrm>
          <a:prstGeom prst="rect">
            <a:avLst/>
          </a:prstGeom>
        </p:spPr>
      </p:pic>
    </p:spTree>
    <p:extLst>
      <p:ext uri="{BB962C8B-B14F-4D97-AF65-F5344CB8AC3E}">
        <p14:creationId xmlns:p14="http://schemas.microsoft.com/office/powerpoint/2010/main" val="2362279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440268"/>
            <a:ext cx="10515600" cy="1326212"/>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Create the following 3 empty JS files in their relative folders: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todoListController.js</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todoListModel.js</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todoListRoutes.js</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endParaRPr>
          </a:p>
        </p:txBody>
      </p:sp>
      <p:pic>
        <p:nvPicPr>
          <p:cNvPr id="5" name="Picture 4">
            <a:extLst>
              <a:ext uri="{FF2B5EF4-FFF2-40B4-BE49-F238E27FC236}">
                <a16:creationId xmlns:a16="http://schemas.microsoft.com/office/drawing/2014/main" id="{5C5376F0-6B94-CB67-0EE7-F71AD18C5B3E}"/>
              </a:ext>
            </a:extLst>
          </p:cNvPr>
          <p:cNvPicPr>
            <a:picLocks noChangeAspect="1"/>
          </p:cNvPicPr>
          <p:nvPr/>
        </p:nvPicPr>
        <p:blipFill>
          <a:blip r:embed="rId2"/>
          <a:stretch>
            <a:fillRect/>
          </a:stretch>
        </p:blipFill>
        <p:spPr>
          <a:xfrm>
            <a:off x="838200" y="1886395"/>
            <a:ext cx="10515600" cy="4230569"/>
          </a:xfrm>
          <a:prstGeom prst="rect">
            <a:avLst/>
          </a:prstGeom>
        </p:spPr>
      </p:pic>
    </p:spTree>
    <p:extLst>
      <p:ext uri="{BB962C8B-B14F-4D97-AF65-F5344CB8AC3E}">
        <p14:creationId xmlns:p14="http://schemas.microsoft.com/office/powerpoint/2010/main" val="2734148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586153" y="378712"/>
            <a:ext cx="10515600" cy="640860"/>
          </a:xfrm>
        </p:spPr>
        <p:txBody>
          <a:bodyPr>
            <a:no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Create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server.js</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 in the root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todoListApi</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 folder and add the following code</a:t>
            </a:r>
          </a:p>
        </p:txBody>
      </p:sp>
      <p:pic>
        <p:nvPicPr>
          <p:cNvPr id="4" name="Picture 3">
            <a:extLst>
              <a:ext uri="{FF2B5EF4-FFF2-40B4-BE49-F238E27FC236}">
                <a16:creationId xmlns:a16="http://schemas.microsoft.com/office/drawing/2014/main" id="{E50F25DF-7C65-2B12-6275-4E8718BFBC5D}"/>
              </a:ext>
            </a:extLst>
          </p:cNvPr>
          <p:cNvPicPr>
            <a:picLocks noChangeAspect="1"/>
          </p:cNvPicPr>
          <p:nvPr/>
        </p:nvPicPr>
        <p:blipFill>
          <a:blip r:embed="rId2"/>
          <a:stretch>
            <a:fillRect/>
          </a:stretch>
        </p:blipFill>
        <p:spPr>
          <a:xfrm>
            <a:off x="586153" y="1337734"/>
            <a:ext cx="11458225" cy="2726267"/>
          </a:xfrm>
          <a:prstGeom prst="rect">
            <a:avLst/>
          </a:prstGeom>
        </p:spPr>
      </p:pic>
      <p:sp>
        <p:nvSpPr>
          <p:cNvPr id="5" name="TextBox 4">
            <a:extLst>
              <a:ext uri="{FF2B5EF4-FFF2-40B4-BE49-F238E27FC236}">
                <a16:creationId xmlns:a16="http://schemas.microsoft.com/office/drawing/2014/main" id="{C0507EB3-5EF1-65C9-88B6-592A231C05CA}"/>
              </a:ext>
            </a:extLst>
          </p:cNvPr>
          <p:cNvSpPr txBox="1"/>
          <p:nvPr/>
        </p:nvSpPr>
        <p:spPr>
          <a:xfrm>
            <a:off x="504092" y="4197049"/>
            <a:ext cx="11183816" cy="2340769"/>
          </a:xfrm>
          <a:prstGeom prst="rect">
            <a:avLst/>
          </a:prstGeom>
          <a:noFill/>
        </p:spPr>
        <p:txBody>
          <a:bodyPr wrap="square">
            <a:spAutoFit/>
          </a:bodyPr>
          <a:lstStyle/>
          <a:p>
            <a:pPr>
              <a:lnSpc>
                <a:spcPct val="150000"/>
              </a:lnSpc>
            </a:pPr>
            <a:r>
              <a:rPr lang="en-GB" sz="2000" dirty="0" err="1">
                <a:solidFill>
                  <a:srgbClr val="0C0D0E"/>
                </a:solidFill>
                <a:effectLst/>
                <a:latin typeface="Helvetica Neue Light" panose="02000403000000020004" pitchFamily="2" charset="0"/>
                <a:ea typeface="Helvetica Neue Light" panose="02000403000000020004" pitchFamily="2" charset="0"/>
              </a:rPr>
              <a:t>express.js</a:t>
            </a:r>
            <a:r>
              <a:rPr lang="en-GB" sz="2000" dirty="0">
                <a:solidFill>
                  <a:srgbClr val="0C0D0E"/>
                </a:solidFill>
                <a:effectLst/>
                <a:latin typeface="Helvetica Neue Light" panose="02000403000000020004" pitchFamily="2" charset="0"/>
                <a:ea typeface="Helvetica Neue Light" panose="02000403000000020004" pitchFamily="2" charset="0"/>
              </a:rPr>
              <a:t> is a framework built on top of Node.js and uses Node's networking and web framework behind the scenes. It uses http module of node to create a server. You call </a:t>
            </a:r>
            <a:r>
              <a:rPr lang="en-GB" sz="2000" dirty="0">
                <a:latin typeface="Helvetica Neue Light" panose="02000403000000020004" pitchFamily="2" charset="0"/>
                <a:ea typeface="Helvetica Neue Light" panose="02000403000000020004" pitchFamily="2" charset="0"/>
              </a:rPr>
              <a:t>express( )</a:t>
            </a:r>
            <a:r>
              <a:rPr lang="en-GB" sz="2000" dirty="0">
                <a:solidFill>
                  <a:srgbClr val="0C0D0E"/>
                </a:solidFill>
                <a:effectLst/>
                <a:latin typeface="Helvetica Neue Light" panose="02000403000000020004" pitchFamily="2" charset="0"/>
                <a:ea typeface="Helvetica Neue Light" panose="02000403000000020004" pitchFamily="2" charset="0"/>
              </a:rPr>
              <a:t>, but this function does a lot of stuff, including </a:t>
            </a:r>
            <a:r>
              <a:rPr lang="en-GB" sz="2000" dirty="0" err="1">
                <a:latin typeface="Helvetica Neue Light" panose="02000403000000020004" pitchFamily="2" charset="0"/>
                <a:ea typeface="Helvetica Neue Light" panose="02000403000000020004" pitchFamily="2" charset="0"/>
              </a:rPr>
              <a:t>http.createServer</a:t>
            </a:r>
            <a:r>
              <a:rPr lang="en-GB" sz="2000" dirty="0">
                <a:solidFill>
                  <a:srgbClr val="0C0D0E"/>
                </a:solidFill>
                <a:effectLst/>
                <a:latin typeface="Helvetica Neue Light" panose="02000403000000020004" pitchFamily="2" charset="0"/>
                <a:ea typeface="Helvetica Neue Light" panose="02000403000000020004" pitchFamily="2" charset="0"/>
              </a:rPr>
              <a:t>.</a:t>
            </a:r>
          </a:p>
          <a:p>
            <a:pPr>
              <a:lnSpc>
                <a:spcPct val="150000"/>
              </a:lnSpc>
            </a:pPr>
            <a:r>
              <a:rPr lang="en-GB" sz="2000" dirty="0">
                <a:solidFill>
                  <a:srgbClr val="0C0D0E"/>
                </a:solidFill>
                <a:effectLst/>
                <a:latin typeface="Helvetica Neue Light" panose="02000403000000020004" pitchFamily="2" charset="0"/>
                <a:ea typeface="Helvetica Neue Light" panose="02000403000000020004" pitchFamily="2" charset="0"/>
              </a:rPr>
              <a:t>No one really builds servers on bare node, the same way no one builds websites with bare HTML, CSS and JavaScript.</a:t>
            </a:r>
            <a:endParaRPr lang="en-US" sz="20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471196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440269"/>
            <a:ext cx="10515600" cy="982132"/>
          </a:xfrm>
        </p:spPr>
        <p:txBody>
          <a:bodyPr>
            <a:noAutofit/>
          </a:bodyPr>
          <a:lstStyle/>
          <a:p>
            <a:pPr marL="0" indent="0">
              <a:lnSpc>
                <a:spcPct val="150000"/>
              </a:lnSpc>
              <a:buNone/>
            </a:pPr>
            <a:r>
              <a:rPr lang="en-GB" sz="32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run start</a:t>
            </a:r>
          </a:p>
        </p:txBody>
      </p:sp>
      <p:pic>
        <p:nvPicPr>
          <p:cNvPr id="4" name="Picture 3">
            <a:extLst>
              <a:ext uri="{FF2B5EF4-FFF2-40B4-BE49-F238E27FC236}">
                <a16:creationId xmlns:a16="http://schemas.microsoft.com/office/drawing/2014/main" id="{8DEEB6D6-D00E-8586-6870-1F319162CCEA}"/>
              </a:ext>
            </a:extLst>
          </p:cNvPr>
          <p:cNvPicPr>
            <a:picLocks noChangeAspect="1"/>
          </p:cNvPicPr>
          <p:nvPr/>
        </p:nvPicPr>
        <p:blipFill>
          <a:blip r:embed="rId2"/>
          <a:stretch>
            <a:fillRect/>
          </a:stretch>
        </p:blipFill>
        <p:spPr>
          <a:xfrm>
            <a:off x="838200" y="1422401"/>
            <a:ext cx="9943555" cy="4301066"/>
          </a:xfrm>
          <a:prstGeom prst="rect">
            <a:avLst/>
          </a:prstGeom>
        </p:spPr>
      </p:pic>
      <p:sp>
        <p:nvSpPr>
          <p:cNvPr id="5" name="Content Placeholder 4">
            <a:extLst>
              <a:ext uri="{FF2B5EF4-FFF2-40B4-BE49-F238E27FC236}">
                <a16:creationId xmlns:a16="http://schemas.microsoft.com/office/drawing/2014/main" id="{B41E4804-ADA7-0BC6-A7C0-5BACCB18BD13}"/>
              </a:ext>
            </a:extLst>
          </p:cNvPr>
          <p:cNvSpPr txBox="1">
            <a:spLocks/>
          </p:cNvSpPr>
          <p:nvPr/>
        </p:nvSpPr>
        <p:spPr>
          <a:xfrm>
            <a:off x="956733" y="3429000"/>
            <a:ext cx="10515600" cy="15578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3200" spc="5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 run start</a:t>
            </a:r>
          </a:p>
          <a:p>
            <a:pPr marL="0" indent="0">
              <a:lnSpc>
                <a:spcPct val="150000"/>
              </a:lnSpc>
              <a:buFont typeface="Arial" panose="020B0604020202020204" pitchFamily="34" charset="0"/>
              <a:buNone/>
            </a:pPr>
            <a:r>
              <a:rPr lang="en-GB" sz="3200" spc="5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Control C to stop the server</a:t>
            </a:r>
            <a:endPar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p:txBody>
      </p:sp>
      <p:sp>
        <p:nvSpPr>
          <p:cNvPr id="6" name="Content Placeholder 4">
            <a:extLst>
              <a:ext uri="{FF2B5EF4-FFF2-40B4-BE49-F238E27FC236}">
                <a16:creationId xmlns:a16="http://schemas.microsoft.com/office/drawing/2014/main" id="{55145D5A-D13F-753E-90F4-49CFEC6023FF}"/>
              </a:ext>
            </a:extLst>
          </p:cNvPr>
          <p:cNvSpPr txBox="1">
            <a:spLocks/>
          </p:cNvSpPr>
          <p:nvPr/>
        </p:nvSpPr>
        <p:spPr>
          <a:xfrm>
            <a:off x="804333" y="5741453"/>
            <a:ext cx="10515600" cy="8456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Control C to stop the server</a:t>
            </a:r>
          </a:p>
        </p:txBody>
      </p:sp>
    </p:spTree>
    <p:extLst>
      <p:ext uri="{BB962C8B-B14F-4D97-AF65-F5344CB8AC3E}">
        <p14:creationId xmlns:p14="http://schemas.microsoft.com/office/powerpoint/2010/main" val="326937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 mongoose</a:t>
            </a:r>
          </a:p>
        </p:txBody>
      </p:sp>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922866" y="1430513"/>
            <a:ext cx="10515600" cy="691798"/>
          </a:xfrm>
        </p:spPr>
        <p:txBody>
          <a:bodyPr>
            <a:normAutofit/>
          </a:bodyPr>
          <a:lstStyle/>
          <a:p>
            <a:pPr marL="0" indent="0">
              <a:lnSpc>
                <a:spcPct val="150000"/>
              </a:lnSpc>
              <a:buNone/>
            </a:pPr>
            <a:r>
              <a:rPr lang="en-GB"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install mongoose@6.2.4</a:t>
            </a:r>
          </a:p>
        </p:txBody>
      </p:sp>
      <p:pic>
        <p:nvPicPr>
          <p:cNvPr id="6" name="Picture 5">
            <a:extLst>
              <a:ext uri="{FF2B5EF4-FFF2-40B4-BE49-F238E27FC236}">
                <a16:creationId xmlns:a16="http://schemas.microsoft.com/office/drawing/2014/main" id="{2E0F3973-7F53-9A89-C7F8-1A0FC9ED4B0E}"/>
              </a:ext>
            </a:extLst>
          </p:cNvPr>
          <p:cNvPicPr>
            <a:picLocks noChangeAspect="1"/>
          </p:cNvPicPr>
          <p:nvPr/>
        </p:nvPicPr>
        <p:blipFill>
          <a:blip r:embed="rId2"/>
          <a:stretch>
            <a:fillRect/>
          </a:stretch>
        </p:blipFill>
        <p:spPr>
          <a:xfrm>
            <a:off x="922866" y="2281767"/>
            <a:ext cx="7560734" cy="3948723"/>
          </a:xfrm>
          <a:prstGeom prst="rect">
            <a:avLst/>
          </a:prstGeom>
        </p:spPr>
      </p:pic>
    </p:spTree>
    <p:extLst>
      <p:ext uri="{BB962C8B-B14F-4D97-AF65-F5344CB8AC3E}">
        <p14:creationId xmlns:p14="http://schemas.microsoft.com/office/powerpoint/2010/main" val="2618476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Coding the API</a:t>
            </a:r>
          </a:p>
        </p:txBody>
      </p:sp>
    </p:spTree>
    <p:extLst>
      <p:ext uri="{BB962C8B-B14F-4D97-AF65-F5344CB8AC3E}">
        <p14:creationId xmlns:p14="http://schemas.microsoft.com/office/powerpoint/2010/main" val="38287745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todoListModel.js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10440165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9655"/>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todoListModel.js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full code</a:t>
            </a:r>
          </a:p>
        </p:txBody>
      </p:sp>
      <p:pic>
        <p:nvPicPr>
          <p:cNvPr id="2" name="Picture 1">
            <a:extLst>
              <a:ext uri="{FF2B5EF4-FFF2-40B4-BE49-F238E27FC236}">
                <a16:creationId xmlns:a16="http://schemas.microsoft.com/office/drawing/2014/main" id="{C50165DB-3EB5-DC52-2E17-6F62720C853A}"/>
              </a:ext>
            </a:extLst>
          </p:cNvPr>
          <p:cNvPicPr>
            <a:picLocks noChangeAspect="1"/>
          </p:cNvPicPr>
          <p:nvPr/>
        </p:nvPicPr>
        <p:blipFill>
          <a:blip r:embed="rId2"/>
          <a:stretch>
            <a:fillRect/>
          </a:stretch>
        </p:blipFill>
        <p:spPr>
          <a:xfrm>
            <a:off x="838200" y="862435"/>
            <a:ext cx="8579972" cy="5795909"/>
          </a:xfrm>
          <a:prstGeom prst="rect">
            <a:avLst/>
          </a:prstGeom>
        </p:spPr>
      </p:pic>
    </p:spTree>
    <p:extLst>
      <p:ext uri="{BB962C8B-B14F-4D97-AF65-F5344CB8AC3E}">
        <p14:creationId xmlns:p14="http://schemas.microsoft.com/office/powerpoint/2010/main" val="3392270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9655"/>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todoListModel.js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detail pt1</a:t>
            </a:r>
          </a:p>
        </p:txBody>
      </p:sp>
      <p:pic>
        <p:nvPicPr>
          <p:cNvPr id="2" name="Picture 1">
            <a:extLst>
              <a:ext uri="{FF2B5EF4-FFF2-40B4-BE49-F238E27FC236}">
                <a16:creationId xmlns:a16="http://schemas.microsoft.com/office/drawing/2014/main" id="{C50165DB-3EB5-DC52-2E17-6F62720C853A}"/>
              </a:ext>
            </a:extLst>
          </p:cNvPr>
          <p:cNvPicPr>
            <a:picLocks noChangeAspect="1"/>
          </p:cNvPicPr>
          <p:nvPr/>
        </p:nvPicPr>
        <p:blipFill rotWithShape="1">
          <a:blip r:embed="rId2"/>
          <a:srcRect l="27275" b="82450"/>
          <a:stretch/>
        </p:blipFill>
        <p:spPr>
          <a:xfrm>
            <a:off x="838200" y="1070516"/>
            <a:ext cx="8525080" cy="1389697"/>
          </a:xfrm>
          <a:prstGeom prst="rect">
            <a:avLst/>
          </a:prstGeom>
        </p:spPr>
      </p:pic>
      <p:sp>
        <p:nvSpPr>
          <p:cNvPr id="3" name="Content Placeholder 5">
            <a:extLst>
              <a:ext uri="{FF2B5EF4-FFF2-40B4-BE49-F238E27FC236}">
                <a16:creationId xmlns:a16="http://schemas.microsoft.com/office/drawing/2014/main" id="{9BA9CA51-5F3C-01AB-149D-52C372F6E4DF}"/>
              </a:ext>
            </a:extLst>
          </p:cNvPr>
          <p:cNvSpPr>
            <a:spLocks noGrp="1"/>
          </p:cNvSpPr>
          <p:nvPr>
            <p:ph idx="1"/>
          </p:nvPr>
        </p:nvSpPr>
        <p:spPr>
          <a:xfrm>
            <a:off x="838200" y="2668294"/>
            <a:ext cx="10515600" cy="3875148"/>
          </a:xfrm>
        </p:spPr>
        <p:txBody>
          <a:bodyPr>
            <a:noAutofit/>
          </a:bodyPr>
          <a:lstStyle/>
          <a:p>
            <a:pPr marL="0" indent="0">
              <a:lnSpc>
                <a:spcPct val="150000"/>
              </a:lnSpc>
              <a:buNone/>
            </a:pPr>
            <a:r>
              <a:rPr lang="en-GB" sz="2400" dirty="0">
                <a:latin typeface="Helvetica Neue Light" panose="02000403000000020004" pitchFamily="2" charset="0"/>
                <a:ea typeface="Helvetica Neue Light" panose="02000403000000020004" pitchFamily="2" charset="0"/>
              </a:rPr>
              <a:t>This is where we will define the requirements of the </a:t>
            </a:r>
            <a:r>
              <a:rPr lang="en-GB" sz="2400" b="1" dirty="0">
                <a:solidFill>
                  <a:srgbClr val="D3473F"/>
                </a:solidFill>
                <a:latin typeface="Helvetica Neue Light" panose="02000403000000020004" pitchFamily="2" charset="0"/>
                <a:ea typeface="Helvetica Neue Light" panose="02000403000000020004" pitchFamily="2" charset="0"/>
              </a:rPr>
              <a:t>data model </a:t>
            </a:r>
            <a:r>
              <a:rPr lang="en-GB" sz="2400" dirty="0">
                <a:latin typeface="Helvetica Neue Light" panose="02000403000000020004" pitchFamily="2" charset="0"/>
                <a:ea typeface="Helvetica Neue Light" panose="02000403000000020004" pitchFamily="2" charset="0"/>
              </a:rPr>
              <a:t>that we intend to map to our database in MongoDB.</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We are using the Mongoose library as the messenger between our app and our database.</a:t>
            </a:r>
          </a:p>
          <a:p>
            <a:pPr marL="0" indent="0">
              <a:lnSpc>
                <a:spcPct val="150000"/>
              </a:lnSpc>
              <a:buNone/>
            </a:pPr>
            <a:r>
              <a:rPr lang="en-GB" sz="2400" dirty="0">
                <a:latin typeface="Helvetica Neue Light" panose="02000403000000020004" pitchFamily="2" charset="0"/>
                <a:ea typeface="Helvetica Neue Light" panose="02000403000000020004" pitchFamily="2" charset="0"/>
              </a:rPr>
              <a:t>The first thing to do inside of this file is require Mongoose and use the Schema class from the Mongoose library.</a:t>
            </a:r>
            <a:endParaRPr lang="en-US" sz="2400" dirty="0">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366663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9655"/>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todoListModel.js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detail </a:t>
            </a:r>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2</a:t>
            </a:r>
          </a:p>
        </p:txBody>
      </p:sp>
      <p:pic>
        <p:nvPicPr>
          <p:cNvPr id="2" name="Picture 1">
            <a:extLst>
              <a:ext uri="{FF2B5EF4-FFF2-40B4-BE49-F238E27FC236}">
                <a16:creationId xmlns:a16="http://schemas.microsoft.com/office/drawing/2014/main" id="{C50165DB-3EB5-DC52-2E17-6F62720C853A}"/>
              </a:ext>
            </a:extLst>
          </p:cNvPr>
          <p:cNvPicPr>
            <a:picLocks noChangeAspect="1"/>
          </p:cNvPicPr>
          <p:nvPr/>
        </p:nvPicPr>
        <p:blipFill rotWithShape="1">
          <a:blip r:embed="rId2"/>
          <a:srcRect l="28142" t="16679" r="-867" b="59524"/>
          <a:stretch/>
        </p:blipFill>
        <p:spPr>
          <a:xfrm>
            <a:off x="838200" y="1070516"/>
            <a:ext cx="8525080" cy="1884351"/>
          </a:xfrm>
          <a:prstGeom prst="rect">
            <a:avLst/>
          </a:prstGeom>
        </p:spPr>
      </p:pic>
      <p:sp>
        <p:nvSpPr>
          <p:cNvPr id="7" name="Content Placeholder 5">
            <a:extLst>
              <a:ext uri="{FF2B5EF4-FFF2-40B4-BE49-F238E27FC236}">
                <a16:creationId xmlns:a16="http://schemas.microsoft.com/office/drawing/2014/main" id="{9DA5069E-BB36-7340-6481-833502EE1C19}"/>
              </a:ext>
            </a:extLst>
          </p:cNvPr>
          <p:cNvSpPr txBox="1">
            <a:spLocks/>
          </p:cNvSpPr>
          <p:nvPr/>
        </p:nvSpPr>
        <p:spPr>
          <a:xfrm>
            <a:off x="838200" y="3162947"/>
            <a:ext cx="10515600" cy="32262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2200" dirty="0">
                <a:latin typeface="Helvetica Neue Light" panose="02000403000000020004" pitchFamily="2" charset="0"/>
                <a:ea typeface="Helvetica Neue Light" panose="02000403000000020004" pitchFamily="2" charset="0"/>
              </a:rPr>
              <a:t>Now we can begin to write the format for our model ‘</a:t>
            </a:r>
            <a:r>
              <a:rPr lang="en-GB" sz="2200" dirty="0" err="1">
                <a:latin typeface="Helvetica Neue Light" panose="02000403000000020004" pitchFamily="2" charset="0"/>
                <a:ea typeface="Helvetica Neue Light" panose="02000403000000020004" pitchFamily="2" charset="0"/>
              </a:rPr>
              <a:t>TaskSchema</a:t>
            </a:r>
            <a:r>
              <a:rPr lang="en-GB" sz="2200" dirty="0">
                <a:latin typeface="Helvetica Neue Light" panose="02000403000000020004" pitchFamily="2" charset="0"/>
                <a:ea typeface="Helvetica Neue Light" panose="02000403000000020004" pitchFamily="2" charset="0"/>
              </a:rPr>
              <a:t>’ by creating a new instance of the Schema class, line 4.</a:t>
            </a:r>
          </a:p>
          <a:p>
            <a:pPr marL="0" indent="0">
              <a:lnSpc>
                <a:spcPct val="150000"/>
              </a:lnSpc>
              <a:buFont typeface="Arial" panose="020B0604020202020204" pitchFamily="34" charset="0"/>
              <a:buNone/>
            </a:pPr>
            <a:r>
              <a:rPr lang="en-US" sz="2200" dirty="0">
                <a:latin typeface="Helvetica Neue Light" panose="02000403000000020004" pitchFamily="2" charset="0"/>
                <a:ea typeface="Helvetica Neue Light" panose="02000403000000020004" pitchFamily="2" charset="0"/>
              </a:rPr>
              <a:t>Our user model will have 3 attributes: name, date and status</a:t>
            </a:r>
          </a:p>
          <a:p>
            <a:pPr marL="0" indent="0">
              <a:lnSpc>
                <a:spcPct val="150000"/>
              </a:lnSpc>
              <a:buFont typeface="Arial" panose="020B0604020202020204" pitchFamily="34" charset="0"/>
              <a:buNone/>
            </a:pPr>
            <a:r>
              <a:rPr lang="en-US" sz="2200" dirty="0">
                <a:latin typeface="Helvetica Neue Light" panose="02000403000000020004" pitchFamily="2" charset="0"/>
                <a:ea typeface="Helvetica Neue Light" panose="02000403000000020004" pitchFamily="2" charset="0"/>
              </a:rPr>
              <a:t>Each attribute will be defined using a </a:t>
            </a:r>
            <a:r>
              <a:rPr lang="en-US" sz="2200" dirty="0" err="1">
                <a:latin typeface="Helvetica Neue Light" panose="02000403000000020004" pitchFamily="2" charset="0"/>
                <a:ea typeface="Helvetica Neue Light" panose="02000403000000020004" pitchFamily="2" charset="0"/>
              </a:rPr>
              <a:t>key:value</a:t>
            </a:r>
            <a:r>
              <a:rPr lang="en-US" sz="2200" dirty="0">
                <a:latin typeface="Helvetica Neue Light" panose="02000403000000020004" pitchFamily="2" charset="0"/>
                <a:ea typeface="Helvetica Neue Light" panose="02000403000000020004" pitchFamily="2" charset="0"/>
              </a:rPr>
              <a:t> pair, with the key being the name of the attribute, and the value being its type, in this case ‘String’. We can also add some basic validation too.</a:t>
            </a:r>
          </a:p>
        </p:txBody>
      </p:sp>
    </p:spTree>
    <p:extLst>
      <p:ext uri="{BB962C8B-B14F-4D97-AF65-F5344CB8AC3E}">
        <p14:creationId xmlns:p14="http://schemas.microsoft.com/office/powerpoint/2010/main" val="195386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99655"/>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todoListModel.js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detail </a:t>
            </a:r>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pt</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3</a:t>
            </a:r>
          </a:p>
        </p:txBody>
      </p:sp>
      <p:pic>
        <p:nvPicPr>
          <p:cNvPr id="2" name="Picture 1">
            <a:extLst>
              <a:ext uri="{FF2B5EF4-FFF2-40B4-BE49-F238E27FC236}">
                <a16:creationId xmlns:a16="http://schemas.microsoft.com/office/drawing/2014/main" id="{C50165DB-3EB5-DC52-2E17-6F62720C853A}"/>
              </a:ext>
            </a:extLst>
          </p:cNvPr>
          <p:cNvPicPr>
            <a:picLocks noChangeAspect="1"/>
          </p:cNvPicPr>
          <p:nvPr/>
        </p:nvPicPr>
        <p:blipFill rotWithShape="1">
          <a:blip r:embed="rId2"/>
          <a:srcRect l="25397" t="85110" r="1878" b="-8907"/>
          <a:stretch/>
        </p:blipFill>
        <p:spPr>
          <a:xfrm>
            <a:off x="838199" y="1255724"/>
            <a:ext cx="10560005" cy="2334143"/>
          </a:xfrm>
          <a:prstGeom prst="rect">
            <a:avLst/>
          </a:prstGeom>
        </p:spPr>
      </p:pic>
      <p:sp>
        <p:nvSpPr>
          <p:cNvPr id="3" name="Content Placeholder 5">
            <a:extLst>
              <a:ext uri="{FF2B5EF4-FFF2-40B4-BE49-F238E27FC236}">
                <a16:creationId xmlns:a16="http://schemas.microsoft.com/office/drawing/2014/main" id="{B408AA3F-EF79-8CB1-082C-61981D9F7573}"/>
              </a:ext>
            </a:extLst>
          </p:cNvPr>
          <p:cNvSpPr>
            <a:spLocks noGrp="1"/>
          </p:cNvSpPr>
          <p:nvPr>
            <p:ph idx="1"/>
          </p:nvPr>
        </p:nvSpPr>
        <p:spPr>
          <a:xfrm>
            <a:off x="838200" y="3140075"/>
            <a:ext cx="10515600" cy="2591132"/>
          </a:xfrm>
        </p:spPr>
        <p:txBody>
          <a:bodyPr>
            <a:noAutofit/>
          </a:bodyPr>
          <a:lstStyle/>
          <a:p>
            <a:pPr marL="0" indent="0">
              <a:lnSpc>
                <a:spcPct val="150000"/>
              </a:lnSpc>
              <a:buNone/>
            </a:pPr>
            <a:r>
              <a:rPr lang="en-US" dirty="0">
                <a:latin typeface="Helvetica Neue Light" panose="02000403000000020004" pitchFamily="2" charset="0"/>
                <a:ea typeface="Helvetica Neue Light" panose="02000403000000020004" pitchFamily="2" charset="0"/>
              </a:rPr>
              <a:t>The last step (line 22) is to solidify this Schema as a data model with mongoose and export it from this file for use in other areas of our project. </a:t>
            </a:r>
          </a:p>
        </p:txBody>
      </p:sp>
    </p:spTree>
    <p:extLst>
      <p:ext uri="{BB962C8B-B14F-4D97-AF65-F5344CB8AC3E}">
        <p14:creationId xmlns:p14="http://schemas.microsoft.com/office/powerpoint/2010/main" val="195513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todoListRoutes.js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2207949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566077"/>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todoListRoutes.js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full code</a:t>
            </a:r>
          </a:p>
        </p:txBody>
      </p:sp>
      <p:pic>
        <p:nvPicPr>
          <p:cNvPr id="3" name="Picture 2">
            <a:extLst>
              <a:ext uri="{FF2B5EF4-FFF2-40B4-BE49-F238E27FC236}">
                <a16:creationId xmlns:a16="http://schemas.microsoft.com/office/drawing/2014/main" id="{8E4A0ACE-739F-9154-0E00-A06AA44F6F7B}"/>
              </a:ext>
            </a:extLst>
          </p:cNvPr>
          <p:cNvPicPr>
            <a:picLocks noChangeAspect="1"/>
          </p:cNvPicPr>
          <p:nvPr/>
        </p:nvPicPr>
        <p:blipFill>
          <a:blip r:embed="rId2"/>
          <a:stretch>
            <a:fillRect/>
          </a:stretch>
        </p:blipFill>
        <p:spPr>
          <a:xfrm>
            <a:off x="838200" y="1596465"/>
            <a:ext cx="10860416" cy="4364067"/>
          </a:xfrm>
          <a:prstGeom prst="rect">
            <a:avLst/>
          </a:prstGeom>
        </p:spPr>
      </p:pic>
    </p:spTree>
    <p:extLst>
      <p:ext uri="{BB962C8B-B14F-4D97-AF65-F5344CB8AC3E}">
        <p14:creationId xmlns:p14="http://schemas.microsoft.com/office/powerpoint/2010/main" val="2971844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04819"/>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Setting up routes</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200" y="967600"/>
            <a:ext cx="10918371" cy="5612627"/>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GB" sz="2200" dirty="0">
                <a:solidFill>
                  <a:srgbClr val="444444"/>
                </a:solidFill>
                <a:effectLst/>
                <a:latin typeface="Helvetica Neue Light" panose="02000403000000020004" pitchFamily="2" charset="0"/>
                <a:ea typeface="Helvetica Neue Light" panose="02000403000000020004" pitchFamily="2" charset="0"/>
              </a:rPr>
              <a:t>Routing refers to determining how an application responds to a client request for a specific endpoint, which is a </a:t>
            </a:r>
            <a:r>
              <a:rPr lang="en-GB" sz="2200" dirty="0">
                <a:solidFill>
                  <a:srgbClr val="444444"/>
                </a:solidFill>
                <a:effectLst/>
                <a:latin typeface="Helvetica Neue Light" panose="02000403000000020004" pitchFamily="2" charset="0"/>
                <a:ea typeface="Helvetica Neue Light" panose="02000403000000020004" pitchFamily="2" charset="0"/>
                <a:hlinkClick r:id="rId2"/>
              </a:rPr>
              <a:t>URI</a:t>
            </a:r>
            <a:r>
              <a:rPr lang="en-GB" sz="2200" dirty="0">
                <a:solidFill>
                  <a:srgbClr val="444444"/>
                </a:solidFill>
                <a:effectLst/>
                <a:latin typeface="Helvetica Neue Light" panose="02000403000000020004" pitchFamily="2" charset="0"/>
                <a:ea typeface="Helvetica Neue Light" panose="02000403000000020004" pitchFamily="2" charset="0"/>
              </a:rPr>
              <a:t> (or path) and a specific HTTP request method (GET, POST, and so on).</a:t>
            </a:r>
          </a:p>
          <a:p>
            <a:pPr marL="342900" indent="-342900" algn="l">
              <a:lnSpc>
                <a:spcPct val="150000"/>
              </a:lnSpc>
              <a:buFont typeface="Arial" panose="020B0604020202020204" pitchFamily="34" charset="0"/>
              <a:buChar char="•"/>
            </a:pPr>
            <a:r>
              <a:rPr lang="en-GB" sz="2200" dirty="0">
                <a:solidFill>
                  <a:srgbClr val="444444"/>
                </a:solidFill>
                <a:effectLst/>
                <a:latin typeface="Helvetica Neue Light" panose="02000403000000020004" pitchFamily="2" charset="0"/>
                <a:ea typeface="Helvetica Neue Light" panose="02000403000000020004" pitchFamily="2" charset="0"/>
              </a:rPr>
              <a:t>Each of our routes has different route handler functions, which are executed when the route is matched.</a:t>
            </a:r>
          </a:p>
          <a:p>
            <a:pPr marL="342900" indent="-342900" algn="l">
              <a:lnSpc>
                <a:spcPct val="150000"/>
              </a:lnSpc>
              <a:buFont typeface="Arial" panose="020B0604020202020204" pitchFamily="34" charset="0"/>
              <a:buChar char="•"/>
            </a:pPr>
            <a:r>
              <a:rPr lang="en-GB" sz="2200" dirty="0">
                <a:solidFill>
                  <a:srgbClr val="444444"/>
                </a:solidFill>
                <a:effectLst/>
                <a:latin typeface="Helvetica Neue Light" panose="02000403000000020004" pitchFamily="2" charset="0"/>
                <a:ea typeface="Helvetica Neue Light" panose="02000403000000020004" pitchFamily="2" charset="0"/>
              </a:rPr>
              <a:t>Above we have defined two basic routes(‘/tasks’, and ‘/tasks/</a:t>
            </a:r>
            <a:r>
              <a:rPr lang="en-GB" sz="2200" dirty="0" err="1">
                <a:solidFill>
                  <a:srgbClr val="444444"/>
                </a:solidFill>
                <a:effectLst/>
                <a:latin typeface="Helvetica Neue Light" panose="02000403000000020004" pitchFamily="2" charset="0"/>
                <a:ea typeface="Helvetica Neue Light" panose="02000403000000020004" pitchFamily="2" charset="0"/>
              </a:rPr>
              <a:t>taskId</a:t>
            </a:r>
            <a:r>
              <a:rPr lang="en-GB" sz="2200" dirty="0">
                <a:solidFill>
                  <a:srgbClr val="444444"/>
                </a:solidFill>
                <a:effectLst/>
                <a:latin typeface="Helvetica Neue Light" panose="02000403000000020004" pitchFamily="2" charset="0"/>
                <a:ea typeface="Helvetica Neue Light" panose="02000403000000020004" pitchFamily="2" charset="0"/>
              </a:rPr>
              <a:t>’) with different methods</a:t>
            </a:r>
          </a:p>
          <a:p>
            <a:pPr marL="342900" indent="-342900" algn="l">
              <a:lnSpc>
                <a:spcPct val="150000"/>
              </a:lnSpc>
              <a:buFont typeface="Arial" panose="020B0604020202020204" pitchFamily="34" charset="0"/>
              <a:buChar char="•"/>
            </a:pPr>
            <a:r>
              <a:rPr lang="en-GB" sz="2200" dirty="0">
                <a:solidFill>
                  <a:srgbClr val="444444"/>
                </a:solidFill>
                <a:effectLst/>
                <a:latin typeface="Helvetica Neue Light" panose="02000403000000020004" pitchFamily="2" charset="0"/>
                <a:ea typeface="Helvetica Neue Light" panose="02000403000000020004" pitchFamily="2" charset="0"/>
              </a:rPr>
              <a:t>‘/tasks’ has to methods(‘GET’ and ‘POST’), while ‘/tasks/</a:t>
            </a:r>
            <a:r>
              <a:rPr lang="en-GB" sz="2200" dirty="0" err="1">
                <a:solidFill>
                  <a:srgbClr val="444444"/>
                </a:solidFill>
                <a:effectLst/>
                <a:latin typeface="Helvetica Neue Light" panose="02000403000000020004" pitchFamily="2" charset="0"/>
                <a:ea typeface="Helvetica Neue Light" panose="02000403000000020004" pitchFamily="2" charset="0"/>
              </a:rPr>
              <a:t>taskId</a:t>
            </a:r>
            <a:r>
              <a:rPr lang="en-GB" sz="2200" dirty="0">
                <a:solidFill>
                  <a:srgbClr val="444444"/>
                </a:solidFill>
                <a:effectLst/>
                <a:latin typeface="Helvetica Neue Light" panose="02000403000000020004" pitchFamily="2" charset="0"/>
                <a:ea typeface="Helvetica Neue Light" panose="02000403000000020004" pitchFamily="2" charset="0"/>
              </a:rPr>
              <a:t>’ has GET, PUT and DELETE.</a:t>
            </a:r>
          </a:p>
          <a:p>
            <a:pPr marL="342900" indent="-342900" algn="l">
              <a:lnSpc>
                <a:spcPct val="150000"/>
              </a:lnSpc>
              <a:buFont typeface="Arial" panose="020B0604020202020204" pitchFamily="34" charset="0"/>
              <a:buChar char="•"/>
            </a:pPr>
            <a:r>
              <a:rPr lang="en-GB" sz="2200" dirty="0">
                <a:solidFill>
                  <a:srgbClr val="444444"/>
                </a:solidFill>
                <a:effectLst/>
                <a:latin typeface="Helvetica Neue Light" panose="02000403000000020004" pitchFamily="2" charset="0"/>
                <a:ea typeface="Helvetica Neue Light" panose="02000403000000020004" pitchFamily="2" charset="0"/>
              </a:rPr>
              <a:t>Also, we require the controller so each of the routes methods can call it’s respective handler function.</a:t>
            </a:r>
          </a:p>
        </p:txBody>
      </p:sp>
    </p:spTree>
    <p:extLst>
      <p:ext uri="{BB962C8B-B14F-4D97-AF65-F5344CB8AC3E}">
        <p14:creationId xmlns:p14="http://schemas.microsoft.com/office/powerpoint/2010/main" val="59883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todoListController.js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4388710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3EA831C-972E-79FA-F584-D1FFF11CC692}"/>
              </a:ext>
            </a:extLst>
          </p:cNvPr>
          <p:cNvPicPr>
            <a:picLocks noChangeAspect="1"/>
          </p:cNvPicPr>
          <p:nvPr/>
        </p:nvPicPr>
        <p:blipFill>
          <a:blip r:embed="rId2"/>
          <a:stretch>
            <a:fillRect/>
          </a:stretch>
        </p:blipFill>
        <p:spPr>
          <a:xfrm>
            <a:off x="-1" y="-1"/>
            <a:ext cx="8923867" cy="6868369"/>
          </a:xfrm>
          <a:prstGeom prst="rect">
            <a:avLst/>
          </a:prstGeom>
        </p:spPr>
      </p:pic>
      <p:sp>
        <p:nvSpPr>
          <p:cNvPr id="9" name="Title 8">
            <a:extLst>
              <a:ext uri="{FF2B5EF4-FFF2-40B4-BE49-F238E27FC236}">
                <a16:creationId xmlns:a16="http://schemas.microsoft.com/office/drawing/2014/main" id="{A405EC4A-70A6-5416-873A-E52C204945F5}"/>
              </a:ext>
            </a:extLst>
          </p:cNvPr>
          <p:cNvSpPr>
            <a:spLocks noGrp="1"/>
          </p:cNvSpPr>
          <p:nvPr>
            <p:ph type="title"/>
          </p:nvPr>
        </p:nvSpPr>
        <p:spPr>
          <a:xfrm>
            <a:off x="9228666" y="365125"/>
            <a:ext cx="2590801" cy="1325563"/>
          </a:xfrm>
        </p:spPr>
        <p:txBody>
          <a:bodyPr>
            <a:normAutofit/>
          </a:bodyPr>
          <a:lstStyle/>
          <a:p>
            <a:r>
              <a:rPr lang="en-US" sz="3600" dirty="0"/>
              <a:t>Lines 1 -27</a:t>
            </a:r>
          </a:p>
        </p:txBody>
      </p:sp>
    </p:spTree>
    <p:extLst>
      <p:ext uri="{BB962C8B-B14F-4D97-AF65-F5344CB8AC3E}">
        <p14:creationId xmlns:p14="http://schemas.microsoft.com/office/powerpoint/2010/main" val="108282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A405EC4A-70A6-5416-873A-E52C204945F5}"/>
              </a:ext>
            </a:extLst>
          </p:cNvPr>
          <p:cNvSpPr>
            <a:spLocks noGrp="1"/>
          </p:cNvSpPr>
          <p:nvPr>
            <p:ph type="title"/>
          </p:nvPr>
        </p:nvSpPr>
        <p:spPr>
          <a:xfrm>
            <a:off x="508000" y="195791"/>
            <a:ext cx="2590801" cy="1325563"/>
          </a:xfrm>
        </p:spPr>
        <p:txBody>
          <a:bodyPr>
            <a:normAutofit/>
          </a:bodyPr>
          <a:lstStyle/>
          <a:p>
            <a:r>
              <a:rPr lang="en-US" sz="3600" dirty="0"/>
              <a:t>Lines 28- 44</a:t>
            </a:r>
          </a:p>
        </p:txBody>
      </p:sp>
      <p:pic>
        <p:nvPicPr>
          <p:cNvPr id="3" name="Picture 2">
            <a:extLst>
              <a:ext uri="{FF2B5EF4-FFF2-40B4-BE49-F238E27FC236}">
                <a16:creationId xmlns:a16="http://schemas.microsoft.com/office/drawing/2014/main" id="{AA100053-E8EB-ED34-E463-749673FCCE32}"/>
              </a:ext>
            </a:extLst>
          </p:cNvPr>
          <p:cNvPicPr>
            <a:picLocks noChangeAspect="1"/>
          </p:cNvPicPr>
          <p:nvPr/>
        </p:nvPicPr>
        <p:blipFill>
          <a:blip r:embed="rId2"/>
          <a:stretch>
            <a:fillRect/>
          </a:stretch>
        </p:blipFill>
        <p:spPr>
          <a:xfrm>
            <a:off x="508000" y="1521354"/>
            <a:ext cx="11493081" cy="4285359"/>
          </a:xfrm>
          <a:prstGeom prst="rect">
            <a:avLst/>
          </a:prstGeom>
        </p:spPr>
      </p:pic>
    </p:spTree>
    <p:extLst>
      <p:ext uri="{BB962C8B-B14F-4D97-AF65-F5344CB8AC3E}">
        <p14:creationId xmlns:p14="http://schemas.microsoft.com/office/powerpoint/2010/main" val="2339035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304819"/>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Setting up the controller</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200" y="1299087"/>
            <a:ext cx="10918371" cy="4544834"/>
          </a:xfrm>
          <a:prstGeom prst="rect">
            <a:avLst/>
          </a:prstGeom>
          <a:noFill/>
        </p:spPr>
        <p:txBody>
          <a:bodyPr wrap="square">
            <a:spAutoFit/>
          </a:bodyPr>
          <a:lstStyle/>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rPr>
              <a:t>In this controller, we are writing five different functions namely:</a:t>
            </a:r>
          </a:p>
          <a:p>
            <a:pPr marL="914400" lvl="1" indent="-457200">
              <a:lnSpc>
                <a:spcPct val="150000"/>
              </a:lnSpc>
              <a:buFont typeface="Arial" panose="020B0604020202020204" pitchFamily="34" charset="0"/>
              <a:buChar char="•"/>
            </a:pPr>
            <a:r>
              <a:rPr lang="en-GB" sz="2000" dirty="0" err="1">
                <a:solidFill>
                  <a:srgbClr val="444444"/>
                </a:solidFill>
                <a:effectLst/>
                <a:latin typeface="Helvetica Neue Light" panose="02000403000000020004" pitchFamily="2" charset="0"/>
                <a:ea typeface="Helvetica Neue Light" panose="02000403000000020004" pitchFamily="2" charset="0"/>
              </a:rPr>
              <a:t>list_all_tasks</a:t>
            </a:r>
            <a:endParaRPr lang="en-GB" sz="2000" dirty="0">
              <a:solidFill>
                <a:srgbClr val="444444"/>
              </a:solidFill>
              <a:effectLst/>
              <a:latin typeface="Helvetica Neue Light" panose="02000403000000020004" pitchFamily="2" charset="0"/>
              <a:ea typeface="Helvetica Neue Light" panose="02000403000000020004" pitchFamily="2" charset="0"/>
            </a:endParaRPr>
          </a:p>
          <a:p>
            <a:pPr marL="914400" lvl="1" indent="-457200">
              <a:lnSpc>
                <a:spcPct val="150000"/>
              </a:lnSpc>
              <a:buFont typeface="Arial" panose="020B0604020202020204" pitchFamily="34" charset="0"/>
              <a:buChar char="•"/>
            </a:pPr>
            <a:r>
              <a:rPr lang="en-GB" sz="2000" dirty="0" err="1">
                <a:solidFill>
                  <a:srgbClr val="444444"/>
                </a:solidFill>
                <a:effectLst/>
                <a:latin typeface="Helvetica Neue Light" panose="02000403000000020004" pitchFamily="2" charset="0"/>
                <a:ea typeface="Helvetica Neue Light" panose="02000403000000020004" pitchFamily="2" charset="0"/>
              </a:rPr>
              <a:t>create_a_task</a:t>
            </a:r>
            <a:endParaRPr lang="en-GB" sz="2000" dirty="0">
              <a:solidFill>
                <a:srgbClr val="444444"/>
              </a:solidFill>
              <a:effectLst/>
              <a:latin typeface="Helvetica Neue Light" panose="02000403000000020004" pitchFamily="2" charset="0"/>
              <a:ea typeface="Helvetica Neue Light" panose="02000403000000020004" pitchFamily="2" charset="0"/>
            </a:endParaRPr>
          </a:p>
          <a:p>
            <a:pPr marL="914400" lvl="1" indent="-457200">
              <a:lnSpc>
                <a:spcPct val="150000"/>
              </a:lnSpc>
              <a:buFont typeface="Arial" panose="020B0604020202020204" pitchFamily="34" charset="0"/>
              <a:buChar char="•"/>
            </a:pPr>
            <a:r>
              <a:rPr lang="en-GB" sz="2000" dirty="0" err="1">
                <a:solidFill>
                  <a:srgbClr val="444444"/>
                </a:solidFill>
                <a:effectLst/>
                <a:latin typeface="Helvetica Neue Light" panose="02000403000000020004" pitchFamily="2" charset="0"/>
                <a:ea typeface="Helvetica Neue Light" panose="02000403000000020004" pitchFamily="2" charset="0"/>
              </a:rPr>
              <a:t>read_a_task</a:t>
            </a:r>
            <a:endParaRPr lang="en-GB" sz="2000" dirty="0">
              <a:solidFill>
                <a:srgbClr val="444444"/>
              </a:solidFill>
              <a:effectLst/>
              <a:latin typeface="Helvetica Neue Light" panose="02000403000000020004" pitchFamily="2" charset="0"/>
              <a:ea typeface="Helvetica Neue Light" panose="02000403000000020004" pitchFamily="2" charset="0"/>
            </a:endParaRPr>
          </a:p>
          <a:p>
            <a:pPr marL="914400" lvl="1" indent="-457200">
              <a:lnSpc>
                <a:spcPct val="150000"/>
              </a:lnSpc>
              <a:buFont typeface="Arial" panose="020B0604020202020204" pitchFamily="34" charset="0"/>
              <a:buChar char="•"/>
            </a:pPr>
            <a:r>
              <a:rPr lang="en-GB" sz="2000" dirty="0" err="1">
                <a:solidFill>
                  <a:srgbClr val="444444"/>
                </a:solidFill>
                <a:effectLst/>
                <a:latin typeface="Helvetica Neue Light" panose="02000403000000020004" pitchFamily="2" charset="0"/>
                <a:ea typeface="Helvetica Neue Light" panose="02000403000000020004" pitchFamily="2" charset="0"/>
              </a:rPr>
              <a:t>update_a_task</a:t>
            </a:r>
            <a:endParaRPr lang="en-GB" sz="2000" dirty="0">
              <a:solidFill>
                <a:srgbClr val="444444"/>
              </a:solidFill>
              <a:effectLst/>
              <a:latin typeface="Helvetica Neue Light" panose="02000403000000020004" pitchFamily="2" charset="0"/>
              <a:ea typeface="Helvetica Neue Light" panose="02000403000000020004" pitchFamily="2" charset="0"/>
            </a:endParaRPr>
          </a:p>
          <a:p>
            <a:pPr marL="914400" lvl="1" indent="-457200">
              <a:lnSpc>
                <a:spcPct val="150000"/>
              </a:lnSpc>
              <a:buFont typeface="Arial" panose="020B0604020202020204" pitchFamily="34" charset="0"/>
              <a:buChar char="•"/>
            </a:pPr>
            <a:r>
              <a:rPr lang="en-GB" sz="2000" dirty="0" err="1">
                <a:solidFill>
                  <a:srgbClr val="444444"/>
                </a:solidFill>
                <a:effectLst/>
                <a:latin typeface="Helvetica Neue Light" panose="02000403000000020004" pitchFamily="2" charset="0"/>
                <a:ea typeface="Helvetica Neue Light" panose="02000403000000020004" pitchFamily="2" charset="0"/>
              </a:rPr>
              <a:t>delete_a_task</a:t>
            </a:r>
            <a:endParaRPr lang="en-GB" sz="2000" dirty="0">
              <a:solidFill>
                <a:srgbClr val="444444"/>
              </a:solidFill>
              <a:effectLst/>
              <a:latin typeface="Helvetica Neue Light" panose="02000403000000020004" pitchFamily="2" charset="0"/>
              <a:ea typeface="Helvetica Neue Light" panose="02000403000000020004" pitchFamily="2" charset="0"/>
            </a:endParaRPr>
          </a:p>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rPr>
              <a:t>We will export each of the functions for us to use in our routes.</a:t>
            </a:r>
            <a:br>
              <a:rPr lang="en-GB" sz="2400" dirty="0">
                <a:solidFill>
                  <a:srgbClr val="444444"/>
                </a:solidFill>
                <a:effectLst/>
                <a:latin typeface="Helvetica Neue Light" panose="02000403000000020004" pitchFamily="2" charset="0"/>
                <a:ea typeface="Helvetica Neue Light" panose="02000403000000020004" pitchFamily="2" charset="0"/>
              </a:rPr>
            </a:br>
            <a:r>
              <a:rPr lang="en-GB" sz="2400" dirty="0">
                <a:solidFill>
                  <a:srgbClr val="444444"/>
                </a:solidFill>
                <a:effectLst/>
                <a:latin typeface="Helvetica Neue Light" panose="02000403000000020004" pitchFamily="2" charset="0"/>
                <a:ea typeface="Helvetica Neue Light" panose="02000403000000020004" pitchFamily="2" charset="0"/>
              </a:rPr>
              <a:t>Each of these functions uses different mongoose methods such as:</a:t>
            </a:r>
          </a:p>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rPr>
              <a:t>find, </a:t>
            </a:r>
            <a:r>
              <a:rPr lang="en-GB" sz="2400" dirty="0" err="1">
                <a:solidFill>
                  <a:srgbClr val="444444"/>
                </a:solidFill>
                <a:effectLst/>
                <a:latin typeface="Helvetica Neue Light" panose="02000403000000020004" pitchFamily="2" charset="0"/>
                <a:ea typeface="Helvetica Neue Light" panose="02000403000000020004" pitchFamily="2" charset="0"/>
              </a:rPr>
              <a:t>findById</a:t>
            </a:r>
            <a:r>
              <a:rPr lang="en-GB" sz="2400" dirty="0">
                <a:solidFill>
                  <a:srgbClr val="444444"/>
                </a:solidFill>
                <a:effectLst/>
                <a:latin typeface="Helvetica Neue Light" panose="02000403000000020004" pitchFamily="2" charset="0"/>
                <a:ea typeface="Helvetica Neue Light" panose="02000403000000020004" pitchFamily="2" charset="0"/>
              </a:rPr>
              <a:t>, </a:t>
            </a:r>
            <a:r>
              <a:rPr lang="en-GB" sz="2400" dirty="0" err="1">
                <a:solidFill>
                  <a:srgbClr val="444444"/>
                </a:solidFill>
                <a:effectLst/>
                <a:latin typeface="Helvetica Neue Light" panose="02000403000000020004" pitchFamily="2" charset="0"/>
                <a:ea typeface="Helvetica Neue Light" panose="02000403000000020004" pitchFamily="2" charset="0"/>
              </a:rPr>
              <a:t>findOneAndUpdate</a:t>
            </a:r>
            <a:r>
              <a:rPr lang="en-GB" sz="2400" dirty="0">
                <a:solidFill>
                  <a:srgbClr val="444444"/>
                </a:solidFill>
                <a:effectLst/>
                <a:latin typeface="Helvetica Neue Light" panose="02000403000000020004" pitchFamily="2" charset="0"/>
                <a:ea typeface="Helvetica Neue Light" panose="02000403000000020004" pitchFamily="2" charset="0"/>
              </a:rPr>
              <a:t>, save and remove.</a:t>
            </a:r>
          </a:p>
        </p:txBody>
      </p:sp>
    </p:spTree>
    <p:extLst>
      <p:ext uri="{BB962C8B-B14F-4D97-AF65-F5344CB8AC3E}">
        <p14:creationId xmlns:p14="http://schemas.microsoft.com/office/powerpoint/2010/main" val="2002948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Setting up the controller part 2</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201" y="1346588"/>
            <a:ext cx="10515600" cy="2790508"/>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Don’t worry too much about the detail of each function but you should be able to get an idea of what is going on each time.</a:t>
            </a:r>
          </a:p>
          <a:p>
            <a:pPr marL="342900" indent="-342900" algn="l">
              <a:lnSpc>
                <a:spcPct val="150000"/>
              </a:lnSpc>
              <a:buFont typeface="Arial" panose="020B0604020202020204" pitchFamily="34" charset="0"/>
              <a:buChar char="•"/>
            </a:pPr>
            <a:r>
              <a:rPr lang="en-GB" sz="2400" dirty="0">
                <a:solidFill>
                  <a:srgbClr val="444444"/>
                </a:solidFill>
                <a:latin typeface="Helvetica Neue Light" panose="02000403000000020004" pitchFamily="2" charset="0"/>
                <a:ea typeface="Helvetica Neue Light" panose="02000403000000020004" pitchFamily="2" charset="0"/>
              </a:rPr>
              <a:t>As you can see all the responses are in the </a:t>
            </a:r>
            <a:r>
              <a:rPr lang="en-GB" sz="2400" dirty="0" err="1">
                <a:solidFill>
                  <a:srgbClr val="444444"/>
                </a:solidFill>
                <a:latin typeface="Helvetica Neue Light" panose="02000403000000020004" pitchFamily="2" charset="0"/>
                <a:ea typeface="Helvetica Neue Light" panose="02000403000000020004" pitchFamily="2" charset="0"/>
              </a:rPr>
              <a:t>json</a:t>
            </a:r>
            <a:r>
              <a:rPr lang="en-GB" sz="2400" dirty="0">
                <a:solidFill>
                  <a:srgbClr val="444444"/>
                </a:solidFill>
                <a:latin typeface="Helvetica Neue Light" panose="02000403000000020004" pitchFamily="2" charset="0"/>
                <a:ea typeface="Helvetica Neue Light" panose="02000403000000020004" pitchFamily="2" charset="0"/>
              </a:rPr>
              <a:t> format</a:t>
            </a:r>
          </a:p>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At t</a:t>
            </a:r>
            <a:r>
              <a:rPr lang="en-GB" sz="2400" dirty="0">
                <a:solidFill>
                  <a:srgbClr val="444444"/>
                </a:solidFill>
                <a:latin typeface="Helvetica Neue Light" panose="02000403000000020004" pitchFamily="2" charset="0"/>
                <a:ea typeface="Helvetica Neue Light" panose="02000403000000020004" pitchFamily="2" charset="0"/>
              </a:rPr>
              <a:t>he </a:t>
            </a:r>
            <a:r>
              <a:rPr lang="en-GB" sz="2400" dirty="0">
                <a:solidFill>
                  <a:srgbClr val="444444"/>
                </a:solidFill>
                <a:effectLst/>
                <a:latin typeface="Helvetica Neue Light" panose="02000403000000020004" pitchFamily="2" charset="0"/>
                <a:ea typeface="Helvetica Neue Light" panose="02000403000000020004" pitchFamily="2" charset="0"/>
              </a:rPr>
              <a:t>top of the </a:t>
            </a:r>
            <a:r>
              <a:rPr lang="en-GB" sz="2400" dirty="0">
                <a:solidFill>
                  <a:srgbClr val="444444"/>
                </a:solidFill>
                <a:latin typeface="Helvetica Neue Light" panose="02000403000000020004" pitchFamily="2" charset="0"/>
                <a:ea typeface="Helvetica Neue Light" panose="02000403000000020004" pitchFamily="2" charset="0"/>
              </a:rPr>
              <a:t>file we are requiring the mongoose library and the model ‘Tasks’ that we made in </a:t>
            </a:r>
            <a:r>
              <a:rPr lang="en-GB" sz="2400" dirty="0" err="1">
                <a:solidFill>
                  <a:srgbClr val="444444"/>
                </a:solidFill>
                <a:latin typeface="Helvetica Neue Light" panose="02000403000000020004" pitchFamily="2" charset="0"/>
                <a:ea typeface="Helvetica Neue Light" panose="02000403000000020004" pitchFamily="2" charset="0"/>
              </a:rPr>
              <a:t>todoListModel.js</a:t>
            </a:r>
            <a:endParaRPr lang="en-GB" sz="2400" dirty="0">
              <a:solidFill>
                <a:srgbClr val="444444"/>
              </a:solidFill>
              <a:effectLst/>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37745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err="1">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server.js</a:t>
            </a:r>
            <a:endPar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endParaRPr>
          </a:p>
        </p:txBody>
      </p:sp>
    </p:spTree>
    <p:extLst>
      <p:ext uri="{BB962C8B-B14F-4D97-AF65-F5344CB8AC3E}">
        <p14:creationId xmlns:p14="http://schemas.microsoft.com/office/powerpoint/2010/main" val="40260521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Wiring it all together</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201" y="1346588"/>
            <a:ext cx="10515600" cy="4452501"/>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Earlier on, we had a minimal code for our server to be up and running in the </a:t>
            </a:r>
            <a:r>
              <a:rPr lang="en-GB" sz="2400" dirty="0" err="1">
                <a:solidFill>
                  <a:srgbClr val="444444"/>
                </a:solidFill>
                <a:effectLst/>
                <a:latin typeface="Helvetica Neue Light" panose="02000403000000020004" pitchFamily="2" charset="0"/>
                <a:ea typeface="Helvetica Neue Light" panose="02000403000000020004" pitchFamily="2" charset="0"/>
              </a:rPr>
              <a:t>server.js</a:t>
            </a:r>
            <a:r>
              <a:rPr lang="en-GB" sz="2400" dirty="0">
                <a:solidFill>
                  <a:srgbClr val="444444"/>
                </a:solidFill>
                <a:effectLst/>
                <a:latin typeface="Helvetica Neue Light" panose="02000403000000020004" pitchFamily="2" charset="0"/>
                <a:ea typeface="Helvetica Neue Light" panose="02000403000000020004" pitchFamily="2" charset="0"/>
              </a:rPr>
              <a:t> file.</a:t>
            </a:r>
          </a:p>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In this section we will be connecting our handlers(controllers), database, the created models, body parser and the created routes together.</a:t>
            </a:r>
          </a:p>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Open the </a:t>
            </a:r>
            <a:r>
              <a:rPr lang="en-GB" sz="2400" dirty="0" err="1">
                <a:solidFill>
                  <a:srgbClr val="444444"/>
                </a:solidFill>
                <a:effectLst/>
                <a:latin typeface="Helvetica Neue Light" panose="02000403000000020004" pitchFamily="2" charset="0"/>
                <a:ea typeface="Helvetica Neue Light" panose="02000403000000020004" pitchFamily="2" charset="0"/>
              </a:rPr>
              <a:t>server.js</a:t>
            </a:r>
            <a:r>
              <a:rPr lang="en-GB" sz="2400" dirty="0">
                <a:solidFill>
                  <a:srgbClr val="444444"/>
                </a:solidFill>
                <a:effectLst/>
                <a:latin typeface="Helvetica Neue Light" panose="02000403000000020004" pitchFamily="2" charset="0"/>
                <a:ea typeface="Helvetica Neue Light" panose="02000403000000020004" pitchFamily="2" charset="0"/>
              </a:rPr>
              <a:t> file created a while ago and follow the following steps to put everything together.</a:t>
            </a:r>
          </a:p>
          <a:p>
            <a:pPr marL="342900" indent="-342900" algn="l">
              <a:lnSpc>
                <a:spcPct val="150000"/>
              </a:lnSpc>
              <a:buFont typeface="Arial" panose="020B0604020202020204" pitchFamily="34" charset="0"/>
              <a:buChar char="•"/>
            </a:pPr>
            <a:r>
              <a:rPr lang="en-GB" sz="2400" dirty="0">
                <a:solidFill>
                  <a:srgbClr val="444444"/>
                </a:solidFill>
                <a:effectLst/>
                <a:latin typeface="Helvetica Neue Light" panose="02000403000000020004" pitchFamily="2" charset="0"/>
                <a:ea typeface="Helvetica Neue Light" panose="02000403000000020004" pitchFamily="2" charset="0"/>
              </a:rPr>
              <a:t>Essentially, you will be replacing the code in your </a:t>
            </a:r>
            <a:r>
              <a:rPr lang="en-GB" sz="2400" dirty="0" err="1">
                <a:solidFill>
                  <a:srgbClr val="444444"/>
                </a:solidFill>
                <a:effectLst/>
                <a:latin typeface="Helvetica Neue Light" panose="02000403000000020004" pitchFamily="2" charset="0"/>
                <a:ea typeface="Helvetica Neue Light" panose="02000403000000020004" pitchFamily="2" charset="0"/>
              </a:rPr>
              <a:t>server.js</a:t>
            </a:r>
            <a:r>
              <a:rPr lang="en-GB" sz="2400" dirty="0">
                <a:solidFill>
                  <a:srgbClr val="444444"/>
                </a:solidFill>
                <a:effectLst/>
                <a:latin typeface="Helvetica Neue Light" panose="02000403000000020004" pitchFamily="2" charset="0"/>
                <a:ea typeface="Helvetica Neue Light" panose="02000403000000020004" pitchFamily="2" charset="0"/>
              </a:rPr>
              <a:t> with the code snippet from this section</a:t>
            </a:r>
          </a:p>
        </p:txBody>
      </p:sp>
    </p:spTree>
    <p:extLst>
      <p:ext uri="{BB962C8B-B14F-4D97-AF65-F5344CB8AC3E}">
        <p14:creationId xmlns:p14="http://schemas.microsoft.com/office/powerpoint/2010/main" val="1346058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server.js</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 full code</a:t>
            </a:r>
          </a:p>
        </p:txBody>
      </p:sp>
      <p:pic>
        <p:nvPicPr>
          <p:cNvPr id="5" name="Picture 4">
            <a:extLst>
              <a:ext uri="{FF2B5EF4-FFF2-40B4-BE49-F238E27FC236}">
                <a16:creationId xmlns:a16="http://schemas.microsoft.com/office/drawing/2014/main" id="{3767819D-DF7D-CC13-2345-60AA48C5926B}"/>
              </a:ext>
            </a:extLst>
          </p:cNvPr>
          <p:cNvPicPr>
            <a:picLocks noChangeAspect="1"/>
          </p:cNvPicPr>
          <p:nvPr/>
        </p:nvPicPr>
        <p:blipFill>
          <a:blip r:embed="rId2"/>
          <a:stretch>
            <a:fillRect/>
          </a:stretch>
        </p:blipFill>
        <p:spPr>
          <a:xfrm>
            <a:off x="968828" y="1189136"/>
            <a:ext cx="7772400" cy="5233416"/>
          </a:xfrm>
          <a:prstGeom prst="rect">
            <a:avLst/>
          </a:prstGeom>
        </p:spPr>
      </p:pic>
    </p:spTree>
    <p:extLst>
      <p:ext uri="{BB962C8B-B14F-4D97-AF65-F5344CB8AC3E}">
        <p14:creationId xmlns:p14="http://schemas.microsoft.com/office/powerpoint/2010/main" val="797133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199" y="435448"/>
            <a:ext cx="10659533" cy="1128514"/>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Important – line 10</a:t>
            </a:r>
          </a:p>
        </p:txBody>
      </p:sp>
      <p:pic>
        <p:nvPicPr>
          <p:cNvPr id="2" name="Picture 1">
            <a:extLst>
              <a:ext uri="{FF2B5EF4-FFF2-40B4-BE49-F238E27FC236}">
                <a16:creationId xmlns:a16="http://schemas.microsoft.com/office/drawing/2014/main" id="{67353CD2-0F93-76AD-D61C-39B9068A612F}"/>
              </a:ext>
            </a:extLst>
          </p:cNvPr>
          <p:cNvPicPr>
            <a:picLocks noChangeAspect="1"/>
          </p:cNvPicPr>
          <p:nvPr/>
        </p:nvPicPr>
        <p:blipFill rotWithShape="1">
          <a:blip r:embed="rId2"/>
          <a:srcRect t="47025" r="11299" b="46701"/>
          <a:stretch/>
        </p:blipFill>
        <p:spPr>
          <a:xfrm>
            <a:off x="838199" y="2995982"/>
            <a:ext cx="9626601" cy="433018"/>
          </a:xfrm>
          <a:prstGeom prst="rect">
            <a:avLst/>
          </a:prstGeom>
        </p:spPr>
      </p:pic>
      <p:pic>
        <p:nvPicPr>
          <p:cNvPr id="3" name="Picture 2">
            <a:extLst>
              <a:ext uri="{FF2B5EF4-FFF2-40B4-BE49-F238E27FC236}">
                <a16:creationId xmlns:a16="http://schemas.microsoft.com/office/drawing/2014/main" id="{9F653F7F-4A3B-AC04-E981-31F56E0D0A22}"/>
              </a:ext>
            </a:extLst>
          </p:cNvPr>
          <p:cNvPicPr>
            <a:picLocks noChangeAspect="1"/>
          </p:cNvPicPr>
          <p:nvPr/>
        </p:nvPicPr>
        <p:blipFill rotWithShape="1">
          <a:blip r:embed="rId3"/>
          <a:srcRect t="48998"/>
          <a:stretch/>
        </p:blipFill>
        <p:spPr>
          <a:xfrm>
            <a:off x="838199" y="5366472"/>
            <a:ext cx="8371681" cy="441698"/>
          </a:xfrm>
          <a:prstGeom prst="rect">
            <a:avLst/>
          </a:prstGeom>
        </p:spPr>
      </p:pic>
      <p:sp>
        <p:nvSpPr>
          <p:cNvPr id="5" name="TextBox 4">
            <a:extLst>
              <a:ext uri="{FF2B5EF4-FFF2-40B4-BE49-F238E27FC236}">
                <a16:creationId xmlns:a16="http://schemas.microsoft.com/office/drawing/2014/main" id="{E72245EA-938B-12A0-AC78-2CC0DD5E367A}"/>
              </a:ext>
            </a:extLst>
          </p:cNvPr>
          <p:cNvSpPr txBox="1"/>
          <p:nvPr/>
        </p:nvSpPr>
        <p:spPr>
          <a:xfrm>
            <a:off x="838199" y="1482848"/>
            <a:ext cx="10515600" cy="1128514"/>
          </a:xfrm>
          <a:prstGeom prst="rect">
            <a:avLst/>
          </a:prstGeom>
          <a:noFill/>
        </p:spPr>
        <p:txBody>
          <a:bodyPr wrap="square">
            <a:spAutoFit/>
          </a:bodyPr>
          <a:lstStyle/>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rPr>
              <a:t>If working with your University Mongo account use this line but change pm76 to your username in all 3 places !!</a:t>
            </a:r>
          </a:p>
        </p:txBody>
      </p:sp>
      <p:sp>
        <p:nvSpPr>
          <p:cNvPr id="6" name="TextBox 5">
            <a:extLst>
              <a:ext uri="{FF2B5EF4-FFF2-40B4-BE49-F238E27FC236}">
                <a16:creationId xmlns:a16="http://schemas.microsoft.com/office/drawing/2014/main" id="{033816AB-0660-9BCC-43BC-357452E855C4}"/>
              </a:ext>
            </a:extLst>
          </p:cNvPr>
          <p:cNvSpPr txBox="1"/>
          <p:nvPr/>
        </p:nvSpPr>
        <p:spPr>
          <a:xfrm>
            <a:off x="838200" y="4110478"/>
            <a:ext cx="10515600" cy="574516"/>
          </a:xfrm>
          <a:prstGeom prst="rect">
            <a:avLst/>
          </a:prstGeom>
          <a:noFill/>
        </p:spPr>
        <p:txBody>
          <a:bodyPr wrap="square">
            <a:spAutoFit/>
          </a:bodyPr>
          <a:lstStyle/>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rPr>
              <a:t>If working at home on your localhost use this connection string</a:t>
            </a:r>
          </a:p>
        </p:txBody>
      </p:sp>
    </p:spTree>
    <p:extLst>
      <p:ext uri="{BB962C8B-B14F-4D97-AF65-F5344CB8AC3E}">
        <p14:creationId xmlns:p14="http://schemas.microsoft.com/office/powerpoint/2010/main" val="186129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50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Body-parser</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197" y="1098229"/>
            <a:ext cx="10515600" cy="1128514"/>
          </a:xfrm>
          <a:prstGeom prst="rect">
            <a:avLst/>
          </a:prstGeom>
          <a:noFill/>
        </p:spPr>
        <p:txBody>
          <a:bodyPr wrap="square">
            <a:spAutoFit/>
          </a:bodyPr>
          <a:lstStyle/>
          <a:p>
            <a:pPr algn="l">
              <a:lnSpc>
                <a:spcPct val="150000"/>
              </a:lnSpc>
            </a:pPr>
            <a:r>
              <a:rPr lang="en-GB" sz="2400" dirty="0">
                <a:solidFill>
                  <a:srgbClr val="444444"/>
                </a:solidFill>
                <a:effectLst/>
                <a:latin typeface="Helvetica Neue Light" panose="02000403000000020004" pitchFamily="2" charset="0"/>
                <a:ea typeface="Helvetica Neue Light" panose="02000403000000020004" pitchFamily="2" charset="0"/>
                <a:hlinkClick r:id="rId2"/>
              </a:rPr>
              <a:t>https://www.simplilearn.com/tutorials/nodejs-tutorial/body-parser-in-express-js</a:t>
            </a:r>
            <a:endParaRPr lang="en-GB" sz="2400" dirty="0">
              <a:solidFill>
                <a:srgbClr val="444444"/>
              </a:solidFill>
              <a:effectLst/>
              <a:latin typeface="Helvetica Neue Light" panose="02000403000000020004" pitchFamily="2" charset="0"/>
              <a:ea typeface="Helvetica Neue Light" panose="02000403000000020004" pitchFamily="2" charset="0"/>
            </a:endParaRPr>
          </a:p>
          <a:p>
            <a:pPr marL="342900" indent="-342900" algn="l">
              <a:lnSpc>
                <a:spcPct val="150000"/>
              </a:lnSpc>
              <a:buFont typeface="Arial" panose="020B0604020202020204" pitchFamily="34" charset="0"/>
              <a:buChar char="•"/>
            </a:pPr>
            <a:endParaRPr lang="en-GB" sz="2400" dirty="0">
              <a:solidFill>
                <a:srgbClr val="444444"/>
              </a:solidFill>
              <a:effectLst/>
              <a:latin typeface="Helvetica Neue Light" panose="02000403000000020004" pitchFamily="2" charset="0"/>
              <a:ea typeface="Helvetica Neue Light" panose="02000403000000020004" pitchFamily="2" charset="0"/>
            </a:endParaRPr>
          </a:p>
        </p:txBody>
      </p:sp>
      <p:sp>
        <p:nvSpPr>
          <p:cNvPr id="3" name="TextBox 2">
            <a:extLst>
              <a:ext uri="{FF2B5EF4-FFF2-40B4-BE49-F238E27FC236}">
                <a16:creationId xmlns:a16="http://schemas.microsoft.com/office/drawing/2014/main" id="{FAC5E5C7-324B-60D8-F9D9-2289BCECB3B7}"/>
              </a:ext>
            </a:extLst>
          </p:cNvPr>
          <p:cNvSpPr txBox="1"/>
          <p:nvPr/>
        </p:nvSpPr>
        <p:spPr>
          <a:xfrm>
            <a:off x="838198" y="1761010"/>
            <a:ext cx="10918373" cy="4452501"/>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GB" sz="2400" dirty="0">
                <a:solidFill>
                  <a:srgbClr val="222222"/>
                </a:solidFill>
                <a:effectLst/>
                <a:latin typeface="Helvetica Neue Light" panose="02000403000000020004" pitchFamily="2" charset="0"/>
                <a:ea typeface="Helvetica Neue Light" panose="02000403000000020004" pitchFamily="2" charset="0"/>
              </a:rPr>
              <a:t>Body Parser is a middleware of Node JS used to handle HTTP POST request.</a:t>
            </a:r>
          </a:p>
          <a:p>
            <a:pPr marL="342900" indent="-342900">
              <a:lnSpc>
                <a:spcPct val="150000"/>
              </a:lnSpc>
              <a:buFont typeface="Arial" panose="020B0604020202020204" pitchFamily="34" charset="0"/>
              <a:buChar char="•"/>
            </a:pPr>
            <a:r>
              <a:rPr lang="en-GB" sz="2400" dirty="0">
                <a:solidFill>
                  <a:srgbClr val="222222"/>
                </a:solidFill>
                <a:effectLst/>
                <a:latin typeface="Helvetica Neue Light" panose="02000403000000020004" pitchFamily="2" charset="0"/>
                <a:ea typeface="Helvetica Neue Light" panose="02000403000000020004" pitchFamily="2" charset="0"/>
              </a:rPr>
              <a:t>Body Parser can parse a string based client request body into JavaScript Object which we can use in our application.</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Specifically in the context of a POST or PUT HTTP requests where the information you want is contained in the body.</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Using body-parser allows you to access </a:t>
            </a:r>
            <a:r>
              <a:rPr lang="en-US" sz="2400" dirty="0" err="1">
                <a:latin typeface="Helvetica Neue Light" panose="02000403000000020004" pitchFamily="2" charset="0"/>
                <a:ea typeface="Helvetica Neue Light" panose="02000403000000020004" pitchFamily="2" charset="0"/>
              </a:rPr>
              <a:t>req.body</a:t>
            </a:r>
            <a:r>
              <a:rPr lang="en-US" sz="2400" dirty="0">
                <a:latin typeface="Helvetica Neue Light" panose="02000403000000020004" pitchFamily="2" charset="0"/>
                <a:ea typeface="Helvetica Neue Light" panose="02000403000000020004" pitchFamily="2" charset="0"/>
              </a:rPr>
              <a:t> from within routes and use that data.</a:t>
            </a:r>
          </a:p>
          <a:p>
            <a:pPr marL="342900" indent="-342900">
              <a:lnSpc>
                <a:spcPct val="150000"/>
              </a:lnSpc>
              <a:buFont typeface="Arial" panose="020B0604020202020204" pitchFamily="34" charset="0"/>
              <a:buChar char="•"/>
            </a:pPr>
            <a:r>
              <a:rPr lang="en-US" sz="2400" dirty="0">
                <a:latin typeface="Helvetica Neue Light" panose="02000403000000020004" pitchFamily="2" charset="0"/>
                <a:ea typeface="Helvetica Neue Light" panose="02000403000000020004" pitchFamily="2" charset="0"/>
              </a:rPr>
              <a:t>For example: To create a user in a database.      </a:t>
            </a:r>
          </a:p>
        </p:txBody>
      </p:sp>
    </p:spTree>
    <p:extLst>
      <p:ext uri="{BB962C8B-B14F-4D97-AF65-F5344CB8AC3E}">
        <p14:creationId xmlns:p14="http://schemas.microsoft.com/office/powerpoint/2010/main" val="3675907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343530"/>
            <a:ext cx="12192000" cy="2170939"/>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66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Testing with Postcode</a:t>
            </a:r>
          </a:p>
        </p:txBody>
      </p:sp>
    </p:spTree>
    <p:extLst>
      <p:ext uri="{BB962C8B-B14F-4D97-AF65-F5344CB8AC3E}">
        <p14:creationId xmlns:p14="http://schemas.microsoft.com/office/powerpoint/2010/main" val="29914807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Make sure your </a:t>
            </a:r>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is connected</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197" y="1098229"/>
            <a:ext cx="10515600" cy="654795"/>
          </a:xfrm>
          <a:prstGeom prst="rect">
            <a:avLst/>
          </a:prstGeom>
          <a:noFill/>
        </p:spPr>
        <p:txBody>
          <a:bodyPr wrap="square">
            <a:spAutoFit/>
          </a:bodyPr>
          <a:lstStyle/>
          <a:p>
            <a:pPr algn="l">
              <a:lnSpc>
                <a:spcPct val="150000"/>
              </a:lnSpc>
            </a:pPr>
            <a:r>
              <a:rPr lang="en-GB" sz="2800" dirty="0">
                <a:solidFill>
                  <a:srgbClr val="444444"/>
                </a:solidFill>
                <a:effectLst/>
                <a:latin typeface="Helvetica Neue Light" panose="02000403000000020004" pitchFamily="2" charset="0"/>
                <a:ea typeface="Helvetica Neue Light" panose="02000403000000020004" pitchFamily="2" charset="0"/>
              </a:rPr>
              <a:t>This is my localhost version on my Mac</a:t>
            </a:r>
          </a:p>
        </p:txBody>
      </p:sp>
      <p:pic>
        <p:nvPicPr>
          <p:cNvPr id="2" name="Picture 1">
            <a:extLst>
              <a:ext uri="{FF2B5EF4-FFF2-40B4-BE49-F238E27FC236}">
                <a16:creationId xmlns:a16="http://schemas.microsoft.com/office/drawing/2014/main" id="{E4D32605-1691-38DE-BC86-C4DD16930744}"/>
              </a:ext>
            </a:extLst>
          </p:cNvPr>
          <p:cNvPicPr>
            <a:picLocks noChangeAspect="1"/>
          </p:cNvPicPr>
          <p:nvPr/>
        </p:nvPicPr>
        <p:blipFill>
          <a:blip r:embed="rId2"/>
          <a:stretch>
            <a:fillRect/>
          </a:stretch>
        </p:blipFill>
        <p:spPr>
          <a:xfrm>
            <a:off x="838197" y="1998516"/>
            <a:ext cx="9889114" cy="4259780"/>
          </a:xfrm>
          <a:prstGeom prst="rect">
            <a:avLst/>
          </a:prstGeom>
          <a:ln>
            <a:solidFill>
              <a:schemeClr val="bg1">
                <a:lumMod val="50000"/>
              </a:schemeClr>
            </a:solidFill>
          </a:ln>
        </p:spPr>
      </p:pic>
      <p:cxnSp>
        <p:nvCxnSpPr>
          <p:cNvPr id="6" name="Straight Arrow Connector 5">
            <a:extLst>
              <a:ext uri="{FF2B5EF4-FFF2-40B4-BE49-F238E27FC236}">
                <a16:creationId xmlns:a16="http://schemas.microsoft.com/office/drawing/2014/main" id="{EC76DF2B-A641-B498-27D2-242DBB16F737}"/>
              </a:ext>
            </a:extLst>
          </p:cNvPr>
          <p:cNvCxnSpPr>
            <a:cxnSpLocks/>
          </p:cNvCxnSpPr>
          <p:nvPr/>
        </p:nvCxnSpPr>
        <p:spPr>
          <a:xfrm>
            <a:off x="3574472" y="1753024"/>
            <a:ext cx="1401289" cy="208270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22369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49DFAD3-30D8-43A1-83BC-D6E7A16EFCCD}"/>
              </a:ext>
            </a:extLst>
          </p:cNvPr>
          <p:cNvPicPr>
            <a:picLocks noChangeAspect="1"/>
          </p:cNvPicPr>
          <p:nvPr/>
        </p:nvPicPr>
        <p:blipFill>
          <a:blip r:embed="rId2"/>
          <a:srcRect l="1188" r="28938" b="31704"/>
          <a:stretch/>
        </p:blipFill>
        <p:spPr>
          <a:xfrm>
            <a:off x="973396" y="1888841"/>
            <a:ext cx="7949376" cy="4661909"/>
          </a:xfrm>
          <a:prstGeom prst="rect">
            <a:avLst/>
          </a:prstGeom>
          <a:ln>
            <a:solidFill>
              <a:schemeClr val="tx1">
                <a:lumMod val="95000"/>
                <a:lumOff val="5000"/>
              </a:schemeClr>
            </a:solidFill>
          </a:ln>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435448"/>
            <a:ext cx="10515600" cy="662781"/>
          </a:xfrm>
        </p:spPr>
        <p:txBody>
          <a:bodyPr>
            <a:normAutofit fontScale="90000"/>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Make sure your </a:t>
            </a:r>
            <a:r>
              <a:rPr lang="en-US" spc="60" dirty="0" err="1">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Mongodb</a:t>
            </a:r>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 is connected</a:t>
            </a:r>
          </a:p>
        </p:txBody>
      </p:sp>
      <p:sp>
        <p:nvSpPr>
          <p:cNvPr id="5" name="TextBox 4">
            <a:extLst>
              <a:ext uri="{FF2B5EF4-FFF2-40B4-BE49-F238E27FC236}">
                <a16:creationId xmlns:a16="http://schemas.microsoft.com/office/drawing/2014/main" id="{7580C5DE-101E-AA47-41A2-90B4AD1BE570}"/>
              </a:ext>
            </a:extLst>
          </p:cNvPr>
          <p:cNvSpPr txBox="1"/>
          <p:nvPr/>
        </p:nvSpPr>
        <p:spPr>
          <a:xfrm>
            <a:off x="838196" y="1098229"/>
            <a:ext cx="10515600" cy="654795"/>
          </a:xfrm>
          <a:prstGeom prst="rect">
            <a:avLst/>
          </a:prstGeom>
          <a:noFill/>
        </p:spPr>
        <p:txBody>
          <a:bodyPr wrap="square">
            <a:spAutoFit/>
          </a:bodyPr>
          <a:lstStyle/>
          <a:p>
            <a:pPr algn="l">
              <a:lnSpc>
                <a:spcPct val="150000"/>
              </a:lnSpc>
            </a:pPr>
            <a:r>
              <a:rPr lang="en-GB" sz="2800" dirty="0">
                <a:solidFill>
                  <a:srgbClr val="444444"/>
                </a:solidFill>
                <a:effectLst/>
                <a:latin typeface="Helvetica Neue Light" panose="02000403000000020004" pitchFamily="2" charset="0"/>
                <a:ea typeface="Helvetica Neue Light" panose="02000403000000020004" pitchFamily="2" charset="0"/>
              </a:rPr>
              <a:t>This is my </a:t>
            </a:r>
            <a:r>
              <a:rPr lang="en-GB" sz="2800" dirty="0">
                <a:solidFill>
                  <a:srgbClr val="444444"/>
                </a:solidFill>
                <a:latin typeface="Helvetica Neue Light" panose="02000403000000020004" pitchFamily="2" charset="0"/>
                <a:ea typeface="Helvetica Neue Light" panose="02000403000000020004" pitchFamily="2" charset="0"/>
              </a:rPr>
              <a:t>University account</a:t>
            </a:r>
            <a:endParaRPr lang="en-GB" sz="2800" dirty="0">
              <a:solidFill>
                <a:srgbClr val="444444"/>
              </a:solidFill>
              <a:effectLst/>
              <a:latin typeface="Helvetica Neue Light" panose="02000403000000020004" pitchFamily="2" charset="0"/>
              <a:ea typeface="Helvetica Neue Light" panose="02000403000000020004" pitchFamily="2" charset="0"/>
            </a:endParaRPr>
          </a:p>
        </p:txBody>
      </p:sp>
      <p:cxnSp>
        <p:nvCxnSpPr>
          <p:cNvPr id="7" name="Straight Arrow Connector 6">
            <a:extLst>
              <a:ext uri="{FF2B5EF4-FFF2-40B4-BE49-F238E27FC236}">
                <a16:creationId xmlns:a16="http://schemas.microsoft.com/office/drawing/2014/main" id="{65AEE4A1-AA7B-959C-0F9C-99FF235D0B7C}"/>
              </a:ext>
            </a:extLst>
          </p:cNvPr>
          <p:cNvCxnSpPr>
            <a:cxnSpLocks/>
          </p:cNvCxnSpPr>
          <p:nvPr/>
        </p:nvCxnSpPr>
        <p:spPr>
          <a:xfrm>
            <a:off x="1840675" y="1753024"/>
            <a:ext cx="0" cy="2641995"/>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96482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838200" y="1003392"/>
            <a:ext cx="10515600" cy="829422"/>
          </a:xfrm>
        </p:spPr>
        <p:txBody>
          <a:bodyPr>
            <a:noAutofit/>
          </a:bodyPr>
          <a:lstStyle/>
          <a:p>
            <a:pPr marL="0" indent="0">
              <a:lnSpc>
                <a:spcPct val="150000"/>
              </a:lnSpc>
              <a:buNone/>
            </a:pPr>
            <a:r>
              <a:rPr lang="en-GB" sz="3200" spc="50" dirty="0" err="1">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a:t>
            </a:r>
            <a:r>
              <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 run start</a:t>
            </a:r>
          </a:p>
        </p:txBody>
      </p:sp>
      <p:pic>
        <p:nvPicPr>
          <p:cNvPr id="4" name="Picture 3">
            <a:extLst>
              <a:ext uri="{FF2B5EF4-FFF2-40B4-BE49-F238E27FC236}">
                <a16:creationId xmlns:a16="http://schemas.microsoft.com/office/drawing/2014/main" id="{8DEEB6D6-D00E-8586-6870-1F319162CCEA}"/>
              </a:ext>
            </a:extLst>
          </p:cNvPr>
          <p:cNvPicPr>
            <a:picLocks noChangeAspect="1"/>
          </p:cNvPicPr>
          <p:nvPr/>
        </p:nvPicPr>
        <p:blipFill>
          <a:blip r:embed="rId2"/>
          <a:stretch>
            <a:fillRect/>
          </a:stretch>
        </p:blipFill>
        <p:spPr>
          <a:xfrm>
            <a:off x="838200" y="2116665"/>
            <a:ext cx="9943555" cy="4301066"/>
          </a:xfrm>
          <a:prstGeom prst="rect">
            <a:avLst/>
          </a:prstGeom>
        </p:spPr>
      </p:pic>
      <p:sp>
        <p:nvSpPr>
          <p:cNvPr id="5" name="Content Placeholder 4">
            <a:extLst>
              <a:ext uri="{FF2B5EF4-FFF2-40B4-BE49-F238E27FC236}">
                <a16:creationId xmlns:a16="http://schemas.microsoft.com/office/drawing/2014/main" id="{B41E4804-ADA7-0BC6-A7C0-5BACCB18BD13}"/>
              </a:ext>
            </a:extLst>
          </p:cNvPr>
          <p:cNvSpPr txBox="1">
            <a:spLocks/>
          </p:cNvSpPr>
          <p:nvPr/>
        </p:nvSpPr>
        <p:spPr>
          <a:xfrm>
            <a:off x="956733" y="3429000"/>
            <a:ext cx="10515600" cy="155786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z="3200" spc="5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npm run start</a:t>
            </a:r>
          </a:p>
          <a:p>
            <a:pPr marL="0" indent="0">
              <a:lnSpc>
                <a:spcPct val="150000"/>
              </a:lnSpc>
              <a:buFont typeface="Arial" panose="020B0604020202020204" pitchFamily="34" charset="0"/>
              <a:buNone/>
            </a:pPr>
            <a:r>
              <a:rPr lang="en-GB" sz="3200" spc="5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rPr>
              <a:t>Control C to stop the server</a:t>
            </a:r>
            <a:endPar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p:txBody>
      </p:sp>
      <p:sp>
        <p:nvSpPr>
          <p:cNvPr id="6" name="Content Placeholder 4">
            <a:extLst>
              <a:ext uri="{FF2B5EF4-FFF2-40B4-BE49-F238E27FC236}">
                <a16:creationId xmlns:a16="http://schemas.microsoft.com/office/drawing/2014/main" id="{55145D5A-D13F-753E-90F4-49CFEC6023FF}"/>
              </a:ext>
            </a:extLst>
          </p:cNvPr>
          <p:cNvSpPr txBox="1">
            <a:spLocks/>
          </p:cNvSpPr>
          <p:nvPr/>
        </p:nvSpPr>
        <p:spPr>
          <a:xfrm>
            <a:off x="838200" y="257505"/>
            <a:ext cx="10515600" cy="84561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Font typeface="Arial" panose="020B0604020202020204" pitchFamily="34" charset="0"/>
              <a:buNone/>
            </a:pPr>
            <a:r>
              <a:rPr lang="en-GB" spc="50" dirty="0">
                <a:solidFill>
                  <a:schemeClr val="tx1">
                    <a:lumMod val="85000"/>
                    <a:lumOff val="15000"/>
                  </a:schemeClr>
                </a:solidFill>
                <a:latin typeface="Helvetica Neue Light" panose="02000403000000020004" pitchFamily="2" charset="0"/>
                <a:ea typeface="Helvetica Neue Light" panose="02000403000000020004" pitchFamily="2" charset="0"/>
                <a:cs typeface="Courier New" panose="02070309020205020404" pitchFamily="49" charset="0"/>
              </a:rPr>
              <a:t>Make sure your API server is running on port 3000</a:t>
            </a:r>
          </a:p>
          <a:p>
            <a:pPr marL="0" indent="0">
              <a:lnSpc>
                <a:spcPct val="150000"/>
              </a:lnSpc>
              <a:buFont typeface="Arial" panose="020B0604020202020204" pitchFamily="34" charset="0"/>
              <a:buNone/>
            </a:pPr>
            <a:endParaRPr lang="en-GB" sz="3200" spc="50" dirty="0">
              <a:solidFill>
                <a:schemeClr val="tx1">
                  <a:lumMod val="85000"/>
                  <a:lumOff val="15000"/>
                </a:schemeClr>
              </a:solidFill>
              <a:latin typeface="Courier New" panose="02070309020205020404" pitchFamily="49" charset="0"/>
              <a:ea typeface="Helvetica Neue Light" panose="02000403000000020004" pitchFamily="2" charset="0"/>
              <a:cs typeface="Courier New" panose="02070309020205020404" pitchFamily="49" charset="0"/>
            </a:endParaRPr>
          </a:p>
        </p:txBody>
      </p:sp>
    </p:spTree>
    <p:extLst>
      <p:ext uri="{BB962C8B-B14F-4D97-AF65-F5344CB8AC3E}">
        <p14:creationId xmlns:p14="http://schemas.microsoft.com/office/powerpoint/2010/main" val="58226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Install Postcode</a:t>
            </a:r>
          </a:p>
        </p:txBody>
      </p:sp>
      <p:pic>
        <p:nvPicPr>
          <p:cNvPr id="2" name="Picture 1">
            <a:extLst>
              <a:ext uri="{FF2B5EF4-FFF2-40B4-BE49-F238E27FC236}">
                <a16:creationId xmlns:a16="http://schemas.microsoft.com/office/drawing/2014/main" id="{16088C59-4509-37FC-366F-DD7D1B089354}"/>
              </a:ext>
            </a:extLst>
          </p:cNvPr>
          <p:cNvPicPr>
            <a:picLocks noChangeAspect="1"/>
          </p:cNvPicPr>
          <p:nvPr/>
        </p:nvPicPr>
        <p:blipFill>
          <a:blip r:embed="rId2"/>
          <a:stretch>
            <a:fillRect/>
          </a:stretch>
        </p:blipFill>
        <p:spPr>
          <a:xfrm>
            <a:off x="922866" y="2252988"/>
            <a:ext cx="6211712" cy="3983982"/>
          </a:xfrm>
          <a:prstGeom prst="rect">
            <a:avLst/>
          </a:prstGeom>
        </p:spPr>
      </p:pic>
      <p:sp>
        <p:nvSpPr>
          <p:cNvPr id="3" name="Content Placeholder 4">
            <a:extLst>
              <a:ext uri="{FF2B5EF4-FFF2-40B4-BE49-F238E27FC236}">
                <a16:creationId xmlns:a16="http://schemas.microsoft.com/office/drawing/2014/main" id="{6643466C-5390-85B5-1F6F-E877DBECC610}"/>
              </a:ext>
            </a:extLst>
          </p:cNvPr>
          <p:cNvSpPr>
            <a:spLocks noGrp="1"/>
          </p:cNvSpPr>
          <p:nvPr>
            <p:ph idx="1"/>
          </p:nvPr>
        </p:nvSpPr>
        <p:spPr>
          <a:xfrm>
            <a:off x="922866" y="1430513"/>
            <a:ext cx="10515600" cy="691798"/>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Search for it in the VS code extension library</a:t>
            </a:r>
          </a:p>
        </p:txBody>
      </p:sp>
      <p:cxnSp>
        <p:nvCxnSpPr>
          <p:cNvPr id="7" name="Straight Arrow Connector 6">
            <a:extLst>
              <a:ext uri="{FF2B5EF4-FFF2-40B4-BE49-F238E27FC236}">
                <a16:creationId xmlns:a16="http://schemas.microsoft.com/office/drawing/2014/main" id="{055A297A-500B-A0DF-53B7-B540881E038A}"/>
              </a:ext>
            </a:extLst>
          </p:cNvPr>
          <p:cNvCxnSpPr>
            <a:cxnSpLocks/>
          </p:cNvCxnSpPr>
          <p:nvPr/>
        </p:nvCxnSpPr>
        <p:spPr>
          <a:xfrm flipH="1">
            <a:off x="1106311" y="1975556"/>
            <a:ext cx="3556000" cy="1591733"/>
          </a:xfrm>
          <a:prstGeom prst="straightConnector1">
            <a:avLst/>
          </a:prstGeom>
          <a:ln w="317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53474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44651"/>
            <a:ext cx="10515600" cy="831497"/>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Postcode</a:t>
            </a:r>
          </a:p>
        </p:txBody>
      </p:sp>
      <p:pic>
        <p:nvPicPr>
          <p:cNvPr id="3" name="Picture 2">
            <a:extLst>
              <a:ext uri="{FF2B5EF4-FFF2-40B4-BE49-F238E27FC236}">
                <a16:creationId xmlns:a16="http://schemas.microsoft.com/office/drawing/2014/main" id="{B29CA542-51BE-4FE8-E91D-2F1778359082}"/>
              </a:ext>
            </a:extLst>
          </p:cNvPr>
          <p:cNvPicPr>
            <a:picLocks noChangeAspect="1"/>
          </p:cNvPicPr>
          <p:nvPr/>
        </p:nvPicPr>
        <p:blipFill>
          <a:blip r:embed="rId2"/>
          <a:stretch>
            <a:fillRect/>
          </a:stretch>
        </p:blipFill>
        <p:spPr>
          <a:xfrm>
            <a:off x="951090" y="1196622"/>
            <a:ext cx="7222067" cy="3544573"/>
          </a:xfrm>
          <a:prstGeom prst="rect">
            <a:avLst/>
          </a:prstGeom>
        </p:spPr>
      </p:pic>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838200" y="5145707"/>
            <a:ext cx="10515600" cy="1493308"/>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Once installed you should see it’s icon on the left hand panel, click the icon and you will see the ‘Create Request’ button. Click this button</a:t>
            </a:r>
          </a:p>
        </p:txBody>
      </p:sp>
      <p:cxnSp>
        <p:nvCxnSpPr>
          <p:cNvPr id="6" name="Straight Arrow Connector 5">
            <a:extLst>
              <a:ext uri="{FF2B5EF4-FFF2-40B4-BE49-F238E27FC236}">
                <a16:creationId xmlns:a16="http://schemas.microsoft.com/office/drawing/2014/main" id="{4C9DDBFA-41E5-28C9-B029-81D5517C9D99}"/>
              </a:ext>
            </a:extLst>
          </p:cNvPr>
          <p:cNvCxnSpPr>
            <a:cxnSpLocks/>
          </p:cNvCxnSpPr>
          <p:nvPr/>
        </p:nvCxnSpPr>
        <p:spPr>
          <a:xfrm flipH="1" flipV="1">
            <a:off x="1320800" y="4402667"/>
            <a:ext cx="2472267" cy="891822"/>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8" name="Straight Arrow Connector 7">
            <a:extLst>
              <a:ext uri="{FF2B5EF4-FFF2-40B4-BE49-F238E27FC236}">
                <a16:creationId xmlns:a16="http://schemas.microsoft.com/office/drawing/2014/main" id="{0ABFE94D-AA72-6B45-985D-16D722B81E4B}"/>
              </a:ext>
            </a:extLst>
          </p:cNvPr>
          <p:cNvCxnSpPr>
            <a:cxnSpLocks/>
          </p:cNvCxnSpPr>
          <p:nvPr/>
        </p:nvCxnSpPr>
        <p:spPr>
          <a:xfrm flipH="1" flipV="1">
            <a:off x="2556933" y="2269067"/>
            <a:ext cx="2714978" cy="3623294"/>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68632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920B564-075B-F97E-8933-4CC5F1FB1F56}"/>
              </a:ext>
            </a:extLst>
          </p:cNvPr>
          <p:cNvPicPr>
            <a:picLocks noChangeAspect="1"/>
          </p:cNvPicPr>
          <p:nvPr/>
        </p:nvPicPr>
        <p:blipFill rotWithShape="1">
          <a:blip r:embed="rId2"/>
          <a:srcRect l="1073" b="54681"/>
          <a:stretch/>
        </p:blipFill>
        <p:spPr>
          <a:xfrm>
            <a:off x="938150" y="991976"/>
            <a:ext cx="10852913" cy="2261863"/>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44651"/>
            <a:ext cx="10515600" cy="831497"/>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Test GET</a:t>
            </a:r>
          </a:p>
        </p:txBody>
      </p:sp>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938150" y="3429000"/>
            <a:ext cx="10515600" cy="2059416"/>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Select GET from the dropdown menu. Enter:</a:t>
            </a: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3"/>
              </a:rPr>
              <a:t>http://localhost:3000/tasks</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into the address bar and click Send.</a:t>
            </a: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This is targeting the route ‘/tasks’ from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todoListRoutes.js</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cxnSp>
        <p:nvCxnSpPr>
          <p:cNvPr id="8" name="Straight Arrow Connector 7">
            <a:extLst>
              <a:ext uri="{FF2B5EF4-FFF2-40B4-BE49-F238E27FC236}">
                <a16:creationId xmlns:a16="http://schemas.microsoft.com/office/drawing/2014/main" id="{0ABFE94D-AA72-6B45-985D-16D722B81E4B}"/>
              </a:ext>
            </a:extLst>
          </p:cNvPr>
          <p:cNvCxnSpPr>
            <a:cxnSpLocks/>
          </p:cNvCxnSpPr>
          <p:nvPr/>
        </p:nvCxnSpPr>
        <p:spPr>
          <a:xfrm flipV="1">
            <a:off x="2404753" y="2326874"/>
            <a:ext cx="1252848" cy="1277288"/>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BDFCC8F0-9B13-D37C-8F39-882516AB8BA1}"/>
              </a:ext>
            </a:extLst>
          </p:cNvPr>
          <p:cNvCxnSpPr>
            <a:cxnSpLocks/>
          </p:cNvCxnSpPr>
          <p:nvPr/>
        </p:nvCxnSpPr>
        <p:spPr>
          <a:xfrm flipH="1" flipV="1">
            <a:off x="5225143" y="2326874"/>
            <a:ext cx="970807" cy="1910816"/>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9A2D7D1-C8F3-F277-FA2B-DEE904EFC990}"/>
              </a:ext>
            </a:extLst>
          </p:cNvPr>
          <p:cNvCxnSpPr>
            <a:cxnSpLocks/>
          </p:cNvCxnSpPr>
          <p:nvPr/>
        </p:nvCxnSpPr>
        <p:spPr>
          <a:xfrm flipV="1">
            <a:off x="9310255" y="2458192"/>
            <a:ext cx="1745672" cy="1779498"/>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pic>
        <p:nvPicPr>
          <p:cNvPr id="18" name="Picture 17">
            <a:extLst>
              <a:ext uri="{FF2B5EF4-FFF2-40B4-BE49-F238E27FC236}">
                <a16:creationId xmlns:a16="http://schemas.microsoft.com/office/drawing/2014/main" id="{47426803-6F29-29F5-5F49-B5F9CDF59087}"/>
              </a:ext>
            </a:extLst>
          </p:cNvPr>
          <p:cNvPicPr>
            <a:picLocks noChangeAspect="1"/>
          </p:cNvPicPr>
          <p:nvPr/>
        </p:nvPicPr>
        <p:blipFill>
          <a:blip r:embed="rId4"/>
          <a:stretch>
            <a:fillRect/>
          </a:stretch>
        </p:blipFill>
        <p:spPr>
          <a:xfrm>
            <a:off x="938150" y="5488416"/>
            <a:ext cx="5803900" cy="1295400"/>
          </a:xfrm>
          <a:prstGeom prst="rect">
            <a:avLst/>
          </a:prstGeom>
        </p:spPr>
      </p:pic>
    </p:spTree>
    <p:extLst>
      <p:ext uri="{BB962C8B-B14F-4D97-AF65-F5344CB8AC3E}">
        <p14:creationId xmlns:p14="http://schemas.microsoft.com/office/powerpoint/2010/main" val="16695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3A859F-B5CE-958E-8C87-A1BD2FC11965}"/>
              </a:ext>
            </a:extLst>
          </p:cNvPr>
          <p:cNvPicPr>
            <a:picLocks noChangeAspect="1"/>
          </p:cNvPicPr>
          <p:nvPr/>
        </p:nvPicPr>
        <p:blipFill>
          <a:blip r:embed="rId2"/>
          <a:stretch>
            <a:fillRect/>
          </a:stretch>
        </p:blipFill>
        <p:spPr>
          <a:xfrm>
            <a:off x="838200" y="1184563"/>
            <a:ext cx="5306084" cy="5014438"/>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44651"/>
            <a:ext cx="10515600" cy="831497"/>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Test GET</a:t>
            </a:r>
          </a:p>
        </p:txBody>
      </p:sp>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6596743" y="1184563"/>
            <a:ext cx="4459184" cy="4634345"/>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The first time you run this test you will get [ ] because there is nothing in the database yet</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cxnSp>
        <p:nvCxnSpPr>
          <p:cNvPr id="13" name="Straight Arrow Connector 12">
            <a:extLst>
              <a:ext uri="{FF2B5EF4-FFF2-40B4-BE49-F238E27FC236}">
                <a16:creationId xmlns:a16="http://schemas.microsoft.com/office/drawing/2014/main" id="{59A2D7D1-C8F3-F277-FA2B-DEE904EFC990}"/>
              </a:ext>
            </a:extLst>
          </p:cNvPr>
          <p:cNvCxnSpPr>
            <a:cxnSpLocks/>
          </p:cNvCxnSpPr>
          <p:nvPr/>
        </p:nvCxnSpPr>
        <p:spPr>
          <a:xfrm flipH="1">
            <a:off x="2137558" y="2351314"/>
            <a:ext cx="6068291" cy="3322123"/>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00134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2F735E-A8CC-8138-F519-BF92487A5448}"/>
              </a:ext>
            </a:extLst>
          </p:cNvPr>
          <p:cNvPicPr>
            <a:picLocks noChangeAspect="1"/>
          </p:cNvPicPr>
          <p:nvPr/>
        </p:nvPicPr>
        <p:blipFill>
          <a:blip r:embed="rId2"/>
          <a:stretch>
            <a:fillRect/>
          </a:stretch>
        </p:blipFill>
        <p:spPr>
          <a:xfrm>
            <a:off x="938150" y="1086919"/>
            <a:ext cx="7772400" cy="2479909"/>
          </a:xfrm>
          <a:prstGeom prst="rect">
            <a:avLst/>
          </a:prstGeom>
        </p:spPr>
      </p:pic>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44651"/>
            <a:ext cx="10515600" cy="831497"/>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Test POST</a:t>
            </a:r>
          </a:p>
        </p:txBody>
      </p:sp>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938150" y="3919164"/>
            <a:ext cx="10515600" cy="2059416"/>
          </a:xfrm>
        </p:spPr>
        <p:txBody>
          <a:bodyPr>
            <a:normAutofit fontScale="85000" lnSpcReduction="10000"/>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Select POST from the dropdown menu. Select the body tab then check the ‘</a:t>
            </a:r>
            <a:r>
              <a:rPr lang="en-GB" sz="2400" dirty="0">
                <a:effectLst/>
                <a:latin typeface="Helvetica Neue Light" panose="02000403000000020004" pitchFamily="2" charset="0"/>
                <a:ea typeface="Helvetica Neue Light" panose="02000403000000020004" pitchFamily="2" charset="0"/>
              </a:rPr>
              <a:t>x-www-form-</a:t>
            </a:r>
            <a:r>
              <a:rPr lang="en-GB" sz="2400" dirty="0" err="1">
                <a:effectLst/>
                <a:latin typeface="Helvetica Neue Light" panose="02000403000000020004" pitchFamily="2" charset="0"/>
                <a:ea typeface="Helvetica Neue Light" panose="02000403000000020004" pitchFamily="2" charset="0"/>
              </a:rPr>
              <a:t>urlencoded</a:t>
            </a:r>
            <a:r>
              <a:rPr lang="en-GB" sz="2400" dirty="0">
                <a:effectLst/>
                <a:latin typeface="Helvetica Neue Light" panose="02000403000000020004" pitchFamily="2" charset="0"/>
                <a:ea typeface="Helvetica Neue Light" panose="02000403000000020004" pitchFamily="2" charset="0"/>
              </a:rPr>
              <a:t>’ radio button.</a:t>
            </a: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Under KEY enter ’name’ which is we defined in our Schema in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todoListModel.js</a:t>
            </a: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Then under VALUE enter some data for your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todo</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list. Click Send</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cxnSp>
        <p:nvCxnSpPr>
          <p:cNvPr id="8" name="Straight Arrow Connector 7">
            <a:extLst>
              <a:ext uri="{FF2B5EF4-FFF2-40B4-BE49-F238E27FC236}">
                <a16:creationId xmlns:a16="http://schemas.microsoft.com/office/drawing/2014/main" id="{0ABFE94D-AA72-6B45-985D-16D722B81E4B}"/>
              </a:ext>
            </a:extLst>
          </p:cNvPr>
          <p:cNvCxnSpPr>
            <a:cxnSpLocks/>
          </p:cNvCxnSpPr>
          <p:nvPr/>
        </p:nvCxnSpPr>
        <p:spPr>
          <a:xfrm flipH="1" flipV="1">
            <a:off x="1591294" y="1662545"/>
            <a:ext cx="519544" cy="2256619"/>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1" name="Straight Arrow Connector 10">
            <a:extLst>
              <a:ext uri="{FF2B5EF4-FFF2-40B4-BE49-F238E27FC236}">
                <a16:creationId xmlns:a16="http://schemas.microsoft.com/office/drawing/2014/main" id="{BDFCC8F0-9B13-D37C-8F39-882516AB8BA1}"/>
              </a:ext>
            </a:extLst>
          </p:cNvPr>
          <p:cNvCxnSpPr>
            <a:cxnSpLocks/>
          </p:cNvCxnSpPr>
          <p:nvPr/>
        </p:nvCxnSpPr>
        <p:spPr>
          <a:xfrm flipH="1" flipV="1">
            <a:off x="3853543" y="1832180"/>
            <a:ext cx="3236026" cy="2086984"/>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3" name="Straight Arrow Connector 12">
            <a:extLst>
              <a:ext uri="{FF2B5EF4-FFF2-40B4-BE49-F238E27FC236}">
                <a16:creationId xmlns:a16="http://schemas.microsoft.com/office/drawing/2014/main" id="{59A2D7D1-C8F3-F277-FA2B-DEE904EFC990}"/>
              </a:ext>
            </a:extLst>
          </p:cNvPr>
          <p:cNvCxnSpPr>
            <a:cxnSpLocks/>
          </p:cNvCxnSpPr>
          <p:nvPr/>
        </p:nvCxnSpPr>
        <p:spPr>
          <a:xfrm flipV="1">
            <a:off x="2763982" y="2326873"/>
            <a:ext cx="121722" cy="2129704"/>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710981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EE740B-23DC-EAD1-825D-D95E4FD1E641}"/>
              </a:ext>
            </a:extLst>
          </p:cNvPr>
          <p:cNvPicPr>
            <a:picLocks noChangeAspect="1"/>
          </p:cNvPicPr>
          <p:nvPr/>
        </p:nvPicPr>
        <p:blipFill>
          <a:blip r:embed="rId2"/>
          <a:stretch>
            <a:fillRect/>
          </a:stretch>
        </p:blipFill>
        <p:spPr>
          <a:xfrm>
            <a:off x="938148" y="244650"/>
            <a:ext cx="9343171" cy="2498549"/>
          </a:xfrm>
          <a:prstGeom prst="rect">
            <a:avLst/>
          </a:prstGeom>
        </p:spPr>
      </p:pic>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938149" y="2835421"/>
            <a:ext cx="10830298" cy="1402863"/>
          </a:xfrm>
        </p:spPr>
        <p:txBody>
          <a:bodyPr>
            <a:no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You should now see your data in the output area in Postcode and you can check your database to confirm the collection and document exist.</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4" name="Picture 3">
            <a:extLst>
              <a:ext uri="{FF2B5EF4-FFF2-40B4-BE49-F238E27FC236}">
                <a16:creationId xmlns:a16="http://schemas.microsoft.com/office/drawing/2014/main" id="{2D8566AF-C35C-8ADB-7079-51EC9E8449D8}"/>
              </a:ext>
            </a:extLst>
          </p:cNvPr>
          <p:cNvPicPr>
            <a:picLocks noChangeAspect="1"/>
          </p:cNvPicPr>
          <p:nvPr/>
        </p:nvPicPr>
        <p:blipFill>
          <a:blip r:embed="rId3"/>
          <a:srcRect l="4874" t="36148" r="44311" b="27419"/>
          <a:stretch/>
        </p:blipFill>
        <p:spPr>
          <a:xfrm>
            <a:off x="938149" y="4114801"/>
            <a:ext cx="5808092" cy="2498549"/>
          </a:xfrm>
          <a:prstGeom prst="rect">
            <a:avLst/>
          </a:prstGeom>
          <a:ln>
            <a:solidFill>
              <a:schemeClr val="tx1">
                <a:lumMod val="50000"/>
                <a:lumOff val="50000"/>
              </a:schemeClr>
            </a:solidFill>
          </a:ln>
        </p:spPr>
      </p:pic>
      <p:cxnSp>
        <p:nvCxnSpPr>
          <p:cNvPr id="7" name="Straight Arrow Connector 6">
            <a:extLst>
              <a:ext uri="{FF2B5EF4-FFF2-40B4-BE49-F238E27FC236}">
                <a16:creationId xmlns:a16="http://schemas.microsoft.com/office/drawing/2014/main" id="{2D13DE3A-B293-4057-4530-5E66D50B54DC}"/>
              </a:ext>
            </a:extLst>
          </p:cNvPr>
          <p:cNvCxnSpPr>
            <a:cxnSpLocks/>
          </p:cNvCxnSpPr>
          <p:nvPr/>
        </p:nvCxnSpPr>
        <p:spPr>
          <a:xfrm flipH="1">
            <a:off x="2389239" y="3982065"/>
            <a:ext cx="3819832" cy="1519083"/>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589183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244651"/>
            <a:ext cx="10515600" cy="831497"/>
          </a:xfrm>
        </p:spPr>
        <p:txBody>
          <a:bodyPr>
            <a:noAutofit/>
          </a:bodyPr>
          <a:lstStyle/>
          <a:p>
            <a:r>
              <a:rPr lang="en-US" sz="54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Further tests</a:t>
            </a:r>
          </a:p>
        </p:txBody>
      </p:sp>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838200" y="1076148"/>
            <a:ext cx="10515600" cy="2059416"/>
          </a:xfrm>
        </p:spPr>
        <p:txBody>
          <a:bodyPr>
            <a:normAutofit/>
          </a:bodyPr>
          <a:lstStyle/>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You can test your other routes with PUT and DELETE and GET and individual task etc… by appending an id that you copy from the database and add to the URL</a:t>
            </a: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pic>
        <p:nvPicPr>
          <p:cNvPr id="2" name="Picture 1">
            <a:extLst>
              <a:ext uri="{FF2B5EF4-FFF2-40B4-BE49-F238E27FC236}">
                <a16:creationId xmlns:a16="http://schemas.microsoft.com/office/drawing/2014/main" id="{313B8895-DE50-7536-811F-A4791F782632}"/>
              </a:ext>
            </a:extLst>
          </p:cNvPr>
          <p:cNvPicPr>
            <a:picLocks noChangeAspect="1"/>
          </p:cNvPicPr>
          <p:nvPr/>
        </p:nvPicPr>
        <p:blipFill>
          <a:blip r:embed="rId2"/>
          <a:stretch>
            <a:fillRect/>
          </a:stretch>
        </p:blipFill>
        <p:spPr>
          <a:xfrm>
            <a:off x="838200" y="2993362"/>
            <a:ext cx="8543306" cy="3190996"/>
          </a:xfrm>
          <a:prstGeom prst="rect">
            <a:avLst/>
          </a:prstGeom>
        </p:spPr>
      </p:pic>
      <p:cxnSp>
        <p:nvCxnSpPr>
          <p:cNvPr id="6" name="Straight Arrow Connector 5">
            <a:extLst>
              <a:ext uri="{FF2B5EF4-FFF2-40B4-BE49-F238E27FC236}">
                <a16:creationId xmlns:a16="http://schemas.microsoft.com/office/drawing/2014/main" id="{58791AF6-D3F2-A1B4-19E6-29779CE940C8}"/>
              </a:ext>
            </a:extLst>
          </p:cNvPr>
          <p:cNvCxnSpPr>
            <a:cxnSpLocks/>
          </p:cNvCxnSpPr>
          <p:nvPr/>
        </p:nvCxnSpPr>
        <p:spPr>
          <a:xfrm>
            <a:off x="3764478" y="2529444"/>
            <a:ext cx="914400" cy="783772"/>
          </a:xfrm>
          <a:prstGeom prst="straightConnector1">
            <a:avLst/>
          </a:prstGeom>
          <a:ln w="19050">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377963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756138" y="549450"/>
            <a:ext cx="10515600" cy="831497"/>
          </a:xfrm>
        </p:spPr>
        <p:txBody>
          <a:bodyPr>
            <a:noAutofit/>
          </a:bodyPr>
          <a:lstStyle/>
          <a:p>
            <a:r>
              <a:rPr lang="en-US"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Getting rid of certain error messages if you see them.</a:t>
            </a:r>
          </a:p>
        </p:txBody>
      </p:sp>
      <p:sp>
        <p:nvSpPr>
          <p:cNvPr id="5" name="Content Placeholder 4">
            <a:extLst>
              <a:ext uri="{FF2B5EF4-FFF2-40B4-BE49-F238E27FC236}">
                <a16:creationId xmlns:a16="http://schemas.microsoft.com/office/drawing/2014/main" id="{F98153BA-A3DE-908A-A7D7-15EF818FB7C5}"/>
              </a:ext>
            </a:extLst>
          </p:cNvPr>
          <p:cNvSpPr>
            <a:spLocks noGrp="1"/>
          </p:cNvSpPr>
          <p:nvPr>
            <p:ph idx="1"/>
          </p:nvPr>
        </p:nvSpPr>
        <p:spPr>
          <a:xfrm>
            <a:off x="756138" y="1817078"/>
            <a:ext cx="10515600" cy="4491472"/>
          </a:xfrm>
        </p:spPr>
        <p:txBody>
          <a:bodyPr>
            <a:normAutofit lnSpcReduction="10000"/>
          </a:bodyPr>
          <a:lstStyle/>
          <a:p>
            <a:pPr marL="0" indent="0">
              <a:lnSpc>
                <a:spcPct val="150000"/>
              </a:lnSpc>
              <a:buNone/>
            </a:pPr>
            <a:r>
              <a:rPr lang="en-GB" sz="2000" spc="50" dirty="0">
                <a:solidFill>
                  <a:schemeClr val="tx1">
                    <a:lumMod val="85000"/>
                    <a:lumOff val="15000"/>
                  </a:schemeClr>
                </a:solidFill>
                <a:latin typeface="Helvetica Neue Light" panose="02000403000000020004" pitchFamily="2" charset="0"/>
                <a:ea typeface="Helvetica Neue Light" panose="02000403000000020004" pitchFamily="2" charset="0"/>
              </a:rPr>
              <a:t>Punycode deprecated message:</a:t>
            </a:r>
            <a:endParaRPr lang="en-GB" sz="2000"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endParaRPr>
          </a:p>
          <a:p>
            <a:pPr marL="0" indent="0">
              <a:lnSpc>
                <a:spcPct val="150000"/>
              </a:lnSpc>
              <a:buNone/>
            </a:pPr>
            <a:r>
              <a:rPr lang="en-GB" sz="2000" spc="50" dirty="0">
                <a:solidFill>
                  <a:schemeClr val="tx1">
                    <a:lumMod val="85000"/>
                    <a:lumOff val="15000"/>
                  </a:schemeClr>
                </a:solidFill>
                <a:latin typeface="Helvetica Neue Light" panose="02000403000000020004" pitchFamily="2" charset="0"/>
                <a:ea typeface="Helvetica Neue Light" panose="02000403000000020004" pitchFamily="2" charset="0"/>
                <a:hlinkClick r:id="rId2"/>
              </a:rPr>
              <a:t>https://stackoverflow.com/questions/77587325/deprecationwarning-the-punycode-module-is-deprecated</a:t>
            </a:r>
            <a:endParaRPr lang="en-GB" sz="20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Mac based problem – </a:t>
            </a:r>
            <a:r>
              <a:rPr lang="en-GB" sz="2400" spc="50" dirty="0" err="1">
                <a:solidFill>
                  <a:schemeClr val="tx1">
                    <a:lumMod val="85000"/>
                    <a:lumOff val="15000"/>
                  </a:schemeClr>
                </a:solidFill>
                <a:latin typeface="Helvetica Neue Light" panose="02000403000000020004" pitchFamily="2" charset="0"/>
                <a:ea typeface="Helvetica Neue Light" panose="02000403000000020004" pitchFamily="2" charset="0"/>
              </a:rPr>
              <a:t>fsevents</a:t>
            </a: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 error</a:t>
            </a:r>
          </a:p>
          <a:p>
            <a:pPr marL="0" indent="0">
              <a:lnSpc>
                <a:spcPct val="150000"/>
              </a:lnSpc>
              <a:buNone/>
            </a:pPr>
            <a:r>
              <a:rPr lang="en-GB" sz="2000" u="sng" kern="100" dirty="0">
                <a:solidFill>
                  <a:srgbClr val="467886"/>
                </a:solidFill>
                <a:effectLst/>
                <a:latin typeface="Helvetica Neue Light" panose="02000403000000020004" pitchFamily="2" charset="0"/>
                <a:ea typeface="Helvetica Neue Light" panose="02000403000000020004" pitchFamily="2" charset="0"/>
                <a:cs typeface="Times New Roman" panose="02020603050405020304" pitchFamily="18" charset="0"/>
                <a:hlinkClick r:id="rId3"/>
              </a:rPr>
              <a:t>https://tech.joellemena.com/tech/how-to-resolve-the-error-fsevents-node-cannot-be-opened-because-the-developer-cannot-be-verified/</a:t>
            </a:r>
            <a:endParaRPr lang="en-GB" sz="2000" kern="100" dirty="0">
              <a:effectLst/>
              <a:latin typeface="Helvetica Neue Light" panose="02000403000000020004" pitchFamily="2" charset="0"/>
              <a:ea typeface="Helvetica Neue Light" panose="02000403000000020004" pitchFamily="2" charset="0"/>
              <a:cs typeface="Times New Roman" panose="02020603050405020304" pitchFamily="18" charset="0"/>
            </a:endParaRPr>
          </a:p>
          <a:p>
            <a:pPr marL="0" indent="0">
              <a:lnSpc>
                <a:spcPct val="150000"/>
              </a:lnSpc>
              <a:buNone/>
            </a:pPr>
            <a:r>
              <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rPr>
              <a:t>Check for version of specific package – express in this example:</a:t>
            </a:r>
          </a:p>
          <a:p>
            <a:pPr marL="0" indent="0">
              <a:lnSpc>
                <a:spcPct val="150000"/>
              </a:lnSpc>
              <a:buNone/>
            </a:pPr>
            <a:r>
              <a:rPr lang="en-GB" sz="1800" kern="0" dirty="0" err="1">
                <a:solidFill>
                  <a:srgbClr val="000000"/>
                </a:solidFill>
                <a:effectLst/>
                <a:latin typeface="Menlo" panose="020B0609030804020204" pitchFamily="49" charset="0"/>
                <a:ea typeface="Aptos" panose="020B0004020202020204" pitchFamily="34" charset="0"/>
                <a:cs typeface="Times New Roman" panose="02020603050405020304" pitchFamily="18" charset="0"/>
              </a:rPr>
              <a:t>npm</a:t>
            </a:r>
            <a:r>
              <a:rPr lang="en-GB" sz="1800" kern="0" dirty="0">
                <a:solidFill>
                  <a:srgbClr val="000000"/>
                </a:solidFill>
                <a:effectLst/>
                <a:latin typeface="Menlo" panose="020B0609030804020204" pitchFamily="49" charset="0"/>
                <a:ea typeface="Aptos" panose="020B0004020202020204" pitchFamily="34" charset="0"/>
                <a:cs typeface="Times New Roman" panose="02020603050405020304" pitchFamily="18" charset="0"/>
              </a:rPr>
              <a:t> list express --depth=0</a:t>
            </a:r>
            <a:endParaRPr lang="en-GB" sz="18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a:p>
            <a:pPr marL="0" indent="0">
              <a:lnSpc>
                <a:spcPct val="150000"/>
              </a:lnSpc>
              <a:buNone/>
            </a:pPr>
            <a:endParaRPr lang="en-GB" sz="2400" spc="50" dirty="0">
              <a:solidFill>
                <a:schemeClr val="tx1">
                  <a:lumMod val="85000"/>
                  <a:lumOff val="15000"/>
                </a:schemeClr>
              </a:solidFill>
              <a:latin typeface="Helvetica Neue Light" panose="02000403000000020004" pitchFamily="2" charset="0"/>
              <a:ea typeface="Helvetica Neue Light" panose="02000403000000020004" pitchFamily="2" charset="0"/>
            </a:endParaRPr>
          </a:p>
        </p:txBody>
      </p:sp>
    </p:spTree>
    <p:extLst>
      <p:ext uri="{BB962C8B-B14F-4D97-AF65-F5344CB8AC3E}">
        <p14:creationId xmlns:p14="http://schemas.microsoft.com/office/powerpoint/2010/main" val="2568495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838200" y="1646878"/>
            <a:ext cx="10515600" cy="3564243"/>
          </a:xfrm>
        </p:spPr>
        <p:txBody>
          <a:bodyPr>
            <a:normAutofit fontScale="90000"/>
          </a:bodyPr>
          <a:lstStyle/>
          <a:p>
            <a:pPr algn="ctr">
              <a:lnSpc>
                <a:spcPct val="150000"/>
              </a:lnSpc>
            </a:pPr>
            <a:r>
              <a:rPr lang="en-US" sz="98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t>Final lab task</a:t>
            </a:r>
            <a:br>
              <a:rPr lang="en-US" sz="6000" spc="60" dirty="0">
                <a:solidFill>
                  <a:srgbClr val="D3473F"/>
                </a:solidFill>
                <a:latin typeface="American Typewriter" panose="02090604020004020304" pitchFamily="18" charset="77"/>
                <a:ea typeface="Helvetica Neue Thin" panose="020B0403020202020204" pitchFamily="34" charset="0"/>
                <a:cs typeface="Georgia Pro Cond Black" panose="020F0502020204030204" pitchFamily="34" charset="0"/>
              </a:rPr>
            </a:br>
            <a:r>
              <a:rPr lang="en-US" sz="5300" spc="60" dirty="0">
                <a:solidFill>
                  <a:schemeClr val="tx1">
                    <a:lumMod val="85000"/>
                    <a:lumOff val="15000"/>
                  </a:schemeClr>
                </a:solidFill>
                <a:latin typeface="American Typewriter" panose="02090604020004020304" pitchFamily="18" charset="77"/>
                <a:ea typeface="Helvetica Neue Thin" panose="020B0403020202020204" pitchFamily="34" charset="0"/>
                <a:cs typeface="Georgia Pro Cond Black" panose="020F0502020204030204" pitchFamily="34" charset="0"/>
              </a:rPr>
              <a:t>Using the slides (23 onwards) get the basic RESTful API working</a:t>
            </a:r>
          </a:p>
        </p:txBody>
      </p:sp>
    </p:spTree>
    <p:extLst>
      <p:ext uri="{BB962C8B-B14F-4D97-AF65-F5344CB8AC3E}">
        <p14:creationId xmlns:p14="http://schemas.microsoft.com/office/powerpoint/2010/main" val="501195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a:xfrm>
            <a:off x="550379" y="1907356"/>
            <a:ext cx="10688639" cy="3043287"/>
          </a:xfrm>
        </p:spPr>
        <p:txBody>
          <a:bodyPr anchor="t">
            <a:noAutofit/>
          </a:bodyPr>
          <a:lstStyle/>
          <a:p>
            <a:pPr>
              <a:lnSpc>
                <a:spcPct val="200000"/>
              </a:lnSpc>
            </a:pPr>
            <a:r>
              <a:rPr lang="en-US" sz="1800" dirty="0">
                <a:hlinkClick r:id="rId2"/>
              </a:rPr>
              <a:t>https://aws.amazon.com/what-is/api</a:t>
            </a:r>
            <a:br>
              <a:rPr lang="en-US" sz="1800" dirty="0"/>
            </a:br>
            <a:r>
              <a:rPr lang="en-US" sz="1800" dirty="0">
                <a:hlinkClick r:id="rId3"/>
              </a:rPr>
              <a:t>https://code.tutsplus.com/tutorials/a-beginners-guide-to-http-and-rest--net-16340</a:t>
            </a:r>
            <a:br>
              <a:rPr lang="en-US" sz="1800" dirty="0"/>
            </a:br>
            <a:r>
              <a:rPr lang="en-US" sz="1800" dirty="0">
                <a:hlinkClick r:id="rId4"/>
              </a:rPr>
              <a:t>https://medium.com/extend/what-is-rest-a-simple-explanation-for-beginners-part-1-introduction-b4a072f8740f</a:t>
            </a:r>
            <a:br>
              <a:rPr lang="en-US" sz="1800" dirty="0"/>
            </a:br>
            <a:r>
              <a:rPr lang="en-US" sz="1800" dirty="0">
                <a:hlinkClick r:id="rId5"/>
              </a:rPr>
              <a:t>https://www.freecodecamp.org/news/what-is-rest-rest-api-definition-for-beginners</a:t>
            </a:r>
            <a:br>
              <a:rPr lang="en-US" sz="1800" dirty="0"/>
            </a:br>
            <a:r>
              <a:rPr lang="en-US" sz="1800" dirty="0">
                <a:hlinkClick r:id="rId6"/>
              </a:rPr>
              <a:t>https://www.codementor.io/@olatundegaruba/nodejs-restful-apis-in-10-minutes-q0sgsfhbd</a:t>
            </a:r>
            <a:endParaRPr lang="en-US" sz="1800" dirty="0"/>
          </a:p>
        </p:txBody>
      </p:sp>
      <p:sp>
        <p:nvSpPr>
          <p:cNvPr id="2" name="Title 3">
            <a:extLst>
              <a:ext uri="{FF2B5EF4-FFF2-40B4-BE49-F238E27FC236}">
                <a16:creationId xmlns:a16="http://schemas.microsoft.com/office/drawing/2014/main" id="{5A0B2D23-7799-6F16-4E5A-18117C109448}"/>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000" spc="60" dirty="0">
                <a:solidFill>
                  <a:srgbClr val="FF574B"/>
                </a:solidFill>
                <a:latin typeface="American Typewriter" panose="02090604020004020304" pitchFamily="18" charset="77"/>
                <a:ea typeface="Helvetica Neue Thin" panose="020B0403020202020204" pitchFamily="34" charset="0"/>
                <a:cs typeface="Georgia Pro Cond Black" panose="020F0502020204030204" pitchFamily="34" charset="0"/>
              </a:rPr>
              <a:t>Further reading.</a:t>
            </a:r>
          </a:p>
        </p:txBody>
      </p:sp>
    </p:spTree>
    <p:extLst>
      <p:ext uri="{BB962C8B-B14F-4D97-AF65-F5344CB8AC3E}">
        <p14:creationId xmlns:p14="http://schemas.microsoft.com/office/powerpoint/2010/main" val="3262786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74E374D-4349-6643-A8A9-2AAD365A4F92}"/>
              </a:ext>
            </a:extLst>
          </p:cNvPr>
          <p:cNvSpPr>
            <a:spLocks noGrp="1"/>
          </p:cNvSpPr>
          <p:nvPr>
            <p:ph type="title"/>
          </p:nvPr>
        </p:nvSpPr>
        <p:spPr/>
        <p:txBody>
          <a:bodyPr>
            <a:normAutofit/>
          </a:bodyPr>
          <a:lstStyle/>
          <a:p>
            <a:pPr algn="ctr"/>
            <a:r>
              <a:rPr lang="en-US" sz="6000" spc="60" dirty="0">
                <a:solidFill>
                  <a:srgbClr val="FF574B"/>
                </a:solidFill>
                <a:latin typeface="American Typewriter" panose="02090604020004020304" pitchFamily="18" charset="77"/>
                <a:ea typeface="Helvetica Neue Thin" panose="020B0403020202020204" pitchFamily="34" charset="0"/>
                <a:cs typeface="Georgia Pro Cond Black" panose="020F0502020204030204" pitchFamily="34" charset="0"/>
              </a:rPr>
              <a:t>Enough for today.</a:t>
            </a:r>
          </a:p>
        </p:txBody>
      </p:sp>
      <p:pic>
        <p:nvPicPr>
          <p:cNvPr id="1026" name="Picture 2" descr="Reaction GIF">
            <a:extLst>
              <a:ext uri="{FF2B5EF4-FFF2-40B4-BE49-F238E27FC236}">
                <a16:creationId xmlns:a16="http://schemas.microsoft.com/office/drawing/2014/main" id="{2C4A001A-07DA-4EE2-477F-86BACCAA86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720" y="1498413"/>
            <a:ext cx="8879043" cy="4994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86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5B50">
                <a:alpha val="83137"/>
              </a:srgbClr>
            </a:gs>
            <a:gs pos="41000">
              <a:srgbClr val="FF574B">
                <a:lumMod val="87000"/>
                <a:lumOff val="13000"/>
              </a:srgbClr>
            </a:gs>
            <a:gs pos="100000">
              <a:srgbClr val="FF574B"/>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6A0D87F-49D7-0149-8CAF-6C97CFF25E2A}"/>
              </a:ext>
            </a:extLst>
          </p:cNvPr>
          <p:cNvSpPr>
            <a:spLocks noGrp="1"/>
          </p:cNvSpPr>
          <p:nvPr>
            <p:ph idx="1"/>
          </p:nvPr>
        </p:nvSpPr>
        <p:spPr>
          <a:xfrm>
            <a:off x="0" y="-247136"/>
            <a:ext cx="12192000" cy="5152767"/>
          </a:xfrm>
          <a:effectLst>
            <a:outerShdw blurRad="266700" dist="127000" dir="13500000" algn="br" rotWithShape="0">
              <a:prstClr val="black">
                <a:alpha val="40000"/>
              </a:prstClr>
            </a:outerShdw>
          </a:effectLst>
        </p:spPr>
        <p:txBody>
          <a:bodyPr anchor="ctr">
            <a:noAutofit/>
          </a:bodyPr>
          <a:lstStyle/>
          <a:p>
            <a:pPr marL="0" indent="0" algn="ctr">
              <a:lnSpc>
                <a:spcPct val="150000"/>
              </a:lnSpc>
              <a:buNone/>
            </a:pPr>
            <a:r>
              <a:rPr lang="en-GB" sz="40000" spc="70" dirty="0">
                <a:solidFill>
                  <a:schemeClr val="bg1"/>
                </a:solidFill>
                <a:latin typeface="Helvetica Neue Thin" panose="020B0403020202020204" pitchFamily="34" charset="0"/>
                <a:ea typeface="Helvetica Neue Thin" panose="020B0403020202020204" pitchFamily="34" charset="0"/>
                <a:cs typeface="Helvetica Neue" panose="02000503000000020004" pitchFamily="2" charset="0"/>
              </a:rPr>
              <a:t>?</a:t>
            </a:r>
          </a:p>
        </p:txBody>
      </p:sp>
    </p:spTree>
    <p:extLst>
      <p:ext uri="{BB962C8B-B14F-4D97-AF65-F5344CB8AC3E}">
        <p14:creationId xmlns:p14="http://schemas.microsoft.com/office/powerpoint/2010/main" val="3844783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15929</TotalTime>
  <Words>3088</Words>
  <Application>Microsoft Macintosh PowerPoint</Application>
  <PresentationFormat>Widescreen</PresentationFormat>
  <Paragraphs>239</Paragraphs>
  <Slides>69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69</vt:i4>
      </vt:variant>
    </vt:vector>
  </HeadingPairs>
  <TitlesOfParts>
    <vt:vector size="81" baseType="lpstr">
      <vt:lpstr>American Typewriter</vt:lpstr>
      <vt:lpstr>Aptos</vt:lpstr>
      <vt:lpstr>Arial</vt:lpstr>
      <vt:lpstr>Calibri</vt:lpstr>
      <vt:lpstr>Calibri Light</vt:lpstr>
      <vt:lpstr>Courier New</vt:lpstr>
      <vt:lpstr>Helvetica Neue Light</vt:lpstr>
      <vt:lpstr>Helvetica Neue Light</vt:lpstr>
      <vt:lpstr>Helvetica Neue Medium</vt:lpstr>
      <vt:lpstr>Helvetica Neue Thin</vt:lpstr>
      <vt:lpstr>Menlo</vt:lpstr>
      <vt:lpstr>Office Theme</vt:lpstr>
      <vt:lpstr>COMP 1842</vt:lpstr>
      <vt:lpstr>Introduction</vt:lpstr>
      <vt:lpstr>API</vt:lpstr>
      <vt:lpstr>API</vt:lpstr>
      <vt:lpstr>How do APIs work?</vt:lpstr>
      <vt:lpstr>How do APIs work?</vt:lpstr>
      <vt:lpstr>API example</vt:lpstr>
      <vt:lpstr>What is a web API?</vt:lpstr>
      <vt:lpstr>What are REST APIs?</vt:lpstr>
      <vt:lpstr>REST – History</vt:lpstr>
      <vt:lpstr>2 key terms - client</vt:lpstr>
      <vt:lpstr>2 key terms - Resource</vt:lpstr>
      <vt:lpstr>REpresentational State Transfer.</vt:lpstr>
      <vt:lpstr>API call</vt:lpstr>
      <vt:lpstr>API call example</vt:lpstr>
      <vt:lpstr>PowerPoint Presentation</vt:lpstr>
      <vt:lpstr>GET</vt:lpstr>
      <vt:lpstr>POST</vt:lpstr>
      <vt:lpstr>PUT</vt:lpstr>
      <vt:lpstr>DELETE</vt:lpstr>
      <vt:lpstr>CRUD</vt:lpstr>
      <vt:lpstr>PowerPoint Presentation</vt:lpstr>
      <vt:lpstr>PowerPoint Presentation</vt:lpstr>
      <vt:lpstr>PowerPoint Presentation</vt:lpstr>
      <vt:lpstr>Assumptions – Prerequisites </vt:lpstr>
      <vt:lpstr>PowerPoint Presentation</vt:lpstr>
      <vt:lpstr>File structure - similar to last week</vt:lpstr>
      <vt:lpstr>PowerPoint Presentation</vt:lpstr>
      <vt:lpstr>PowerPoint Presentation</vt:lpstr>
      <vt:lpstr>PowerPoint Presentation</vt:lpstr>
      <vt:lpstr>PowerPoint Presentation</vt:lpstr>
      <vt:lpstr>PowerPoint Presentation</vt:lpstr>
      <vt:lpstr>PowerPoint Presentation</vt:lpstr>
      <vt:lpstr>Install mongoose</vt:lpstr>
      <vt:lpstr>PowerPoint Presentation</vt:lpstr>
      <vt:lpstr>PowerPoint Presentation</vt:lpstr>
      <vt:lpstr>todoListModel.js – full code</vt:lpstr>
      <vt:lpstr>todoListModel.js – detail pt1</vt:lpstr>
      <vt:lpstr>todoListModel.js – detail pt 2</vt:lpstr>
      <vt:lpstr>todoListModel.js – detail pt 3</vt:lpstr>
      <vt:lpstr>PowerPoint Presentation</vt:lpstr>
      <vt:lpstr>todoListRoutes.js – full code</vt:lpstr>
      <vt:lpstr>Setting up routes</vt:lpstr>
      <vt:lpstr>PowerPoint Presentation</vt:lpstr>
      <vt:lpstr>Lines 1 -27</vt:lpstr>
      <vt:lpstr>Lines 28- 44</vt:lpstr>
      <vt:lpstr>Setting up the controller</vt:lpstr>
      <vt:lpstr>Setting up the controller part 2</vt:lpstr>
      <vt:lpstr>PowerPoint Presentation</vt:lpstr>
      <vt:lpstr>Wiring it all together</vt:lpstr>
      <vt:lpstr>server.js – full code</vt:lpstr>
      <vt:lpstr>Important – line 10</vt:lpstr>
      <vt:lpstr>Body-parser</vt:lpstr>
      <vt:lpstr>PowerPoint Presentation</vt:lpstr>
      <vt:lpstr>Make sure your Mongodb is connected</vt:lpstr>
      <vt:lpstr>Make sure your Mongodb is connected</vt:lpstr>
      <vt:lpstr>PowerPoint Presentation</vt:lpstr>
      <vt:lpstr>Install Postcode</vt:lpstr>
      <vt:lpstr>Postcode</vt:lpstr>
      <vt:lpstr>Test GET</vt:lpstr>
      <vt:lpstr>Test GET</vt:lpstr>
      <vt:lpstr>Test POST</vt:lpstr>
      <vt:lpstr>PowerPoint Presentation</vt:lpstr>
      <vt:lpstr>Further tests</vt:lpstr>
      <vt:lpstr>Getting rid of certain error messages if you see them.</vt:lpstr>
      <vt:lpstr>Final lab task Using the slides (23 onwards) get the basic RESTful API working</vt:lpstr>
      <vt:lpstr>https://aws.amazon.com/what-is/api https://code.tutsplus.com/tutorials/a-beginners-guide-to-http-and-rest--net-16340 https://medium.com/extend/what-is-rest-a-simple-explanation-for-beginners-part-1-introduction-b4a072f8740f https://www.freecodecamp.org/news/what-is-rest-rest-api-definition-for-beginners https://www.codementor.io/@olatundegaruba/nodejs-restful-apis-in-10-minutes-q0sgsfhbd</vt:lpstr>
      <vt:lpstr>Enough for today.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1321</dc:title>
  <dc:creator>Matthew Prichard</dc:creator>
  <cp:lastModifiedBy>Matthew Prichard</cp:lastModifiedBy>
  <cp:revision>129</cp:revision>
  <dcterms:created xsi:type="dcterms:W3CDTF">2020-06-28T01:46:05Z</dcterms:created>
  <dcterms:modified xsi:type="dcterms:W3CDTF">2025-03-03T10:44:34Z</dcterms:modified>
</cp:coreProperties>
</file>