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Lst>
  <p:sldSz cy="6858000" cx="12192000"/>
  <p:notesSz cx="6858000" cy="9144000"/>
  <p:embeddedFontLst>
    <p:embeddedFont>
      <p:font typeface="Helvetica Neue Light"/>
      <p:regular r:id="rId39"/>
      <p:bold r:id="rId40"/>
      <p:italic r:id="rId41"/>
      <p:boldItalic r:id="rId42"/>
    </p:embeddedFont>
    <p:embeddedFont>
      <p:font typeface="Cutive"/>
      <p:regular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4" roundtripDataSignature="AMtx7mhdNjbsw6PHVEE5C15H02uDDxoR7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HelveticaNeueLight-bold.fntdata"/><Relationship Id="rId20" Type="http://schemas.openxmlformats.org/officeDocument/2006/relationships/slide" Target="slides/slide16.xml"/><Relationship Id="rId42" Type="http://schemas.openxmlformats.org/officeDocument/2006/relationships/font" Target="fonts/HelveticaNeueLight-boldItalic.fntdata"/><Relationship Id="rId41" Type="http://schemas.openxmlformats.org/officeDocument/2006/relationships/font" Target="fonts/HelveticaNeueLight-italic.fntdata"/><Relationship Id="rId22" Type="http://schemas.openxmlformats.org/officeDocument/2006/relationships/slide" Target="slides/slide18.xml"/><Relationship Id="rId44" Type="http://customschemas.google.com/relationships/presentationmetadata" Target="metadata"/><Relationship Id="rId21" Type="http://schemas.openxmlformats.org/officeDocument/2006/relationships/slide" Target="slides/slide17.xml"/><Relationship Id="rId43" Type="http://schemas.openxmlformats.org/officeDocument/2006/relationships/font" Target="fonts/Cutive-regular.fnt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font" Target="fonts/HelveticaNeueLight-regular.fntdata"/><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3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4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4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4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4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4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4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4"/>
          <p:cNvSpPr/>
          <p:nvPr>
            <p:ph idx="2" type="pic"/>
          </p:nvPr>
        </p:nvSpPr>
        <p:spPr>
          <a:xfrm>
            <a:off x="5183188" y="987425"/>
            <a:ext cx="6172200" cy="4873625"/>
          </a:xfrm>
          <a:prstGeom prst="rect">
            <a:avLst/>
          </a:prstGeom>
          <a:noFill/>
          <a:ln>
            <a:noFill/>
          </a:ln>
        </p:spPr>
      </p:sp>
      <p:sp>
        <p:nvSpPr>
          <p:cNvPr id="64" name="Google Shape;64;p4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sitepoint.com/sql-vs-nosql-differences/" TargetMode="External"/><Relationship Id="rId4" Type="http://schemas.openxmlformats.org/officeDocument/2006/relationships/hyperlink" Target="https://www.sitepoint.com/sql-vs-nosql-choos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medium.com/@monuchaudhary/single-threaded-non-blocking-asynchronous-and-concurrent-nature-of-javascript-a0d5483bcf4c"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hyperlink" Target="https://medium.com/@monuchaudhary/single-threaded-non-blocking-asynchronous-and-concurrent-nature-of-javascript-a0d5483bcf4c"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hyperlink" Target="https://www.w3schools.com/Js/js_arrow_function.asp" TargetMode="External"/><Relationship Id="rId5" Type="http://schemas.openxmlformats.org/officeDocument/2006/relationships/hyperlink" Target="https://www.freecodecamp.org/news/arrow-function-javascript-tutorial-how-to-declare-a-js-function-with-the-new-es6-syntax/"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hyperlink" Target="https://www.w3schools.com/js/js_json_stringify.asp" TargetMode="External"/><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hyperlink" Target="https://www.tutorialsteacher.com/nodejs/create-nodejs-web-server" TargetMode="External"/><Relationship Id="rId4" Type="http://schemas.openxmlformats.org/officeDocument/2006/relationships/hyperlink" Target="https://www.tutorialspoint.com/nodejs/nodejs_response_object.htm" TargetMode="External"/><Relationship Id="rId5" Type="http://schemas.openxmlformats.org/officeDocument/2006/relationships/hyperlink" Target="https://nodejs.org/en/docs/guides/anatomy-of-an-http-transaction/" TargetMode="External"/><Relationship Id="rId6" Type="http://schemas.openxmlformats.org/officeDocument/2006/relationships/hyperlink" Target="https://www.w3schools.com/nodejs/nodejs_http.as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574B"/>
        </a:solidFill>
      </p:bgPr>
    </p:bg>
    <p:spTree>
      <p:nvGrpSpPr>
        <p:cNvPr id="83" name="Shape 83"/>
        <p:cNvGrpSpPr/>
        <p:nvPr/>
      </p:nvGrpSpPr>
      <p:grpSpPr>
        <a:xfrm>
          <a:off x="0" y="0"/>
          <a:ext cx="0" cy="0"/>
          <a:chOff x="0" y="0"/>
          <a:chExt cx="0" cy="0"/>
        </a:xfrm>
      </p:grpSpPr>
      <p:sp>
        <p:nvSpPr>
          <p:cNvPr id="84" name="Google Shape;84;p1"/>
          <p:cNvSpPr txBox="1"/>
          <p:nvPr>
            <p:ph type="ctrTitle"/>
          </p:nvPr>
        </p:nvSpPr>
        <p:spPr>
          <a:xfrm>
            <a:off x="0" y="1604375"/>
            <a:ext cx="12192000" cy="2472633"/>
          </a:xfrm>
          <a:prstGeom prst="rect">
            <a:avLst/>
          </a:prstGeom>
          <a:noFill/>
          <a:ln>
            <a:noFill/>
          </a:ln>
          <a:effectLst>
            <a:outerShdw blurRad="165100" rotWithShape="0" algn="t" dir="5400000" dist="101600">
              <a:srgbClr val="000000">
                <a:alpha val="40000"/>
              </a:srgbClr>
            </a:outerShdw>
          </a:effectLst>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15000"/>
              <a:buFont typeface="Helvetica Neue Light"/>
              <a:buNone/>
            </a:pPr>
            <a:r>
              <a:rPr lang="en-GB" sz="15000">
                <a:solidFill>
                  <a:schemeClr val="lt1"/>
                </a:solidFill>
                <a:latin typeface="Helvetica Neue Light"/>
                <a:ea typeface="Helvetica Neue Light"/>
                <a:cs typeface="Helvetica Neue Light"/>
                <a:sym typeface="Helvetica Neue Light"/>
              </a:rPr>
              <a:t>COMP 1842</a:t>
            </a:r>
            <a:endParaRPr/>
          </a:p>
        </p:txBody>
      </p:sp>
      <p:sp>
        <p:nvSpPr>
          <p:cNvPr id="85" name="Google Shape;85;p1"/>
          <p:cNvSpPr txBox="1"/>
          <p:nvPr>
            <p:ph idx="1" type="subTitle"/>
          </p:nvPr>
        </p:nvSpPr>
        <p:spPr>
          <a:xfrm>
            <a:off x="0" y="4640041"/>
            <a:ext cx="12192000" cy="1244392"/>
          </a:xfrm>
          <a:prstGeom prst="rect">
            <a:avLst/>
          </a:prstGeom>
          <a:noFill/>
          <a:ln>
            <a:noFill/>
          </a:ln>
        </p:spPr>
        <p:txBody>
          <a:bodyPr anchorCtr="0" anchor="t" bIns="45700" lIns="91425" spcFirstLastPara="1" rIns="91425" wrap="square" tIns="45700">
            <a:normAutofit fontScale="92500" lnSpcReduction="10000"/>
          </a:bodyPr>
          <a:lstStyle/>
          <a:p>
            <a:pPr indent="0" lvl="0" marL="0" rtl="0" algn="ctr">
              <a:lnSpc>
                <a:spcPct val="90000"/>
              </a:lnSpc>
              <a:spcBef>
                <a:spcPts val="0"/>
              </a:spcBef>
              <a:spcAft>
                <a:spcPts val="0"/>
              </a:spcAft>
              <a:buClr>
                <a:schemeClr val="lt1"/>
              </a:buClr>
              <a:buSzPct val="100000"/>
              <a:buNone/>
            </a:pPr>
            <a:r>
              <a:rPr lang="en-GB">
                <a:solidFill>
                  <a:schemeClr val="lt1"/>
                </a:solidFill>
                <a:latin typeface="Helvetica Neue Light"/>
                <a:ea typeface="Helvetica Neue Light"/>
                <a:cs typeface="Helvetica Neue Light"/>
                <a:sym typeface="Helvetica Neue Light"/>
              </a:rPr>
              <a:t>Node.js server</a:t>
            </a:r>
            <a:endParaRPr/>
          </a:p>
          <a:p>
            <a:pPr indent="0" lvl="0" marL="0" rtl="0" algn="ctr">
              <a:lnSpc>
                <a:spcPct val="90000"/>
              </a:lnSpc>
              <a:spcBef>
                <a:spcPts val="1000"/>
              </a:spcBef>
              <a:spcAft>
                <a:spcPts val="0"/>
              </a:spcAft>
              <a:buClr>
                <a:schemeClr val="dk1"/>
              </a:buClr>
              <a:buSzPct val="100000"/>
              <a:buNone/>
            </a:pPr>
            <a:r>
              <a:t/>
            </a:r>
            <a:endParaRPr>
              <a:solidFill>
                <a:schemeClr val="lt1"/>
              </a:solidFill>
              <a:latin typeface="Helvetica Neue Light"/>
              <a:ea typeface="Helvetica Neue Light"/>
              <a:cs typeface="Helvetica Neue Light"/>
              <a:sym typeface="Helvetica Neue Light"/>
            </a:endParaRPr>
          </a:p>
          <a:p>
            <a:pPr indent="0" lvl="0" marL="0" rtl="0" algn="ctr">
              <a:lnSpc>
                <a:spcPct val="90000"/>
              </a:lnSpc>
              <a:spcBef>
                <a:spcPts val="1000"/>
              </a:spcBef>
              <a:spcAft>
                <a:spcPts val="0"/>
              </a:spcAft>
              <a:buClr>
                <a:schemeClr val="lt1"/>
              </a:buClr>
              <a:buSzPct val="100000"/>
              <a:buNone/>
            </a:pPr>
            <a:r>
              <a:rPr lang="en-GB">
                <a:solidFill>
                  <a:schemeClr val="lt1"/>
                </a:solidFill>
                <a:latin typeface="Helvetica Neue Light"/>
                <a:ea typeface="Helvetica Neue Light"/>
                <a:cs typeface="Helvetica Neue Light"/>
                <a:sym typeface="Helvetica Neue Light"/>
              </a:rPr>
              <a:t>Matt Prichard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3473F"/>
              </a:buClr>
              <a:buSzPts val="6000"/>
              <a:buFont typeface="Cutive"/>
              <a:buNone/>
            </a:pPr>
            <a:r>
              <a:rPr lang="en-GB" sz="6000">
                <a:solidFill>
                  <a:srgbClr val="D3473F"/>
                </a:solidFill>
                <a:latin typeface="Cutive"/>
                <a:ea typeface="Cutive"/>
                <a:cs typeface="Cutive"/>
                <a:sym typeface="Cutive"/>
              </a:rPr>
              <a:t>Introduction</a:t>
            </a:r>
            <a:endParaRPr/>
          </a:p>
        </p:txBody>
      </p:sp>
      <p:sp>
        <p:nvSpPr>
          <p:cNvPr id="91" name="Google Shape;91;p2"/>
          <p:cNvSpPr txBox="1"/>
          <p:nvPr>
            <p:ph idx="1" type="body"/>
          </p:nvPr>
        </p:nvSpPr>
        <p:spPr>
          <a:xfrm>
            <a:off x="838200" y="1825625"/>
            <a:ext cx="10515600" cy="2825888"/>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chemeClr val="dk1"/>
              </a:buClr>
              <a:buSzPts val="3200"/>
              <a:buNone/>
            </a:pPr>
            <a:r>
              <a:rPr lang="en-GB" sz="3200">
                <a:latin typeface="Helvetica Neue Light"/>
                <a:ea typeface="Helvetica Neue Light"/>
                <a:cs typeface="Helvetica Neue Light"/>
                <a:sym typeface="Helvetica Neue Light"/>
              </a:rPr>
              <a:t>NoSQL recap from week 5</a:t>
            </a:r>
            <a:endParaRPr/>
          </a:p>
          <a:p>
            <a:pPr indent="0" lvl="0" marL="0" rtl="0" algn="l">
              <a:lnSpc>
                <a:spcPct val="150000"/>
              </a:lnSpc>
              <a:spcBef>
                <a:spcPts val="1000"/>
              </a:spcBef>
              <a:spcAft>
                <a:spcPts val="0"/>
              </a:spcAft>
              <a:buClr>
                <a:srgbClr val="262626"/>
              </a:buClr>
              <a:buSzPts val="3200"/>
              <a:buNone/>
            </a:pPr>
            <a:r>
              <a:rPr lang="en-GB" sz="3200">
                <a:solidFill>
                  <a:srgbClr val="262626"/>
                </a:solidFill>
                <a:latin typeface="Helvetica Neue Light"/>
                <a:ea typeface="Helvetica Neue Light"/>
                <a:cs typeface="Helvetica Neue Light"/>
                <a:sym typeface="Helvetica Neue Light"/>
              </a:rPr>
              <a:t>Npm recap from week 4</a:t>
            </a:r>
            <a:endParaRPr/>
          </a:p>
          <a:p>
            <a:pPr indent="0" lvl="0" marL="0" rtl="0" algn="l">
              <a:lnSpc>
                <a:spcPct val="150000"/>
              </a:lnSpc>
              <a:spcBef>
                <a:spcPts val="1000"/>
              </a:spcBef>
              <a:spcAft>
                <a:spcPts val="0"/>
              </a:spcAft>
              <a:buClr>
                <a:srgbClr val="262626"/>
              </a:buClr>
              <a:buSzPts val="3200"/>
              <a:buNone/>
            </a:pPr>
            <a:r>
              <a:rPr lang="en-GB" sz="3200">
                <a:solidFill>
                  <a:srgbClr val="262626"/>
                </a:solidFill>
                <a:latin typeface="Helvetica Neue Light"/>
                <a:ea typeface="Helvetica Neue Light"/>
                <a:cs typeface="Helvetica Neue Light"/>
                <a:sym typeface="Helvetica Neue Light"/>
              </a:rPr>
              <a:t>Node js server</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611537" y="462989"/>
            <a:ext cx="10581182" cy="318303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50000"/>
              </a:lnSpc>
              <a:spcBef>
                <a:spcPts val="0"/>
              </a:spcBef>
              <a:spcAft>
                <a:spcPts val="0"/>
              </a:spcAft>
              <a:buClr>
                <a:srgbClr val="D3473F"/>
              </a:buClr>
              <a:buSzPct val="100000"/>
              <a:buFont typeface="Cutive"/>
              <a:buNone/>
            </a:pPr>
            <a:r>
              <a:rPr lang="en-GB" sz="6000">
                <a:solidFill>
                  <a:srgbClr val="D3473F"/>
                </a:solidFill>
                <a:latin typeface="Cutive"/>
                <a:ea typeface="Cutive"/>
                <a:cs typeface="Cutive"/>
                <a:sym typeface="Cutive"/>
              </a:rPr>
              <a:t>Recap – NoSQL</a:t>
            </a:r>
            <a:br>
              <a:rPr lang="en-GB" sz="6000">
                <a:solidFill>
                  <a:srgbClr val="D3473F"/>
                </a:solidFill>
                <a:latin typeface="Cutive"/>
                <a:ea typeface="Cutive"/>
                <a:cs typeface="Cutive"/>
                <a:sym typeface="Cutive"/>
              </a:rPr>
            </a:br>
            <a:r>
              <a:rPr lang="en-GB">
                <a:solidFill>
                  <a:srgbClr val="D3473F"/>
                </a:solidFill>
                <a:latin typeface="Cutive"/>
                <a:ea typeface="Cutive"/>
                <a:cs typeface="Cutive"/>
                <a:sym typeface="Cutive"/>
              </a:rPr>
              <a:t>Please read these articles in your own time!</a:t>
            </a:r>
            <a:br>
              <a:rPr lang="en-GB">
                <a:solidFill>
                  <a:srgbClr val="D3473F"/>
                </a:solidFill>
                <a:latin typeface="Cutive"/>
                <a:ea typeface="Cutive"/>
                <a:cs typeface="Cutive"/>
                <a:sym typeface="Cutive"/>
              </a:rPr>
            </a:br>
            <a:endParaRPr>
              <a:solidFill>
                <a:srgbClr val="D3473F"/>
              </a:solidFill>
              <a:latin typeface="Cutive"/>
              <a:ea typeface="Cutive"/>
              <a:cs typeface="Cutive"/>
              <a:sym typeface="Cutive"/>
            </a:endParaRPr>
          </a:p>
        </p:txBody>
      </p:sp>
      <p:sp>
        <p:nvSpPr>
          <p:cNvPr id="97" name="Google Shape;97;p3"/>
          <p:cNvSpPr txBox="1"/>
          <p:nvPr>
            <p:ph idx="1" type="body"/>
          </p:nvPr>
        </p:nvSpPr>
        <p:spPr>
          <a:xfrm>
            <a:off x="611537" y="4332108"/>
            <a:ext cx="10916848" cy="1848773"/>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rgbClr val="262626"/>
              </a:buClr>
              <a:buSzPts val="2800"/>
              <a:buNone/>
            </a:pPr>
            <a:r>
              <a:rPr lang="en-GB" u="sng">
                <a:solidFill>
                  <a:srgbClr val="262626"/>
                </a:solidFill>
                <a:latin typeface="Helvetica Neue Light"/>
                <a:ea typeface="Helvetica Neue Light"/>
                <a:cs typeface="Helvetica Neue Light"/>
                <a:sym typeface="Helvetica Neue Light"/>
                <a:hlinkClick r:id="rId3">
                  <a:extLst>
                    <a:ext uri="{A12FA001-AC4F-418D-AE19-62706E023703}">
                      <ahyp:hlinkClr val="tx"/>
                    </a:ext>
                  </a:extLst>
                </a:hlinkClick>
              </a:rPr>
              <a:t>https://www.sitepoint.com/sql-vs-nosql-differences/</a:t>
            </a:r>
            <a:endParaRPr>
              <a:solidFill>
                <a:srgbClr val="262626"/>
              </a:solidFill>
              <a:latin typeface="Helvetica Neue Light"/>
              <a:ea typeface="Helvetica Neue Light"/>
              <a:cs typeface="Helvetica Neue Light"/>
              <a:sym typeface="Helvetica Neue Light"/>
            </a:endParaRPr>
          </a:p>
          <a:p>
            <a:pPr indent="0" lvl="0" marL="0" rtl="0" algn="l">
              <a:lnSpc>
                <a:spcPct val="150000"/>
              </a:lnSpc>
              <a:spcBef>
                <a:spcPts val="1000"/>
              </a:spcBef>
              <a:spcAft>
                <a:spcPts val="0"/>
              </a:spcAft>
              <a:buClr>
                <a:srgbClr val="262626"/>
              </a:buClr>
              <a:buSzPts val="2800"/>
              <a:buNone/>
            </a:pPr>
            <a:r>
              <a:rPr lang="en-GB" u="sng">
                <a:solidFill>
                  <a:srgbClr val="262626"/>
                </a:solidFill>
                <a:latin typeface="Helvetica Neue Light"/>
                <a:ea typeface="Helvetica Neue Light"/>
                <a:cs typeface="Helvetica Neue Light"/>
                <a:sym typeface="Helvetica Neue Light"/>
                <a:hlinkClick r:id="rId4">
                  <a:extLst>
                    <a:ext uri="{A12FA001-AC4F-418D-AE19-62706E023703}">
                      <ahyp:hlinkClr val="tx"/>
                    </a:ext>
                  </a:extLst>
                </a:hlinkClick>
              </a:rPr>
              <a:t>https://www.sitepoint.com/sql-vs-nosql-choose/</a:t>
            </a:r>
            <a:endParaRPr sz="2400">
              <a:solidFill>
                <a:srgbClr val="262626"/>
              </a:solidFill>
              <a:latin typeface="Helvetica Neue Light"/>
              <a:ea typeface="Helvetica Neue Light"/>
              <a:cs typeface="Helvetica Neue Light"/>
              <a:sym typeface="Helvetica Neue Light"/>
            </a:endParaRPr>
          </a:p>
          <a:p>
            <a:pPr indent="-76200" lvl="0" marL="228600" rtl="0" algn="l">
              <a:lnSpc>
                <a:spcPct val="150000"/>
              </a:lnSpc>
              <a:spcBef>
                <a:spcPts val="1000"/>
              </a:spcBef>
              <a:spcAft>
                <a:spcPts val="0"/>
              </a:spcAft>
              <a:buClr>
                <a:schemeClr val="dk1"/>
              </a:buClr>
              <a:buSzPts val="2400"/>
              <a:buNone/>
            </a:pPr>
            <a:r>
              <a:t/>
            </a:r>
            <a:endParaRPr sz="2400">
              <a:latin typeface="Helvetica Neue Light"/>
              <a:ea typeface="Helvetica Neue Light"/>
              <a:cs typeface="Helvetica Neue Light"/>
              <a:sym typeface="Helvetica Neue Light"/>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D3473F"/>
              </a:buClr>
              <a:buSzPct val="100000"/>
              <a:buFont typeface="Cutive"/>
              <a:buNone/>
            </a:pPr>
            <a:r>
              <a:rPr lang="en-GB" sz="6000">
                <a:solidFill>
                  <a:srgbClr val="D3473F"/>
                </a:solidFill>
                <a:latin typeface="Cutive"/>
                <a:ea typeface="Cutive"/>
                <a:cs typeface="Cutive"/>
                <a:sym typeface="Cutive"/>
              </a:rPr>
              <a:t>Recap -Running Node locally</a:t>
            </a:r>
            <a:endParaRPr/>
          </a:p>
        </p:txBody>
      </p:sp>
      <p:sp>
        <p:nvSpPr>
          <p:cNvPr id="103" name="Google Shape;103;p4"/>
          <p:cNvSpPr txBox="1"/>
          <p:nvPr>
            <p:ph idx="1" type="body"/>
          </p:nvPr>
        </p:nvSpPr>
        <p:spPr>
          <a:xfrm>
            <a:off x="5444196" y="1693760"/>
            <a:ext cx="6147581" cy="40259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50000"/>
              </a:lnSpc>
              <a:spcBef>
                <a:spcPts val="0"/>
              </a:spcBef>
              <a:spcAft>
                <a:spcPts val="0"/>
              </a:spcAft>
              <a:buClr>
                <a:srgbClr val="262626"/>
              </a:buClr>
              <a:buSzPts val="2400"/>
              <a:buChar char="•"/>
            </a:pPr>
            <a:r>
              <a:rPr lang="en-GB" sz="2400">
                <a:solidFill>
                  <a:srgbClr val="262626"/>
                </a:solidFill>
                <a:latin typeface="Helvetica Neue Light"/>
                <a:ea typeface="Helvetica Neue Light"/>
                <a:cs typeface="Helvetica Neue Light"/>
                <a:sym typeface="Helvetica Neue Light"/>
              </a:rPr>
              <a:t>For these examples I am running the files from my G Drive</a:t>
            </a:r>
            <a:endParaRPr/>
          </a:p>
          <a:p>
            <a:pPr indent="-228600" lvl="0" marL="228600" rtl="0" algn="l">
              <a:lnSpc>
                <a:spcPct val="150000"/>
              </a:lnSpc>
              <a:spcBef>
                <a:spcPts val="1000"/>
              </a:spcBef>
              <a:spcAft>
                <a:spcPts val="0"/>
              </a:spcAft>
              <a:buClr>
                <a:srgbClr val="262626"/>
              </a:buClr>
              <a:buSzPts val="2400"/>
              <a:buChar char="•"/>
            </a:pPr>
            <a:r>
              <a:rPr lang="en-GB" sz="2400">
                <a:solidFill>
                  <a:srgbClr val="262626"/>
                </a:solidFill>
                <a:latin typeface="Helvetica Neue Light"/>
                <a:ea typeface="Helvetica Neue Light"/>
                <a:cs typeface="Helvetica Neue Light"/>
                <a:sym typeface="Helvetica Neue Light"/>
              </a:rPr>
              <a:t>You can install Node and npm on your own machines, but I can’t directly support that.</a:t>
            </a:r>
            <a:endParaRPr/>
          </a:p>
          <a:p>
            <a:pPr indent="-228600" lvl="0" marL="228600" rtl="0" algn="l">
              <a:lnSpc>
                <a:spcPct val="150000"/>
              </a:lnSpc>
              <a:spcBef>
                <a:spcPts val="1000"/>
              </a:spcBef>
              <a:spcAft>
                <a:spcPts val="0"/>
              </a:spcAft>
              <a:buClr>
                <a:srgbClr val="262626"/>
              </a:buClr>
              <a:buSzPts val="2400"/>
              <a:buChar char="•"/>
            </a:pPr>
            <a:r>
              <a:rPr lang="en-GB" sz="2400">
                <a:solidFill>
                  <a:srgbClr val="262626"/>
                </a:solidFill>
                <a:latin typeface="Helvetica Neue Light"/>
                <a:ea typeface="Helvetica Neue Light"/>
                <a:cs typeface="Helvetica Neue Light"/>
                <a:sym typeface="Helvetica Neue Light"/>
              </a:rPr>
              <a:t>In the labs locate and open the Node.js command prompt </a:t>
            </a:r>
            <a:endParaRPr sz="2400">
              <a:latin typeface="Helvetica Neue Light"/>
              <a:ea typeface="Helvetica Neue Light"/>
              <a:cs typeface="Helvetica Neue Light"/>
              <a:sym typeface="Helvetica Neue Light"/>
            </a:endParaRPr>
          </a:p>
          <a:p>
            <a:pPr indent="0" lvl="0" marL="0" rtl="0" algn="l">
              <a:lnSpc>
                <a:spcPct val="150000"/>
              </a:lnSpc>
              <a:spcBef>
                <a:spcPts val="1000"/>
              </a:spcBef>
              <a:spcAft>
                <a:spcPts val="0"/>
              </a:spcAft>
              <a:buClr>
                <a:schemeClr val="dk1"/>
              </a:buClr>
              <a:buSzPts val="2400"/>
              <a:buNone/>
            </a:pPr>
            <a:r>
              <a:t/>
            </a:r>
            <a:endParaRPr sz="2400">
              <a:latin typeface="Helvetica Neue Light"/>
              <a:ea typeface="Helvetica Neue Light"/>
              <a:cs typeface="Helvetica Neue Light"/>
              <a:sym typeface="Helvetica Neue Light"/>
            </a:endParaRPr>
          </a:p>
        </p:txBody>
      </p:sp>
      <p:pic>
        <p:nvPicPr>
          <p:cNvPr id="104" name="Google Shape;104;p4"/>
          <p:cNvPicPr preferRelativeResize="0"/>
          <p:nvPr/>
        </p:nvPicPr>
        <p:blipFill rotWithShape="1">
          <a:blip r:embed="rId3">
            <a:alphaModFix/>
          </a:blip>
          <a:srcRect b="0" l="0" r="0" t="0"/>
          <a:stretch/>
        </p:blipFill>
        <p:spPr>
          <a:xfrm>
            <a:off x="838200" y="1690688"/>
            <a:ext cx="4267200" cy="4025900"/>
          </a:xfrm>
          <a:prstGeom prst="rect">
            <a:avLst/>
          </a:prstGeom>
          <a:noFill/>
          <a:ln>
            <a:noFill/>
          </a:ln>
        </p:spPr>
      </p:pic>
      <p:cxnSp>
        <p:nvCxnSpPr>
          <p:cNvPr id="105" name="Google Shape;105;p4"/>
          <p:cNvCxnSpPr/>
          <p:nvPr/>
        </p:nvCxnSpPr>
        <p:spPr>
          <a:xfrm rot="10800000">
            <a:off x="4149969" y="4360985"/>
            <a:ext cx="1420837" cy="661181"/>
          </a:xfrm>
          <a:prstGeom prst="straightConnector1">
            <a:avLst/>
          </a:prstGeom>
          <a:noFill/>
          <a:ln cap="flat" cmpd="sng" w="31750">
            <a:solidFill>
              <a:srgbClr val="FF0000"/>
            </a:solidFill>
            <a:prstDash val="solid"/>
            <a:miter lim="800000"/>
            <a:headEnd len="sm" w="sm" type="none"/>
            <a:tailEnd len="med" w="med" type="triangle"/>
          </a:ln>
        </p:spPr>
      </p:cxn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3473F"/>
              </a:buClr>
              <a:buSzPts val="6000"/>
              <a:buFont typeface="Cutive"/>
              <a:buNone/>
            </a:pPr>
            <a:r>
              <a:rPr lang="en-GB" sz="6000">
                <a:solidFill>
                  <a:srgbClr val="D3473F"/>
                </a:solidFill>
                <a:latin typeface="Cutive"/>
                <a:ea typeface="Cutive"/>
                <a:cs typeface="Cutive"/>
                <a:sym typeface="Cutive"/>
              </a:rPr>
              <a:t>Install check</a:t>
            </a:r>
            <a:endParaRPr/>
          </a:p>
        </p:txBody>
      </p:sp>
      <p:sp>
        <p:nvSpPr>
          <p:cNvPr id="111" name="Google Shape;111;p5"/>
          <p:cNvSpPr txBox="1"/>
          <p:nvPr>
            <p:ph idx="1" type="body"/>
          </p:nvPr>
        </p:nvSpPr>
        <p:spPr>
          <a:xfrm>
            <a:off x="5064370" y="1693760"/>
            <a:ext cx="6527408" cy="4025900"/>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rgbClr val="262626"/>
              </a:buClr>
              <a:buSzPts val="2800"/>
              <a:buNone/>
            </a:pPr>
            <a:r>
              <a:rPr lang="en-GB">
                <a:solidFill>
                  <a:srgbClr val="262626"/>
                </a:solidFill>
                <a:latin typeface="Helvetica Neue Light"/>
                <a:ea typeface="Helvetica Neue Light"/>
                <a:cs typeface="Helvetica Neue Light"/>
                <a:sym typeface="Helvetica Neue Light"/>
              </a:rPr>
              <a:t>Type </a:t>
            </a:r>
            <a:r>
              <a:rPr lang="en-GB">
                <a:solidFill>
                  <a:srgbClr val="262626"/>
                </a:solidFill>
                <a:latin typeface="Courier New"/>
                <a:ea typeface="Courier New"/>
                <a:cs typeface="Courier New"/>
                <a:sym typeface="Courier New"/>
              </a:rPr>
              <a:t>node –v</a:t>
            </a:r>
            <a:r>
              <a:rPr lang="en-GB">
                <a:solidFill>
                  <a:srgbClr val="262626"/>
                </a:solidFill>
                <a:latin typeface="Helvetica Neue Light"/>
                <a:ea typeface="Helvetica Neue Light"/>
                <a:cs typeface="Helvetica Neue Light"/>
                <a:sym typeface="Helvetica Neue Light"/>
              </a:rPr>
              <a:t>  and press enter, this will give the current version of node that is installed, do the same with </a:t>
            </a:r>
            <a:endParaRPr/>
          </a:p>
          <a:p>
            <a:pPr indent="0" lvl="0" marL="0" rtl="0" algn="l">
              <a:lnSpc>
                <a:spcPct val="150000"/>
              </a:lnSpc>
              <a:spcBef>
                <a:spcPts val="1000"/>
              </a:spcBef>
              <a:spcAft>
                <a:spcPts val="0"/>
              </a:spcAft>
              <a:buClr>
                <a:srgbClr val="262626"/>
              </a:buClr>
              <a:buSzPts val="2800"/>
              <a:buNone/>
            </a:pPr>
            <a:r>
              <a:rPr lang="en-GB">
                <a:solidFill>
                  <a:srgbClr val="262626"/>
                </a:solidFill>
                <a:latin typeface="Courier New"/>
                <a:ea typeface="Courier New"/>
                <a:cs typeface="Courier New"/>
                <a:sym typeface="Courier New"/>
              </a:rPr>
              <a:t>npm –v</a:t>
            </a:r>
            <a:endParaRPr/>
          </a:p>
          <a:p>
            <a:pPr indent="0" lvl="0" marL="0" rtl="0" algn="l">
              <a:lnSpc>
                <a:spcPct val="150000"/>
              </a:lnSpc>
              <a:spcBef>
                <a:spcPts val="1000"/>
              </a:spcBef>
              <a:spcAft>
                <a:spcPts val="0"/>
              </a:spcAft>
              <a:buClr>
                <a:schemeClr val="dk1"/>
              </a:buClr>
              <a:buSzPts val="2400"/>
              <a:buNone/>
            </a:pPr>
            <a:r>
              <a:t/>
            </a:r>
            <a:endParaRPr sz="2400">
              <a:latin typeface="Helvetica Neue Light"/>
              <a:ea typeface="Helvetica Neue Light"/>
              <a:cs typeface="Helvetica Neue Light"/>
              <a:sym typeface="Helvetica Neue Light"/>
            </a:endParaRPr>
          </a:p>
          <a:p>
            <a:pPr indent="0" lvl="0" marL="0" rtl="0" algn="l">
              <a:lnSpc>
                <a:spcPct val="150000"/>
              </a:lnSpc>
              <a:spcBef>
                <a:spcPts val="1000"/>
              </a:spcBef>
              <a:spcAft>
                <a:spcPts val="0"/>
              </a:spcAft>
              <a:buClr>
                <a:schemeClr val="dk1"/>
              </a:buClr>
              <a:buSzPts val="2400"/>
              <a:buNone/>
            </a:pPr>
            <a:r>
              <a:t/>
            </a:r>
            <a:endParaRPr sz="2400">
              <a:latin typeface="Helvetica Neue Light"/>
              <a:ea typeface="Helvetica Neue Light"/>
              <a:cs typeface="Helvetica Neue Light"/>
              <a:sym typeface="Helvetica Neue Light"/>
            </a:endParaRPr>
          </a:p>
        </p:txBody>
      </p:sp>
      <p:pic>
        <p:nvPicPr>
          <p:cNvPr id="112" name="Google Shape;112;p5"/>
          <p:cNvPicPr preferRelativeResize="0"/>
          <p:nvPr/>
        </p:nvPicPr>
        <p:blipFill rotWithShape="1">
          <a:blip r:embed="rId3">
            <a:alphaModFix/>
          </a:blip>
          <a:srcRect b="0" l="0" r="0" t="0"/>
          <a:stretch/>
        </p:blipFill>
        <p:spPr>
          <a:xfrm>
            <a:off x="772550" y="1690687"/>
            <a:ext cx="3897923" cy="3012737"/>
          </a:xfrm>
          <a:prstGeom prst="rect">
            <a:avLst/>
          </a:prstGeom>
          <a:noFill/>
          <a:ln>
            <a:noFill/>
          </a:ln>
        </p:spPr>
      </p:pic>
      <p:cxnSp>
        <p:nvCxnSpPr>
          <p:cNvPr id="113" name="Google Shape;113;p5"/>
          <p:cNvCxnSpPr/>
          <p:nvPr/>
        </p:nvCxnSpPr>
        <p:spPr>
          <a:xfrm rot="10800000">
            <a:off x="2468879" y="3711653"/>
            <a:ext cx="2595491" cy="480519"/>
          </a:xfrm>
          <a:prstGeom prst="straightConnector1">
            <a:avLst/>
          </a:prstGeom>
          <a:noFill/>
          <a:ln cap="flat" cmpd="sng" w="31750">
            <a:solidFill>
              <a:srgbClr val="FF0000"/>
            </a:solidFill>
            <a:prstDash val="solid"/>
            <a:miter lim="800000"/>
            <a:headEnd len="sm" w="sm" type="none"/>
            <a:tailEnd len="med" w="med" type="triangle"/>
          </a:ln>
        </p:spPr>
      </p:cxnSp>
      <p:cxnSp>
        <p:nvCxnSpPr>
          <p:cNvPr id="114" name="Google Shape;114;p5"/>
          <p:cNvCxnSpPr/>
          <p:nvPr/>
        </p:nvCxnSpPr>
        <p:spPr>
          <a:xfrm flipH="1">
            <a:off x="2468878" y="2460911"/>
            <a:ext cx="3627122" cy="445176"/>
          </a:xfrm>
          <a:prstGeom prst="straightConnector1">
            <a:avLst/>
          </a:prstGeom>
          <a:noFill/>
          <a:ln cap="flat" cmpd="sng" w="31750">
            <a:solidFill>
              <a:srgbClr val="FF0000"/>
            </a:solidFill>
            <a:prstDash val="solid"/>
            <a:miter lim="800000"/>
            <a:headEnd len="sm" w="sm" type="none"/>
            <a:tailEnd len="med" w="med" type="triangle"/>
          </a:ln>
        </p:spPr>
      </p:cxn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D3473F"/>
              </a:buClr>
              <a:buSzPct val="100000"/>
              <a:buFont typeface="Cutive"/>
              <a:buNone/>
            </a:pPr>
            <a:r>
              <a:rPr lang="en-GB" sz="6000">
                <a:solidFill>
                  <a:srgbClr val="D3473F"/>
                </a:solidFill>
                <a:latin typeface="Cutive"/>
                <a:ea typeface="Cutive"/>
                <a:cs typeface="Cutive"/>
                <a:sym typeface="Cutive"/>
              </a:rPr>
              <a:t>G Drive – new folder npmtest</a:t>
            </a:r>
            <a:endParaRPr sz="6000">
              <a:solidFill>
                <a:srgbClr val="D3473F"/>
              </a:solidFill>
              <a:latin typeface="Cutive"/>
              <a:ea typeface="Cutive"/>
              <a:cs typeface="Cutive"/>
              <a:sym typeface="Cutive"/>
            </a:endParaRPr>
          </a:p>
        </p:txBody>
      </p:sp>
      <p:pic>
        <p:nvPicPr>
          <p:cNvPr id="120" name="Google Shape;120;p6"/>
          <p:cNvPicPr preferRelativeResize="0"/>
          <p:nvPr/>
        </p:nvPicPr>
        <p:blipFill rotWithShape="1">
          <a:blip r:embed="rId3">
            <a:alphaModFix/>
          </a:blip>
          <a:srcRect b="0" l="0" r="0" t="0"/>
          <a:stretch/>
        </p:blipFill>
        <p:spPr>
          <a:xfrm>
            <a:off x="838200" y="2263094"/>
            <a:ext cx="7817302" cy="4116558"/>
          </a:xfrm>
          <a:prstGeom prst="rect">
            <a:avLst/>
          </a:prstGeom>
          <a:noFill/>
          <a:ln cap="flat" cmpd="sng" w="9525">
            <a:solidFill>
              <a:srgbClr val="A5A5A5"/>
            </a:solidFill>
            <a:prstDash val="solid"/>
            <a:round/>
            <a:headEnd len="sm" w="sm" type="none"/>
            <a:tailEnd len="sm" w="sm" type="none"/>
          </a:ln>
        </p:spPr>
      </p:pic>
      <p:cxnSp>
        <p:nvCxnSpPr>
          <p:cNvPr id="121" name="Google Shape;121;p6"/>
          <p:cNvCxnSpPr/>
          <p:nvPr/>
        </p:nvCxnSpPr>
        <p:spPr>
          <a:xfrm flipH="1">
            <a:off x="4023360" y="1496371"/>
            <a:ext cx="5908431" cy="3919691"/>
          </a:xfrm>
          <a:prstGeom prst="straightConnector1">
            <a:avLst/>
          </a:prstGeom>
          <a:noFill/>
          <a:ln cap="flat" cmpd="sng" w="31750">
            <a:solidFill>
              <a:srgbClr val="FF0000"/>
            </a:solidFill>
            <a:prstDash val="solid"/>
            <a:miter lim="800000"/>
            <a:headEnd len="sm" w="sm" type="none"/>
            <a:tailEnd len="med" w="med" type="triangle"/>
          </a:ln>
        </p:spPr>
      </p:cxn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D3473F"/>
              </a:buClr>
              <a:buSzPct val="100000"/>
              <a:buFont typeface="Cutive"/>
              <a:buNone/>
            </a:pPr>
            <a:r>
              <a:rPr lang="en-GB" sz="6000">
                <a:solidFill>
                  <a:srgbClr val="D3473F"/>
                </a:solidFill>
                <a:latin typeface="Cutive"/>
                <a:ea typeface="Cutive"/>
                <a:cs typeface="Cutive"/>
                <a:sym typeface="Cutive"/>
              </a:rPr>
              <a:t>Create test.js and save to the new folder</a:t>
            </a:r>
            <a:endParaRPr/>
          </a:p>
        </p:txBody>
      </p:sp>
      <p:cxnSp>
        <p:nvCxnSpPr>
          <p:cNvPr id="127" name="Google Shape;127;p7"/>
          <p:cNvCxnSpPr/>
          <p:nvPr/>
        </p:nvCxnSpPr>
        <p:spPr>
          <a:xfrm rot="10800000">
            <a:off x="2468879" y="3711653"/>
            <a:ext cx="2595491" cy="480519"/>
          </a:xfrm>
          <a:prstGeom prst="straightConnector1">
            <a:avLst/>
          </a:prstGeom>
          <a:noFill/>
          <a:ln cap="flat" cmpd="sng" w="31750">
            <a:solidFill>
              <a:srgbClr val="FF0000"/>
            </a:solidFill>
            <a:prstDash val="solid"/>
            <a:miter lim="800000"/>
            <a:headEnd len="sm" w="sm" type="none"/>
            <a:tailEnd len="med" w="med" type="triangle"/>
          </a:ln>
        </p:spPr>
      </p:cxnSp>
      <p:pic>
        <p:nvPicPr>
          <p:cNvPr id="128" name="Google Shape;128;p7"/>
          <p:cNvPicPr preferRelativeResize="0"/>
          <p:nvPr/>
        </p:nvPicPr>
        <p:blipFill rotWithShape="1">
          <a:blip r:embed="rId3">
            <a:alphaModFix/>
          </a:blip>
          <a:srcRect b="0" l="0" r="0" t="0"/>
          <a:stretch/>
        </p:blipFill>
        <p:spPr>
          <a:xfrm>
            <a:off x="838200" y="1933159"/>
            <a:ext cx="8858486" cy="45180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8"/>
          <p:cNvSpPr txBox="1"/>
          <p:nvPr>
            <p:ph type="title"/>
          </p:nvPr>
        </p:nvSpPr>
        <p:spPr>
          <a:xfrm>
            <a:off x="838200" y="20796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3473F"/>
              </a:buClr>
              <a:buSzPts val="6000"/>
              <a:buFont typeface="Cutive"/>
              <a:buNone/>
            </a:pPr>
            <a:r>
              <a:rPr lang="en-GB" sz="6000">
                <a:solidFill>
                  <a:srgbClr val="D3473F"/>
                </a:solidFill>
                <a:latin typeface="Cutive"/>
                <a:ea typeface="Cutive"/>
                <a:cs typeface="Cutive"/>
                <a:sym typeface="Cutive"/>
              </a:rPr>
              <a:t>Run node</a:t>
            </a:r>
            <a:endParaRPr/>
          </a:p>
        </p:txBody>
      </p:sp>
      <p:sp>
        <p:nvSpPr>
          <p:cNvPr id="134" name="Google Shape;134;p8"/>
          <p:cNvSpPr txBox="1"/>
          <p:nvPr>
            <p:ph idx="1" type="body"/>
          </p:nvPr>
        </p:nvSpPr>
        <p:spPr>
          <a:xfrm>
            <a:off x="838201" y="1223921"/>
            <a:ext cx="10515600" cy="178549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50000"/>
              </a:lnSpc>
              <a:spcBef>
                <a:spcPts val="0"/>
              </a:spcBef>
              <a:spcAft>
                <a:spcPts val="0"/>
              </a:spcAft>
              <a:buClr>
                <a:schemeClr val="dk1"/>
              </a:buClr>
              <a:buSzPct val="100000"/>
              <a:buNone/>
            </a:pPr>
            <a:r>
              <a:rPr lang="en-GB" sz="2400"/>
              <a:t>Open the Node command prompt, navigate to where the file is </a:t>
            </a:r>
            <a:endParaRPr/>
          </a:p>
          <a:p>
            <a:pPr indent="0" lvl="0" marL="0" rtl="0" algn="l">
              <a:lnSpc>
                <a:spcPct val="150000"/>
              </a:lnSpc>
              <a:spcBef>
                <a:spcPts val="1000"/>
              </a:spcBef>
              <a:spcAft>
                <a:spcPts val="0"/>
              </a:spcAft>
              <a:buClr>
                <a:schemeClr val="dk1"/>
              </a:buClr>
              <a:buSzPct val="100000"/>
              <a:buNone/>
            </a:pPr>
            <a:r>
              <a:rPr lang="en-GB" sz="2400"/>
              <a:t>(using </a:t>
            </a:r>
            <a:r>
              <a:rPr lang="en-GB" sz="2400">
                <a:latin typeface="Courier New"/>
                <a:ea typeface="Courier New"/>
                <a:cs typeface="Courier New"/>
                <a:sym typeface="Courier New"/>
              </a:rPr>
              <a:t>cd npmtest </a:t>
            </a:r>
            <a:r>
              <a:rPr lang="en-GB" sz="2400"/>
              <a:t>or “change directory to npmtest ”) and type       </a:t>
            </a:r>
            <a:r>
              <a:rPr lang="en-GB" sz="2400">
                <a:latin typeface="Courier New"/>
                <a:ea typeface="Courier New"/>
                <a:cs typeface="Courier New"/>
                <a:sym typeface="Courier New"/>
              </a:rPr>
              <a:t>node test.js</a:t>
            </a:r>
            <a:endParaRPr sz="2400">
              <a:latin typeface="Courier New"/>
              <a:ea typeface="Courier New"/>
              <a:cs typeface="Courier New"/>
              <a:sym typeface="Courier New"/>
            </a:endParaRPr>
          </a:p>
          <a:p>
            <a:pPr indent="0" lvl="0" marL="0" rtl="0" algn="l">
              <a:lnSpc>
                <a:spcPct val="150000"/>
              </a:lnSpc>
              <a:spcBef>
                <a:spcPts val="1000"/>
              </a:spcBef>
              <a:spcAft>
                <a:spcPts val="0"/>
              </a:spcAft>
              <a:buClr>
                <a:schemeClr val="dk1"/>
              </a:buClr>
              <a:buSzPct val="100000"/>
              <a:buNone/>
            </a:pPr>
            <a:r>
              <a:rPr lang="en-GB" sz="2400"/>
              <a:t>to get the following output.</a:t>
            </a:r>
            <a:endParaRPr sz="2400">
              <a:latin typeface="Helvetica Neue Light"/>
              <a:ea typeface="Helvetica Neue Light"/>
              <a:cs typeface="Helvetica Neue Light"/>
              <a:sym typeface="Helvetica Neue Light"/>
            </a:endParaRPr>
          </a:p>
          <a:p>
            <a:pPr indent="0" lvl="0" marL="0" rtl="0" algn="l">
              <a:lnSpc>
                <a:spcPct val="150000"/>
              </a:lnSpc>
              <a:spcBef>
                <a:spcPts val="1000"/>
              </a:spcBef>
              <a:spcAft>
                <a:spcPts val="0"/>
              </a:spcAft>
              <a:buClr>
                <a:schemeClr val="dk1"/>
              </a:buClr>
              <a:buSzPct val="100000"/>
              <a:buNone/>
            </a:pPr>
            <a:r>
              <a:t/>
            </a:r>
            <a:endParaRPr sz="2400">
              <a:latin typeface="Helvetica Neue Light"/>
              <a:ea typeface="Helvetica Neue Light"/>
              <a:cs typeface="Helvetica Neue Light"/>
              <a:sym typeface="Helvetica Neue Light"/>
            </a:endParaRPr>
          </a:p>
        </p:txBody>
      </p:sp>
      <p:pic>
        <p:nvPicPr>
          <p:cNvPr id="135" name="Google Shape;135;p8"/>
          <p:cNvPicPr preferRelativeResize="0"/>
          <p:nvPr/>
        </p:nvPicPr>
        <p:blipFill rotWithShape="1">
          <a:blip r:embed="rId3">
            <a:alphaModFix/>
          </a:blip>
          <a:srcRect b="0" l="0" r="0" t="27300"/>
          <a:stretch/>
        </p:blipFill>
        <p:spPr>
          <a:xfrm>
            <a:off x="838200" y="3335377"/>
            <a:ext cx="7703916" cy="312017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3473F"/>
              </a:buClr>
              <a:buSzPts val="6000"/>
              <a:buFont typeface="Cutive"/>
              <a:buNone/>
            </a:pPr>
            <a:r>
              <a:rPr lang="en-GB" sz="6000">
                <a:solidFill>
                  <a:srgbClr val="D3473F"/>
                </a:solidFill>
                <a:latin typeface="Cutive"/>
                <a:ea typeface="Cutive"/>
                <a:cs typeface="Cutive"/>
                <a:sym typeface="Cutive"/>
              </a:rPr>
              <a:t>Navigating folders</a:t>
            </a:r>
            <a:endParaRPr/>
          </a:p>
        </p:txBody>
      </p:sp>
      <p:sp>
        <p:nvSpPr>
          <p:cNvPr id="141" name="Google Shape;141;p9"/>
          <p:cNvSpPr txBox="1"/>
          <p:nvPr>
            <p:ph idx="1" type="body"/>
          </p:nvPr>
        </p:nvSpPr>
        <p:spPr>
          <a:xfrm>
            <a:off x="838200" y="1416050"/>
            <a:ext cx="10515600" cy="4794250"/>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chemeClr val="dk1"/>
              </a:buClr>
              <a:buSzPts val="2800"/>
              <a:buNone/>
            </a:pPr>
            <a:r>
              <a:rPr b="1" lang="en-GB">
                <a:latin typeface="Helvetica Neue Light"/>
                <a:ea typeface="Helvetica Neue Light"/>
                <a:cs typeface="Helvetica Neue Light"/>
                <a:sym typeface="Helvetica Neue Light"/>
              </a:rPr>
              <a:t>cd folder_name/    change directory</a:t>
            </a:r>
            <a:endParaRPr/>
          </a:p>
          <a:p>
            <a:pPr indent="0" lvl="0" marL="0" rtl="0" algn="l">
              <a:lnSpc>
                <a:spcPct val="150000"/>
              </a:lnSpc>
              <a:spcBef>
                <a:spcPts val="1000"/>
              </a:spcBef>
              <a:spcAft>
                <a:spcPts val="0"/>
              </a:spcAft>
              <a:buClr>
                <a:schemeClr val="dk1"/>
              </a:buClr>
              <a:buSzPts val="2800"/>
              <a:buNone/>
            </a:pPr>
            <a:r>
              <a:rPr b="1" lang="en-GB">
                <a:latin typeface="Helvetica Neue Light"/>
                <a:ea typeface="Helvetica Neue Light"/>
                <a:cs typeface="Helvetica Neue Light"/>
                <a:sym typeface="Helvetica Neue Light"/>
              </a:rPr>
              <a:t>cd ../     back up a directory</a:t>
            </a:r>
            <a:endParaRPr/>
          </a:p>
          <a:p>
            <a:pPr indent="0" lvl="0" marL="0" rtl="0" algn="l">
              <a:lnSpc>
                <a:spcPct val="150000"/>
              </a:lnSpc>
              <a:spcBef>
                <a:spcPts val="1000"/>
              </a:spcBef>
              <a:spcAft>
                <a:spcPts val="0"/>
              </a:spcAft>
              <a:buClr>
                <a:schemeClr val="dk1"/>
              </a:buClr>
              <a:buSzPts val="2800"/>
              <a:buNone/>
            </a:pPr>
            <a:r>
              <a:rPr b="1" i="1" lang="en-GB">
                <a:latin typeface="Helvetica Neue Light"/>
                <a:ea typeface="Helvetica Neue Light"/>
                <a:cs typeface="Helvetica Neue Light"/>
                <a:sym typeface="Helvetica Neue Light"/>
              </a:rPr>
              <a:t>Can chain together</a:t>
            </a:r>
            <a:endParaRPr/>
          </a:p>
          <a:p>
            <a:pPr indent="0" lvl="0" marL="0" rtl="0" algn="l">
              <a:lnSpc>
                <a:spcPct val="150000"/>
              </a:lnSpc>
              <a:spcBef>
                <a:spcPts val="1000"/>
              </a:spcBef>
              <a:spcAft>
                <a:spcPts val="0"/>
              </a:spcAft>
              <a:buClr>
                <a:schemeClr val="dk1"/>
              </a:buClr>
              <a:buSzPts val="2800"/>
              <a:buNone/>
            </a:pPr>
            <a:r>
              <a:rPr b="1" lang="en-GB">
                <a:latin typeface="Helvetica Neue Light"/>
                <a:ea typeface="Helvetica Neue Light"/>
                <a:cs typeface="Helvetica Neue Light"/>
                <a:sym typeface="Helvetica Neue Light"/>
              </a:rPr>
              <a:t>cd folder1/folder2/folder3/</a:t>
            </a:r>
            <a:endParaRPr/>
          </a:p>
          <a:p>
            <a:pPr indent="0" lvl="0" marL="0" rtl="0" algn="l">
              <a:lnSpc>
                <a:spcPct val="150000"/>
              </a:lnSpc>
              <a:spcBef>
                <a:spcPts val="1000"/>
              </a:spcBef>
              <a:spcAft>
                <a:spcPts val="0"/>
              </a:spcAft>
              <a:buClr>
                <a:schemeClr val="dk1"/>
              </a:buClr>
              <a:buSzPts val="2800"/>
              <a:buNone/>
            </a:pPr>
            <a:r>
              <a:rPr b="1" lang="en-GB">
                <a:latin typeface="Helvetica Neue Light"/>
                <a:ea typeface="Helvetica Neue Light"/>
                <a:cs typeface="Helvetica Neue Light"/>
                <a:sym typeface="Helvetica Neue Light"/>
              </a:rPr>
              <a:t>cd ../../../</a:t>
            </a:r>
            <a:endParaRPr/>
          </a:p>
          <a:p>
            <a:pPr indent="0" lvl="0" marL="0" rtl="0" algn="l">
              <a:lnSpc>
                <a:spcPct val="150000"/>
              </a:lnSpc>
              <a:spcBef>
                <a:spcPts val="1000"/>
              </a:spcBef>
              <a:spcAft>
                <a:spcPts val="0"/>
              </a:spcAft>
              <a:buClr>
                <a:schemeClr val="dk1"/>
              </a:buClr>
              <a:buSzPts val="2800"/>
              <a:buNone/>
            </a:pPr>
            <a:r>
              <a:rPr b="1" lang="en-GB">
                <a:latin typeface="Helvetica Neue Light"/>
                <a:ea typeface="Helvetica Neue Light"/>
                <a:cs typeface="Helvetica Neue Light"/>
                <a:sym typeface="Helvetica Neue Light"/>
              </a:rPr>
              <a:t>cd /      takes you to the root directory</a:t>
            </a:r>
            <a:endParaRPr/>
          </a:p>
          <a:p>
            <a:pPr indent="0" lvl="0" marL="0" rtl="0" algn="l">
              <a:lnSpc>
                <a:spcPct val="150000"/>
              </a:lnSpc>
              <a:spcBef>
                <a:spcPts val="1000"/>
              </a:spcBef>
              <a:spcAft>
                <a:spcPts val="0"/>
              </a:spcAft>
              <a:buClr>
                <a:schemeClr val="dk1"/>
              </a:buClr>
              <a:buSzPts val="2400"/>
              <a:buNone/>
            </a:pPr>
            <a:r>
              <a:t/>
            </a:r>
            <a:endParaRPr sz="2400">
              <a:latin typeface="Helvetica Neue Light"/>
              <a:ea typeface="Helvetica Neue Light"/>
              <a:cs typeface="Helvetica Neue Light"/>
              <a:sym typeface="Helvetica Neue Light"/>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3473F"/>
              </a:buClr>
              <a:buSzPts val="6000"/>
              <a:buFont typeface="Cutive"/>
              <a:buNone/>
            </a:pPr>
            <a:r>
              <a:rPr lang="en-GB" sz="6000">
                <a:solidFill>
                  <a:srgbClr val="D3473F"/>
                </a:solidFill>
                <a:latin typeface="Cutive"/>
                <a:ea typeface="Cutive"/>
                <a:cs typeface="Cutive"/>
                <a:sym typeface="Cutive"/>
              </a:rPr>
              <a:t>Node</a:t>
            </a:r>
            <a:endParaRPr/>
          </a:p>
        </p:txBody>
      </p:sp>
      <p:sp>
        <p:nvSpPr>
          <p:cNvPr id="147" name="Google Shape;147;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chemeClr val="dk1"/>
              </a:buClr>
              <a:buSzPts val="2800"/>
              <a:buNone/>
            </a:pPr>
            <a:r>
              <a:rPr lang="en-GB">
                <a:latin typeface="Helvetica Neue Light"/>
                <a:ea typeface="Helvetica Neue Light"/>
                <a:cs typeface="Helvetica Neue Light"/>
                <a:sym typeface="Helvetica Neue Light"/>
              </a:rPr>
              <a:t>Node.js can be used to build different types of applications such as command line applications, web applications, real-time chat application, REST API server etc.</a:t>
            </a:r>
            <a:endParaRPr/>
          </a:p>
          <a:p>
            <a:pPr indent="0" lvl="0" marL="0" rtl="0" algn="l">
              <a:lnSpc>
                <a:spcPct val="150000"/>
              </a:lnSpc>
              <a:spcBef>
                <a:spcPts val="1000"/>
              </a:spcBef>
              <a:spcAft>
                <a:spcPts val="0"/>
              </a:spcAft>
              <a:buClr>
                <a:schemeClr val="dk1"/>
              </a:buClr>
              <a:buSzPts val="2800"/>
              <a:buNone/>
            </a:pPr>
            <a:r>
              <a:rPr lang="en-GB">
                <a:latin typeface="Helvetica Neue Light"/>
                <a:ea typeface="Helvetica Neue Light"/>
                <a:cs typeface="Helvetica Neue Light"/>
                <a:sym typeface="Helvetica Neue Light"/>
              </a:rPr>
              <a:t>However, it is mainly used to build network programs like web servers, similar to PHP, Java, or ASP.NET.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3473F"/>
              </a:buClr>
              <a:buSzPts val="6000"/>
              <a:buFont typeface="Cutive"/>
              <a:buNone/>
            </a:pPr>
            <a:r>
              <a:rPr lang="en-GB" sz="6000">
                <a:solidFill>
                  <a:srgbClr val="D3473F"/>
                </a:solidFill>
                <a:latin typeface="Cutive"/>
                <a:ea typeface="Cutive"/>
                <a:cs typeface="Cutive"/>
                <a:sym typeface="Cutive"/>
              </a:rPr>
              <a:t>Cont…</a:t>
            </a:r>
            <a:endParaRPr/>
          </a:p>
        </p:txBody>
      </p:sp>
      <p:sp>
        <p:nvSpPr>
          <p:cNvPr id="153" name="Google Shape;153;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50000"/>
              </a:lnSpc>
              <a:spcBef>
                <a:spcPts val="0"/>
              </a:spcBef>
              <a:spcAft>
                <a:spcPts val="0"/>
              </a:spcAft>
              <a:buClr>
                <a:schemeClr val="dk1"/>
              </a:buClr>
              <a:buSzPts val="2400"/>
              <a:buNone/>
            </a:pPr>
            <a:r>
              <a:rPr lang="en-GB" sz="2400">
                <a:latin typeface="Helvetica Neue Light"/>
                <a:ea typeface="Helvetica Neue Light"/>
                <a:cs typeface="Helvetica Neue Light"/>
                <a:sym typeface="Helvetica Neue Light"/>
              </a:rPr>
              <a:t>A common task for a web server can be to open a file on the server and return the content to the client.</a:t>
            </a:r>
            <a:endParaRPr/>
          </a:p>
          <a:p>
            <a:pPr indent="0" lvl="0" marL="0" rtl="0" algn="l">
              <a:lnSpc>
                <a:spcPct val="150000"/>
              </a:lnSpc>
              <a:spcBef>
                <a:spcPts val="1000"/>
              </a:spcBef>
              <a:spcAft>
                <a:spcPts val="0"/>
              </a:spcAft>
              <a:buClr>
                <a:schemeClr val="dk1"/>
              </a:buClr>
              <a:buSzPts val="2400"/>
              <a:buNone/>
            </a:pPr>
            <a:r>
              <a:rPr lang="en-GB" sz="2400">
                <a:latin typeface="Helvetica Neue Light"/>
                <a:ea typeface="Helvetica Neue Light"/>
                <a:cs typeface="Helvetica Neue Light"/>
                <a:sym typeface="Helvetica Neue Light"/>
              </a:rPr>
              <a:t>Here is how PHP or ASP handles a file request:</a:t>
            </a:r>
            <a:endParaRPr/>
          </a:p>
          <a:p>
            <a:pPr indent="-514350" lvl="0" marL="514350" rtl="0" algn="l">
              <a:lnSpc>
                <a:spcPct val="150000"/>
              </a:lnSpc>
              <a:spcBef>
                <a:spcPts val="1000"/>
              </a:spcBef>
              <a:spcAft>
                <a:spcPts val="0"/>
              </a:spcAft>
              <a:buClr>
                <a:schemeClr val="dk1"/>
              </a:buClr>
              <a:buSzPts val="2400"/>
              <a:buFont typeface="Calibri"/>
              <a:buAutoNum type="arabicPeriod"/>
            </a:pPr>
            <a:r>
              <a:rPr lang="en-GB" sz="2400">
                <a:latin typeface="Helvetica Neue Light"/>
                <a:ea typeface="Helvetica Neue Light"/>
                <a:cs typeface="Helvetica Neue Light"/>
                <a:sym typeface="Helvetica Neue Light"/>
              </a:rPr>
              <a:t>Sends the task to the computer's file system.</a:t>
            </a:r>
            <a:endParaRPr/>
          </a:p>
          <a:p>
            <a:pPr indent="-514350" lvl="0" marL="514350" rtl="0" algn="l">
              <a:lnSpc>
                <a:spcPct val="150000"/>
              </a:lnSpc>
              <a:spcBef>
                <a:spcPts val="1000"/>
              </a:spcBef>
              <a:spcAft>
                <a:spcPts val="0"/>
              </a:spcAft>
              <a:buClr>
                <a:schemeClr val="dk1"/>
              </a:buClr>
              <a:buSzPts val="2400"/>
              <a:buFont typeface="Calibri"/>
              <a:buAutoNum type="arabicPeriod"/>
            </a:pPr>
            <a:r>
              <a:rPr lang="en-GB" sz="2400">
                <a:latin typeface="Helvetica Neue Light"/>
                <a:ea typeface="Helvetica Neue Light"/>
                <a:cs typeface="Helvetica Neue Light"/>
                <a:sym typeface="Helvetica Neue Light"/>
              </a:rPr>
              <a:t>Waits while the file system opens and reads the file.</a:t>
            </a:r>
            <a:endParaRPr/>
          </a:p>
          <a:p>
            <a:pPr indent="-514350" lvl="0" marL="514350" rtl="0" algn="l">
              <a:lnSpc>
                <a:spcPct val="150000"/>
              </a:lnSpc>
              <a:spcBef>
                <a:spcPts val="1000"/>
              </a:spcBef>
              <a:spcAft>
                <a:spcPts val="0"/>
              </a:spcAft>
              <a:buClr>
                <a:schemeClr val="dk1"/>
              </a:buClr>
              <a:buSzPts val="2400"/>
              <a:buFont typeface="Calibri"/>
              <a:buAutoNum type="arabicPeriod"/>
            </a:pPr>
            <a:r>
              <a:rPr lang="en-GB" sz="2400">
                <a:latin typeface="Helvetica Neue Light"/>
                <a:ea typeface="Helvetica Neue Light"/>
                <a:cs typeface="Helvetica Neue Light"/>
                <a:sym typeface="Helvetica Neue Light"/>
              </a:rPr>
              <a:t>Returns the content to the client.</a:t>
            </a:r>
            <a:endParaRPr/>
          </a:p>
          <a:p>
            <a:pPr indent="-514350" lvl="0" marL="514350" rtl="0" algn="l">
              <a:lnSpc>
                <a:spcPct val="150000"/>
              </a:lnSpc>
              <a:spcBef>
                <a:spcPts val="1000"/>
              </a:spcBef>
              <a:spcAft>
                <a:spcPts val="0"/>
              </a:spcAft>
              <a:buClr>
                <a:schemeClr val="dk1"/>
              </a:buClr>
              <a:buSzPts val="2400"/>
              <a:buFont typeface="Calibri"/>
              <a:buAutoNum type="arabicPeriod"/>
            </a:pPr>
            <a:r>
              <a:rPr lang="en-GB" sz="2400">
                <a:latin typeface="Helvetica Neue Light"/>
                <a:ea typeface="Helvetica Neue Light"/>
                <a:cs typeface="Helvetica Neue Light"/>
                <a:sym typeface="Helvetica Neue Light"/>
              </a:rPr>
              <a:t>Ready to handle the next request.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3473F"/>
              </a:buClr>
              <a:buSzPts val="6000"/>
              <a:buFont typeface="Cutive"/>
              <a:buNone/>
            </a:pPr>
            <a:r>
              <a:rPr lang="en-GB" sz="6000">
                <a:solidFill>
                  <a:srgbClr val="D3473F"/>
                </a:solidFill>
                <a:latin typeface="Cutive"/>
                <a:ea typeface="Cutive"/>
                <a:cs typeface="Cutive"/>
                <a:sym typeface="Cutive"/>
              </a:rPr>
              <a:t>Cont…</a:t>
            </a:r>
            <a:endParaRPr/>
          </a:p>
        </p:txBody>
      </p:sp>
      <p:sp>
        <p:nvSpPr>
          <p:cNvPr id="159" name="Google Shape;159;p12"/>
          <p:cNvSpPr txBox="1"/>
          <p:nvPr>
            <p:ph idx="1" type="body"/>
          </p:nvPr>
        </p:nvSpPr>
        <p:spPr>
          <a:xfrm>
            <a:off x="838200" y="1690688"/>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50000"/>
              </a:lnSpc>
              <a:spcBef>
                <a:spcPts val="0"/>
              </a:spcBef>
              <a:spcAft>
                <a:spcPts val="0"/>
              </a:spcAft>
              <a:buClr>
                <a:schemeClr val="dk1"/>
              </a:buClr>
              <a:buSzPct val="100000"/>
              <a:buNone/>
            </a:pPr>
            <a:r>
              <a:rPr lang="en-GB" sz="2400">
                <a:latin typeface="Helvetica Neue Light"/>
                <a:ea typeface="Helvetica Neue Light"/>
                <a:cs typeface="Helvetica Neue Light"/>
                <a:sym typeface="Helvetica Neue Light"/>
              </a:rPr>
              <a:t>Here is how Node.js handles a file request:</a:t>
            </a:r>
            <a:endParaRPr/>
          </a:p>
          <a:p>
            <a:pPr indent="-514350" lvl="0" marL="514350" rtl="0" algn="l">
              <a:lnSpc>
                <a:spcPct val="150000"/>
              </a:lnSpc>
              <a:spcBef>
                <a:spcPts val="1000"/>
              </a:spcBef>
              <a:spcAft>
                <a:spcPts val="0"/>
              </a:spcAft>
              <a:buClr>
                <a:schemeClr val="dk1"/>
              </a:buClr>
              <a:buSzPct val="100000"/>
              <a:buFont typeface="Calibri"/>
              <a:buAutoNum type="arabicPeriod"/>
            </a:pPr>
            <a:r>
              <a:rPr lang="en-GB" sz="2400">
                <a:latin typeface="Helvetica Neue Light"/>
                <a:ea typeface="Helvetica Neue Light"/>
                <a:cs typeface="Helvetica Neue Light"/>
                <a:sym typeface="Helvetica Neue Light"/>
              </a:rPr>
              <a:t>Sends the task to the computer's file system.</a:t>
            </a:r>
            <a:endParaRPr/>
          </a:p>
          <a:p>
            <a:pPr indent="-514350" lvl="0" marL="514350" rtl="0" algn="l">
              <a:lnSpc>
                <a:spcPct val="150000"/>
              </a:lnSpc>
              <a:spcBef>
                <a:spcPts val="1000"/>
              </a:spcBef>
              <a:spcAft>
                <a:spcPts val="0"/>
              </a:spcAft>
              <a:buClr>
                <a:schemeClr val="dk1"/>
              </a:buClr>
              <a:buSzPct val="100000"/>
              <a:buFont typeface="Calibri"/>
              <a:buAutoNum type="arabicPeriod"/>
            </a:pPr>
            <a:r>
              <a:rPr lang="en-GB" sz="2400">
                <a:latin typeface="Helvetica Neue Light"/>
                <a:ea typeface="Helvetica Neue Light"/>
                <a:cs typeface="Helvetica Neue Light"/>
                <a:sym typeface="Helvetica Neue Light"/>
              </a:rPr>
              <a:t>Ready to handle the next request.</a:t>
            </a:r>
            <a:endParaRPr/>
          </a:p>
          <a:p>
            <a:pPr indent="-514350" lvl="0" marL="514350" rtl="0" algn="l">
              <a:lnSpc>
                <a:spcPct val="150000"/>
              </a:lnSpc>
              <a:spcBef>
                <a:spcPts val="1000"/>
              </a:spcBef>
              <a:spcAft>
                <a:spcPts val="0"/>
              </a:spcAft>
              <a:buClr>
                <a:schemeClr val="dk1"/>
              </a:buClr>
              <a:buSzPct val="100000"/>
              <a:buFont typeface="Calibri"/>
              <a:buAutoNum type="arabicPeriod"/>
            </a:pPr>
            <a:r>
              <a:rPr lang="en-GB" sz="2400">
                <a:latin typeface="Helvetica Neue Light"/>
                <a:ea typeface="Helvetica Neue Light"/>
                <a:cs typeface="Helvetica Neue Light"/>
                <a:sym typeface="Helvetica Neue Light"/>
              </a:rPr>
              <a:t>When the file system has opened and read the file, the server returns the content to the client.</a:t>
            </a:r>
            <a:endParaRPr/>
          </a:p>
          <a:p>
            <a:pPr indent="0" lvl="0" marL="0" rtl="0" algn="l">
              <a:lnSpc>
                <a:spcPct val="150000"/>
              </a:lnSpc>
              <a:spcBef>
                <a:spcPts val="1000"/>
              </a:spcBef>
              <a:spcAft>
                <a:spcPts val="0"/>
              </a:spcAft>
              <a:buClr>
                <a:schemeClr val="dk1"/>
              </a:buClr>
              <a:buSzPct val="100000"/>
              <a:buNone/>
            </a:pPr>
            <a:r>
              <a:rPr lang="en-GB" sz="2400">
                <a:latin typeface="Helvetica Neue Light"/>
                <a:ea typeface="Helvetica Neue Light"/>
                <a:cs typeface="Helvetica Neue Light"/>
                <a:sym typeface="Helvetica Neue Light"/>
              </a:rPr>
              <a:t>Node.js eliminates the waiting, and simply continues with the next request.</a:t>
            </a:r>
            <a:endParaRPr/>
          </a:p>
          <a:p>
            <a:pPr indent="0" lvl="0" marL="0" rtl="0" algn="l">
              <a:lnSpc>
                <a:spcPct val="150000"/>
              </a:lnSpc>
              <a:spcBef>
                <a:spcPts val="1000"/>
              </a:spcBef>
              <a:spcAft>
                <a:spcPts val="0"/>
              </a:spcAft>
              <a:buClr>
                <a:schemeClr val="dk1"/>
              </a:buClr>
              <a:buSzPct val="100000"/>
              <a:buNone/>
            </a:pPr>
            <a:r>
              <a:rPr lang="en-GB" sz="2400">
                <a:latin typeface="Helvetica Neue Light"/>
                <a:ea typeface="Helvetica Neue Light"/>
                <a:cs typeface="Helvetica Neue Light"/>
                <a:sym typeface="Helvetica Neue Light"/>
              </a:rPr>
              <a:t>Node.js runs single-threaded, non-blocking, asynchronous programming, which is very memory efficient.</a:t>
            </a:r>
            <a:endParaRPr/>
          </a:p>
        </p:txBody>
      </p:sp>
      <p:sp>
        <p:nvSpPr>
          <p:cNvPr id="160" name="Google Shape;160;p12"/>
          <p:cNvSpPr txBox="1"/>
          <p:nvPr/>
        </p:nvSpPr>
        <p:spPr>
          <a:xfrm>
            <a:off x="744070" y="6041061"/>
            <a:ext cx="1034975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800" u="sng" cap="none" strike="noStrike">
                <a:solidFill>
                  <a:schemeClr val="dk1"/>
                </a:solidFill>
                <a:latin typeface="Calibri"/>
                <a:ea typeface="Calibri"/>
                <a:cs typeface="Calibri"/>
                <a:sym typeface="Calibri"/>
                <a:hlinkClick r:id="rId3">
                  <a:extLst>
                    <a:ext uri="{A12FA001-AC4F-418D-AE19-62706E023703}">
                      <ahyp:hlinkClr val="tx"/>
                    </a:ext>
                  </a:extLst>
                </a:hlinkClick>
              </a:rPr>
              <a:t>https://medium.com/@monuchaudhary/single-threaded-non-blocking-asynchronous-and-concurrent-nature-of-javascript-a0d5483bcf4c</a:t>
            </a:r>
            <a:endParaRPr sz="18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3473F"/>
              </a:buClr>
              <a:buSzPts val="3600"/>
              <a:buFont typeface="Cutive"/>
              <a:buNone/>
            </a:pPr>
            <a:r>
              <a:rPr lang="en-GB" sz="3600">
                <a:solidFill>
                  <a:srgbClr val="D3473F"/>
                </a:solidFill>
                <a:latin typeface="Cutive"/>
                <a:ea typeface="Cutive"/>
                <a:cs typeface="Cutive"/>
                <a:sym typeface="Cutive"/>
              </a:rPr>
              <a:t>single-threaded, non-blocking, asynchronous programming ☹</a:t>
            </a:r>
            <a:endParaRPr sz="3600">
              <a:solidFill>
                <a:srgbClr val="D3473F"/>
              </a:solidFill>
              <a:latin typeface="Cutive"/>
              <a:ea typeface="Cutive"/>
              <a:cs typeface="Cutive"/>
              <a:sym typeface="Cutive"/>
            </a:endParaRPr>
          </a:p>
        </p:txBody>
      </p:sp>
      <p:sp>
        <p:nvSpPr>
          <p:cNvPr id="166" name="Google Shape;166;p13"/>
          <p:cNvSpPr txBox="1"/>
          <p:nvPr>
            <p:ph idx="1" type="body"/>
          </p:nvPr>
        </p:nvSpPr>
        <p:spPr>
          <a:xfrm>
            <a:off x="873519" y="1596707"/>
            <a:ext cx="10515600" cy="1966446"/>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2200"/>
              <a:buNone/>
            </a:pPr>
            <a:r>
              <a:rPr lang="en-GB" sz="2200">
                <a:latin typeface="Helvetica Neue Light"/>
                <a:ea typeface="Helvetica Neue Light"/>
                <a:cs typeface="Helvetica Neue Light"/>
                <a:sym typeface="Helvetica Neue Light"/>
              </a:rPr>
              <a:t>JavaScript is a single-threaded language. This means it has one call stack and one memory heap. It executes code in order and must finish executing a piece code before moving onto the next. So if we print from 1 to 5 it will execute every line one by one and can’t execute all console logs at once. </a:t>
            </a:r>
            <a:endParaRPr/>
          </a:p>
        </p:txBody>
      </p:sp>
      <p:pic>
        <p:nvPicPr>
          <p:cNvPr id="167" name="Google Shape;167;p13"/>
          <p:cNvPicPr preferRelativeResize="0"/>
          <p:nvPr/>
        </p:nvPicPr>
        <p:blipFill rotWithShape="1">
          <a:blip r:embed="rId3">
            <a:alphaModFix/>
          </a:blip>
          <a:srcRect b="0" l="0" r="0" t="0"/>
          <a:stretch/>
        </p:blipFill>
        <p:spPr>
          <a:xfrm>
            <a:off x="967648" y="3769043"/>
            <a:ext cx="4930597" cy="2984500"/>
          </a:xfrm>
          <a:prstGeom prst="rect">
            <a:avLst/>
          </a:prstGeom>
          <a:noFill/>
          <a:ln cap="flat" cmpd="sng" w="9525">
            <a:solidFill>
              <a:srgbClr val="7F7F7F"/>
            </a:solidFill>
            <a:prstDash val="solid"/>
            <a:round/>
            <a:headEnd len="sm" w="sm" type="none"/>
            <a:tailEnd len="sm" w="sm" type="none"/>
          </a:ln>
        </p:spPr>
      </p:pic>
      <p:pic>
        <p:nvPicPr>
          <p:cNvPr id="168" name="Google Shape;168;p13"/>
          <p:cNvPicPr preferRelativeResize="0"/>
          <p:nvPr/>
        </p:nvPicPr>
        <p:blipFill rotWithShape="1">
          <a:blip r:embed="rId4">
            <a:alphaModFix/>
          </a:blip>
          <a:srcRect b="0" l="0" r="0" t="0"/>
          <a:stretch/>
        </p:blipFill>
        <p:spPr>
          <a:xfrm>
            <a:off x="7388412" y="3769043"/>
            <a:ext cx="3683000" cy="29845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4"/>
          <p:cNvSpPr txBox="1"/>
          <p:nvPr>
            <p:ph idx="1" type="body"/>
          </p:nvPr>
        </p:nvSpPr>
        <p:spPr>
          <a:xfrm>
            <a:off x="838200" y="587247"/>
            <a:ext cx="10515600" cy="1832293"/>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2400"/>
              <a:buNone/>
            </a:pPr>
            <a:r>
              <a:rPr lang="en-GB" sz="2400">
                <a:latin typeface="Helvetica Neue Light"/>
                <a:ea typeface="Helvetica Neue Light"/>
                <a:cs typeface="Helvetica Neue Light"/>
                <a:sym typeface="Helvetica Neue Light"/>
              </a:rPr>
              <a:t>Here a function is making an ajax request to google.com, which is blocking the process. If we execute this code in C, PHP or any other language it will execute like this.</a:t>
            </a:r>
            <a:endParaRPr/>
          </a:p>
        </p:txBody>
      </p:sp>
      <p:pic>
        <p:nvPicPr>
          <p:cNvPr id="174" name="Google Shape;174;p14"/>
          <p:cNvPicPr preferRelativeResize="0"/>
          <p:nvPr/>
        </p:nvPicPr>
        <p:blipFill rotWithShape="1">
          <a:blip r:embed="rId3">
            <a:alphaModFix/>
          </a:blip>
          <a:srcRect b="0" l="0" r="0" t="0"/>
          <a:stretch/>
        </p:blipFill>
        <p:spPr>
          <a:xfrm>
            <a:off x="838200" y="2554434"/>
            <a:ext cx="8873168" cy="3371804"/>
          </a:xfrm>
          <a:prstGeom prst="rect">
            <a:avLst/>
          </a:prstGeom>
          <a:noFill/>
          <a:ln cap="flat" cmpd="sng" w="9525">
            <a:solidFill>
              <a:srgbClr val="7F7F7F"/>
            </a:solidFill>
            <a:prstDash val="solid"/>
            <a:round/>
            <a:headEnd len="sm" w="sm" type="none"/>
            <a:tailEnd len="sm" w="sm" type="none"/>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5"/>
          <p:cNvSpPr txBox="1"/>
          <p:nvPr>
            <p:ph idx="1" type="body"/>
          </p:nvPr>
        </p:nvSpPr>
        <p:spPr>
          <a:xfrm>
            <a:off x="744070" y="375035"/>
            <a:ext cx="10515600" cy="1832293"/>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2400"/>
              <a:buNone/>
            </a:pPr>
            <a:r>
              <a:rPr lang="en-GB" sz="2400">
                <a:latin typeface="Helvetica Neue Light"/>
                <a:ea typeface="Helvetica Neue Light"/>
                <a:cs typeface="Helvetica Neue Light"/>
                <a:sym typeface="Helvetica Neue Light"/>
              </a:rPr>
              <a:t>JavaScript is a non-blocking language, the Call Google function call doesn’t stop our rest of the code executing and printing “Ended” before fetching data from google.com, like this.</a:t>
            </a:r>
            <a:endParaRPr/>
          </a:p>
        </p:txBody>
      </p:sp>
      <p:pic>
        <p:nvPicPr>
          <p:cNvPr id="180" name="Google Shape;180;p15"/>
          <p:cNvPicPr preferRelativeResize="0"/>
          <p:nvPr/>
        </p:nvPicPr>
        <p:blipFill rotWithShape="1">
          <a:blip r:embed="rId3">
            <a:alphaModFix/>
          </a:blip>
          <a:srcRect b="0" l="0" r="0" t="0"/>
          <a:stretch/>
        </p:blipFill>
        <p:spPr>
          <a:xfrm>
            <a:off x="838200" y="2207328"/>
            <a:ext cx="6234953" cy="1941878"/>
          </a:xfrm>
          <a:prstGeom prst="rect">
            <a:avLst/>
          </a:prstGeom>
          <a:noFill/>
          <a:ln cap="flat" cmpd="sng" w="9525">
            <a:solidFill>
              <a:srgbClr val="7F7F7F"/>
            </a:solidFill>
            <a:prstDash val="solid"/>
            <a:round/>
            <a:headEnd len="sm" w="sm" type="none"/>
            <a:tailEnd len="sm" w="sm" type="none"/>
          </a:ln>
        </p:spPr>
      </p:pic>
      <p:sp>
        <p:nvSpPr>
          <p:cNvPr id="181" name="Google Shape;181;p15"/>
          <p:cNvSpPr txBox="1"/>
          <p:nvPr/>
        </p:nvSpPr>
        <p:spPr>
          <a:xfrm>
            <a:off x="744070" y="4264353"/>
            <a:ext cx="10515600" cy="1832293"/>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2400"/>
              <a:buFont typeface="Arial"/>
              <a:buNone/>
            </a:pPr>
            <a:r>
              <a:rPr lang="en-GB" sz="2400">
                <a:solidFill>
                  <a:schemeClr val="dk1"/>
                </a:solidFill>
                <a:latin typeface="Helvetica Neue Light"/>
                <a:ea typeface="Helvetica Neue Light"/>
                <a:cs typeface="Helvetica Neue Light"/>
                <a:sym typeface="Helvetica Neue Light"/>
              </a:rPr>
              <a:t>But how is JavaScript non-blocking when it only has one thread? The answer is that these requests are performed by web APIs (C++ library in case of node) which has its own thread. This makes concurrency possible in JavaScript.</a:t>
            </a:r>
            <a:endParaRPr/>
          </a:p>
        </p:txBody>
      </p:sp>
      <p:sp>
        <p:nvSpPr>
          <p:cNvPr id="182" name="Google Shape;182;p15"/>
          <p:cNvSpPr txBox="1"/>
          <p:nvPr/>
        </p:nvSpPr>
        <p:spPr>
          <a:xfrm>
            <a:off x="744070" y="6096646"/>
            <a:ext cx="1034975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u="sng">
                <a:solidFill>
                  <a:schemeClr val="dk1"/>
                </a:solidFill>
                <a:latin typeface="Calibri"/>
                <a:ea typeface="Calibri"/>
                <a:cs typeface="Calibri"/>
                <a:sym typeface="Calibri"/>
                <a:hlinkClick r:id="rId4">
                  <a:extLst>
                    <a:ext uri="{A12FA001-AC4F-418D-AE19-62706E023703}">
                      <ahyp:hlinkClr val="tx"/>
                    </a:ext>
                  </a:extLst>
                </a:hlinkClick>
              </a:rPr>
              <a:t>https://medium.com/@monuchaudhary/single-threaded-non-blocking-asynchronous-and-concurrent-nature-of-javascript-a0d5483bcf4c</a:t>
            </a:r>
            <a:endParaRPr sz="18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3473F"/>
              </a:buClr>
              <a:buSzPts val="4400"/>
              <a:buFont typeface="Cutive"/>
              <a:buNone/>
            </a:pPr>
            <a:r>
              <a:rPr lang="en-GB">
                <a:solidFill>
                  <a:srgbClr val="D3473F"/>
                </a:solidFill>
                <a:latin typeface="Cutive"/>
                <a:ea typeface="Cutive"/>
                <a:cs typeface="Cutive"/>
                <a:sym typeface="Cutive"/>
              </a:rPr>
              <a:t>What Can Node.js Do?</a:t>
            </a:r>
            <a:endParaRPr/>
          </a:p>
        </p:txBody>
      </p:sp>
      <p:sp>
        <p:nvSpPr>
          <p:cNvPr id="188" name="Google Shape;188;p16"/>
          <p:cNvSpPr txBox="1"/>
          <p:nvPr>
            <p:ph idx="1" type="body"/>
          </p:nvPr>
        </p:nvSpPr>
        <p:spPr>
          <a:xfrm>
            <a:off x="838200" y="15970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150000"/>
              </a:lnSpc>
              <a:spcBef>
                <a:spcPts val="0"/>
              </a:spcBef>
              <a:spcAft>
                <a:spcPts val="0"/>
              </a:spcAft>
              <a:buClr>
                <a:schemeClr val="dk1"/>
              </a:buClr>
              <a:buSzPct val="100000"/>
              <a:buChar char="•"/>
            </a:pPr>
            <a:r>
              <a:rPr lang="en-GB" sz="2600">
                <a:latin typeface="Helvetica Neue Light"/>
                <a:ea typeface="Helvetica Neue Light"/>
                <a:cs typeface="Helvetica Neue Light"/>
                <a:sym typeface="Helvetica Neue Light"/>
              </a:rPr>
              <a:t>Node.js can generate dynamic page content</a:t>
            </a:r>
            <a:endParaRPr/>
          </a:p>
          <a:p>
            <a:pPr indent="-228600" lvl="0" marL="228600" rtl="0" algn="l">
              <a:lnSpc>
                <a:spcPct val="150000"/>
              </a:lnSpc>
              <a:spcBef>
                <a:spcPts val="1000"/>
              </a:spcBef>
              <a:spcAft>
                <a:spcPts val="0"/>
              </a:spcAft>
              <a:buClr>
                <a:schemeClr val="dk1"/>
              </a:buClr>
              <a:buSzPct val="100000"/>
              <a:buChar char="•"/>
            </a:pPr>
            <a:r>
              <a:rPr lang="en-GB" sz="2600">
                <a:latin typeface="Helvetica Neue Light"/>
                <a:ea typeface="Helvetica Neue Light"/>
                <a:cs typeface="Helvetica Neue Light"/>
                <a:sym typeface="Helvetica Neue Light"/>
              </a:rPr>
              <a:t>Node.js can collect form data</a:t>
            </a:r>
            <a:endParaRPr/>
          </a:p>
          <a:p>
            <a:pPr indent="-228600" lvl="0" marL="228600" rtl="0" algn="l">
              <a:lnSpc>
                <a:spcPct val="150000"/>
              </a:lnSpc>
              <a:spcBef>
                <a:spcPts val="1000"/>
              </a:spcBef>
              <a:spcAft>
                <a:spcPts val="0"/>
              </a:spcAft>
              <a:buClr>
                <a:schemeClr val="dk1"/>
              </a:buClr>
              <a:buSzPct val="100000"/>
              <a:buChar char="•"/>
            </a:pPr>
            <a:r>
              <a:rPr lang="en-GB" sz="2600">
                <a:latin typeface="Helvetica Neue Light"/>
                <a:ea typeface="Helvetica Neue Light"/>
                <a:cs typeface="Helvetica Neue Light"/>
                <a:sym typeface="Helvetica Neue Light"/>
              </a:rPr>
              <a:t>Node.js can add, delete, modify data in your database</a:t>
            </a:r>
            <a:endParaRPr/>
          </a:p>
          <a:p>
            <a:pPr indent="-228600" lvl="0" marL="228600" rtl="0" algn="l">
              <a:lnSpc>
                <a:spcPct val="160000"/>
              </a:lnSpc>
              <a:spcBef>
                <a:spcPts val="1000"/>
              </a:spcBef>
              <a:spcAft>
                <a:spcPts val="0"/>
              </a:spcAft>
              <a:buClr>
                <a:schemeClr val="dk1"/>
              </a:buClr>
              <a:buSzPct val="100000"/>
              <a:buChar char="•"/>
            </a:pPr>
            <a:r>
              <a:rPr lang="en-GB" sz="2600">
                <a:latin typeface="Helvetica Neue Light"/>
                <a:ea typeface="Helvetica Neue Light"/>
                <a:cs typeface="Helvetica Neue Light"/>
                <a:sym typeface="Helvetica Neue Light"/>
              </a:rPr>
              <a:t>Node.js files contain tasks that will be executed on certain events</a:t>
            </a:r>
            <a:endParaRPr/>
          </a:p>
          <a:p>
            <a:pPr indent="-228600" lvl="0" marL="228600" rtl="0" algn="l">
              <a:lnSpc>
                <a:spcPct val="160000"/>
              </a:lnSpc>
              <a:spcBef>
                <a:spcPts val="1000"/>
              </a:spcBef>
              <a:spcAft>
                <a:spcPts val="0"/>
              </a:spcAft>
              <a:buClr>
                <a:schemeClr val="dk1"/>
              </a:buClr>
              <a:buSzPct val="100000"/>
              <a:buChar char="•"/>
            </a:pPr>
            <a:r>
              <a:rPr lang="en-GB" sz="2600">
                <a:latin typeface="Helvetica Neue Light"/>
                <a:ea typeface="Helvetica Neue Light"/>
                <a:cs typeface="Helvetica Neue Light"/>
                <a:sym typeface="Helvetica Neue Light"/>
              </a:rPr>
              <a:t>A typical event is someone trying to access a port on the server</a:t>
            </a:r>
            <a:endParaRPr/>
          </a:p>
          <a:p>
            <a:pPr indent="-228600" lvl="0" marL="228600" rtl="0" algn="l">
              <a:lnSpc>
                <a:spcPct val="160000"/>
              </a:lnSpc>
              <a:spcBef>
                <a:spcPts val="1000"/>
              </a:spcBef>
              <a:spcAft>
                <a:spcPts val="0"/>
              </a:spcAft>
              <a:buClr>
                <a:schemeClr val="dk1"/>
              </a:buClr>
              <a:buSzPct val="100000"/>
              <a:buChar char="•"/>
            </a:pPr>
            <a:r>
              <a:rPr lang="en-GB" sz="2600">
                <a:latin typeface="Helvetica Neue Light"/>
                <a:ea typeface="Helvetica Neue Light"/>
                <a:cs typeface="Helvetica Neue Light"/>
                <a:sym typeface="Helvetica Neue Light"/>
              </a:rPr>
              <a:t>Node.js files must be initiated on the server before having any effect</a:t>
            </a:r>
            <a:endParaRPr/>
          </a:p>
          <a:p>
            <a:pPr indent="-228600" lvl="0" marL="228600" rtl="0" algn="l">
              <a:lnSpc>
                <a:spcPct val="160000"/>
              </a:lnSpc>
              <a:spcBef>
                <a:spcPts val="1000"/>
              </a:spcBef>
              <a:spcAft>
                <a:spcPts val="0"/>
              </a:spcAft>
              <a:buClr>
                <a:schemeClr val="dk1"/>
              </a:buClr>
              <a:buSzPct val="100000"/>
              <a:buChar char="•"/>
            </a:pPr>
            <a:r>
              <a:rPr lang="en-GB" sz="2600">
                <a:latin typeface="Helvetica Neue Light"/>
                <a:ea typeface="Helvetica Neue Light"/>
                <a:cs typeface="Helvetica Neue Light"/>
                <a:sym typeface="Helvetica Neue Light"/>
              </a:rPr>
              <a:t>Node.js files have extension ".js"</a:t>
            </a:r>
            <a:endParaRPr/>
          </a:p>
          <a:p>
            <a:pPr indent="-87629" lvl="0" marL="228600" rtl="0" algn="l">
              <a:lnSpc>
                <a:spcPct val="150000"/>
              </a:lnSpc>
              <a:spcBef>
                <a:spcPts val="1000"/>
              </a:spcBef>
              <a:spcAft>
                <a:spcPts val="0"/>
              </a:spcAft>
              <a:buClr>
                <a:schemeClr val="dk1"/>
              </a:buClr>
              <a:buSzPct val="100000"/>
              <a:buNone/>
            </a:pPr>
            <a:r>
              <a:t/>
            </a:r>
            <a:endParaRPr sz="2400">
              <a:latin typeface="Helvetica Neue Light"/>
              <a:ea typeface="Helvetica Neue Light"/>
              <a:cs typeface="Helvetica Neue Light"/>
              <a:sym typeface="Helvetica Neue Light"/>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D3473F"/>
              </a:buClr>
              <a:buSzPct val="100000"/>
              <a:buFont typeface="Cutive"/>
              <a:buNone/>
            </a:pPr>
            <a:r>
              <a:rPr lang="en-GB" sz="6000">
                <a:solidFill>
                  <a:srgbClr val="D3473F"/>
                </a:solidFill>
                <a:latin typeface="Cutive"/>
                <a:ea typeface="Cutive"/>
                <a:cs typeface="Cutive"/>
                <a:sym typeface="Cutive"/>
              </a:rPr>
              <a:t>An aside  =&gt; Arrow functions</a:t>
            </a:r>
            <a:endParaRPr/>
          </a:p>
        </p:txBody>
      </p:sp>
      <p:sp>
        <p:nvSpPr>
          <p:cNvPr id="194" name="Google Shape;194;p17"/>
          <p:cNvSpPr txBox="1"/>
          <p:nvPr>
            <p:ph idx="1" type="body"/>
          </p:nvPr>
        </p:nvSpPr>
        <p:spPr>
          <a:xfrm>
            <a:off x="838200" y="1569651"/>
            <a:ext cx="10515600" cy="2154704"/>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chemeClr val="dk1"/>
              </a:buClr>
              <a:buSzPts val="2400"/>
              <a:buNone/>
            </a:pPr>
            <a:r>
              <a:rPr lang="en-GB" sz="2400">
                <a:latin typeface="Helvetica Neue Light"/>
                <a:ea typeface="Helvetica Neue Light"/>
                <a:cs typeface="Helvetica Neue Light"/>
                <a:sym typeface="Helvetica Neue Light"/>
              </a:rPr>
              <a:t>Arrow functions are one of the features introduced in the ES6 version of JavaScript. It allows you to create functions in a cleaner way compared to regular functions. For example:</a:t>
            </a:r>
            <a:endParaRPr/>
          </a:p>
        </p:txBody>
      </p:sp>
      <p:pic>
        <p:nvPicPr>
          <p:cNvPr id="195" name="Google Shape;195;p17"/>
          <p:cNvPicPr preferRelativeResize="0"/>
          <p:nvPr/>
        </p:nvPicPr>
        <p:blipFill rotWithShape="1">
          <a:blip r:embed="rId3">
            <a:alphaModFix/>
          </a:blip>
          <a:srcRect b="0" l="0" r="0" t="0"/>
          <a:stretch/>
        </p:blipFill>
        <p:spPr>
          <a:xfrm>
            <a:off x="838200" y="3724356"/>
            <a:ext cx="5007717" cy="1850678"/>
          </a:xfrm>
          <a:prstGeom prst="rect">
            <a:avLst/>
          </a:prstGeom>
          <a:noFill/>
          <a:ln>
            <a:noFill/>
          </a:ln>
        </p:spPr>
      </p:pic>
      <p:pic>
        <p:nvPicPr>
          <p:cNvPr id="196" name="Google Shape;196;p17"/>
          <p:cNvPicPr preferRelativeResize="0"/>
          <p:nvPr/>
        </p:nvPicPr>
        <p:blipFill rotWithShape="1">
          <a:blip r:embed="rId4">
            <a:alphaModFix/>
          </a:blip>
          <a:srcRect b="0" l="0" r="0" t="0"/>
          <a:stretch/>
        </p:blipFill>
        <p:spPr>
          <a:xfrm>
            <a:off x="5961530" y="3724355"/>
            <a:ext cx="5807224" cy="13255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3473F"/>
              </a:buClr>
              <a:buSzPts val="6000"/>
              <a:buFont typeface="Cutive"/>
              <a:buNone/>
            </a:pPr>
            <a:r>
              <a:rPr lang="en-GB" sz="6000">
                <a:solidFill>
                  <a:srgbClr val="D3473F"/>
                </a:solidFill>
                <a:latin typeface="Cutive"/>
                <a:ea typeface="Cutive"/>
                <a:cs typeface="Cutive"/>
                <a:sym typeface="Cutive"/>
              </a:rPr>
              <a:t>Arrow function syntax</a:t>
            </a:r>
            <a:endParaRPr/>
          </a:p>
        </p:txBody>
      </p:sp>
      <p:sp>
        <p:nvSpPr>
          <p:cNvPr id="202" name="Google Shape;202;p18"/>
          <p:cNvSpPr txBox="1"/>
          <p:nvPr>
            <p:ph idx="1" type="body"/>
          </p:nvPr>
        </p:nvSpPr>
        <p:spPr>
          <a:xfrm>
            <a:off x="929522" y="3132695"/>
            <a:ext cx="10886141" cy="23751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lang="en-GB" sz="2400">
                <a:latin typeface="Courier New"/>
                <a:ea typeface="Courier New"/>
                <a:cs typeface="Courier New"/>
                <a:sym typeface="Courier New"/>
              </a:rPr>
              <a:t>myFunction</a:t>
            </a:r>
            <a:r>
              <a:rPr lang="en-GB" sz="2400">
                <a:latin typeface="Helvetica Neue Light"/>
                <a:ea typeface="Helvetica Neue Light"/>
                <a:cs typeface="Helvetica Neue Light"/>
                <a:sym typeface="Helvetica Neue Light"/>
              </a:rPr>
              <a:t> 		is the name of the function</a:t>
            </a:r>
            <a:endParaRPr/>
          </a:p>
          <a:p>
            <a:pPr indent="-228600" lvl="0" marL="228600" rtl="0" algn="l">
              <a:lnSpc>
                <a:spcPct val="90000"/>
              </a:lnSpc>
              <a:spcBef>
                <a:spcPts val="1000"/>
              </a:spcBef>
              <a:spcAft>
                <a:spcPts val="0"/>
              </a:spcAft>
              <a:buClr>
                <a:schemeClr val="dk1"/>
              </a:buClr>
              <a:buSzPct val="100000"/>
              <a:buChar char="•"/>
            </a:pPr>
            <a:r>
              <a:rPr lang="en-GB" sz="2400">
                <a:latin typeface="Courier New"/>
                <a:ea typeface="Courier New"/>
                <a:cs typeface="Courier New"/>
                <a:sym typeface="Courier New"/>
              </a:rPr>
              <a:t>arg1, arg2, ...argN </a:t>
            </a:r>
            <a:r>
              <a:rPr lang="en-GB" sz="2400">
                <a:latin typeface="Helvetica Neue Light"/>
                <a:ea typeface="Helvetica Neue Light"/>
                <a:cs typeface="Helvetica Neue Light"/>
                <a:sym typeface="Helvetica Neue Light"/>
              </a:rPr>
              <a:t>are the function arguments</a:t>
            </a:r>
            <a:endParaRPr/>
          </a:p>
          <a:p>
            <a:pPr indent="-228600" lvl="0" marL="228600" rtl="0" algn="l">
              <a:lnSpc>
                <a:spcPct val="90000"/>
              </a:lnSpc>
              <a:spcBef>
                <a:spcPts val="1000"/>
              </a:spcBef>
              <a:spcAft>
                <a:spcPts val="0"/>
              </a:spcAft>
              <a:buClr>
                <a:schemeClr val="dk1"/>
              </a:buClr>
              <a:buSzPct val="100000"/>
              <a:buChar char="•"/>
            </a:pPr>
            <a:r>
              <a:rPr lang="en-GB" sz="2400">
                <a:latin typeface="Courier New"/>
                <a:ea typeface="Courier New"/>
                <a:cs typeface="Courier New"/>
                <a:sym typeface="Courier New"/>
              </a:rPr>
              <a:t>statement(s) 		</a:t>
            </a:r>
            <a:r>
              <a:rPr lang="en-GB" sz="2400">
                <a:latin typeface="Helvetica Neue Light"/>
                <a:ea typeface="Helvetica Neue Light"/>
                <a:cs typeface="Helvetica Neue Light"/>
                <a:sym typeface="Helvetica Neue Light"/>
              </a:rPr>
              <a:t>is the function body</a:t>
            </a:r>
            <a:endParaRPr/>
          </a:p>
          <a:p>
            <a:pPr indent="-87629" lvl="0" marL="228600" rtl="0" algn="l">
              <a:lnSpc>
                <a:spcPct val="90000"/>
              </a:lnSpc>
              <a:spcBef>
                <a:spcPts val="1000"/>
              </a:spcBef>
              <a:spcAft>
                <a:spcPts val="0"/>
              </a:spcAft>
              <a:buClr>
                <a:schemeClr val="dk1"/>
              </a:buClr>
              <a:buSzPct val="100000"/>
              <a:buNone/>
            </a:pPr>
            <a:r>
              <a:t/>
            </a:r>
            <a:endParaRPr sz="2400">
              <a:latin typeface="Helvetica Neue Light"/>
              <a:ea typeface="Helvetica Neue Light"/>
              <a:cs typeface="Helvetica Neue Light"/>
              <a:sym typeface="Helvetica Neue Light"/>
            </a:endParaRPr>
          </a:p>
          <a:p>
            <a:pPr indent="0" lvl="0" marL="0" rtl="0" algn="l">
              <a:lnSpc>
                <a:spcPct val="90000"/>
              </a:lnSpc>
              <a:spcBef>
                <a:spcPts val="1000"/>
              </a:spcBef>
              <a:spcAft>
                <a:spcPts val="0"/>
              </a:spcAft>
              <a:buClr>
                <a:schemeClr val="dk1"/>
              </a:buClr>
              <a:buSzPct val="100000"/>
              <a:buNone/>
            </a:pPr>
            <a:r>
              <a:rPr lang="en-GB" sz="2600">
                <a:latin typeface="Helvetica Neue Light"/>
                <a:ea typeface="Helvetica Neue Light"/>
                <a:cs typeface="Helvetica Neue Light"/>
                <a:sym typeface="Helvetica Neue Light"/>
              </a:rPr>
              <a:t>If the body has single statement or expression, you can write arrow function as:</a:t>
            </a:r>
            <a:endParaRPr/>
          </a:p>
        </p:txBody>
      </p:sp>
      <p:pic>
        <p:nvPicPr>
          <p:cNvPr id="203" name="Google Shape;203;p18"/>
          <p:cNvPicPr preferRelativeResize="0"/>
          <p:nvPr/>
        </p:nvPicPr>
        <p:blipFill rotWithShape="1">
          <a:blip r:embed="rId3">
            <a:alphaModFix/>
          </a:blip>
          <a:srcRect b="0" l="0" r="0" t="0"/>
          <a:stretch/>
        </p:blipFill>
        <p:spPr>
          <a:xfrm>
            <a:off x="974165" y="1551873"/>
            <a:ext cx="6495258" cy="1325563"/>
          </a:xfrm>
          <a:prstGeom prst="rect">
            <a:avLst/>
          </a:prstGeom>
          <a:noFill/>
          <a:ln>
            <a:noFill/>
          </a:ln>
        </p:spPr>
      </p:pic>
      <p:pic>
        <p:nvPicPr>
          <p:cNvPr id="204" name="Google Shape;204;p18"/>
          <p:cNvPicPr preferRelativeResize="0"/>
          <p:nvPr/>
        </p:nvPicPr>
        <p:blipFill rotWithShape="1">
          <a:blip r:embed="rId4">
            <a:alphaModFix/>
          </a:blip>
          <a:srcRect b="0" l="0" r="0" t="0"/>
          <a:stretch/>
        </p:blipFill>
        <p:spPr>
          <a:xfrm>
            <a:off x="929521" y="5694265"/>
            <a:ext cx="8693959" cy="79861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5B50">
                <a:alpha val="82745"/>
              </a:srgbClr>
            </a:gs>
            <a:gs pos="41000">
              <a:srgbClr val="FF6C62"/>
            </a:gs>
            <a:gs pos="100000">
              <a:srgbClr val="FF574B"/>
            </a:gs>
          </a:gsLst>
          <a:path path="circle">
            <a:fillToRect b="100%" l="100%" r="0%" t="0%"/>
          </a:path>
          <a:tileRect b="0%" l="0%" r="-100%" t="-100%"/>
        </a:gradFill>
      </p:bgPr>
    </p:bg>
    <p:spTree>
      <p:nvGrpSpPr>
        <p:cNvPr id="208" name="Shape 208"/>
        <p:cNvGrpSpPr/>
        <p:nvPr/>
      </p:nvGrpSpPr>
      <p:grpSpPr>
        <a:xfrm>
          <a:off x="0" y="0"/>
          <a:ext cx="0" cy="0"/>
          <a:chOff x="0" y="0"/>
          <a:chExt cx="0" cy="0"/>
        </a:xfrm>
      </p:grpSpPr>
      <p:pic>
        <p:nvPicPr>
          <p:cNvPr id="209" name="Google Shape;209;p19"/>
          <p:cNvPicPr preferRelativeResize="0"/>
          <p:nvPr/>
        </p:nvPicPr>
        <p:blipFill rotWithShape="1">
          <a:blip r:embed="rId3">
            <a:alphaModFix/>
          </a:blip>
          <a:srcRect b="0" l="0" r="0" t="0"/>
          <a:stretch/>
        </p:blipFill>
        <p:spPr>
          <a:xfrm>
            <a:off x="502870" y="580815"/>
            <a:ext cx="6637518" cy="4276094"/>
          </a:xfrm>
          <a:prstGeom prst="rect">
            <a:avLst/>
          </a:prstGeom>
          <a:noFill/>
          <a:ln cap="flat" cmpd="sng" w="9525">
            <a:solidFill>
              <a:srgbClr val="BFBFBF"/>
            </a:solidFill>
            <a:prstDash val="solid"/>
            <a:round/>
            <a:headEnd len="sm" w="sm" type="none"/>
            <a:tailEnd len="sm" w="sm" type="none"/>
          </a:ln>
        </p:spPr>
      </p:pic>
      <p:sp>
        <p:nvSpPr>
          <p:cNvPr id="210" name="Google Shape;210;p19"/>
          <p:cNvSpPr/>
          <p:nvPr/>
        </p:nvSpPr>
        <p:spPr>
          <a:xfrm>
            <a:off x="426670" y="5252830"/>
            <a:ext cx="9978021"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u="sng">
                <a:solidFill>
                  <a:schemeClr val="lt1"/>
                </a:solidFill>
                <a:latin typeface="Georgia"/>
                <a:ea typeface="Georgia"/>
                <a:cs typeface="Georgia"/>
                <a:sym typeface="Georgia"/>
                <a:hlinkClick r:id="rId4">
                  <a:extLst>
                    <a:ext uri="{A12FA001-AC4F-418D-AE19-62706E023703}">
                      <ahyp:hlinkClr val="tx"/>
                    </a:ext>
                  </a:extLst>
                </a:hlinkClick>
              </a:rPr>
              <a:t>https://www.w3schools.com/Js/js_arrow_function.asp</a:t>
            </a:r>
            <a:endParaRPr sz="1800">
              <a:solidFill>
                <a:schemeClr val="lt1"/>
              </a:solidFill>
              <a:latin typeface="Georgia"/>
              <a:ea typeface="Georgia"/>
              <a:cs typeface="Georgia"/>
              <a:sym typeface="Georgia"/>
            </a:endParaRPr>
          </a:p>
          <a:p>
            <a:pPr indent="0" lvl="0" marL="0" marR="0" rtl="0" algn="l">
              <a:spcBef>
                <a:spcPts val="0"/>
              </a:spcBef>
              <a:spcAft>
                <a:spcPts val="0"/>
              </a:spcAft>
              <a:buNone/>
            </a:pPr>
            <a:r>
              <a:t/>
            </a:r>
            <a:endParaRPr sz="1800">
              <a:solidFill>
                <a:schemeClr val="lt1"/>
              </a:solidFill>
              <a:latin typeface="Georgia"/>
              <a:ea typeface="Georgia"/>
              <a:cs typeface="Georgia"/>
              <a:sym typeface="Georgia"/>
            </a:endParaRPr>
          </a:p>
          <a:p>
            <a:pPr indent="0" lvl="0" marL="0" marR="0" rtl="0" algn="l">
              <a:spcBef>
                <a:spcPts val="0"/>
              </a:spcBef>
              <a:spcAft>
                <a:spcPts val="0"/>
              </a:spcAft>
              <a:buNone/>
            </a:pPr>
            <a:r>
              <a:rPr lang="en-GB" sz="1800" u="sng">
                <a:solidFill>
                  <a:schemeClr val="lt1"/>
                </a:solidFill>
                <a:latin typeface="Georgia"/>
                <a:ea typeface="Georgia"/>
                <a:cs typeface="Georgia"/>
                <a:sym typeface="Georgia"/>
                <a:hlinkClick r:id="rId5">
                  <a:extLst>
                    <a:ext uri="{A12FA001-AC4F-418D-AE19-62706E023703}">
                      <ahyp:hlinkClr val="tx"/>
                    </a:ext>
                  </a:extLst>
                </a:hlinkClick>
              </a:rPr>
              <a:t>https://www.freecodecamp.org/news/arrow-function-javascript-tutorial-how-to-declare-a-js-function-with-the-new-es6-syntax/</a:t>
            </a:r>
            <a:endParaRPr sz="1800">
              <a:solidFill>
                <a:schemeClr val="lt1"/>
              </a:solidFill>
              <a:latin typeface="Georgia"/>
              <a:ea typeface="Georgia"/>
              <a:cs typeface="Georgia"/>
              <a:sym typeface="Georgia"/>
            </a:endParaRPr>
          </a:p>
          <a:p>
            <a:pPr indent="0" lvl="0" marL="0" marR="0" rtl="0" algn="l">
              <a:spcBef>
                <a:spcPts val="0"/>
              </a:spcBef>
              <a:spcAft>
                <a:spcPts val="0"/>
              </a:spcAft>
              <a:buNone/>
            </a:pPr>
            <a:r>
              <a:t/>
            </a:r>
            <a:endParaRPr sz="1800">
              <a:solidFill>
                <a:srgbClr val="FFD966"/>
              </a:solidFill>
              <a:latin typeface="Georgia"/>
              <a:ea typeface="Georgia"/>
              <a:cs typeface="Georgia"/>
              <a:sym typeface="Georgia"/>
            </a:endParaRPr>
          </a:p>
          <a:p>
            <a:pPr indent="0" lvl="0" marL="0" marR="0" rtl="0" algn="l">
              <a:spcBef>
                <a:spcPts val="0"/>
              </a:spcBef>
              <a:spcAft>
                <a:spcPts val="0"/>
              </a:spcAft>
              <a:buNone/>
            </a:pPr>
            <a:r>
              <a:t/>
            </a:r>
            <a:endParaRPr sz="1800">
              <a:solidFill>
                <a:srgbClr val="FFD966"/>
              </a:solidFill>
              <a:latin typeface="Georgia"/>
              <a:ea typeface="Georgia"/>
              <a:cs typeface="Georgia"/>
              <a:sym typeface="Georgia"/>
            </a:endParaRPr>
          </a:p>
        </p:txBody>
      </p:sp>
      <p:sp>
        <p:nvSpPr>
          <p:cNvPr id="211" name="Google Shape;211;p19"/>
          <p:cNvSpPr/>
          <p:nvPr/>
        </p:nvSpPr>
        <p:spPr>
          <a:xfrm>
            <a:off x="7691718" y="278625"/>
            <a:ext cx="3849492" cy="2504916"/>
          </a:xfrm>
          <a:prstGeom prst="cloudCallout">
            <a:avLst>
              <a:gd fmla="val -92216" name="adj1"/>
              <a:gd fmla="val 56810" name="adj2"/>
            </a:avLst>
          </a:prstGeom>
          <a:solidFill>
            <a:schemeClr val="lt1"/>
          </a:solidFill>
          <a:ln cap="flat" cmpd="sng" w="12700">
            <a:solidFill>
              <a:schemeClr val="dk1"/>
            </a:solidFill>
            <a:prstDash val="solid"/>
            <a:miter lim="800000"/>
            <a:headEnd len="sm" w="sm" type="none"/>
            <a:tailEnd len="sm" w="sm" type="none"/>
          </a:ln>
          <a:effectLst>
            <a:outerShdw blurRad="152400" sx="90000" rotWithShape="0" dir="5400000" dist="317500" sy="-19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19"/>
          <p:cNvSpPr txBox="1"/>
          <p:nvPr/>
        </p:nvSpPr>
        <p:spPr>
          <a:xfrm>
            <a:off x="8151113" y="835583"/>
            <a:ext cx="2660364" cy="10772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3200">
                <a:solidFill>
                  <a:schemeClr val="dk1"/>
                </a:solidFill>
                <a:latin typeface="Cutive"/>
                <a:ea typeface="Cutive"/>
                <a:cs typeface="Cutive"/>
                <a:sym typeface="Cutive"/>
              </a:rPr>
              <a:t>Further reading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3473F"/>
              </a:buClr>
              <a:buSzPts val="6000"/>
              <a:buFont typeface="Cutive"/>
              <a:buNone/>
            </a:pPr>
            <a:r>
              <a:rPr lang="en-GB" sz="6000">
                <a:solidFill>
                  <a:srgbClr val="D3473F"/>
                </a:solidFill>
                <a:latin typeface="Cutive"/>
                <a:ea typeface="Cutive"/>
                <a:cs typeface="Cutive"/>
                <a:sym typeface="Cutive"/>
              </a:rPr>
              <a:t>Create new file</a:t>
            </a:r>
            <a:endParaRPr/>
          </a:p>
        </p:txBody>
      </p:sp>
      <p:sp>
        <p:nvSpPr>
          <p:cNvPr id="218" name="Google Shape;218;p20"/>
          <p:cNvSpPr txBox="1"/>
          <p:nvPr>
            <p:ph idx="1" type="body"/>
          </p:nvPr>
        </p:nvSpPr>
        <p:spPr>
          <a:xfrm>
            <a:off x="838199" y="5594611"/>
            <a:ext cx="10206318" cy="82602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GB">
                <a:latin typeface="Helvetica Neue Light"/>
                <a:ea typeface="Helvetica Neue Light"/>
                <a:cs typeface="Helvetica Neue Light"/>
                <a:sym typeface="Helvetica Neue Light"/>
              </a:rPr>
              <a:t>In the ‘npmtest’ folder from week 5 create a new file &gt; server.js</a:t>
            </a:r>
            <a:endParaRPr>
              <a:latin typeface="Helvetica Neue Light"/>
              <a:ea typeface="Helvetica Neue Light"/>
              <a:cs typeface="Helvetica Neue Light"/>
              <a:sym typeface="Helvetica Neue Light"/>
            </a:endParaRPr>
          </a:p>
        </p:txBody>
      </p:sp>
      <p:pic>
        <p:nvPicPr>
          <p:cNvPr id="219" name="Google Shape;219;p20"/>
          <p:cNvPicPr preferRelativeResize="0"/>
          <p:nvPr/>
        </p:nvPicPr>
        <p:blipFill rotWithShape="1">
          <a:blip r:embed="rId3">
            <a:alphaModFix/>
          </a:blip>
          <a:srcRect b="0" l="0" r="0" t="0"/>
          <a:stretch/>
        </p:blipFill>
        <p:spPr>
          <a:xfrm>
            <a:off x="838199" y="1539557"/>
            <a:ext cx="9469543" cy="378781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3473F"/>
              </a:buClr>
              <a:buSzPts val="6000"/>
              <a:buFont typeface="Cutive"/>
              <a:buNone/>
            </a:pPr>
            <a:r>
              <a:rPr lang="en-GB" sz="6000">
                <a:solidFill>
                  <a:srgbClr val="D3473F"/>
                </a:solidFill>
                <a:latin typeface="Cutive"/>
                <a:ea typeface="Cutive"/>
                <a:cs typeface="Cutive"/>
                <a:sym typeface="Cutive"/>
              </a:rPr>
              <a:t>Node.js web server</a:t>
            </a:r>
            <a:endParaRPr/>
          </a:p>
        </p:txBody>
      </p:sp>
      <p:sp>
        <p:nvSpPr>
          <p:cNvPr id="225" name="Google Shape;225;p21"/>
          <p:cNvSpPr txBox="1"/>
          <p:nvPr>
            <p:ph idx="1" type="body"/>
          </p:nvPr>
        </p:nvSpPr>
        <p:spPr>
          <a:xfrm>
            <a:off x="838200" y="1825624"/>
            <a:ext cx="10515600" cy="4548281"/>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400"/>
              <a:buChar char="•"/>
            </a:pPr>
            <a:r>
              <a:rPr lang="en-GB" sz="2400">
                <a:latin typeface="Helvetica Neue Light"/>
                <a:ea typeface="Helvetica Neue Light"/>
                <a:cs typeface="Helvetica Neue Light"/>
                <a:sym typeface="Helvetica Neue Light"/>
              </a:rPr>
              <a:t>To access web pages of any web application, you need a web server. The web server will handle all the http requests for the web application e.g </a:t>
            </a:r>
            <a:endParaRPr/>
          </a:p>
          <a:p>
            <a:pPr indent="-228600" lvl="0" marL="228600" rtl="0" algn="l">
              <a:lnSpc>
                <a:spcPct val="150000"/>
              </a:lnSpc>
              <a:spcBef>
                <a:spcPts val="1000"/>
              </a:spcBef>
              <a:spcAft>
                <a:spcPts val="0"/>
              </a:spcAft>
              <a:buClr>
                <a:schemeClr val="dk1"/>
              </a:buClr>
              <a:buSzPts val="2400"/>
              <a:buChar char="•"/>
            </a:pPr>
            <a:r>
              <a:rPr lang="en-GB" sz="2400">
                <a:latin typeface="Helvetica Neue Light"/>
                <a:ea typeface="Helvetica Neue Light"/>
                <a:cs typeface="Helvetica Neue Light"/>
                <a:sym typeface="Helvetica Neue Light"/>
              </a:rPr>
              <a:t>IIS is a web server for ASP.NET web applications.</a:t>
            </a:r>
            <a:endParaRPr/>
          </a:p>
          <a:p>
            <a:pPr indent="-228600" lvl="0" marL="228600" rtl="0" algn="l">
              <a:lnSpc>
                <a:spcPct val="150000"/>
              </a:lnSpc>
              <a:spcBef>
                <a:spcPts val="1000"/>
              </a:spcBef>
              <a:spcAft>
                <a:spcPts val="0"/>
              </a:spcAft>
              <a:buClr>
                <a:schemeClr val="dk1"/>
              </a:buClr>
              <a:buSzPts val="2400"/>
              <a:buChar char="•"/>
            </a:pPr>
            <a:r>
              <a:rPr lang="en-GB" sz="2400">
                <a:latin typeface="Helvetica Neue Light"/>
                <a:ea typeface="Helvetica Neue Light"/>
                <a:cs typeface="Helvetica Neue Light"/>
                <a:sym typeface="Helvetica Neue Light"/>
              </a:rPr>
              <a:t>Apache is a web server for PHP or Java web applications.</a:t>
            </a:r>
            <a:endParaRPr/>
          </a:p>
          <a:p>
            <a:pPr indent="-228600" lvl="0" marL="228600" rtl="0" algn="l">
              <a:lnSpc>
                <a:spcPct val="150000"/>
              </a:lnSpc>
              <a:spcBef>
                <a:spcPts val="1000"/>
              </a:spcBef>
              <a:spcAft>
                <a:spcPts val="0"/>
              </a:spcAft>
              <a:buClr>
                <a:schemeClr val="dk1"/>
              </a:buClr>
              <a:buSzPts val="2400"/>
              <a:buChar char="•"/>
            </a:pPr>
            <a:r>
              <a:rPr lang="en-GB" sz="2400">
                <a:latin typeface="Helvetica Neue Light"/>
                <a:ea typeface="Helvetica Neue Light"/>
                <a:cs typeface="Helvetica Neue Light"/>
                <a:sym typeface="Helvetica Neue Light"/>
              </a:rPr>
              <a:t>Node.js provides capabilities to create your own web server which will handle HTTP requests asynchronously. You can use IIS or Apache to run Node.js web applications but it is recommended to use Node.js web server.</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3473F"/>
              </a:buClr>
              <a:buSzPts val="6000"/>
              <a:buFont typeface="Cutive"/>
              <a:buNone/>
            </a:pPr>
            <a:r>
              <a:rPr lang="en-GB" sz="6000">
                <a:solidFill>
                  <a:srgbClr val="D3473F"/>
                </a:solidFill>
                <a:latin typeface="Cutive"/>
                <a:ea typeface="Cutive"/>
                <a:cs typeface="Cutive"/>
                <a:sym typeface="Cutive"/>
              </a:rPr>
              <a:t>Create Node.js web server</a:t>
            </a:r>
            <a:endParaRPr/>
          </a:p>
        </p:txBody>
      </p:sp>
      <p:sp>
        <p:nvSpPr>
          <p:cNvPr id="231" name="Google Shape;231;p22"/>
          <p:cNvSpPr txBox="1"/>
          <p:nvPr>
            <p:ph idx="1" type="body"/>
          </p:nvPr>
        </p:nvSpPr>
        <p:spPr>
          <a:xfrm>
            <a:off x="838200" y="1825624"/>
            <a:ext cx="10515600" cy="4548281"/>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chemeClr val="dk1"/>
              </a:buClr>
              <a:buSzPts val="2400"/>
              <a:buNone/>
            </a:pPr>
            <a:r>
              <a:rPr lang="en-GB" sz="2400">
                <a:latin typeface="Helvetica Neue Light"/>
                <a:ea typeface="Helvetica Neue Light"/>
                <a:cs typeface="Helvetica Neue Light"/>
                <a:sym typeface="Helvetica Neue Light"/>
              </a:rPr>
              <a:t>Node.js has a built-in module called HTTP, which allows Node.js to transfer data over the Hyper-Text Transfer Protocol (HTTP).</a:t>
            </a:r>
            <a:endParaRPr/>
          </a:p>
          <a:p>
            <a:pPr indent="0" lvl="0" marL="0" rtl="0" algn="l">
              <a:lnSpc>
                <a:spcPct val="150000"/>
              </a:lnSpc>
              <a:spcBef>
                <a:spcPts val="1000"/>
              </a:spcBef>
              <a:spcAft>
                <a:spcPts val="0"/>
              </a:spcAft>
              <a:buClr>
                <a:schemeClr val="dk1"/>
              </a:buClr>
              <a:buSzPts val="2400"/>
              <a:buNone/>
            </a:pPr>
            <a:r>
              <a:rPr lang="en-GB" sz="2400">
                <a:latin typeface="Helvetica Neue Light"/>
                <a:ea typeface="Helvetica Neue Light"/>
                <a:cs typeface="Helvetica Neue Light"/>
                <a:sym typeface="Helvetica Neue Light"/>
              </a:rPr>
              <a:t>To include the HTTP module, use the require( ) method:</a:t>
            </a:r>
            <a:endParaRPr/>
          </a:p>
          <a:p>
            <a:pPr indent="0" lvl="0" marL="0" rtl="0" algn="l">
              <a:lnSpc>
                <a:spcPct val="150000"/>
              </a:lnSpc>
              <a:spcBef>
                <a:spcPts val="1000"/>
              </a:spcBef>
              <a:spcAft>
                <a:spcPts val="0"/>
              </a:spcAft>
              <a:buClr>
                <a:schemeClr val="dk1"/>
              </a:buClr>
              <a:buSzPts val="2800"/>
              <a:buNone/>
            </a:pPr>
            <a:r>
              <a:rPr lang="en-GB">
                <a:latin typeface="Courier New"/>
                <a:ea typeface="Courier New"/>
                <a:cs typeface="Courier New"/>
                <a:sym typeface="Courier New"/>
              </a:rPr>
              <a:t>const http = require(‘http’);</a:t>
            </a:r>
            <a:endParaRPr/>
          </a:p>
          <a:p>
            <a:pPr indent="-228600" lvl="0" marL="228600" rtl="0" algn="l">
              <a:lnSpc>
                <a:spcPct val="150000"/>
              </a:lnSpc>
              <a:spcBef>
                <a:spcPts val="1000"/>
              </a:spcBef>
              <a:spcAft>
                <a:spcPts val="0"/>
              </a:spcAft>
              <a:buClr>
                <a:schemeClr val="dk1"/>
              </a:buClr>
              <a:buSzPts val="2400"/>
              <a:buChar char="•"/>
            </a:pPr>
            <a:r>
              <a:rPr lang="en-GB" sz="2400">
                <a:latin typeface="Helvetica Neue Light"/>
                <a:ea typeface="Helvetica Neue Light"/>
                <a:cs typeface="Helvetica Neue Light"/>
                <a:sym typeface="Helvetica Neue Light"/>
              </a:rPr>
              <a:t>The HTTP module can create an HTTP server that listens to server ports and gives a response back to the client.</a:t>
            </a:r>
            <a:endParaRPr/>
          </a:p>
          <a:p>
            <a:pPr indent="-228600" lvl="0" marL="228600" rtl="0" algn="l">
              <a:lnSpc>
                <a:spcPct val="150000"/>
              </a:lnSpc>
              <a:spcBef>
                <a:spcPts val="1000"/>
              </a:spcBef>
              <a:spcAft>
                <a:spcPts val="0"/>
              </a:spcAft>
              <a:buClr>
                <a:schemeClr val="dk1"/>
              </a:buClr>
              <a:buSzPts val="2400"/>
              <a:buChar char="•"/>
            </a:pPr>
            <a:r>
              <a:rPr lang="en-GB" sz="2400">
                <a:latin typeface="Helvetica Neue Light"/>
                <a:ea typeface="Helvetica Neue Light"/>
                <a:cs typeface="Helvetica Neue Light"/>
                <a:sym typeface="Helvetica Neue Light"/>
              </a:rPr>
              <a:t>Use the createServer() method to create an HTTP server:</a:t>
            </a:r>
            <a:endParaRPr/>
          </a:p>
          <a:p>
            <a:pPr indent="0" lvl="0" marL="0" rtl="0" algn="l">
              <a:lnSpc>
                <a:spcPct val="150000"/>
              </a:lnSpc>
              <a:spcBef>
                <a:spcPts val="1000"/>
              </a:spcBef>
              <a:spcAft>
                <a:spcPts val="0"/>
              </a:spcAft>
              <a:buClr>
                <a:schemeClr val="dk1"/>
              </a:buClr>
              <a:buSzPts val="2400"/>
              <a:buNone/>
            </a:pPr>
            <a:r>
              <a:t/>
            </a:r>
            <a:endParaRPr sz="2400">
              <a:latin typeface="Courier New"/>
              <a:ea typeface="Courier New"/>
              <a:cs typeface="Courier New"/>
              <a:sym typeface="Courier New"/>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3473F"/>
              </a:buClr>
              <a:buSzPts val="6000"/>
              <a:buFont typeface="Cutive"/>
              <a:buNone/>
            </a:pPr>
            <a:r>
              <a:rPr lang="en-GB" sz="6000">
                <a:solidFill>
                  <a:srgbClr val="D3473F"/>
                </a:solidFill>
                <a:latin typeface="Cutive"/>
                <a:ea typeface="Cutive"/>
                <a:cs typeface="Cutive"/>
                <a:sym typeface="Cutive"/>
              </a:rPr>
              <a:t>Create Node.js web server 2</a:t>
            </a:r>
            <a:endParaRPr/>
          </a:p>
        </p:txBody>
      </p:sp>
      <p:sp>
        <p:nvSpPr>
          <p:cNvPr id="237" name="Google Shape;237;p23"/>
          <p:cNvSpPr txBox="1"/>
          <p:nvPr>
            <p:ph idx="1" type="body"/>
          </p:nvPr>
        </p:nvSpPr>
        <p:spPr>
          <a:xfrm>
            <a:off x="838200" y="1690688"/>
            <a:ext cx="10515600" cy="850341"/>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2400"/>
              <a:buNone/>
            </a:pPr>
            <a:r>
              <a:rPr lang="en-GB" sz="2400">
                <a:latin typeface="Helvetica Neue Light"/>
                <a:ea typeface="Helvetica Neue Light"/>
                <a:cs typeface="Helvetica Neue Light"/>
                <a:sym typeface="Helvetica Neue Light"/>
              </a:rPr>
              <a:t>The function passed into the http.createServer() method, will be executed when someone tries to access the computer on port 8080.</a:t>
            </a:r>
            <a:endParaRPr/>
          </a:p>
        </p:txBody>
      </p:sp>
      <p:pic>
        <p:nvPicPr>
          <p:cNvPr id="238" name="Google Shape;238;p23"/>
          <p:cNvPicPr preferRelativeResize="0"/>
          <p:nvPr/>
        </p:nvPicPr>
        <p:blipFill rotWithShape="1">
          <a:blip r:embed="rId3">
            <a:alphaModFix/>
          </a:blip>
          <a:srcRect b="0" l="0" r="0" t="0"/>
          <a:stretch/>
        </p:blipFill>
        <p:spPr>
          <a:xfrm>
            <a:off x="838200" y="3241440"/>
            <a:ext cx="10212869" cy="215106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3473F"/>
              </a:buClr>
              <a:buSzPts val="6000"/>
              <a:buFont typeface="Cutive"/>
              <a:buNone/>
            </a:pPr>
            <a:r>
              <a:rPr lang="en-GB" sz="6000">
                <a:solidFill>
                  <a:srgbClr val="D3473F"/>
                </a:solidFill>
                <a:latin typeface="Cutive"/>
                <a:ea typeface="Cutive"/>
                <a:cs typeface="Cutive"/>
                <a:sym typeface="Cutive"/>
              </a:rPr>
              <a:t>Run the server</a:t>
            </a:r>
            <a:endParaRPr/>
          </a:p>
        </p:txBody>
      </p:sp>
      <p:sp>
        <p:nvSpPr>
          <p:cNvPr id="244" name="Google Shape;244;p24"/>
          <p:cNvSpPr txBox="1"/>
          <p:nvPr>
            <p:ph idx="1" type="body"/>
          </p:nvPr>
        </p:nvSpPr>
        <p:spPr>
          <a:xfrm>
            <a:off x="838200" y="1690688"/>
            <a:ext cx="10515600" cy="2348877"/>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2400"/>
              <a:buNone/>
            </a:pPr>
            <a:r>
              <a:rPr lang="en-GB" sz="2400">
                <a:latin typeface="Helvetica Neue Light"/>
                <a:ea typeface="Helvetica Neue Light"/>
                <a:cs typeface="Helvetica Neue Light"/>
                <a:sym typeface="Helvetica Neue Light"/>
              </a:rPr>
              <a:t>cd to the directory containing your new file if not already there.</a:t>
            </a:r>
            <a:endParaRPr/>
          </a:p>
          <a:p>
            <a:pPr indent="0" lvl="0" marL="0" rtl="0" algn="l">
              <a:lnSpc>
                <a:spcPct val="150000"/>
              </a:lnSpc>
              <a:spcBef>
                <a:spcPts val="1000"/>
              </a:spcBef>
              <a:spcAft>
                <a:spcPts val="0"/>
              </a:spcAft>
              <a:buClr>
                <a:schemeClr val="dk1"/>
              </a:buClr>
              <a:buSzPts val="2400"/>
              <a:buNone/>
            </a:pPr>
            <a:r>
              <a:rPr lang="en-GB" sz="2400">
                <a:latin typeface="Helvetica Neue Light"/>
                <a:ea typeface="Helvetica Neue Light"/>
                <a:cs typeface="Helvetica Neue Light"/>
                <a:sym typeface="Helvetica Neue Light"/>
              </a:rPr>
              <a:t>Then type  </a:t>
            </a:r>
            <a:r>
              <a:rPr lang="en-GB" sz="2400">
                <a:latin typeface="Courier New"/>
                <a:ea typeface="Courier New"/>
                <a:cs typeface="Courier New"/>
                <a:sym typeface="Courier New"/>
              </a:rPr>
              <a:t>node server.js   </a:t>
            </a:r>
            <a:endParaRPr/>
          </a:p>
          <a:p>
            <a:pPr indent="0" lvl="0" marL="0" rtl="0" algn="l">
              <a:lnSpc>
                <a:spcPct val="150000"/>
              </a:lnSpc>
              <a:spcBef>
                <a:spcPts val="1000"/>
              </a:spcBef>
              <a:spcAft>
                <a:spcPts val="0"/>
              </a:spcAft>
              <a:buClr>
                <a:schemeClr val="dk1"/>
              </a:buClr>
              <a:buSzPts val="2400"/>
              <a:buNone/>
            </a:pPr>
            <a:r>
              <a:rPr lang="en-GB" sz="2400">
                <a:latin typeface="Helvetica Neue Light"/>
                <a:ea typeface="Helvetica Neue Light"/>
                <a:cs typeface="Helvetica Neue Light"/>
                <a:sym typeface="Helvetica Neue Light"/>
              </a:rPr>
              <a:t>Control C to stop the server</a:t>
            </a:r>
            <a:endParaRPr/>
          </a:p>
        </p:txBody>
      </p:sp>
      <p:pic>
        <p:nvPicPr>
          <p:cNvPr id="245" name="Google Shape;245;p24"/>
          <p:cNvPicPr preferRelativeResize="0"/>
          <p:nvPr/>
        </p:nvPicPr>
        <p:blipFill rotWithShape="1">
          <a:blip r:embed="rId3">
            <a:alphaModFix/>
          </a:blip>
          <a:srcRect b="0" l="0" r="0" t="0"/>
          <a:stretch/>
        </p:blipFill>
        <p:spPr>
          <a:xfrm>
            <a:off x="838199" y="3860800"/>
            <a:ext cx="10389259" cy="234887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3473F"/>
              </a:buClr>
              <a:buSzPts val="4400"/>
              <a:buFont typeface="Cutive"/>
              <a:buNone/>
            </a:pPr>
            <a:r>
              <a:rPr lang="en-GB">
                <a:solidFill>
                  <a:srgbClr val="D3473F"/>
                </a:solidFill>
                <a:latin typeface="Cutive"/>
                <a:ea typeface="Cutive"/>
                <a:cs typeface="Cutive"/>
                <a:sym typeface="Cutive"/>
              </a:rPr>
              <a:t>Add an HTTP Header</a:t>
            </a:r>
            <a:endParaRPr/>
          </a:p>
        </p:txBody>
      </p:sp>
      <p:sp>
        <p:nvSpPr>
          <p:cNvPr id="251" name="Google Shape;251;p25"/>
          <p:cNvSpPr txBox="1"/>
          <p:nvPr>
            <p:ph idx="1" type="body"/>
          </p:nvPr>
        </p:nvSpPr>
        <p:spPr>
          <a:xfrm>
            <a:off x="838200" y="1321356"/>
            <a:ext cx="10515600" cy="850341"/>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2400"/>
              <a:buNone/>
            </a:pPr>
            <a:r>
              <a:rPr lang="en-GB" sz="2400">
                <a:latin typeface="Helvetica Neue Light"/>
                <a:ea typeface="Helvetica Neue Light"/>
                <a:cs typeface="Helvetica Neue Light"/>
                <a:sym typeface="Helvetica Neue Light"/>
              </a:rPr>
              <a:t>If the response from the HTTP server is supposed to be displayed as HTML, you should include an HTTP header with the correct content type: Line 3 set response header, Line 4 set response content. </a:t>
            </a:r>
            <a:endParaRPr/>
          </a:p>
        </p:txBody>
      </p:sp>
      <p:pic>
        <p:nvPicPr>
          <p:cNvPr id="252" name="Google Shape;252;p25"/>
          <p:cNvPicPr preferRelativeResize="0"/>
          <p:nvPr/>
        </p:nvPicPr>
        <p:blipFill rotWithShape="1">
          <a:blip r:embed="rId3">
            <a:alphaModFix/>
          </a:blip>
          <a:srcRect b="0" l="0" r="0" t="0"/>
          <a:stretch/>
        </p:blipFill>
        <p:spPr>
          <a:xfrm>
            <a:off x="838200" y="3127928"/>
            <a:ext cx="10403958" cy="32402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6"/>
          <p:cNvSpPr txBox="1"/>
          <p:nvPr>
            <p:ph type="title"/>
          </p:nvPr>
        </p:nvSpPr>
        <p:spPr>
          <a:xfrm>
            <a:off x="838200" y="142042"/>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3473F"/>
              </a:buClr>
              <a:buSzPts val="4400"/>
              <a:buFont typeface="Cutive"/>
              <a:buNone/>
            </a:pPr>
            <a:r>
              <a:rPr lang="en-GB">
                <a:solidFill>
                  <a:srgbClr val="D3473F"/>
                </a:solidFill>
                <a:latin typeface="Cutive"/>
                <a:ea typeface="Cutive"/>
                <a:cs typeface="Cutive"/>
                <a:sym typeface="Cutive"/>
              </a:rPr>
              <a:t>Restart the server</a:t>
            </a:r>
            <a:endParaRPr/>
          </a:p>
        </p:txBody>
      </p:sp>
      <p:sp>
        <p:nvSpPr>
          <p:cNvPr id="258" name="Google Shape;258;p26"/>
          <p:cNvSpPr txBox="1"/>
          <p:nvPr>
            <p:ph idx="1" type="body"/>
          </p:nvPr>
        </p:nvSpPr>
        <p:spPr>
          <a:xfrm>
            <a:off x="838200" y="1084274"/>
            <a:ext cx="10771414" cy="850341"/>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2400"/>
              <a:buNone/>
            </a:pPr>
            <a:r>
              <a:rPr lang="en-GB" sz="2400">
                <a:latin typeface="Helvetica Neue Light"/>
                <a:ea typeface="Helvetica Neue Light"/>
                <a:cs typeface="Helvetica Neue Light"/>
                <a:sym typeface="Helvetica Neue Light"/>
              </a:rPr>
              <a:t>Restart the server   </a:t>
            </a:r>
            <a:r>
              <a:rPr lang="en-GB" sz="2400">
                <a:latin typeface="Courier New"/>
                <a:ea typeface="Courier New"/>
                <a:cs typeface="Courier New"/>
                <a:sym typeface="Courier New"/>
              </a:rPr>
              <a:t>node server.js </a:t>
            </a:r>
            <a:endParaRPr/>
          </a:p>
          <a:p>
            <a:pPr indent="0" lvl="0" marL="0" rtl="0" algn="l">
              <a:lnSpc>
                <a:spcPct val="150000"/>
              </a:lnSpc>
              <a:spcBef>
                <a:spcPts val="1000"/>
              </a:spcBef>
              <a:spcAft>
                <a:spcPts val="0"/>
              </a:spcAft>
              <a:buClr>
                <a:schemeClr val="dk1"/>
              </a:buClr>
              <a:buSzPts val="2400"/>
              <a:buNone/>
            </a:pPr>
            <a:r>
              <a:rPr lang="en-GB" sz="2400">
                <a:latin typeface="Helvetica Neue Light"/>
                <a:ea typeface="Helvetica Neue Light"/>
                <a:cs typeface="Helvetica Neue Light"/>
                <a:sym typeface="Helvetica Neue Light"/>
              </a:rPr>
              <a:t>Note I have a new file server1, yours can still be the same file</a:t>
            </a:r>
            <a:endParaRPr/>
          </a:p>
        </p:txBody>
      </p:sp>
      <p:sp>
        <p:nvSpPr>
          <p:cNvPr id="259" name="Google Shape;259;p26"/>
          <p:cNvSpPr txBox="1"/>
          <p:nvPr/>
        </p:nvSpPr>
        <p:spPr>
          <a:xfrm>
            <a:off x="838200" y="3997275"/>
            <a:ext cx="10515600" cy="850341"/>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2400"/>
              <a:buFont typeface="Arial"/>
              <a:buNone/>
            </a:pPr>
            <a:r>
              <a:rPr lang="en-GB" sz="2400">
                <a:solidFill>
                  <a:schemeClr val="dk1"/>
                </a:solidFill>
                <a:latin typeface="Helvetica Neue Light"/>
                <a:ea typeface="Helvetica Neue Light"/>
                <a:cs typeface="Helvetica Neue Light"/>
                <a:sym typeface="Helvetica Neue Light"/>
              </a:rPr>
              <a:t>In your browser go to localhost:8080</a:t>
            </a:r>
            <a:endParaRPr/>
          </a:p>
        </p:txBody>
      </p:sp>
      <p:pic>
        <p:nvPicPr>
          <p:cNvPr id="260" name="Google Shape;260;p26"/>
          <p:cNvPicPr preferRelativeResize="0"/>
          <p:nvPr/>
        </p:nvPicPr>
        <p:blipFill rotWithShape="1">
          <a:blip r:embed="rId3">
            <a:alphaModFix/>
          </a:blip>
          <a:srcRect b="0" l="0" r="0" t="0"/>
          <a:stretch/>
        </p:blipFill>
        <p:spPr>
          <a:xfrm>
            <a:off x="838200" y="2409837"/>
            <a:ext cx="7772400" cy="1491079"/>
          </a:xfrm>
          <a:prstGeom prst="rect">
            <a:avLst/>
          </a:prstGeom>
          <a:noFill/>
          <a:ln>
            <a:noFill/>
          </a:ln>
        </p:spPr>
      </p:pic>
      <p:pic>
        <p:nvPicPr>
          <p:cNvPr id="261" name="Google Shape;261;p26"/>
          <p:cNvPicPr preferRelativeResize="0"/>
          <p:nvPr/>
        </p:nvPicPr>
        <p:blipFill rotWithShape="1">
          <a:blip r:embed="rId4">
            <a:alphaModFix/>
          </a:blip>
          <a:srcRect b="0" l="0" r="0" t="0"/>
          <a:stretch/>
        </p:blipFill>
        <p:spPr>
          <a:xfrm>
            <a:off x="838200" y="4699045"/>
            <a:ext cx="6410098" cy="1865041"/>
          </a:xfrm>
          <a:prstGeom prst="rect">
            <a:avLst/>
          </a:prstGeom>
          <a:noFill/>
          <a:ln cap="flat" cmpd="sng" w="9525">
            <a:solidFill>
              <a:srgbClr val="7F7F7F"/>
            </a:solidFill>
            <a:prstDash val="solid"/>
            <a:round/>
            <a:headEnd len="sm" w="sm" type="none"/>
            <a:tailEnd len="sm" w="sm" type="none"/>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7"/>
          <p:cNvSpPr txBox="1"/>
          <p:nvPr>
            <p:ph type="title"/>
          </p:nvPr>
        </p:nvSpPr>
        <p:spPr>
          <a:xfrm>
            <a:off x="7921450" y="2531166"/>
            <a:ext cx="5380893"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D3473F"/>
              </a:buClr>
              <a:buSzPct val="100000"/>
              <a:buFont typeface="Cutive"/>
              <a:buNone/>
            </a:pPr>
            <a:r>
              <a:rPr lang="en-GB">
                <a:solidFill>
                  <a:srgbClr val="D3473F"/>
                </a:solidFill>
                <a:latin typeface="Cutive"/>
                <a:ea typeface="Cutive"/>
                <a:cs typeface="Cutive"/>
                <a:sym typeface="Cutive"/>
              </a:rPr>
              <a:t>Fuller example</a:t>
            </a:r>
            <a:br>
              <a:rPr lang="en-GB">
                <a:solidFill>
                  <a:srgbClr val="D3473F"/>
                </a:solidFill>
                <a:latin typeface="Cutive"/>
                <a:ea typeface="Cutive"/>
                <a:cs typeface="Cutive"/>
                <a:sym typeface="Cutive"/>
              </a:rPr>
            </a:br>
            <a:br>
              <a:rPr lang="en-GB">
                <a:solidFill>
                  <a:srgbClr val="D3473F"/>
                </a:solidFill>
                <a:latin typeface="Cutive"/>
                <a:ea typeface="Cutive"/>
                <a:cs typeface="Cutive"/>
                <a:sym typeface="Cutive"/>
              </a:rPr>
            </a:br>
            <a:r>
              <a:rPr lang="en-GB" sz="2700">
                <a:latin typeface="Helvetica Neue Light"/>
                <a:ea typeface="Helvetica Neue Light"/>
                <a:cs typeface="Helvetica Neue Light"/>
                <a:sym typeface="Helvetica Neue Light"/>
              </a:rPr>
              <a:t>node-server/server2.js</a:t>
            </a:r>
            <a:endParaRPr/>
          </a:p>
        </p:txBody>
      </p:sp>
      <p:pic>
        <p:nvPicPr>
          <p:cNvPr id="267" name="Google Shape;267;p27"/>
          <p:cNvPicPr preferRelativeResize="0"/>
          <p:nvPr/>
        </p:nvPicPr>
        <p:blipFill rotWithShape="1">
          <a:blip r:embed="rId3">
            <a:alphaModFix/>
          </a:blip>
          <a:srcRect b="0" l="0" r="0" t="0"/>
          <a:stretch/>
        </p:blipFill>
        <p:spPr>
          <a:xfrm>
            <a:off x="0" y="0"/>
            <a:ext cx="7629633" cy="6858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8"/>
          <p:cNvSpPr txBox="1"/>
          <p:nvPr>
            <p:ph type="title"/>
          </p:nvPr>
        </p:nvSpPr>
        <p:spPr>
          <a:xfrm>
            <a:off x="838200" y="420963"/>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3473F"/>
              </a:buClr>
              <a:buSzPts val="4400"/>
              <a:buFont typeface="Cutive"/>
              <a:buNone/>
            </a:pPr>
            <a:r>
              <a:rPr lang="en-GB">
                <a:solidFill>
                  <a:srgbClr val="D3473F"/>
                </a:solidFill>
                <a:latin typeface="Cutive"/>
                <a:ea typeface="Cutive"/>
                <a:cs typeface="Cutive"/>
                <a:sym typeface="Cutive"/>
              </a:rPr>
              <a:t>Handle HTTP Requests</a:t>
            </a:r>
            <a:endParaRPr/>
          </a:p>
        </p:txBody>
      </p:sp>
      <p:sp>
        <p:nvSpPr>
          <p:cNvPr id="273" name="Google Shape;273;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chemeClr val="dk1"/>
              </a:buClr>
              <a:buSzPts val="2800"/>
              <a:buNone/>
            </a:pPr>
            <a:r>
              <a:rPr lang="en-GB">
                <a:latin typeface="Helvetica Neue Light"/>
                <a:ea typeface="Helvetica Neue Light"/>
                <a:cs typeface="Helvetica Neue Light"/>
                <a:sym typeface="Helvetica Neue Light"/>
              </a:rPr>
              <a:t>The http.createServer() method includes </a:t>
            </a:r>
            <a:r>
              <a:rPr b="1" lang="en-GB">
                <a:latin typeface="Helvetica Neue Light"/>
                <a:ea typeface="Helvetica Neue Light"/>
                <a:cs typeface="Helvetica Neue Light"/>
                <a:sym typeface="Helvetica Neue Light"/>
              </a:rPr>
              <a:t>request</a:t>
            </a:r>
            <a:r>
              <a:rPr lang="en-GB">
                <a:latin typeface="Helvetica Neue Light"/>
                <a:ea typeface="Helvetica Neue Light"/>
                <a:cs typeface="Helvetica Neue Light"/>
                <a:sym typeface="Helvetica Neue Light"/>
              </a:rPr>
              <a:t> and </a:t>
            </a:r>
            <a:r>
              <a:rPr b="1" lang="en-GB">
                <a:latin typeface="Helvetica Neue Light"/>
                <a:ea typeface="Helvetica Neue Light"/>
                <a:cs typeface="Helvetica Neue Light"/>
                <a:sym typeface="Helvetica Neue Light"/>
              </a:rPr>
              <a:t>response</a:t>
            </a:r>
            <a:r>
              <a:rPr lang="en-GB">
                <a:latin typeface="Helvetica Neue Light"/>
                <a:ea typeface="Helvetica Neue Light"/>
                <a:cs typeface="Helvetica Neue Light"/>
                <a:sym typeface="Helvetica Neue Light"/>
              </a:rPr>
              <a:t> parameters which are supplied by Node.js.</a:t>
            </a:r>
            <a:endParaRPr/>
          </a:p>
          <a:p>
            <a:pPr indent="0" lvl="0" marL="0" rtl="0" algn="l">
              <a:lnSpc>
                <a:spcPct val="150000"/>
              </a:lnSpc>
              <a:spcBef>
                <a:spcPts val="1000"/>
              </a:spcBef>
              <a:spcAft>
                <a:spcPts val="0"/>
              </a:spcAft>
              <a:buClr>
                <a:schemeClr val="dk1"/>
              </a:buClr>
              <a:buSzPts val="2800"/>
              <a:buNone/>
            </a:pPr>
            <a:r>
              <a:rPr lang="en-GB">
                <a:latin typeface="Helvetica Neue Light"/>
                <a:ea typeface="Helvetica Neue Light"/>
                <a:cs typeface="Helvetica Neue Light"/>
                <a:sym typeface="Helvetica Neue Light"/>
              </a:rPr>
              <a:t>The request object can be used to get information about the current HTTP request e.g., url, request header, and data.</a:t>
            </a:r>
            <a:endParaRPr/>
          </a:p>
          <a:p>
            <a:pPr indent="0" lvl="0" marL="0" rtl="0" algn="l">
              <a:lnSpc>
                <a:spcPct val="150000"/>
              </a:lnSpc>
              <a:spcBef>
                <a:spcPts val="1000"/>
              </a:spcBef>
              <a:spcAft>
                <a:spcPts val="0"/>
              </a:spcAft>
              <a:buClr>
                <a:schemeClr val="dk1"/>
              </a:buClr>
              <a:buSzPts val="2800"/>
              <a:buNone/>
            </a:pPr>
            <a:r>
              <a:rPr lang="en-GB">
                <a:latin typeface="Helvetica Neue Light"/>
                <a:ea typeface="Helvetica Neue Light"/>
                <a:cs typeface="Helvetica Neue Light"/>
                <a:sym typeface="Helvetica Neue Light"/>
              </a:rPr>
              <a:t>The response object can be used to send a response for a current HTTP request.</a:t>
            </a:r>
            <a:endParaRPr>
              <a:latin typeface="Helvetica Neue Light"/>
              <a:ea typeface="Helvetica Neue Light"/>
              <a:cs typeface="Helvetica Neue Light"/>
              <a:sym typeface="Helvetica Neue Light"/>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9"/>
          <p:cNvSpPr txBox="1"/>
          <p:nvPr>
            <p:ph type="title"/>
          </p:nvPr>
        </p:nvSpPr>
        <p:spPr>
          <a:xfrm>
            <a:off x="838200" y="34382"/>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3473F"/>
              </a:buClr>
              <a:buSzPts val="4400"/>
              <a:buFont typeface="Cutive"/>
              <a:buNone/>
            </a:pPr>
            <a:r>
              <a:rPr lang="en-GB">
                <a:solidFill>
                  <a:srgbClr val="D3473F"/>
                </a:solidFill>
                <a:latin typeface="Cutive"/>
                <a:ea typeface="Cutive"/>
                <a:cs typeface="Cutive"/>
                <a:sym typeface="Cutive"/>
              </a:rPr>
              <a:t>Detail view</a:t>
            </a:r>
            <a:endParaRPr/>
          </a:p>
        </p:txBody>
      </p:sp>
      <p:sp>
        <p:nvSpPr>
          <p:cNvPr id="279" name="Google Shape;279;p29"/>
          <p:cNvSpPr txBox="1"/>
          <p:nvPr>
            <p:ph idx="1" type="body"/>
          </p:nvPr>
        </p:nvSpPr>
        <p:spPr>
          <a:xfrm>
            <a:off x="838200" y="1090872"/>
            <a:ext cx="10515600" cy="1325563"/>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chemeClr val="dk1"/>
              </a:buClr>
              <a:buSzPts val="2800"/>
              <a:buNone/>
            </a:pPr>
            <a:r>
              <a:rPr lang="en-GB">
                <a:latin typeface="Helvetica Neue Light"/>
                <a:ea typeface="Helvetica Neue Light"/>
                <a:cs typeface="Helvetica Neue Light"/>
                <a:sym typeface="Helvetica Neue Light"/>
              </a:rPr>
              <a:t>Using if and else if. We can use the ‘url’ property of the request object to check the url of the current request lines 3 and 10</a:t>
            </a:r>
            <a:endParaRPr/>
          </a:p>
        </p:txBody>
      </p:sp>
      <p:pic>
        <p:nvPicPr>
          <p:cNvPr id="280" name="Google Shape;280;p29"/>
          <p:cNvPicPr preferRelativeResize="0"/>
          <p:nvPr/>
        </p:nvPicPr>
        <p:blipFill rotWithShape="1">
          <a:blip r:embed="rId3">
            <a:alphaModFix/>
          </a:blip>
          <a:srcRect b="50000" l="0" r="0" t="0"/>
          <a:stretch/>
        </p:blipFill>
        <p:spPr>
          <a:xfrm>
            <a:off x="938277" y="2631729"/>
            <a:ext cx="8722556" cy="386700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0"/>
          <p:cNvSpPr txBox="1"/>
          <p:nvPr>
            <p:ph type="title"/>
          </p:nvPr>
        </p:nvSpPr>
        <p:spPr>
          <a:xfrm>
            <a:off x="838200" y="34382"/>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3473F"/>
              </a:buClr>
              <a:buSzPts val="4400"/>
              <a:buFont typeface="Cutive"/>
              <a:buNone/>
            </a:pPr>
            <a:r>
              <a:rPr lang="en-GB">
                <a:solidFill>
                  <a:srgbClr val="D3473F"/>
                </a:solidFill>
                <a:latin typeface="Cutive"/>
                <a:ea typeface="Cutive"/>
                <a:cs typeface="Cutive"/>
                <a:sym typeface="Cutive"/>
              </a:rPr>
              <a:t>Detail view 2</a:t>
            </a:r>
            <a:endParaRPr/>
          </a:p>
        </p:txBody>
      </p:sp>
      <p:sp>
        <p:nvSpPr>
          <p:cNvPr id="286" name="Google Shape;286;p30"/>
          <p:cNvSpPr txBox="1"/>
          <p:nvPr>
            <p:ph idx="1" type="body"/>
          </p:nvPr>
        </p:nvSpPr>
        <p:spPr>
          <a:xfrm>
            <a:off x="838200" y="1090872"/>
            <a:ext cx="10515600" cy="2815439"/>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70000"/>
              </a:lnSpc>
              <a:spcBef>
                <a:spcPts val="0"/>
              </a:spcBef>
              <a:spcAft>
                <a:spcPts val="0"/>
              </a:spcAft>
              <a:buClr>
                <a:schemeClr val="dk1"/>
              </a:buClr>
              <a:buSzPct val="100000"/>
              <a:buNone/>
            </a:pPr>
            <a:r>
              <a:rPr lang="en-GB">
                <a:latin typeface="Helvetica Neue Light"/>
                <a:ea typeface="Helvetica Neue Light"/>
                <a:cs typeface="Helvetica Neue Light"/>
                <a:sym typeface="Helvetica Neue Light"/>
              </a:rPr>
              <a:t>Again,  req.url is used to check the url of the current request and based on that it sends the response. To send a response, first it sets the response header using writeHead() method and then writes a string as a response body using write() method. Finally, Node.js web server sends the response using end() method.</a:t>
            </a:r>
            <a:endParaRPr/>
          </a:p>
        </p:txBody>
      </p:sp>
      <p:pic>
        <p:nvPicPr>
          <p:cNvPr id="287" name="Google Shape;287;p30"/>
          <p:cNvPicPr preferRelativeResize="0"/>
          <p:nvPr/>
        </p:nvPicPr>
        <p:blipFill rotWithShape="1">
          <a:blip r:embed="rId3">
            <a:alphaModFix/>
          </a:blip>
          <a:srcRect b="33519" l="0" r="0" t="44892"/>
          <a:stretch/>
        </p:blipFill>
        <p:spPr>
          <a:xfrm>
            <a:off x="838200" y="4153961"/>
            <a:ext cx="11041145" cy="211348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1"/>
          <p:cNvSpPr txBox="1"/>
          <p:nvPr>
            <p:ph type="title"/>
          </p:nvPr>
        </p:nvSpPr>
        <p:spPr>
          <a:xfrm>
            <a:off x="838200" y="34382"/>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3473F"/>
              </a:buClr>
              <a:buSzPts val="4400"/>
              <a:buFont typeface="Cutive"/>
              <a:buNone/>
            </a:pPr>
            <a:r>
              <a:rPr lang="en-GB">
                <a:solidFill>
                  <a:srgbClr val="D3473F"/>
                </a:solidFill>
                <a:latin typeface="Cutive"/>
                <a:ea typeface="Cutive"/>
                <a:cs typeface="Cutive"/>
                <a:sym typeface="Cutive"/>
              </a:rPr>
              <a:t>Sending JSON response</a:t>
            </a:r>
            <a:endParaRPr/>
          </a:p>
        </p:txBody>
      </p:sp>
      <p:sp>
        <p:nvSpPr>
          <p:cNvPr id="293" name="Google Shape;293;p31"/>
          <p:cNvSpPr txBox="1"/>
          <p:nvPr>
            <p:ph idx="1" type="body"/>
          </p:nvPr>
        </p:nvSpPr>
        <p:spPr>
          <a:xfrm>
            <a:off x="838200" y="1090872"/>
            <a:ext cx="10515600" cy="1693327"/>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60000"/>
              </a:lnSpc>
              <a:spcBef>
                <a:spcPts val="0"/>
              </a:spcBef>
              <a:spcAft>
                <a:spcPts val="0"/>
              </a:spcAft>
              <a:buClr>
                <a:schemeClr val="dk1"/>
              </a:buClr>
              <a:buSzPct val="100000"/>
              <a:buNone/>
            </a:pPr>
            <a:r>
              <a:rPr lang="en-GB">
                <a:latin typeface="Helvetica Neue Light"/>
                <a:ea typeface="Helvetica Neue Light"/>
                <a:cs typeface="Helvetica Neue Light"/>
                <a:sym typeface="Helvetica Neue Light"/>
              </a:rPr>
              <a:t>Inserting lines 20-24 shows how to serve  a JSON response from the Node.js web server. this way we can create a simple web server that serves different responses.   (see: </a:t>
            </a:r>
            <a:r>
              <a:rPr lang="en-GB" u="sng">
                <a:solidFill>
                  <a:schemeClr val="hlink"/>
                </a:solidFill>
                <a:latin typeface="Helvetica Neue Light"/>
                <a:ea typeface="Helvetica Neue Light"/>
                <a:cs typeface="Helvetica Neue Light"/>
                <a:sym typeface="Helvetica Neue Light"/>
                <a:hlinkClick r:id="rId3"/>
              </a:rPr>
              <a:t>JSON.stringify</a:t>
            </a:r>
            <a:r>
              <a:rPr lang="en-GB">
                <a:latin typeface="Helvetica Neue Light"/>
                <a:ea typeface="Helvetica Neue Light"/>
                <a:cs typeface="Helvetica Neue Light"/>
                <a:sym typeface="Helvetica Neue Light"/>
              </a:rPr>
              <a:t>)</a:t>
            </a:r>
            <a:endParaRPr/>
          </a:p>
        </p:txBody>
      </p:sp>
      <p:pic>
        <p:nvPicPr>
          <p:cNvPr id="294" name="Google Shape;294;p31"/>
          <p:cNvPicPr preferRelativeResize="0"/>
          <p:nvPr/>
        </p:nvPicPr>
        <p:blipFill rotWithShape="1">
          <a:blip r:embed="rId4">
            <a:alphaModFix/>
          </a:blip>
          <a:srcRect b="0" l="0" r="0" t="0"/>
          <a:stretch/>
        </p:blipFill>
        <p:spPr>
          <a:xfrm>
            <a:off x="838199" y="2922814"/>
            <a:ext cx="10779383" cy="36086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2"/>
          <p:cNvSpPr txBox="1"/>
          <p:nvPr>
            <p:ph type="title"/>
          </p:nvPr>
        </p:nvSpPr>
        <p:spPr>
          <a:xfrm>
            <a:off x="838200" y="26285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3473F"/>
              </a:buClr>
              <a:buSzPts val="4400"/>
              <a:buFont typeface="Cutive"/>
              <a:buNone/>
            </a:pPr>
            <a:r>
              <a:rPr lang="en-GB">
                <a:solidFill>
                  <a:srgbClr val="D3473F"/>
                </a:solidFill>
                <a:latin typeface="Cutive"/>
                <a:ea typeface="Cutive"/>
                <a:cs typeface="Cutive"/>
                <a:sym typeface="Cutive"/>
              </a:rPr>
              <a:t>Lab task for this week (#4 of 5)</a:t>
            </a:r>
            <a:endParaRPr/>
          </a:p>
        </p:txBody>
      </p:sp>
      <p:sp>
        <p:nvSpPr>
          <p:cNvPr id="300" name="Google Shape;300;p32"/>
          <p:cNvSpPr txBox="1"/>
          <p:nvPr>
            <p:ph idx="1" type="body"/>
          </p:nvPr>
        </p:nvSpPr>
        <p:spPr>
          <a:xfrm>
            <a:off x="838200" y="1588413"/>
            <a:ext cx="10515600" cy="4543446"/>
          </a:xfrm>
          <a:prstGeom prst="rect">
            <a:avLst/>
          </a:prstGeom>
          <a:noFill/>
          <a:ln>
            <a:noFill/>
          </a:ln>
        </p:spPr>
        <p:txBody>
          <a:bodyPr anchorCtr="0" anchor="t" bIns="45700" lIns="91425" spcFirstLastPara="1" rIns="91425" wrap="square" tIns="45700">
            <a:normAutofit fontScale="85000" lnSpcReduction="10000"/>
          </a:bodyPr>
          <a:lstStyle/>
          <a:p>
            <a:pPr indent="0" lvl="0" marL="0" rtl="0" algn="l">
              <a:lnSpc>
                <a:spcPct val="160000"/>
              </a:lnSpc>
              <a:spcBef>
                <a:spcPts val="0"/>
              </a:spcBef>
              <a:spcAft>
                <a:spcPts val="0"/>
              </a:spcAft>
              <a:buClr>
                <a:schemeClr val="dk1"/>
              </a:buClr>
              <a:buSzPct val="100000"/>
              <a:buNone/>
            </a:pPr>
            <a:r>
              <a:rPr lang="en-GB">
                <a:latin typeface="Helvetica Neue Light"/>
                <a:ea typeface="Helvetica Neue Light"/>
                <a:cs typeface="Helvetica Neue Light"/>
                <a:sym typeface="Helvetica Neue Light"/>
              </a:rPr>
              <a:t>Implement the code from slide 20 onwards from this lecture on your G Drive or on your own machine.</a:t>
            </a:r>
            <a:endParaRPr/>
          </a:p>
          <a:p>
            <a:pPr indent="0" lvl="0" marL="0" rtl="0" algn="l">
              <a:lnSpc>
                <a:spcPct val="160000"/>
              </a:lnSpc>
              <a:spcBef>
                <a:spcPts val="1000"/>
              </a:spcBef>
              <a:spcAft>
                <a:spcPts val="0"/>
              </a:spcAft>
              <a:buClr>
                <a:schemeClr val="dk1"/>
              </a:buClr>
              <a:buSzPct val="100000"/>
              <a:buNone/>
            </a:pPr>
            <a:r>
              <a:rPr lang="en-GB">
                <a:latin typeface="Helvetica Neue Light"/>
                <a:ea typeface="Helvetica Neue Light"/>
                <a:cs typeface="Helvetica Neue Light"/>
                <a:sym typeface="Helvetica Neue Light"/>
              </a:rPr>
              <a:t>Submit a screen shot of the server running in the command line on port 8080</a:t>
            </a:r>
            <a:endParaRPr/>
          </a:p>
          <a:p>
            <a:pPr indent="0" lvl="0" marL="0" rtl="0" algn="l">
              <a:lnSpc>
                <a:spcPct val="160000"/>
              </a:lnSpc>
              <a:spcBef>
                <a:spcPts val="1000"/>
              </a:spcBef>
              <a:spcAft>
                <a:spcPts val="0"/>
              </a:spcAft>
              <a:buClr>
                <a:schemeClr val="dk1"/>
              </a:buClr>
              <a:buSzPct val="100000"/>
              <a:buNone/>
            </a:pPr>
            <a:r>
              <a:rPr lang="en-GB">
                <a:latin typeface="Helvetica Neue Light"/>
                <a:ea typeface="Helvetica Neue Light"/>
                <a:cs typeface="Helvetica Neue Light"/>
                <a:sym typeface="Helvetica Neue Light"/>
              </a:rPr>
              <a:t>Show the different responses in the browser via localhost:8080</a:t>
            </a:r>
            <a:endParaRPr/>
          </a:p>
          <a:p>
            <a:pPr indent="0" lvl="0" marL="0" rtl="0" algn="l">
              <a:lnSpc>
                <a:spcPct val="160000"/>
              </a:lnSpc>
              <a:spcBef>
                <a:spcPts val="1000"/>
              </a:spcBef>
              <a:spcAft>
                <a:spcPts val="0"/>
              </a:spcAft>
              <a:buClr>
                <a:schemeClr val="dk1"/>
              </a:buClr>
              <a:buSzPct val="100000"/>
              <a:buNone/>
            </a:pPr>
            <a:r>
              <a:rPr lang="en-GB">
                <a:latin typeface="Helvetica Neue Light"/>
                <a:ea typeface="Helvetica Neue Light"/>
                <a:cs typeface="Helvetica Neue Light"/>
                <a:sym typeface="Helvetica Neue Light"/>
              </a:rPr>
              <a:t>Home, student, admin, data (the JSON response) and the invalid request error.</a:t>
            </a:r>
            <a:endParaRPr/>
          </a:p>
          <a:p>
            <a:pPr indent="0" lvl="0" marL="0" rtl="0" algn="l">
              <a:lnSpc>
                <a:spcPct val="160000"/>
              </a:lnSpc>
              <a:spcBef>
                <a:spcPts val="1000"/>
              </a:spcBef>
              <a:spcAft>
                <a:spcPts val="0"/>
              </a:spcAft>
              <a:buClr>
                <a:schemeClr val="dk1"/>
              </a:buClr>
              <a:buSzPct val="100000"/>
              <a:buNone/>
            </a:pPr>
            <a:r>
              <a:rPr lang="en-GB">
                <a:latin typeface="Helvetica Neue Light"/>
                <a:ea typeface="Helvetica Neue Light"/>
                <a:cs typeface="Helvetica Neue Light"/>
                <a:sym typeface="Helvetica Neue Light"/>
              </a:rPr>
              <a:t>Annotate the screenshots explaining </a:t>
            </a:r>
            <a:r>
              <a:rPr b="1" lang="en-GB">
                <a:latin typeface="Helvetica Neue Light"/>
                <a:ea typeface="Helvetica Neue Light"/>
                <a:cs typeface="Helvetica Neue Light"/>
                <a:sym typeface="Helvetica Neue Light"/>
              </a:rPr>
              <a:t>your understanding </a:t>
            </a:r>
            <a:r>
              <a:rPr lang="en-GB">
                <a:latin typeface="Helvetica Neue Light"/>
                <a:ea typeface="Helvetica Neue Light"/>
                <a:cs typeface="Helvetica Neue Light"/>
                <a:sym typeface="Helvetica Neue Light"/>
              </a:rPr>
              <a:t>of today’s work.</a:t>
            </a:r>
            <a:endParaRPr/>
          </a:p>
          <a:p>
            <a:pPr indent="0" lvl="0" marL="0" rtl="0" algn="l">
              <a:lnSpc>
                <a:spcPct val="160000"/>
              </a:lnSpc>
              <a:spcBef>
                <a:spcPts val="1000"/>
              </a:spcBef>
              <a:spcAft>
                <a:spcPts val="0"/>
              </a:spcAft>
              <a:buClr>
                <a:schemeClr val="dk1"/>
              </a:buClr>
              <a:buSzPct val="100000"/>
              <a:buNone/>
            </a:pPr>
            <a:r>
              <a:t/>
            </a:r>
            <a:endParaRPr>
              <a:latin typeface="Helvetica Neue Light"/>
              <a:ea typeface="Helvetica Neue Light"/>
              <a:cs typeface="Helvetica Neue Light"/>
              <a:sym typeface="Helvetica Neue Light"/>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5B50">
                <a:alpha val="82745"/>
              </a:srgbClr>
            </a:gs>
            <a:gs pos="41000">
              <a:srgbClr val="FF6C62"/>
            </a:gs>
            <a:gs pos="100000">
              <a:srgbClr val="FF574B"/>
            </a:gs>
          </a:gsLst>
          <a:path path="circle">
            <a:fillToRect b="100%" l="100%" r="0%" t="0%"/>
          </a:path>
          <a:tileRect b="0%" l="0%" r="-100%" t="-100%"/>
        </a:gradFill>
      </p:bgPr>
    </p:bg>
    <p:spTree>
      <p:nvGrpSpPr>
        <p:cNvPr id="304" name="Shape 304"/>
        <p:cNvGrpSpPr/>
        <p:nvPr/>
      </p:nvGrpSpPr>
      <p:grpSpPr>
        <a:xfrm>
          <a:off x="0" y="0"/>
          <a:ext cx="0" cy="0"/>
          <a:chOff x="0" y="0"/>
          <a:chExt cx="0" cy="0"/>
        </a:xfrm>
      </p:grpSpPr>
      <p:sp>
        <p:nvSpPr>
          <p:cNvPr id="305" name="Google Shape;305;p33"/>
          <p:cNvSpPr txBox="1"/>
          <p:nvPr>
            <p:ph idx="1" type="body"/>
          </p:nvPr>
        </p:nvSpPr>
        <p:spPr>
          <a:xfrm>
            <a:off x="0" y="-247136"/>
            <a:ext cx="12192000" cy="5152767"/>
          </a:xfrm>
          <a:prstGeom prst="rect">
            <a:avLst/>
          </a:prstGeom>
          <a:noFill/>
          <a:ln>
            <a:noFill/>
          </a:ln>
          <a:effectLst>
            <a:outerShdw blurRad="266700" rotWithShape="0" algn="br" dir="13500000" dist="127000">
              <a:srgbClr val="000000">
                <a:alpha val="40000"/>
              </a:srgbClr>
            </a:outerShdw>
          </a:effectLst>
        </p:spPr>
        <p:txBody>
          <a:bodyPr anchorCtr="0" anchor="ctr" bIns="45700" lIns="91425" spcFirstLastPara="1" rIns="91425" wrap="square" tIns="45700">
            <a:noAutofit/>
          </a:bodyPr>
          <a:lstStyle/>
          <a:p>
            <a:pPr indent="0" lvl="0" marL="0" rtl="0" algn="ctr">
              <a:lnSpc>
                <a:spcPct val="150000"/>
              </a:lnSpc>
              <a:spcBef>
                <a:spcPts val="0"/>
              </a:spcBef>
              <a:spcAft>
                <a:spcPts val="0"/>
              </a:spcAft>
              <a:buClr>
                <a:schemeClr val="lt1"/>
              </a:buClr>
              <a:buSzPts val="40000"/>
              <a:buNone/>
            </a:pPr>
            <a:r>
              <a:rPr lang="en-GB" sz="40000">
                <a:solidFill>
                  <a:schemeClr val="lt1"/>
                </a:solidFill>
                <a:latin typeface="Helvetica Neue Light"/>
                <a:ea typeface="Helvetica Neue Light"/>
                <a:cs typeface="Helvetica Neue Light"/>
                <a:sym typeface="Helvetica Neue Light"/>
              </a:rPr>
              <a: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5B50">
                <a:alpha val="82745"/>
              </a:srgbClr>
            </a:gs>
            <a:gs pos="41000">
              <a:srgbClr val="FF6C62"/>
            </a:gs>
            <a:gs pos="100000">
              <a:srgbClr val="FF574B"/>
            </a:gs>
          </a:gsLst>
          <a:path path="circle">
            <a:fillToRect b="100%" l="100%" r="0%" t="0%"/>
          </a:path>
          <a:tileRect b="0%" l="0%" r="-100%" t="-100%"/>
        </a:gradFill>
      </p:bgPr>
    </p:bg>
    <p:spTree>
      <p:nvGrpSpPr>
        <p:cNvPr id="309" name="Shape 309"/>
        <p:cNvGrpSpPr/>
        <p:nvPr/>
      </p:nvGrpSpPr>
      <p:grpSpPr>
        <a:xfrm>
          <a:off x="0" y="0"/>
          <a:ext cx="0" cy="0"/>
          <a:chOff x="0" y="0"/>
          <a:chExt cx="0" cy="0"/>
        </a:xfrm>
      </p:grpSpPr>
      <p:sp>
        <p:nvSpPr>
          <p:cNvPr id="310" name="Google Shape;310;p34"/>
          <p:cNvSpPr txBox="1"/>
          <p:nvPr>
            <p:ph idx="1" type="body"/>
          </p:nvPr>
        </p:nvSpPr>
        <p:spPr>
          <a:xfrm>
            <a:off x="964825" y="663964"/>
            <a:ext cx="6880412" cy="914400"/>
          </a:xfrm>
          <a:prstGeom prst="rect">
            <a:avLst/>
          </a:prstGeom>
          <a:noFill/>
          <a:ln>
            <a:noFill/>
          </a:ln>
          <a:effectLst>
            <a:outerShdw blurRad="266700" rotWithShape="0" algn="br" dir="13500000" dist="127000">
              <a:srgbClr val="000000">
                <a:alpha val="40000"/>
              </a:srgbClr>
            </a:outerShdw>
          </a:effectLst>
        </p:spPr>
        <p:txBody>
          <a:bodyPr anchorCtr="0" anchor="ctr" bIns="45700" lIns="91425" spcFirstLastPara="1" rIns="91425" wrap="square" tIns="45700">
            <a:noAutofit/>
          </a:bodyPr>
          <a:lstStyle/>
          <a:p>
            <a:pPr indent="0" lvl="0" marL="0" rtl="0" algn="l">
              <a:lnSpc>
                <a:spcPct val="150000"/>
              </a:lnSpc>
              <a:spcBef>
                <a:spcPts val="0"/>
              </a:spcBef>
              <a:spcAft>
                <a:spcPts val="0"/>
              </a:spcAft>
              <a:buClr>
                <a:schemeClr val="lt1"/>
              </a:buClr>
              <a:buSzPts val="4800"/>
              <a:buNone/>
            </a:pPr>
            <a:r>
              <a:rPr b="1" lang="en-GB" sz="4800">
                <a:solidFill>
                  <a:schemeClr val="lt1"/>
                </a:solidFill>
                <a:latin typeface="Helvetica Neue Light"/>
                <a:ea typeface="Helvetica Neue Light"/>
                <a:cs typeface="Helvetica Neue Light"/>
                <a:sym typeface="Helvetica Neue Light"/>
              </a:rPr>
              <a:t>sources</a:t>
            </a:r>
            <a:endParaRPr/>
          </a:p>
        </p:txBody>
      </p:sp>
      <p:sp>
        <p:nvSpPr>
          <p:cNvPr id="311" name="Google Shape;311;p34"/>
          <p:cNvSpPr txBox="1"/>
          <p:nvPr/>
        </p:nvSpPr>
        <p:spPr>
          <a:xfrm>
            <a:off x="964825" y="2500717"/>
            <a:ext cx="9940739"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lt1"/>
              </a:solidFill>
              <a:latin typeface="Calibri"/>
              <a:ea typeface="Calibri"/>
              <a:cs typeface="Calibri"/>
              <a:sym typeface="Calibri"/>
            </a:endParaRPr>
          </a:p>
          <a:p>
            <a:pPr indent="0" lvl="0" marL="0" marR="0" rtl="0" algn="l">
              <a:spcBef>
                <a:spcPts val="0"/>
              </a:spcBef>
              <a:spcAft>
                <a:spcPts val="0"/>
              </a:spcAft>
              <a:buNone/>
            </a:pPr>
            <a:r>
              <a:rPr lang="en-GB" sz="2400" u="sng">
                <a:solidFill>
                  <a:schemeClr val="lt1"/>
                </a:solidFill>
                <a:latin typeface="Calibri"/>
                <a:ea typeface="Calibri"/>
                <a:cs typeface="Calibri"/>
                <a:sym typeface="Calibri"/>
                <a:hlinkClick r:id="rId3">
                  <a:extLst>
                    <a:ext uri="{A12FA001-AC4F-418D-AE19-62706E023703}">
                      <ahyp:hlinkClr val="tx"/>
                    </a:ext>
                  </a:extLst>
                </a:hlinkClick>
              </a:rPr>
              <a:t>https://www.tutorialsteacher.com/nodejs/create-nodejs-web-server</a:t>
            </a:r>
            <a:endParaRPr sz="2400">
              <a:solidFill>
                <a:schemeClr val="lt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lt1"/>
              </a:solidFill>
              <a:latin typeface="Calibri"/>
              <a:ea typeface="Calibri"/>
              <a:cs typeface="Calibri"/>
              <a:sym typeface="Calibri"/>
            </a:endParaRPr>
          </a:p>
          <a:p>
            <a:pPr indent="0" lvl="0" marL="0" marR="0" rtl="0" algn="l">
              <a:spcBef>
                <a:spcPts val="0"/>
              </a:spcBef>
              <a:spcAft>
                <a:spcPts val="0"/>
              </a:spcAft>
              <a:buNone/>
            </a:pPr>
            <a:r>
              <a:rPr lang="en-GB" sz="2400" u="sng">
                <a:solidFill>
                  <a:schemeClr val="lt1"/>
                </a:solidFill>
                <a:latin typeface="Calibri"/>
                <a:ea typeface="Calibri"/>
                <a:cs typeface="Calibri"/>
                <a:sym typeface="Calibri"/>
                <a:hlinkClick r:id="rId4">
                  <a:extLst>
                    <a:ext uri="{A12FA001-AC4F-418D-AE19-62706E023703}">
                      <ahyp:hlinkClr val="tx"/>
                    </a:ext>
                  </a:extLst>
                </a:hlinkClick>
              </a:rPr>
              <a:t>https://www.tutorialspoint.com/nodejs/nodejs_response_object.htm</a:t>
            </a:r>
            <a:endParaRPr sz="2400">
              <a:solidFill>
                <a:schemeClr val="lt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lt1"/>
              </a:solidFill>
              <a:latin typeface="Calibri"/>
              <a:ea typeface="Calibri"/>
              <a:cs typeface="Calibri"/>
              <a:sym typeface="Calibri"/>
            </a:endParaRPr>
          </a:p>
          <a:p>
            <a:pPr indent="0" lvl="0" marL="0" marR="0" rtl="0" algn="l">
              <a:spcBef>
                <a:spcPts val="0"/>
              </a:spcBef>
              <a:spcAft>
                <a:spcPts val="0"/>
              </a:spcAft>
              <a:buNone/>
            </a:pPr>
            <a:r>
              <a:rPr lang="en-GB" sz="2400" u="sng">
                <a:solidFill>
                  <a:schemeClr val="lt1"/>
                </a:solidFill>
                <a:latin typeface="Calibri"/>
                <a:ea typeface="Calibri"/>
                <a:cs typeface="Calibri"/>
                <a:sym typeface="Calibri"/>
                <a:hlinkClick r:id="rId5">
                  <a:extLst>
                    <a:ext uri="{A12FA001-AC4F-418D-AE19-62706E023703}">
                      <ahyp:hlinkClr val="tx"/>
                    </a:ext>
                  </a:extLst>
                </a:hlinkClick>
              </a:rPr>
              <a:t>https://nodejs.org/en/docs/guides/anatomy-of-an-http-transaction/</a:t>
            </a:r>
            <a:endParaRPr sz="2400">
              <a:solidFill>
                <a:schemeClr val="lt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lt1"/>
              </a:solidFill>
              <a:latin typeface="Calibri"/>
              <a:ea typeface="Calibri"/>
              <a:cs typeface="Calibri"/>
              <a:sym typeface="Calibri"/>
            </a:endParaRPr>
          </a:p>
          <a:p>
            <a:pPr indent="0" lvl="0" marL="0" marR="0" rtl="0" algn="l">
              <a:spcBef>
                <a:spcPts val="0"/>
              </a:spcBef>
              <a:spcAft>
                <a:spcPts val="0"/>
              </a:spcAft>
              <a:buNone/>
            </a:pPr>
            <a:r>
              <a:rPr lang="en-GB" sz="2400" u="sng">
                <a:solidFill>
                  <a:schemeClr val="lt1"/>
                </a:solidFill>
                <a:latin typeface="Calibri"/>
                <a:ea typeface="Calibri"/>
                <a:cs typeface="Calibri"/>
                <a:sym typeface="Calibri"/>
                <a:hlinkClick r:id="rId6">
                  <a:extLst>
                    <a:ext uri="{A12FA001-AC4F-418D-AE19-62706E023703}">
                      <ahyp:hlinkClr val="tx"/>
                    </a:ext>
                  </a:extLst>
                </a:hlinkClick>
              </a:rPr>
              <a:t>https://www.w3schools.com/nodejs/nodejs_http.asp</a:t>
            </a:r>
            <a:endParaRPr sz="2400">
              <a:solidFill>
                <a:schemeClr val="lt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lt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2020-06-28T01:46:05Z</dcterms:created>
  <dc:creator>Matthew Prichard</dc:creator>
</cp:coreProperties>
</file>