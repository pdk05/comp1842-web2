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8" r:id="rId3"/>
    <p:sldId id="260" r:id="rId4"/>
    <p:sldId id="263" r:id="rId5"/>
    <p:sldId id="264" r:id="rId6"/>
    <p:sldId id="265" r:id="rId7"/>
    <p:sldId id="266" r:id="rId8"/>
    <p:sldId id="267" r:id="rId9"/>
    <p:sldId id="269" r:id="rId10"/>
    <p:sldId id="268" r:id="rId11"/>
    <p:sldId id="270" r:id="rId12"/>
    <p:sldId id="272" r:id="rId13"/>
    <p:sldId id="273" r:id="rId14"/>
    <p:sldId id="274" r:id="rId15"/>
    <p:sldId id="275" r:id="rId16"/>
    <p:sldId id="276" r:id="rId17"/>
    <p:sldId id="271" r:id="rId18"/>
    <p:sldId id="277" r:id="rId19"/>
    <p:sldId id="278" r:id="rId20"/>
    <p:sldId id="280" r:id="rId21"/>
    <p:sldId id="279" r:id="rId22"/>
    <p:sldId id="281" r:id="rId23"/>
    <p:sldId id="282" r:id="rId24"/>
    <p:sldId id="283" r:id="rId25"/>
    <p:sldId id="284" r:id="rId26"/>
    <p:sldId id="285" r:id="rId27"/>
    <p:sldId id="286" r:id="rId28"/>
    <p:sldId id="287" r:id="rId29"/>
    <p:sldId id="288" r:id="rId30"/>
    <p:sldId id="289" r:id="rId31"/>
    <p:sldId id="291" r:id="rId32"/>
    <p:sldId id="290" r:id="rId33"/>
    <p:sldId id="262"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3473F"/>
    <a:srgbClr val="FF5B50"/>
    <a:srgbClr val="FF574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621"/>
    <p:restoredTop sz="86395"/>
  </p:normalViewPr>
  <p:slideViewPr>
    <p:cSldViewPr snapToGrid="0" snapToObjects="1">
      <p:cViewPr varScale="1">
        <p:scale>
          <a:sx n="127" d="100"/>
          <a:sy n="127" d="100"/>
        </p:scale>
        <p:origin x="344" y="192"/>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6-28T01:47:14.141"/>
    </inkml:context>
    <inkml:brush xml:id="br0">
      <inkml:brushProperty name="width" value="0.05" units="cm"/>
      <inkml:brushProperty name="height" value="0.05" units="cm"/>
      <inkml:brushProperty name="color" value="#E71224"/>
    </inkml:brush>
  </inkml:definitions>
  <inkml:trace contextRef="#ctx0" brushRef="#br0">1 10 24575,'0'-6'0,"0"2"0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6-28T01:47:15.093"/>
    </inkml:context>
    <inkml:brush xml:id="br0">
      <inkml:brushProperty name="width" value="0.05" units="cm"/>
      <inkml:brushProperty name="height" value="0.05" units="cm"/>
      <inkml:brushProperty name="color" value="#E71224"/>
    </inkml:brush>
  </inkml:definitions>
  <inkml:trace contextRef="#ctx0" brushRef="#br0">1 1 24575,'5'5'0,"-1"-1"0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6-28T01:47:20.298"/>
    </inkml:context>
    <inkml:brush xml:id="br0">
      <inkml:brushProperty name="width" value="0.05" units="cm"/>
      <inkml:brushProperty name="height" value="0.05" units="cm"/>
      <inkml:brushProperty name="color" value="#E71224"/>
    </inkml:brush>
  </inkml:definitions>
  <inkml:trace contextRef="#ctx0" brushRef="#br0">1 10 24575,'0'-5'0,"0"1"0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6-28T01:47:26.089"/>
    </inkml:context>
    <inkml:brush xml:id="br0">
      <inkml:brushProperty name="width" value="0.05" units="cm"/>
      <inkml:brushProperty name="height" value="0.05" units="cm"/>
      <inkml:brushProperty name="color" value="#E71224"/>
    </inkml:brush>
  </inkml:definitions>
  <inkml:trace contextRef="#ctx0" brushRef="#br0">1 0 24575,'0'0'0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6-28T01:47:28.710"/>
    </inkml:context>
    <inkml:brush xml:id="br0">
      <inkml:brushProperty name="width" value="0.05" units="cm"/>
      <inkml:brushProperty name="height" value="0.05" units="cm"/>
      <inkml:brushProperty name="color" value="#E71224"/>
    </inkml:brush>
  </inkml:definitions>
  <inkml:trace contextRef="#ctx0" brushRef="#br0">0 1 24575,'5'0'0,"-1"0"0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FF539-EFFE-4545-8560-8B85D420C599}"/>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4A27E099-A4CF-C148-8D5A-DC7DCE6EA01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5614F13F-321A-6C44-A529-3C63949C72C6}"/>
              </a:ext>
            </a:extLst>
          </p:cNvPr>
          <p:cNvSpPr>
            <a:spLocks noGrp="1"/>
          </p:cNvSpPr>
          <p:nvPr>
            <p:ph type="dt" sz="half" idx="10"/>
          </p:nvPr>
        </p:nvSpPr>
        <p:spPr/>
        <p:txBody>
          <a:bodyPr/>
          <a:lstStyle/>
          <a:p>
            <a:fld id="{BDE38E33-E634-164E-9160-E9D257145221}" type="datetimeFigureOut">
              <a:rPr lang="en-US" smtClean="0"/>
              <a:t>3/25/25</a:t>
            </a:fld>
            <a:endParaRPr lang="en-US"/>
          </a:p>
        </p:txBody>
      </p:sp>
      <p:sp>
        <p:nvSpPr>
          <p:cNvPr id="5" name="Footer Placeholder 4">
            <a:extLst>
              <a:ext uri="{FF2B5EF4-FFF2-40B4-BE49-F238E27FC236}">
                <a16:creationId xmlns:a16="http://schemas.microsoft.com/office/drawing/2014/main" id="{97777D4B-E972-3F48-8AB6-BC30D35A46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F37F83-FC1F-964D-9D14-71EC1C06AE71}"/>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26379864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88E1E-8C7B-BF49-ADDF-0DBF11C19E59}"/>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6196981E-8F9B-D64C-9D10-A1DF590341E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6020193-341C-E347-A42A-A1A21E43FF77}"/>
              </a:ext>
            </a:extLst>
          </p:cNvPr>
          <p:cNvSpPr>
            <a:spLocks noGrp="1"/>
          </p:cNvSpPr>
          <p:nvPr>
            <p:ph type="dt" sz="half" idx="10"/>
          </p:nvPr>
        </p:nvSpPr>
        <p:spPr/>
        <p:txBody>
          <a:bodyPr/>
          <a:lstStyle/>
          <a:p>
            <a:fld id="{BDE38E33-E634-164E-9160-E9D257145221}" type="datetimeFigureOut">
              <a:rPr lang="en-US" smtClean="0"/>
              <a:t>3/25/25</a:t>
            </a:fld>
            <a:endParaRPr lang="en-US"/>
          </a:p>
        </p:txBody>
      </p:sp>
      <p:sp>
        <p:nvSpPr>
          <p:cNvPr id="5" name="Footer Placeholder 4">
            <a:extLst>
              <a:ext uri="{FF2B5EF4-FFF2-40B4-BE49-F238E27FC236}">
                <a16:creationId xmlns:a16="http://schemas.microsoft.com/office/drawing/2014/main" id="{2B618F1D-D2AE-3E45-9684-41082CDD0F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C77C00-9FE2-D644-877F-E440C7FDB266}"/>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11264474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9FB7A-866B-8144-B7A1-B3D2CE8B4D35}"/>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BEA9333F-7620-324C-821F-9AD4629D80B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1841DDB4-466A-D142-8FFA-437B8B3B2108}"/>
              </a:ext>
            </a:extLst>
          </p:cNvPr>
          <p:cNvSpPr>
            <a:spLocks noGrp="1"/>
          </p:cNvSpPr>
          <p:nvPr>
            <p:ph type="dt" sz="half" idx="10"/>
          </p:nvPr>
        </p:nvSpPr>
        <p:spPr/>
        <p:txBody>
          <a:bodyPr/>
          <a:lstStyle/>
          <a:p>
            <a:fld id="{BDE38E33-E634-164E-9160-E9D257145221}" type="datetimeFigureOut">
              <a:rPr lang="en-US" smtClean="0"/>
              <a:t>3/25/25</a:t>
            </a:fld>
            <a:endParaRPr lang="en-US"/>
          </a:p>
        </p:txBody>
      </p:sp>
      <p:sp>
        <p:nvSpPr>
          <p:cNvPr id="5" name="Footer Placeholder 4">
            <a:extLst>
              <a:ext uri="{FF2B5EF4-FFF2-40B4-BE49-F238E27FC236}">
                <a16:creationId xmlns:a16="http://schemas.microsoft.com/office/drawing/2014/main" id="{0E5B42E0-284F-5746-B82C-C36E036E5B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EC5C72-09E6-E047-BEF5-956CDC65F70E}"/>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6327860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B2E35-2AE7-6F47-B4DA-83DE0DF4746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F6FCAD58-35EE-E345-9223-93C0D708CAEB}"/>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564EF8E7-11C7-6E44-9C23-E6F8B255FA0B}"/>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B1588C67-D211-A347-94D3-2566B042CEAC}"/>
              </a:ext>
            </a:extLst>
          </p:cNvPr>
          <p:cNvSpPr>
            <a:spLocks noGrp="1"/>
          </p:cNvSpPr>
          <p:nvPr>
            <p:ph type="dt" sz="half" idx="10"/>
          </p:nvPr>
        </p:nvSpPr>
        <p:spPr/>
        <p:txBody>
          <a:bodyPr/>
          <a:lstStyle/>
          <a:p>
            <a:fld id="{BDE38E33-E634-164E-9160-E9D257145221}" type="datetimeFigureOut">
              <a:rPr lang="en-US" smtClean="0"/>
              <a:t>3/25/25</a:t>
            </a:fld>
            <a:endParaRPr lang="en-US"/>
          </a:p>
        </p:txBody>
      </p:sp>
      <p:sp>
        <p:nvSpPr>
          <p:cNvPr id="6" name="Footer Placeholder 5">
            <a:extLst>
              <a:ext uri="{FF2B5EF4-FFF2-40B4-BE49-F238E27FC236}">
                <a16:creationId xmlns:a16="http://schemas.microsoft.com/office/drawing/2014/main" id="{BF3FAA6E-E7CE-1B4F-A78D-8055C20FF57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86079D9-12B3-A149-9192-6D6EE5E58F8C}"/>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16961091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017B05-85DB-5A4D-931F-231EBBA11290}"/>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76F10373-280F-CA46-BE02-633860BE997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50A25CD-D56D-9749-8FA7-012A6FFB1AD3}"/>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B1940AEA-A232-8E45-B81D-24868FB2C46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22DB3D5C-B45E-294F-899C-37B8ABB44525}"/>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7F43D68E-FDF7-C045-8CAA-189B56B2E697}"/>
              </a:ext>
            </a:extLst>
          </p:cNvPr>
          <p:cNvSpPr>
            <a:spLocks noGrp="1"/>
          </p:cNvSpPr>
          <p:nvPr>
            <p:ph type="dt" sz="half" idx="10"/>
          </p:nvPr>
        </p:nvSpPr>
        <p:spPr/>
        <p:txBody>
          <a:bodyPr/>
          <a:lstStyle/>
          <a:p>
            <a:fld id="{BDE38E33-E634-164E-9160-E9D257145221}" type="datetimeFigureOut">
              <a:rPr lang="en-US" smtClean="0"/>
              <a:t>3/25/25</a:t>
            </a:fld>
            <a:endParaRPr lang="en-US"/>
          </a:p>
        </p:txBody>
      </p:sp>
      <p:sp>
        <p:nvSpPr>
          <p:cNvPr id="8" name="Footer Placeholder 7">
            <a:extLst>
              <a:ext uri="{FF2B5EF4-FFF2-40B4-BE49-F238E27FC236}">
                <a16:creationId xmlns:a16="http://schemas.microsoft.com/office/drawing/2014/main" id="{7C413D46-B78B-B34E-A26D-1E905B740BF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D8BDADF-5108-CD45-9618-15BBE06090DB}"/>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9949294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059E0C-142B-1A4D-89C5-B127E3184B4D}"/>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98F2823E-3DFF-BC40-A52F-4043983FB2DD}"/>
              </a:ext>
            </a:extLst>
          </p:cNvPr>
          <p:cNvSpPr>
            <a:spLocks noGrp="1"/>
          </p:cNvSpPr>
          <p:nvPr>
            <p:ph type="dt" sz="half" idx="10"/>
          </p:nvPr>
        </p:nvSpPr>
        <p:spPr/>
        <p:txBody>
          <a:bodyPr/>
          <a:lstStyle/>
          <a:p>
            <a:fld id="{BDE38E33-E634-164E-9160-E9D257145221}" type="datetimeFigureOut">
              <a:rPr lang="en-US" smtClean="0"/>
              <a:t>3/25/25</a:t>
            </a:fld>
            <a:endParaRPr lang="en-US"/>
          </a:p>
        </p:txBody>
      </p:sp>
      <p:sp>
        <p:nvSpPr>
          <p:cNvPr id="4" name="Footer Placeholder 3">
            <a:extLst>
              <a:ext uri="{FF2B5EF4-FFF2-40B4-BE49-F238E27FC236}">
                <a16:creationId xmlns:a16="http://schemas.microsoft.com/office/drawing/2014/main" id="{124D8986-40E4-9C4C-9000-D7F27294F60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36A2C31-69A8-2541-8800-BF6093390D32}"/>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28051451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6E6F4BA-B7C3-0B40-A517-3063895B03DF}"/>
              </a:ext>
            </a:extLst>
          </p:cNvPr>
          <p:cNvSpPr>
            <a:spLocks noGrp="1"/>
          </p:cNvSpPr>
          <p:nvPr>
            <p:ph type="dt" sz="half" idx="10"/>
          </p:nvPr>
        </p:nvSpPr>
        <p:spPr/>
        <p:txBody>
          <a:bodyPr/>
          <a:lstStyle/>
          <a:p>
            <a:fld id="{BDE38E33-E634-164E-9160-E9D257145221}" type="datetimeFigureOut">
              <a:rPr lang="en-US" smtClean="0"/>
              <a:t>3/25/25</a:t>
            </a:fld>
            <a:endParaRPr lang="en-US"/>
          </a:p>
        </p:txBody>
      </p:sp>
      <p:sp>
        <p:nvSpPr>
          <p:cNvPr id="3" name="Footer Placeholder 2">
            <a:extLst>
              <a:ext uri="{FF2B5EF4-FFF2-40B4-BE49-F238E27FC236}">
                <a16:creationId xmlns:a16="http://schemas.microsoft.com/office/drawing/2014/main" id="{4797E2D8-25FE-5D4E-AA84-54C5D96B6FD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73C8086-56AB-5846-9B21-24E9FACF9EE6}"/>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35648536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C5128B-CB7D-4949-BDCD-CEA57AD6536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C4C22BEB-180F-2C4F-AD00-7398A27FFD6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8D449D24-1922-914E-8AE1-EDB93293A8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6CC72B2-DD18-5848-8941-A617E3E7920F}"/>
              </a:ext>
            </a:extLst>
          </p:cNvPr>
          <p:cNvSpPr>
            <a:spLocks noGrp="1"/>
          </p:cNvSpPr>
          <p:nvPr>
            <p:ph type="dt" sz="half" idx="10"/>
          </p:nvPr>
        </p:nvSpPr>
        <p:spPr/>
        <p:txBody>
          <a:bodyPr/>
          <a:lstStyle/>
          <a:p>
            <a:fld id="{BDE38E33-E634-164E-9160-E9D257145221}" type="datetimeFigureOut">
              <a:rPr lang="en-US" smtClean="0"/>
              <a:t>3/25/25</a:t>
            </a:fld>
            <a:endParaRPr lang="en-US"/>
          </a:p>
        </p:txBody>
      </p:sp>
      <p:sp>
        <p:nvSpPr>
          <p:cNvPr id="6" name="Footer Placeholder 5">
            <a:extLst>
              <a:ext uri="{FF2B5EF4-FFF2-40B4-BE49-F238E27FC236}">
                <a16:creationId xmlns:a16="http://schemas.microsoft.com/office/drawing/2014/main" id="{688227D4-8A18-8847-B7F4-B294D0E2127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0541A7C-E471-BB41-A5AE-D7F2A5EF5242}"/>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30120608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8BA7A-65F6-804A-9941-BCE8970B95F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CA38F054-1226-C841-8344-D63DBC0215B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C11DC94-414C-3F41-B393-D969AAC6A3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DDE8132-7D31-F647-A931-5987A506D35F}"/>
              </a:ext>
            </a:extLst>
          </p:cNvPr>
          <p:cNvSpPr>
            <a:spLocks noGrp="1"/>
          </p:cNvSpPr>
          <p:nvPr>
            <p:ph type="dt" sz="half" idx="10"/>
          </p:nvPr>
        </p:nvSpPr>
        <p:spPr/>
        <p:txBody>
          <a:bodyPr/>
          <a:lstStyle/>
          <a:p>
            <a:fld id="{BDE38E33-E634-164E-9160-E9D257145221}" type="datetimeFigureOut">
              <a:rPr lang="en-US" smtClean="0"/>
              <a:t>3/25/25</a:t>
            </a:fld>
            <a:endParaRPr lang="en-US"/>
          </a:p>
        </p:txBody>
      </p:sp>
      <p:sp>
        <p:nvSpPr>
          <p:cNvPr id="6" name="Footer Placeholder 5">
            <a:extLst>
              <a:ext uri="{FF2B5EF4-FFF2-40B4-BE49-F238E27FC236}">
                <a16:creationId xmlns:a16="http://schemas.microsoft.com/office/drawing/2014/main" id="{59DF137E-B2CD-DD4D-BF38-E08630C9F6A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9EF7E92-EA36-7B48-A10F-1F43EE78FE1D}"/>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33845614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E4E04-9F9F-AB48-88B1-E1883CD33176}"/>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2657EA1-F037-8B4E-9A3A-2DE41A3DEF8A}"/>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8DB8C3C-2D4F-BE41-8BC7-084B83BEFA84}"/>
              </a:ext>
            </a:extLst>
          </p:cNvPr>
          <p:cNvSpPr>
            <a:spLocks noGrp="1"/>
          </p:cNvSpPr>
          <p:nvPr>
            <p:ph type="dt" sz="half" idx="10"/>
          </p:nvPr>
        </p:nvSpPr>
        <p:spPr/>
        <p:txBody>
          <a:bodyPr/>
          <a:lstStyle/>
          <a:p>
            <a:fld id="{BDE38E33-E634-164E-9160-E9D257145221}" type="datetimeFigureOut">
              <a:rPr lang="en-US" smtClean="0"/>
              <a:t>3/25/25</a:t>
            </a:fld>
            <a:endParaRPr lang="en-US"/>
          </a:p>
        </p:txBody>
      </p:sp>
      <p:sp>
        <p:nvSpPr>
          <p:cNvPr id="5" name="Footer Placeholder 4">
            <a:extLst>
              <a:ext uri="{FF2B5EF4-FFF2-40B4-BE49-F238E27FC236}">
                <a16:creationId xmlns:a16="http://schemas.microsoft.com/office/drawing/2014/main" id="{D612D0DE-14FE-1D40-BE53-A452852B6E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71D8C1-DBB4-6047-9F3A-27574BE70FD2}"/>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31818959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BA564D8-A2EB-6040-A321-450F2B3B531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0FE19CC6-DE46-8941-A1E0-A043207418B2}"/>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84B8749-56EB-B24A-9291-4EBB8B556CFA}"/>
              </a:ext>
            </a:extLst>
          </p:cNvPr>
          <p:cNvSpPr>
            <a:spLocks noGrp="1"/>
          </p:cNvSpPr>
          <p:nvPr>
            <p:ph type="dt" sz="half" idx="10"/>
          </p:nvPr>
        </p:nvSpPr>
        <p:spPr/>
        <p:txBody>
          <a:bodyPr/>
          <a:lstStyle/>
          <a:p>
            <a:fld id="{BDE38E33-E634-164E-9160-E9D257145221}" type="datetimeFigureOut">
              <a:rPr lang="en-US" smtClean="0"/>
              <a:t>3/25/25</a:t>
            </a:fld>
            <a:endParaRPr lang="en-US"/>
          </a:p>
        </p:txBody>
      </p:sp>
      <p:sp>
        <p:nvSpPr>
          <p:cNvPr id="5" name="Footer Placeholder 4">
            <a:extLst>
              <a:ext uri="{FF2B5EF4-FFF2-40B4-BE49-F238E27FC236}">
                <a16:creationId xmlns:a16="http://schemas.microsoft.com/office/drawing/2014/main" id="{527ABE29-13B7-C144-9FE6-C43F1BC65D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E9BD64-DA0B-7445-BB80-5A502968ADB6}"/>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6893196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AA0518A-80A7-B946-A2C0-357FF80B483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9066F8D-B95D-3748-A8C1-B613B61AC5D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801E4AA-0008-E746-A8C3-917D9ECC1F4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DE38E33-E634-164E-9160-E9D257145221}" type="datetimeFigureOut">
              <a:rPr lang="en-US" smtClean="0"/>
              <a:t>3/25/25</a:t>
            </a:fld>
            <a:endParaRPr lang="en-US"/>
          </a:p>
        </p:txBody>
      </p:sp>
      <p:sp>
        <p:nvSpPr>
          <p:cNvPr id="5" name="Footer Placeholder 4">
            <a:extLst>
              <a:ext uri="{FF2B5EF4-FFF2-40B4-BE49-F238E27FC236}">
                <a16:creationId xmlns:a16="http://schemas.microsoft.com/office/drawing/2014/main" id="{32A644B1-065E-4C4F-8DD6-AB21405884D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471CFFB-C884-9249-B66F-52213D90498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68301A9-E266-4A4D-81C0-23C5428F31B4}" type="slidenum">
              <a:rPr lang="en-US" smtClean="0"/>
              <a:t>‹#›</a:t>
            </a:fld>
            <a:endParaRPr lang="en-US"/>
          </a:p>
        </p:txBody>
      </p:sp>
    </p:spTree>
    <p:extLst>
      <p:ext uri="{BB962C8B-B14F-4D97-AF65-F5344CB8AC3E}">
        <p14:creationId xmlns:p14="http://schemas.microsoft.com/office/powerpoint/2010/main" val="18321462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png"/><Relationship Id="rId7" Type="http://schemas.openxmlformats.org/officeDocument/2006/relationships/customXml" Target="../ink/ink4.xml"/><Relationship Id="rId2" Type="http://schemas.openxmlformats.org/officeDocument/2006/relationships/customXml" Target="../ink/ink1.xml"/><Relationship Id="rId1" Type="http://schemas.openxmlformats.org/officeDocument/2006/relationships/slideLayout" Target="../slideLayouts/slideLayout1.xml"/><Relationship Id="rId6" Type="http://schemas.openxmlformats.org/officeDocument/2006/relationships/customXml" Target="../ink/ink3.xml"/><Relationship Id="rId5" Type="http://schemas.openxmlformats.org/officeDocument/2006/relationships/image" Target="../media/image2.png"/><Relationship Id="rId10" Type="http://schemas.openxmlformats.org/officeDocument/2006/relationships/image" Target="../media/image4.png"/><Relationship Id="rId4" Type="http://schemas.openxmlformats.org/officeDocument/2006/relationships/customXml" Target="../ink/ink2.xml"/><Relationship Id="rId9" Type="http://schemas.openxmlformats.org/officeDocument/2006/relationships/customXml" Target="../ink/ink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radixweb.com/blog/top-web-development-stacks"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aws.amazon.com/amplify/"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www.mollie.com/gb/growth/pwa-guide"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medium.com/@miladev95/how-to-make-crud-rest-api-in-php-with-mysql-5063ae4cc89" TargetMode="Externa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s://www.youtube.com/watch?v=rFaWOw8bIMM&amp;list=PLDC2A0C8D2EC934C7&amp;index=4"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www.youtube.com/watch?v=HzyNXwF1vNg"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s://www.npr.org/sections/health-shots/2018/08/27/642218377/in-psychology-and-other-social-sciences-many-studies-fail-the-reproducibility-te"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kissflow.com/application-development/rad/rapid-application-development/" TargetMode="External"/><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hyperlink" Target="https://www.interaction-design.org/literature/topics/user-centered-design#:~:text=User%2Dcentered%20design%20(UCD),and%20accessible%20products%20for%20them."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en.wikipedia.org/wiki/Abstract_(summary)" TargetMode="External"/><Relationship Id="rId2" Type="http://schemas.openxmlformats.org/officeDocument/2006/relationships/image" Target="../media/image15.gi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6.gi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574B"/>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C8B91-A0EF-6441-AC27-9667FD447C0F}"/>
              </a:ext>
            </a:extLst>
          </p:cNvPr>
          <p:cNvSpPr>
            <a:spLocks noGrp="1"/>
          </p:cNvSpPr>
          <p:nvPr>
            <p:ph type="ctrTitle"/>
          </p:nvPr>
        </p:nvSpPr>
        <p:spPr>
          <a:xfrm>
            <a:off x="0" y="1444324"/>
            <a:ext cx="12192000" cy="2472633"/>
          </a:xfrm>
          <a:ln>
            <a:noFill/>
          </a:ln>
          <a:effectLst>
            <a:outerShdw blurRad="165100" dist="101600" dir="5400000" algn="t" rotWithShape="0">
              <a:prstClr val="black">
                <a:alpha val="40000"/>
              </a:prstClr>
            </a:outerShdw>
          </a:effectLst>
        </p:spPr>
        <p:txBody>
          <a:bodyPr>
            <a:noAutofit/>
          </a:bodyPr>
          <a:lstStyle/>
          <a:p>
            <a:r>
              <a:rPr lang="en-US" sz="15000" dirty="0">
                <a:solidFill>
                  <a:schemeClr val="bg1"/>
                </a:solidFill>
                <a:latin typeface="Helvetica Neue Thin" panose="020B0403020202020204" pitchFamily="34" charset="0"/>
                <a:ea typeface="Helvetica Neue Thin" panose="020B0403020202020204" pitchFamily="34" charset="0"/>
                <a:cs typeface="Helvetica Neue" panose="02000503000000020004" pitchFamily="2" charset="0"/>
              </a:rPr>
              <a:t>COMP 1842</a:t>
            </a:r>
          </a:p>
        </p:txBody>
      </p:sp>
      <p:sp>
        <p:nvSpPr>
          <p:cNvPr id="3" name="Subtitle 2">
            <a:extLst>
              <a:ext uri="{FF2B5EF4-FFF2-40B4-BE49-F238E27FC236}">
                <a16:creationId xmlns:a16="http://schemas.microsoft.com/office/drawing/2014/main" id="{7CC15634-394B-C140-BAEF-ABAB8B4926C9}"/>
              </a:ext>
            </a:extLst>
          </p:cNvPr>
          <p:cNvSpPr>
            <a:spLocks noGrp="1"/>
          </p:cNvSpPr>
          <p:nvPr>
            <p:ph type="subTitle" idx="1"/>
          </p:nvPr>
        </p:nvSpPr>
        <p:spPr>
          <a:xfrm>
            <a:off x="0" y="4124722"/>
            <a:ext cx="12192000" cy="862267"/>
          </a:xfrm>
        </p:spPr>
        <p:txBody>
          <a:bodyPr>
            <a:normAutofit fontScale="92500" lnSpcReduction="20000"/>
          </a:bodyPr>
          <a:lstStyle/>
          <a:p>
            <a:r>
              <a:rPr lang="en-US" sz="3600">
                <a:solidFill>
                  <a:schemeClr val="bg1"/>
                </a:solidFill>
                <a:latin typeface="Helvetica Neue Thin" panose="020B0403020202020204" pitchFamily="34" charset="0"/>
                <a:ea typeface="Helvetica Neue Thin" panose="020B0403020202020204" pitchFamily="34" charset="0"/>
              </a:rPr>
              <a:t>Week 11</a:t>
            </a:r>
            <a:endParaRPr lang="en-US" sz="3600" dirty="0">
              <a:solidFill>
                <a:schemeClr val="bg1"/>
              </a:solidFill>
              <a:latin typeface="Helvetica Neue Thin" panose="020B0403020202020204" pitchFamily="34" charset="0"/>
              <a:ea typeface="Helvetica Neue Thin" panose="020B0403020202020204" pitchFamily="34" charset="0"/>
            </a:endParaRPr>
          </a:p>
          <a:p>
            <a:r>
              <a:rPr lang="en-US" dirty="0">
                <a:solidFill>
                  <a:schemeClr val="bg1"/>
                </a:solidFill>
                <a:latin typeface="Helvetica Neue Thin" panose="020B0403020202020204" pitchFamily="34" charset="0"/>
                <a:ea typeface="Helvetica Neue Thin" panose="020B0403020202020204" pitchFamily="34" charset="0"/>
              </a:rPr>
              <a:t>Matt Prichard</a:t>
            </a:r>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DD7C0677-BBE1-414B-814E-FB526796BABE}"/>
                  </a:ext>
                </a:extLst>
              </p14:cNvPr>
              <p14:cNvContentPartPr/>
              <p14:nvPr/>
            </p14:nvContentPartPr>
            <p14:xfrm>
              <a:off x="8651014" y="2840692"/>
              <a:ext cx="360" cy="3600"/>
            </p14:xfrm>
          </p:contentPart>
        </mc:Choice>
        <mc:Fallback xmlns="">
          <p:pic>
            <p:nvPicPr>
              <p:cNvPr id="5" name="Ink 4">
                <a:extLst>
                  <a:ext uri="{FF2B5EF4-FFF2-40B4-BE49-F238E27FC236}">
                    <a16:creationId xmlns:a16="http://schemas.microsoft.com/office/drawing/2014/main" id="{DD7C0677-BBE1-414B-814E-FB526796BABE}"/>
                  </a:ext>
                </a:extLst>
              </p:cNvPr>
              <p:cNvPicPr/>
              <p:nvPr/>
            </p:nvPicPr>
            <p:blipFill>
              <a:blip r:embed="rId3"/>
              <a:stretch>
                <a:fillRect/>
              </a:stretch>
            </p:blipFill>
            <p:spPr>
              <a:xfrm>
                <a:off x="8642374" y="2831692"/>
                <a:ext cx="18000" cy="212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2850E275-2940-D64F-8F9D-8FEA90F263CD}"/>
                  </a:ext>
                </a:extLst>
              </p14:cNvPr>
              <p14:cNvContentPartPr/>
              <p14:nvPr/>
            </p14:nvContentPartPr>
            <p14:xfrm>
              <a:off x="7568494" y="1355692"/>
              <a:ext cx="3600" cy="3600"/>
            </p14:xfrm>
          </p:contentPart>
        </mc:Choice>
        <mc:Fallback xmlns="">
          <p:pic>
            <p:nvPicPr>
              <p:cNvPr id="6" name="Ink 5">
                <a:extLst>
                  <a:ext uri="{FF2B5EF4-FFF2-40B4-BE49-F238E27FC236}">
                    <a16:creationId xmlns:a16="http://schemas.microsoft.com/office/drawing/2014/main" id="{2850E275-2940-D64F-8F9D-8FEA90F263CD}"/>
                  </a:ext>
                </a:extLst>
              </p:cNvPr>
              <p:cNvPicPr/>
              <p:nvPr/>
            </p:nvPicPr>
            <p:blipFill>
              <a:blip r:embed="rId5"/>
              <a:stretch>
                <a:fillRect/>
              </a:stretch>
            </p:blipFill>
            <p:spPr>
              <a:xfrm>
                <a:off x="7559854" y="1347052"/>
                <a:ext cx="21240" cy="212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3C9CF2D3-71F9-664F-83A1-4ACBF7039607}"/>
                  </a:ext>
                </a:extLst>
              </p14:cNvPr>
              <p14:cNvContentPartPr/>
              <p14:nvPr/>
            </p14:nvContentPartPr>
            <p14:xfrm>
              <a:off x="5078734" y="3049852"/>
              <a:ext cx="360" cy="3600"/>
            </p14:xfrm>
          </p:contentPart>
        </mc:Choice>
        <mc:Fallback xmlns="">
          <p:pic>
            <p:nvPicPr>
              <p:cNvPr id="7" name="Ink 6">
                <a:extLst>
                  <a:ext uri="{FF2B5EF4-FFF2-40B4-BE49-F238E27FC236}">
                    <a16:creationId xmlns:a16="http://schemas.microsoft.com/office/drawing/2014/main" id="{3C9CF2D3-71F9-664F-83A1-4ACBF7039607}"/>
                  </a:ext>
                </a:extLst>
              </p:cNvPr>
              <p:cNvPicPr/>
              <p:nvPr/>
            </p:nvPicPr>
            <p:blipFill>
              <a:blip r:embed="rId3"/>
              <a:stretch>
                <a:fillRect/>
              </a:stretch>
            </p:blipFill>
            <p:spPr>
              <a:xfrm>
                <a:off x="5070094" y="3041212"/>
                <a:ext cx="18000" cy="212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8" name="Ink 7">
                <a:extLst>
                  <a:ext uri="{FF2B5EF4-FFF2-40B4-BE49-F238E27FC236}">
                    <a16:creationId xmlns:a16="http://schemas.microsoft.com/office/drawing/2014/main" id="{8FDACCB0-A54B-354A-A3EC-60B7525CDF0A}"/>
                  </a:ext>
                </a:extLst>
              </p14:cNvPr>
              <p14:cNvContentPartPr/>
              <p14:nvPr/>
            </p14:nvContentPartPr>
            <p14:xfrm>
              <a:off x="5525854" y="1776532"/>
              <a:ext cx="360" cy="360"/>
            </p14:xfrm>
          </p:contentPart>
        </mc:Choice>
        <mc:Fallback xmlns="">
          <p:pic>
            <p:nvPicPr>
              <p:cNvPr id="8" name="Ink 7">
                <a:extLst>
                  <a:ext uri="{FF2B5EF4-FFF2-40B4-BE49-F238E27FC236}">
                    <a16:creationId xmlns:a16="http://schemas.microsoft.com/office/drawing/2014/main" id="{8FDACCB0-A54B-354A-A3EC-60B7525CDF0A}"/>
                  </a:ext>
                </a:extLst>
              </p:cNvPr>
              <p:cNvPicPr/>
              <p:nvPr/>
            </p:nvPicPr>
            <p:blipFill>
              <a:blip r:embed="rId8"/>
              <a:stretch>
                <a:fillRect/>
              </a:stretch>
            </p:blipFill>
            <p:spPr>
              <a:xfrm>
                <a:off x="5517214" y="1767532"/>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9" name="Ink 8">
                <a:extLst>
                  <a:ext uri="{FF2B5EF4-FFF2-40B4-BE49-F238E27FC236}">
                    <a16:creationId xmlns:a16="http://schemas.microsoft.com/office/drawing/2014/main" id="{6465448C-44AF-1340-8608-65DF607A0667}"/>
                  </a:ext>
                </a:extLst>
              </p14:cNvPr>
              <p14:cNvContentPartPr/>
              <p14:nvPr/>
            </p14:nvContentPartPr>
            <p14:xfrm>
              <a:off x="768814" y="1290172"/>
              <a:ext cx="3600" cy="360"/>
            </p14:xfrm>
          </p:contentPart>
        </mc:Choice>
        <mc:Fallback xmlns="">
          <p:pic>
            <p:nvPicPr>
              <p:cNvPr id="9" name="Ink 8">
                <a:extLst>
                  <a:ext uri="{FF2B5EF4-FFF2-40B4-BE49-F238E27FC236}">
                    <a16:creationId xmlns:a16="http://schemas.microsoft.com/office/drawing/2014/main" id="{6465448C-44AF-1340-8608-65DF607A0667}"/>
                  </a:ext>
                </a:extLst>
              </p:cNvPr>
              <p:cNvPicPr/>
              <p:nvPr/>
            </p:nvPicPr>
            <p:blipFill>
              <a:blip r:embed="rId10"/>
              <a:stretch>
                <a:fillRect/>
              </a:stretch>
            </p:blipFill>
            <p:spPr>
              <a:xfrm>
                <a:off x="759814" y="1281532"/>
                <a:ext cx="21240" cy="18000"/>
              </a:xfrm>
              <a:prstGeom prst="rect">
                <a:avLst/>
              </a:prstGeom>
            </p:spPr>
          </p:pic>
        </mc:Fallback>
      </mc:AlternateContent>
    </p:spTree>
    <p:extLst>
      <p:ext uri="{BB962C8B-B14F-4D97-AF65-F5344CB8AC3E}">
        <p14:creationId xmlns:p14="http://schemas.microsoft.com/office/powerpoint/2010/main" val="16342069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Introduction</a:t>
            </a: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p:txBody>
          <a:bodyPr>
            <a:normAutofit lnSpcReduction="10000"/>
          </a:bodyPr>
          <a:lstStyle/>
          <a:p>
            <a:pPr marL="0" indent="0">
              <a:lnSpc>
                <a:spcPct val="150000"/>
              </a:lnSpc>
              <a:buNone/>
            </a:pPr>
            <a:r>
              <a:rPr lang="en-GB" spc="50" dirty="0">
                <a:solidFill>
                  <a:schemeClr val="tx1">
                    <a:lumMod val="85000"/>
                    <a:lumOff val="15000"/>
                  </a:schemeClr>
                </a:solidFill>
                <a:latin typeface="Helvetica Neue Light" panose="02000403000000020004" pitchFamily="2" charset="0"/>
                <a:ea typeface="Helvetica Neue Light" panose="02000403000000020004" pitchFamily="2" charset="0"/>
              </a:rPr>
              <a:t>Module recap</a:t>
            </a:r>
          </a:p>
          <a:p>
            <a:pPr marL="0" indent="0">
              <a:lnSpc>
                <a:spcPct val="150000"/>
              </a:lnSpc>
              <a:buNone/>
            </a:pPr>
            <a:r>
              <a:rPr lang="en-GB" spc="50" dirty="0">
                <a:solidFill>
                  <a:schemeClr val="tx1">
                    <a:lumMod val="85000"/>
                    <a:lumOff val="15000"/>
                  </a:schemeClr>
                </a:solidFill>
                <a:latin typeface="Helvetica Neue Light" panose="02000403000000020004" pitchFamily="2" charset="0"/>
                <a:ea typeface="Helvetica Neue Light" panose="02000403000000020004" pitchFamily="2" charset="0"/>
              </a:rPr>
              <a:t>PHP API</a:t>
            </a:r>
          </a:p>
          <a:p>
            <a:pPr marL="0" indent="0">
              <a:lnSpc>
                <a:spcPct val="150000"/>
              </a:lnSpc>
              <a:buNone/>
            </a:pPr>
            <a:r>
              <a:rPr lang="en-GB" spc="50" dirty="0">
                <a:solidFill>
                  <a:schemeClr val="tx1">
                    <a:lumMod val="85000"/>
                    <a:lumOff val="15000"/>
                  </a:schemeClr>
                </a:solidFill>
                <a:latin typeface="Helvetica Neue Light" panose="02000403000000020004" pitchFamily="2" charset="0"/>
                <a:ea typeface="Helvetica Neue Light" panose="02000403000000020004" pitchFamily="2" charset="0"/>
              </a:rPr>
              <a:t>Testing</a:t>
            </a:r>
          </a:p>
          <a:p>
            <a:pPr marL="0" indent="0">
              <a:lnSpc>
                <a:spcPct val="150000"/>
              </a:lnSpc>
              <a:buNone/>
            </a:pPr>
            <a:r>
              <a:rPr lang="en-GB" spc="50" dirty="0">
                <a:solidFill>
                  <a:schemeClr val="tx1">
                    <a:lumMod val="85000"/>
                    <a:lumOff val="15000"/>
                  </a:schemeClr>
                </a:solidFill>
                <a:latin typeface="Helvetica Neue Light" panose="02000403000000020004" pitchFamily="2" charset="0"/>
                <a:ea typeface="Helvetica Neue Light" panose="02000403000000020004" pitchFamily="2" charset="0"/>
              </a:rPr>
              <a:t>Dunning-Kruger</a:t>
            </a:r>
          </a:p>
          <a:p>
            <a:pPr marL="0" indent="0">
              <a:lnSpc>
                <a:spcPct val="150000"/>
              </a:lnSpc>
              <a:buNone/>
            </a:pPr>
            <a:r>
              <a:rPr lang="en-GB" spc="50" dirty="0">
                <a:solidFill>
                  <a:schemeClr val="tx1">
                    <a:lumMod val="85000"/>
                    <a:lumOff val="15000"/>
                  </a:schemeClr>
                </a:solidFill>
                <a:latin typeface="Helvetica Neue Light" panose="02000403000000020004" pitchFamily="2" charset="0"/>
                <a:ea typeface="Helvetica Neue Light" panose="02000403000000020004" pitchFamily="2" charset="0"/>
              </a:rPr>
              <a:t>Projects</a:t>
            </a:r>
          </a:p>
          <a:p>
            <a:pPr marL="0" indent="0">
              <a:lnSpc>
                <a:spcPct val="150000"/>
              </a:lnSpc>
              <a:buNone/>
            </a:pPr>
            <a:r>
              <a:rPr lang="en-GB" spc="50" dirty="0">
                <a:solidFill>
                  <a:schemeClr val="tx1">
                    <a:lumMod val="85000"/>
                    <a:lumOff val="15000"/>
                  </a:schemeClr>
                </a:solidFill>
                <a:latin typeface="Helvetica Neue Light" panose="02000403000000020004" pitchFamily="2" charset="0"/>
                <a:ea typeface="Helvetica Neue Light" panose="02000403000000020004" pitchFamily="2" charset="0"/>
              </a:rPr>
              <a:t>Newsletters</a:t>
            </a:r>
          </a:p>
          <a:p>
            <a:pPr marL="0" indent="0">
              <a:lnSpc>
                <a:spcPct val="150000"/>
              </a:lnSpc>
              <a:buNone/>
            </a:pPr>
            <a:endParaRPr lang="en-GB" spc="50" dirty="0">
              <a:solidFill>
                <a:schemeClr val="tx1">
                  <a:lumMod val="85000"/>
                  <a:lumOff val="15000"/>
                </a:schemeClr>
              </a:solidFill>
              <a:latin typeface="Helvetica Neue Light" panose="02000403000000020004" pitchFamily="2" charset="0"/>
              <a:ea typeface="Helvetica Neue Light" panose="02000403000000020004" pitchFamily="2" charset="0"/>
            </a:endParaRPr>
          </a:p>
          <a:p>
            <a:pPr marL="0" indent="0">
              <a:lnSpc>
                <a:spcPct val="150000"/>
              </a:lnSpc>
              <a:buNone/>
            </a:pPr>
            <a:endParaRPr lang="en-GB" spc="50" dirty="0">
              <a:solidFill>
                <a:schemeClr val="tx1">
                  <a:lumMod val="85000"/>
                  <a:lumOff val="15000"/>
                </a:schemeClr>
              </a:solidFill>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3591369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5FE3EE7-5E51-4745-8EDC-6E4733203B76}"/>
              </a:ext>
            </a:extLst>
          </p:cNvPr>
          <p:cNvSpPr/>
          <p:nvPr/>
        </p:nvSpPr>
        <p:spPr>
          <a:xfrm>
            <a:off x="651455" y="6271343"/>
            <a:ext cx="6688049" cy="497957"/>
          </a:xfrm>
          <a:prstGeom prst="rect">
            <a:avLst/>
          </a:prstGeom>
        </p:spPr>
        <p:txBody>
          <a:bodyPr wrap="none">
            <a:spAutoFit/>
          </a:bodyPr>
          <a:lstStyle/>
          <a:p>
            <a:pPr>
              <a:lnSpc>
                <a:spcPct val="150000"/>
              </a:lnSpc>
            </a:pPr>
            <a:r>
              <a:rPr lang="en-GB" sz="2000" u="sng" dirty="0">
                <a:solidFill>
                  <a:schemeClr val="accent5">
                    <a:lumMod val="75000"/>
                  </a:schemeClr>
                </a:solidFill>
                <a:latin typeface="Georgia" panose="02040502050405020303" pitchFamily="18" charset="0"/>
                <a:ea typeface="Helvetica Neue Light" panose="02000403000000020004" pitchFamily="2" charset="0"/>
                <a:cs typeface="Angsana New" panose="02020603050405020304" pitchFamily="18" charset="-34"/>
              </a:rPr>
              <a:t>https://</a:t>
            </a:r>
            <a:r>
              <a:rPr lang="en-GB" sz="2000" u="sng" dirty="0" err="1">
                <a:solidFill>
                  <a:schemeClr val="accent5">
                    <a:lumMod val="75000"/>
                  </a:schemeClr>
                </a:solidFill>
                <a:latin typeface="Georgia" panose="02040502050405020303" pitchFamily="18" charset="0"/>
                <a:ea typeface="Helvetica Neue Light" panose="02000403000000020004" pitchFamily="2" charset="0"/>
                <a:cs typeface="Angsana New" panose="02020603050405020304" pitchFamily="18" charset="-34"/>
              </a:rPr>
              <a:t>radixweb.com</a:t>
            </a:r>
            <a:r>
              <a:rPr lang="en-GB" sz="2000" u="sng" dirty="0">
                <a:solidFill>
                  <a:schemeClr val="accent5">
                    <a:lumMod val="75000"/>
                  </a:schemeClr>
                </a:solidFill>
                <a:latin typeface="Georgia" panose="02040502050405020303" pitchFamily="18" charset="0"/>
                <a:ea typeface="Helvetica Neue Light" panose="02000403000000020004" pitchFamily="2" charset="0"/>
                <a:cs typeface="Angsana New" panose="02020603050405020304" pitchFamily="18" charset="-34"/>
              </a:rPr>
              <a:t>/blog/top-web-development-stacks</a:t>
            </a:r>
          </a:p>
        </p:txBody>
      </p:sp>
      <p:pic>
        <p:nvPicPr>
          <p:cNvPr id="7" name="Picture 6">
            <a:hlinkClick r:id="rId2"/>
            <a:extLst>
              <a:ext uri="{FF2B5EF4-FFF2-40B4-BE49-F238E27FC236}">
                <a16:creationId xmlns:a16="http://schemas.microsoft.com/office/drawing/2014/main" id="{6739635F-0E72-D687-4210-2FE73B604260}"/>
              </a:ext>
            </a:extLst>
          </p:cNvPr>
          <p:cNvPicPr>
            <a:picLocks noChangeAspect="1"/>
          </p:cNvPicPr>
          <p:nvPr/>
        </p:nvPicPr>
        <p:blipFill>
          <a:blip r:embed="rId3"/>
          <a:stretch>
            <a:fillRect/>
          </a:stretch>
        </p:blipFill>
        <p:spPr>
          <a:xfrm>
            <a:off x="651455" y="337678"/>
            <a:ext cx="10991045" cy="5795920"/>
          </a:xfrm>
          <a:prstGeom prst="rect">
            <a:avLst/>
          </a:prstGeom>
          <a:ln>
            <a:solidFill>
              <a:schemeClr val="bg1">
                <a:lumMod val="50000"/>
              </a:schemeClr>
            </a:solidFill>
          </a:ln>
        </p:spPr>
      </p:pic>
    </p:spTree>
    <p:extLst>
      <p:ext uri="{BB962C8B-B14F-4D97-AF65-F5344CB8AC3E}">
        <p14:creationId xmlns:p14="http://schemas.microsoft.com/office/powerpoint/2010/main" val="28819722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Other options</a:t>
            </a:r>
          </a:p>
        </p:txBody>
      </p:sp>
      <p:pic>
        <p:nvPicPr>
          <p:cNvPr id="6" name="Picture 5">
            <a:hlinkClick r:id="rId2"/>
            <a:extLst>
              <a:ext uri="{FF2B5EF4-FFF2-40B4-BE49-F238E27FC236}">
                <a16:creationId xmlns:a16="http://schemas.microsoft.com/office/drawing/2014/main" id="{B066C4F3-EF9D-60C5-E03D-05217C83E8DC}"/>
              </a:ext>
            </a:extLst>
          </p:cNvPr>
          <p:cNvPicPr>
            <a:picLocks noChangeAspect="1"/>
          </p:cNvPicPr>
          <p:nvPr/>
        </p:nvPicPr>
        <p:blipFill>
          <a:blip r:embed="rId3"/>
          <a:stretch>
            <a:fillRect/>
          </a:stretch>
        </p:blipFill>
        <p:spPr>
          <a:xfrm>
            <a:off x="838199" y="1690688"/>
            <a:ext cx="9713879" cy="4091926"/>
          </a:xfrm>
          <a:prstGeom prst="rect">
            <a:avLst/>
          </a:prstGeom>
          <a:ln>
            <a:solidFill>
              <a:schemeClr val="tx1">
                <a:lumMod val="95000"/>
                <a:lumOff val="5000"/>
              </a:schemeClr>
            </a:solidFill>
          </a:ln>
        </p:spPr>
      </p:pic>
      <p:sp>
        <p:nvSpPr>
          <p:cNvPr id="7" name="Rectangle 6">
            <a:extLst>
              <a:ext uri="{FF2B5EF4-FFF2-40B4-BE49-F238E27FC236}">
                <a16:creationId xmlns:a16="http://schemas.microsoft.com/office/drawing/2014/main" id="{1862D51B-C2D7-1763-CEAC-B2F8E29D94FA}"/>
              </a:ext>
            </a:extLst>
          </p:cNvPr>
          <p:cNvSpPr/>
          <p:nvPr/>
        </p:nvSpPr>
        <p:spPr>
          <a:xfrm>
            <a:off x="838199" y="6091038"/>
            <a:ext cx="4126451" cy="497957"/>
          </a:xfrm>
          <a:prstGeom prst="rect">
            <a:avLst/>
          </a:prstGeom>
        </p:spPr>
        <p:txBody>
          <a:bodyPr wrap="none">
            <a:spAutoFit/>
          </a:bodyPr>
          <a:lstStyle/>
          <a:p>
            <a:pPr>
              <a:lnSpc>
                <a:spcPct val="150000"/>
              </a:lnSpc>
            </a:pPr>
            <a:r>
              <a:rPr lang="en-GB" sz="2000" u="sng" dirty="0">
                <a:solidFill>
                  <a:schemeClr val="accent5">
                    <a:lumMod val="75000"/>
                  </a:schemeClr>
                </a:solidFill>
                <a:latin typeface="Georgia" panose="02040502050405020303" pitchFamily="18" charset="0"/>
                <a:ea typeface="Helvetica Neue Light" panose="02000403000000020004" pitchFamily="2" charset="0"/>
                <a:cs typeface="Angsana New" panose="02020603050405020304" pitchFamily="18" charset="-34"/>
              </a:rPr>
              <a:t>https://</a:t>
            </a:r>
            <a:r>
              <a:rPr lang="en-GB" sz="2000" u="sng" dirty="0" err="1">
                <a:solidFill>
                  <a:schemeClr val="accent5">
                    <a:lumMod val="75000"/>
                  </a:schemeClr>
                </a:solidFill>
                <a:latin typeface="Georgia" panose="02040502050405020303" pitchFamily="18" charset="0"/>
                <a:ea typeface="Helvetica Neue Light" panose="02000403000000020004" pitchFamily="2" charset="0"/>
                <a:cs typeface="Angsana New" panose="02020603050405020304" pitchFamily="18" charset="-34"/>
              </a:rPr>
              <a:t>aws.amazon.com</a:t>
            </a:r>
            <a:r>
              <a:rPr lang="en-GB" sz="2000" u="sng" dirty="0">
                <a:solidFill>
                  <a:schemeClr val="accent5">
                    <a:lumMod val="75000"/>
                  </a:schemeClr>
                </a:solidFill>
                <a:latin typeface="Georgia" panose="02040502050405020303" pitchFamily="18" charset="0"/>
                <a:ea typeface="Helvetica Neue Light" panose="02000403000000020004" pitchFamily="2" charset="0"/>
                <a:cs typeface="Angsana New" panose="02020603050405020304" pitchFamily="18" charset="-34"/>
              </a:rPr>
              <a:t>/amplify/</a:t>
            </a:r>
          </a:p>
        </p:txBody>
      </p:sp>
    </p:spTree>
    <p:extLst>
      <p:ext uri="{BB962C8B-B14F-4D97-AF65-F5344CB8AC3E}">
        <p14:creationId xmlns:p14="http://schemas.microsoft.com/office/powerpoint/2010/main" val="37119857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Consider mobile</a:t>
            </a:r>
          </a:p>
        </p:txBody>
      </p:sp>
      <p:sp>
        <p:nvSpPr>
          <p:cNvPr id="7" name="Rectangle 6">
            <a:extLst>
              <a:ext uri="{FF2B5EF4-FFF2-40B4-BE49-F238E27FC236}">
                <a16:creationId xmlns:a16="http://schemas.microsoft.com/office/drawing/2014/main" id="{1862D51B-C2D7-1763-CEAC-B2F8E29D94FA}"/>
              </a:ext>
            </a:extLst>
          </p:cNvPr>
          <p:cNvSpPr/>
          <p:nvPr/>
        </p:nvSpPr>
        <p:spPr>
          <a:xfrm>
            <a:off x="957515" y="6243896"/>
            <a:ext cx="5602816" cy="497957"/>
          </a:xfrm>
          <a:prstGeom prst="rect">
            <a:avLst/>
          </a:prstGeom>
        </p:spPr>
        <p:txBody>
          <a:bodyPr wrap="none">
            <a:spAutoFit/>
          </a:bodyPr>
          <a:lstStyle/>
          <a:p>
            <a:pPr>
              <a:lnSpc>
                <a:spcPct val="150000"/>
              </a:lnSpc>
            </a:pPr>
            <a:r>
              <a:rPr lang="en-GB" sz="2000" u="sng" dirty="0">
                <a:solidFill>
                  <a:schemeClr val="accent5">
                    <a:lumMod val="75000"/>
                  </a:schemeClr>
                </a:solidFill>
                <a:latin typeface="Georgia" panose="02040502050405020303" pitchFamily="18" charset="0"/>
                <a:ea typeface="Helvetica Neue Light" panose="02000403000000020004" pitchFamily="2" charset="0"/>
                <a:cs typeface="Angsana New" panose="02020603050405020304" pitchFamily="18" charset="-34"/>
              </a:rPr>
              <a:t>https://</a:t>
            </a:r>
            <a:r>
              <a:rPr lang="en-GB" sz="2000" u="sng" dirty="0" err="1">
                <a:solidFill>
                  <a:schemeClr val="accent5">
                    <a:lumMod val="75000"/>
                  </a:schemeClr>
                </a:solidFill>
                <a:latin typeface="Georgia" panose="02040502050405020303" pitchFamily="18" charset="0"/>
                <a:ea typeface="Helvetica Neue Light" panose="02000403000000020004" pitchFamily="2" charset="0"/>
                <a:cs typeface="Angsana New" panose="02020603050405020304" pitchFamily="18" charset="-34"/>
              </a:rPr>
              <a:t>www.mollie.com</a:t>
            </a:r>
            <a:r>
              <a:rPr lang="en-GB" sz="2000" u="sng" dirty="0">
                <a:solidFill>
                  <a:schemeClr val="accent5">
                    <a:lumMod val="75000"/>
                  </a:schemeClr>
                </a:solidFill>
                <a:latin typeface="Georgia" panose="02040502050405020303" pitchFamily="18" charset="0"/>
                <a:ea typeface="Helvetica Neue Light" panose="02000403000000020004" pitchFamily="2" charset="0"/>
                <a:cs typeface="Angsana New" panose="02020603050405020304" pitchFamily="18" charset="-34"/>
              </a:rPr>
              <a:t>/</a:t>
            </a:r>
            <a:r>
              <a:rPr lang="en-GB" sz="2000" u="sng" dirty="0" err="1">
                <a:solidFill>
                  <a:schemeClr val="accent5">
                    <a:lumMod val="75000"/>
                  </a:schemeClr>
                </a:solidFill>
                <a:latin typeface="Georgia" panose="02040502050405020303" pitchFamily="18" charset="0"/>
                <a:ea typeface="Helvetica Neue Light" panose="02000403000000020004" pitchFamily="2" charset="0"/>
                <a:cs typeface="Angsana New" panose="02020603050405020304" pitchFamily="18" charset="-34"/>
              </a:rPr>
              <a:t>gb</a:t>
            </a:r>
            <a:r>
              <a:rPr lang="en-GB" sz="2000" u="sng" dirty="0">
                <a:solidFill>
                  <a:schemeClr val="accent5">
                    <a:lumMod val="75000"/>
                  </a:schemeClr>
                </a:solidFill>
                <a:latin typeface="Georgia" panose="02040502050405020303" pitchFamily="18" charset="0"/>
                <a:ea typeface="Helvetica Neue Light" panose="02000403000000020004" pitchFamily="2" charset="0"/>
                <a:cs typeface="Angsana New" panose="02020603050405020304" pitchFamily="18" charset="-34"/>
              </a:rPr>
              <a:t>/growth/</a:t>
            </a:r>
            <a:r>
              <a:rPr lang="en-GB" sz="2000" u="sng" dirty="0" err="1">
                <a:solidFill>
                  <a:schemeClr val="accent5">
                    <a:lumMod val="75000"/>
                  </a:schemeClr>
                </a:solidFill>
                <a:latin typeface="Georgia" panose="02040502050405020303" pitchFamily="18" charset="0"/>
                <a:ea typeface="Helvetica Neue Light" panose="02000403000000020004" pitchFamily="2" charset="0"/>
                <a:cs typeface="Angsana New" panose="02020603050405020304" pitchFamily="18" charset="-34"/>
              </a:rPr>
              <a:t>pwa</a:t>
            </a:r>
            <a:r>
              <a:rPr lang="en-GB" sz="2000" u="sng" dirty="0">
                <a:solidFill>
                  <a:schemeClr val="accent5">
                    <a:lumMod val="75000"/>
                  </a:schemeClr>
                </a:solidFill>
                <a:latin typeface="Georgia" panose="02040502050405020303" pitchFamily="18" charset="0"/>
                <a:ea typeface="Helvetica Neue Light" panose="02000403000000020004" pitchFamily="2" charset="0"/>
                <a:cs typeface="Angsana New" panose="02020603050405020304" pitchFamily="18" charset="-34"/>
              </a:rPr>
              <a:t>-guide</a:t>
            </a:r>
          </a:p>
        </p:txBody>
      </p:sp>
      <p:pic>
        <p:nvPicPr>
          <p:cNvPr id="2" name="Picture 1">
            <a:hlinkClick r:id="rId2"/>
            <a:extLst>
              <a:ext uri="{FF2B5EF4-FFF2-40B4-BE49-F238E27FC236}">
                <a16:creationId xmlns:a16="http://schemas.microsoft.com/office/drawing/2014/main" id="{B8335385-BA01-B15B-9691-08318D600920}"/>
              </a:ext>
            </a:extLst>
          </p:cNvPr>
          <p:cNvPicPr>
            <a:picLocks noChangeAspect="1"/>
          </p:cNvPicPr>
          <p:nvPr/>
        </p:nvPicPr>
        <p:blipFill>
          <a:blip r:embed="rId3"/>
          <a:stretch>
            <a:fillRect/>
          </a:stretch>
        </p:blipFill>
        <p:spPr>
          <a:xfrm>
            <a:off x="1082897" y="4120213"/>
            <a:ext cx="4548774" cy="2096952"/>
          </a:xfrm>
          <a:prstGeom prst="rect">
            <a:avLst/>
          </a:prstGeom>
          <a:ln>
            <a:solidFill>
              <a:schemeClr val="bg1">
                <a:lumMod val="50000"/>
              </a:schemeClr>
            </a:solidFill>
          </a:ln>
        </p:spPr>
      </p:pic>
      <p:sp>
        <p:nvSpPr>
          <p:cNvPr id="5" name="TextBox 4">
            <a:extLst>
              <a:ext uri="{FF2B5EF4-FFF2-40B4-BE49-F238E27FC236}">
                <a16:creationId xmlns:a16="http://schemas.microsoft.com/office/drawing/2014/main" id="{DAD836B7-C90C-1C38-ED07-3ED1B1D70383}"/>
              </a:ext>
            </a:extLst>
          </p:cNvPr>
          <p:cNvSpPr txBox="1"/>
          <p:nvPr/>
        </p:nvSpPr>
        <p:spPr>
          <a:xfrm>
            <a:off x="979866" y="1437310"/>
            <a:ext cx="10675513" cy="1879104"/>
          </a:xfrm>
          <a:prstGeom prst="rect">
            <a:avLst/>
          </a:prstGeom>
          <a:noFill/>
        </p:spPr>
        <p:txBody>
          <a:bodyPr wrap="square">
            <a:spAutoFit/>
          </a:bodyPr>
          <a:lstStyle/>
          <a:p>
            <a:pPr>
              <a:lnSpc>
                <a:spcPct val="150000"/>
              </a:lnSpc>
            </a:pPr>
            <a:r>
              <a:rPr lang="en-GB" sz="2000" dirty="0">
                <a:solidFill>
                  <a:srgbClr val="161616"/>
                </a:solidFill>
                <a:effectLst/>
                <a:highlight>
                  <a:srgbClr val="FFFFFF"/>
                </a:highlight>
                <a:latin typeface="Helvetica Neue Light" panose="02000403000000020004" pitchFamily="2" charset="0"/>
                <a:ea typeface="Helvetica Neue Light" panose="02000403000000020004" pitchFamily="2" charset="0"/>
              </a:rPr>
              <a:t>Progressive Web Apps (PWAs) are built using HTML, CSS, and JavaScript code that's hosted on web servers and that runs in web browser engines. They can either be used directly in a web browser, like a website, or installed on a device from an app store, or by using the app installation feature of a supporting browser.</a:t>
            </a:r>
            <a:endParaRPr lang="en-US" sz="2000" dirty="0">
              <a:latin typeface="Helvetica Neue Light" panose="02000403000000020004" pitchFamily="2" charset="0"/>
              <a:ea typeface="Helvetica Neue Light" panose="02000403000000020004" pitchFamily="2" charset="0"/>
            </a:endParaRPr>
          </a:p>
        </p:txBody>
      </p:sp>
      <p:sp>
        <p:nvSpPr>
          <p:cNvPr id="10" name="Rectangle 9">
            <a:extLst>
              <a:ext uri="{FF2B5EF4-FFF2-40B4-BE49-F238E27FC236}">
                <a16:creationId xmlns:a16="http://schemas.microsoft.com/office/drawing/2014/main" id="{6D03D688-1772-3B24-BF96-A8F3456677BF}"/>
              </a:ext>
            </a:extLst>
          </p:cNvPr>
          <p:cNvSpPr/>
          <p:nvPr/>
        </p:nvSpPr>
        <p:spPr>
          <a:xfrm>
            <a:off x="979866" y="3316414"/>
            <a:ext cx="9943748" cy="497957"/>
          </a:xfrm>
          <a:prstGeom prst="rect">
            <a:avLst/>
          </a:prstGeom>
        </p:spPr>
        <p:txBody>
          <a:bodyPr wrap="none">
            <a:spAutoFit/>
          </a:bodyPr>
          <a:lstStyle/>
          <a:p>
            <a:pPr>
              <a:lnSpc>
                <a:spcPct val="150000"/>
              </a:lnSpc>
            </a:pPr>
            <a:r>
              <a:rPr lang="en-GB" sz="2000" u="sng" dirty="0">
                <a:solidFill>
                  <a:schemeClr val="accent5">
                    <a:lumMod val="75000"/>
                  </a:schemeClr>
                </a:solidFill>
                <a:latin typeface="Georgia" panose="02040502050405020303" pitchFamily="18" charset="0"/>
                <a:ea typeface="Helvetica Neue Light" panose="02000403000000020004" pitchFamily="2" charset="0"/>
                <a:cs typeface="Angsana New" panose="02020603050405020304" pitchFamily="18" charset="-34"/>
              </a:rPr>
              <a:t>https://</a:t>
            </a:r>
            <a:r>
              <a:rPr lang="en-GB" sz="2000" u="sng" dirty="0" err="1">
                <a:solidFill>
                  <a:schemeClr val="accent5">
                    <a:lumMod val="75000"/>
                  </a:schemeClr>
                </a:solidFill>
                <a:latin typeface="Georgia" panose="02040502050405020303" pitchFamily="18" charset="0"/>
                <a:ea typeface="Helvetica Neue Light" panose="02000403000000020004" pitchFamily="2" charset="0"/>
                <a:cs typeface="Angsana New" panose="02020603050405020304" pitchFamily="18" charset="-34"/>
              </a:rPr>
              <a:t>learn.microsoft.com</a:t>
            </a:r>
            <a:r>
              <a:rPr lang="en-GB" sz="2000" u="sng" dirty="0">
                <a:solidFill>
                  <a:schemeClr val="accent5">
                    <a:lumMod val="75000"/>
                  </a:schemeClr>
                </a:solidFill>
                <a:latin typeface="Georgia" panose="02040502050405020303" pitchFamily="18" charset="0"/>
                <a:ea typeface="Helvetica Neue Light" panose="02000403000000020004" pitchFamily="2" charset="0"/>
                <a:cs typeface="Angsana New" panose="02020603050405020304" pitchFamily="18" charset="-34"/>
              </a:rPr>
              <a:t>/</a:t>
            </a:r>
            <a:r>
              <a:rPr lang="en-GB" sz="2000" u="sng" dirty="0" err="1">
                <a:solidFill>
                  <a:schemeClr val="accent5">
                    <a:lumMod val="75000"/>
                  </a:schemeClr>
                </a:solidFill>
                <a:latin typeface="Georgia" panose="02040502050405020303" pitchFamily="18" charset="0"/>
                <a:ea typeface="Helvetica Neue Light" panose="02000403000000020004" pitchFamily="2" charset="0"/>
                <a:cs typeface="Angsana New" panose="02020603050405020304" pitchFamily="18" charset="-34"/>
              </a:rPr>
              <a:t>en</a:t>
            </a:r>
            <a:r>
              <a:rPr lang="en-GB" sz="2000" u="sng" dirty="0">
                <a:solidFill>
                  <a:schemeClr val="accent5">
                    <a:lumMod val="75000"/>
                  </a:schemeClr>
                </a:solidFill>
                <a:latin typeface="Georgia" panose="02040502050405020303" pitchFamily="18" charset="0"/>
                <a:ea typeface="Helvetica Neue Light" panose="02000403000000020004" pitchFamily="2" charset="0"/>
                <a:cs typeface="Angsana New" panose="02020603050405020304" pitchFamily="18" charset="-34"/>
              </a:rPr>
              <a:t>-us/</a:t>
            </a:r>
            <a:r>
              <a:rPr lang="en-GB" sz="2000" u="sng" dirty="0" err="1">
                <a:solidFill>
                  <a:schemeClr val="accent5">
                    <a:lumMod val="75000"/>
                  </a:schemeClr>
                </a:solidFill>
                <a:latin typeface="Georgia" panose="02040502050405020303" pitchFamily="18" charset="0"/>
                <a:ea typeface="Helvetica Neue Light" panose="02000403000000020004" pitchFamily="2" charset="0"/>
                <a:cs typeface="Angsana New" panose="02020603050405020304" pitchFamily="18" charset="-34"/>
              </a:rPr>
              <a:t>microsoft</a:t>
            </a:r>
            <a:r>
              <a:rPr lang="en-GB" sz="2000" u="sng" dirty="0">
                <a:solidFill>
                  <a:schemeClr val="accent5">
                    <a:lumMod val="75000"/>
                  </a:schemeClr>
                </a:solidFill>
                <a:latin typeface="Georgia" panose="02040502050405020303" pitchFamily="18" charset="0"/>
                <a:ea typeface="Helvetica Neue Light" panose="02000403000000020004" pitchFamily="2" charset="0"/>
                <a:cs typeface="Angsana New" panose="02020603050405020304" pitchFamily="18" charset="-34"/>
              </a:rPr>
              <a:t>-edge/progressive-web-apps-chromium/</a:t>
            </a:r>
          </a:p>
        </p:txBody>
      </p:sp>
    </p:spTree>
    <p:extLst>
      <p:ext uri="{BB962C8B-B14F-4D97-AF65-F5344CB8AC3E}">
        <p14:creationId xmlns:p14="http://schemas.microsoft.com/office/powerpoint/2010/main" val="32589869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838200" y="262776"/>
            <a:ext cx="10515600" cy="1325563"/>
          </a:xfrm>
        </p:spPr>
        <p:txBody>
          <a:bodyPr>
            <a:normAutofit/>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PHP RESTful API</a:t>
            </a:r>
          </a:p>
        </p:txBody>
      </p:sp>
      <p:sp>
        <p:nvSpPr>
          <p:cNvPr id="7" name="Rectangle 6">
            <a:extLst>
              <a:ext uri="{FF2B5EF4-FFF2-40B4-BE49-F238E27FC236}">
                <a16:creationId xmlns:a16="http://schemas.microsoft.com/office/drawing/2014/main" id="{1862D51B-C2D7-1763-CEAC-B2F8E29D94FA}"/>
              </a:ext>
            </a:extLst>
          </p:cNvPr>
          <p:cNvSpPr/>
          <p:nvPr/>
        </p:nvSpPr>
        <p:spPr>
          <a:xfrm>
            <a:off x="921119" y="6267296"/>
            <a:ext cx="10091224" cy="457369"/>
          </a:xfrm>
          <a:prstGeom prst="rect">
            <a:avLst/>
          </a:prstGeom>
        </p:spPr>
        <p:txBody>
          <a:bodyPr wrap="none">
            <a:spAutoFit/>
          </a:bodyPr>
          <a:lstStyle/>
          <a:p>
            <a:pPr>
              <a:lnSpc>
                <a:spcPct val="150000"/>
              </a:lnSpc>
            </a:pPr>
            <a:r>
              <a:rPr lang="en-GB" u="sng" dirty="0">
                <a:solidFill>
                  <a:schemeClr val="accent5">
                    <a:lumMod val="75000"/>
                  </a:schemeClr>
                </a:solidFill>
                <a:latin typeface="Georgia" panose="02040502050405020303" pitchFamily="18" charset="0"/>
                <a:ea typeface="Helvetica Neue Light" panose="02000403000000020004" pitchFamily="2" charset="0"/>
                <a:cs typeface="Angsana New" panose="02020603050405020304" pitchFamily="18" charset="-34"/>
              </a:rPr>
              <a:t>https://</a:t>
            </a:r>
            <a:r>
              <a:rPr lang="en-GB" u="sng" dirty="0" err="1">
                <a:solidFill>
                  <a:schemeClr val="accent5">
                    <a:lumMod val="75000"/>
                  </a:schemeClr>
                </a:solidFill>
                <a:latin typeface="Georgia" panose="02040502050405020303" pitchFamily="18" charset="0"/>
                <a:ea typeface="Helvetica Neue Light" panose="02000403000000020004" pitchFamily="2" charset="0"/>
                <a:cs typeface="Angsana New" panose="02020603050405020304" pitchFamily="18" charset="-34"/>
              </a:rPr>
              <a:t>medium.com</a:t>
            </a:r>
            <a:r>
              <a:rPr lang="en-GB" u="sng" dirty="0">
                <a:solidFill>
                  <a:schemeClr val="accent5">
                    <a:lumMod val="75000"/>
                  </a:schemeClr>
                </a:solidFill>
                <a:latin typeface="Georgia" panose="02040502050405020303" pitchFamily="18" charset="0"/>
                <a:ea typeface="Helvetica Neue Light" panose="02000403000000020004" pitchFamily="2" charset="0"/>
                <a:cs typeface="Angsana New" panose="02020603050405020304" pitchFamily="18" charset="-34"/>
              </a:rPr>
              <a:t>/@miladev95/how-to-make-crud-rest-api-in-php-with-mysql-5063ae4cc89</a:t>
            </a:r>
          </a:p>
        </p:txBody>
      </p:sp>
      <p:sp>
        <p:nvSpPr>
          <p:cNvPr id="6" name="TextBox 5">
            <a:extLst>
              <a:ext uri="{FF2B5EF4-FFF2-40B4-BE49-F238E27FC236}">
                <a16:creationId xmlns:a16="http://schemas.microsoft.com/office/drawing/2014/main" id="{FBD91FCA-70A7-A7C0-B43B-C18E4C17E868}"/>
              </a:ext>
            </a:extLst>
          </p:cNvPr>
          <p:cNvSpPr txBox="1"/>
          <p:nvPr/>
        </p:nvSpPr>
        <p:spPr>
          <a:xfrm>
            <a:off x="7658417" y="4609742"/>
            <a:ext cx="3943488" cy="1477328"/>
          </a:xfrm>
          <a:prstGeom prst="rect">
            <a:avLst/>
          </a:prstGeom>
          <a:noFill/>
        </p:spPr>
        <p:txBody>
          <a:bodyPr wrap="square">
            <a:spAutoFit/>
          </a:bodyPr>
          <a:lstStyle/>
          <a:p>
            <a:r>
              <a:rPr lang="en-GB" b="0" dirty="0">
                <a:solidFill>
                  <a:srgbClr val="DCDCDC"/>
                </a:solidFill>
                <a:effectLst/>
                <a:highlight>
                  <a:srgbClr val="1E1E1E"/>
                </a:highlight>
                <a:latin typeface="Menlo" panose="020B0609030804020204" pitchFamily="49" charset="0"/>
              </a:rPr>
              <a:t>{</a:t>
            </a:r>
            <a:r>
              <a:rPr lang="en-GB" b="0" dirty="0">
                <a:solidFill>
                  <a:srgbClr val="D4D4D4"/>
                </a:solidFill>
                <a:effectLst/>
                <a:highlight>
                  <a:srgbClr val="1E1E1E"/>
                </a:highlight>
                <a:latin typeface="Menlo" panose="020B0609030804020204" pitchFamily="49" charset="0"/>
              </a:rPr>
              <a:t> </a:t>
            </a:r>
          </a:p>
          <a:p>
            <a:r>
              <a:rPr lang="en-GB" b="0" dirty="0">
                <a:solidFill>
                  <a:srgbClr val="9CDCFE"/>
                </a:solidFill>
                <a:effectLst/>
                <a:highlight>
                  <a:srgbClr val="1E1E1E"/>
                </a:highlight>
                <a:latin typeface="Menlo" panose="020B0609030804020204" pitchFamily="49" charset="0"/>
              </a:rPr>
              <a:t>"title"</a:t>
            </a:r>
            <a:r>
              <a:rPr lang="en-GB" b="0" dirty="0">
                <a:solidFill>
                  <a:srgbClr val="DCDCDC"/>
                </a:solidFill>
                <a:effectLst/>
                <a:highlight>
                  <a:srgbClr val="1E1E1E"/>
                </a:highlight>
                <a:latin typeface="Menlo" panose="020B0609030804020204" pitchFamily="49" charset="0"/>
              </a:rPr>
              <a:t>:</a:t>
            </a:r>
            <a:r>
              <a:rPr lang="en-GB" b="0" dirty="0">
                <a:solidFill>
                  <a:srgbClr val="D4D4D4"/>
                </a:solidFill>
                <a:effectLst/>
                <a:highlight>
                  <a:srgbClr val="1E1E1E"/>
                </a:highlight>
                <a:latin typeface="Menlo" panose="020B0609030804020204" pitchFamily="49" charset="0"/>
              </a:rPr>
              <a:t> </a:t>
            </a:r>
            <a:r>
              <a:rPr lang="en-GB" b="0" dirty="0">
                <a:solidFill>
                  <a:srgbClr val="CE9178"/>
                </a:solidFill>
                <a:effectLst/>
                <a:highlight>
                  <a:srgbClr val="1E1E1E"/>
                </a:highlight>
                <a:latin typeface="Menlo" panose="020B0609030804020204" pitchFamily="49" charset="0"/>
              </a:rPr>
              <a:t>"matt3"</a:t>
            </a:r>
            <a:r>
              <a:rPr lang="en-GB" b="0" dirty="0">
                <a:solidFill>
                  <a:srgbClr val="DCDCDC"/>
                </a:solidFill>
                <a:effectLst/>
                <a:highlight>
                  <a:srgbClr val="1E1E1E"/>
                </a:highlight>
                <a:latin typeface="Menlo" panose="020B0609030804020204" pitchFamily="49" charset="0"/>
              </a:rPr>
              <a:t>,</a:t>
            </a:r>
            <a:endParaRPr lang="en-GB" b="0" dirty="0">
              <a:solidFill>
                <a:srgbClr val="D4D4D4"/>
              </a:solidFill>
              <a:effectLst/>
              <a:highlight>
                <a:srgbClr val="1E1E1E"/>
              </a:highlight>
              <a:latin typeface="Menlo" panose="020B0609030804020204" pitchFamily="49" charset="0"/>
            </a:endParaRPr>
          </a:p>
          <a:p>
            <a:r>
              <a:rPr lang="en-GB" b="0" dirty="0">
                <a:solidFill>
                  <a:srgbClr val="9CDCFE"/>
                </a:solidFill>
                <a:effectLst/>
                <a:highlight>
                  <a:srgbClr val="1E1E1E"/>
                </a:highlight>
                <a:latin typeface="Menlo" panose="020B0609030804020204" pitchFamily="49" charset="0"/>
              </a:rPr>
              <a:t>"author"</a:t>
            </a:r>
            <a:r>
              <a:rPr lang="en-GB" b="0" dirty="0">
                <a:solidFill>
                  <a:srgbClr val="DCDCDC"/>
                </a:solidFill>
                <a:effectLst/>
                <a:highlight>
                  <a:srgbClr val="1E1E1E"/>
                </a:highlight>
                <a:latin typeface="Menlo" panose="020B0609030804020204" pitchFamily="49" charset="0"/>
              </a:rPr>
              <a:t>:</a:t>
            </a:r>
            <a:r>
              <a:rPr lang="en-GB" b="0" dirty="0">
                <a:solidFill>
                  <a:srgbClr val="D4D4D4"/>
                </a:solidFill>
                <a:effectLst/>
                <a:highlight>
                  <a:srgbClr val="1E1E1E"/>
                </a:highlight>
                <a:latin typeface="Menlo" panose="020B0609030804020204" pitchFamily="49" charset="0"/>
              </a:rPr>
              <a:t> </a:t>
            </a:r>
            <a:r>
              <a:rPr lang="en-GB" b="0" dirty="0">
                <a:solidFill>
                  <a:srgbClr val="CE9178"/>
                </a:solidFill>
                <a:effectLst/>
                <a:highlight>
                  <a:srgbClr val="1E1E1E"/>
                </a:highlight>
                <a:latin typeface="Menlo" panose="020B0609030804020204" pitchFamily="49" charset="0"/>
              </a:rPr>
              <a:t>"matt3"</a:t>
            </a:r>
            <a:r>
              <a:rPr lang="en-GB" b="0" dirty="0">
                <a:solidFill>
                  <a:srgbClr val="DCDCDC"/>
                </a:solidFill>
                <a:effectLst/>
                <a:highlight>
                  <a:srgbClr val="1E1E1E"/>
                </a:highlight>
                <a:latin typeface="Menlo" panose="020B0609030804020204" pitchFamily="49" charset="0"/>
              </a:rPr>
              <a:t>,</a:t>
            </a:r>
            <a:endParaRPr lang="en-GB" b="0" dirty="0">
              <a:solidFill>
                <a:srgbClr val="D4D4D4"/>
              </a:solidFill>
              <a:effectLst/>
              <a:highlight>
                <a:srgbClr val="1E1E1E"/>
              </a:highlight>
              <a:latin typeface="Menlo" panose="020B0609030804020204" pitchFamily="49" charset="0"/>
            </a:endParaRPr>
          </a:p>
          <a:p>
            <a:r>
              <a:rPr lang="en-GB" b="0" dirty="0">
                <a:solidFill>
                  <a:srgbClr val="9CDCFE"/>
                </a:solidFill>
                <a:effectLst/>
                <a:highlight>
                  <a:srgbClr val="1E1E1E"/>
                </a:highlight>
                <a:latin typeface="Menlo" panose="020B0609030804020204" pitchFamily="49" charset="0"/>
              </a:rPr>
              <a:t>"</a:t>
            </a:r>
            <a:r>
              <a:rPr lang="en-GB" b="0" dirty="0" err="1">
                <a:solidFill>
                  <a:srgbClr val="9CDCFE"/>
                </a:solidFill>
                <a:effectLst/>
                <a:highlight>
                  <a:srgbClr val="1E1E1E"/>
                </a:highlight>
                <a:latin typeface="Menlo" panose="020B0609030804020204" pitchFamily="49" charset="0"/>
              </a:rPr>
              <a:t>published_at</a:t>
            </a:r>
            <a:r>
              <a:rPr lang="en-GB" b="0" dirty="0">
                <a:solidFill>
                  <a:srgbClr val="9CDCFE"/>
                </a:solidFill>
                <a:effectLst/>
                <a:highlight>
                  <a:srgbClr val="1E1E1E"/>
                </a:highlight>
                <a:latin typeface="Menlo" panose="020B0609030804020204" pitchFamily="49" charset="0"/>
              </a:rPr>
              <a:t>"</a:t>
            </a:r>
            <a:r>
              <a:rPr lang="en-GB" b="0" dirty="0">
                <a:solidFill>
                  <a:srgbClr val="DCDCDC"/>
                </a:solidFill>
                <a:effectLst/>
                <a:highlight>
                  <a:srgbClr val="1E1E1E"/>
                </a:highlight>
                <a:latin typeface="Menlo" panose="020B0609030804020204" pitchFamily="49" charset="0"/>
              </a:rPr>
              <a:t>:</a:t>
            </a:r>
            <a:r>
              <a:rPr lang="en-GB" b="0" dirty="0">
                <a:solidFill>
                  <a:srgbClr val="D4D4D4"/>
                </a:solidFill>
                <a:effectLst/>
                <a:highlight>
                  <a:srgbClr val="1E1E1E"/>
                </a:highlight>
                <a:latin typeface="Menlo" panose="020B0609030804020204" pitchFamily="49" charset="0"/>
              </a:rPr>
              <a:t> </a:t>
            </a:r>
            <a:r>
              <a:rPr lang="en-GB" b="0" dirty="0">
                <a:solidFill>
                  <a:srgbClr val="CE9178"/>
                </a:solidFill>
                <a:effectLst/>
                <a:highlight>
                  <a:srgbClr val="1E1E1E"/>
                </a:highlight>
                <a:latin typeface="Menlo" panose="020B0609030804020204" pitchFamily="49" charset="0"/>
              </a:rPr>
              <a:t>"</a:t>
            </a:r>
            <a:r>
              <a:rPr lang="en-GB" b="0" dirty="0" err="1">
                <a:solidFill>
                  <a:srgbClr val="CE9178"/>
                </a:solidFill>
                <a:effectLst/>
                <a:highlight>
                  <a:srgbClr val="1E1E1E"/>
                </a:highlight>
                <a:latin typeface="Menlo" panose="020B0609030804020204" pitchFamily="49" charset="0"/>
              </a:rPr>
              <a:t>london</a:t>
            </a:r>
            <a:r>
              <a:rPr lang="en-GB" b="0" dirty="0">
                <a:solidFill>
                  <a:srgbClr val="CE9178"/>
                </a:solidFill>
                <a:effectLst/>
                <a:highlight>
                  <a:srgbClr val="1E1E1E"/>
                </a:highlight>
                <a:latin typeface="Menlo" panose="020B0609030804020204" pitchFamily="49" charset="0"/>
              </a:rPr>
              <a:t>"</a:t>
            </a:r>
            <a:endParaRPr lang="en-GB" b="0" dirty="0">
              <a:solidFill>
                <a:srgbClr val="D4D4D4"/>
              </a:solidFill>
              <a:effectLst/>
              <a:highlight>
                <a:srgbClr val="1E1E1E"/>
              </a:highlight>
              <a:latin typeface="Menlo" panose="020B0609030804020204" pitchFamily="49" charset="0"/>
            </a:endParaRPr>
          </a:p>
          <a:p>
            <a:r>
              <a:rPr lang="en-GB" b="0" dirty="0">
                <a:solidFill>
                  <a:srgbClr val="DCDCDC"/>
                </a:solidFill>
                <a:effectLst/>
                <a:highlight>
                  <a:srgbClr val="1E1E1E"/>
                </a:highlight>
                <a:latin typeface="Menlo" panose="020B0609030804020204" pitchFamily="49" charset="0"/>
              </a:rPr>
              <a:t>}</a:t>
            </a:r>
            <a:endParaRPr lang="en-GB" b="0" dirty="0">
              <a:solidFill>
                <a:srgbClr val="D4D4D4"/>
              </a:solidFill>
              <a:effectLst/>
              <a:highlight>
                <a:srgbClr val="1E1E1E"/>
              </a:highlight>
              <a:latin typeface="Menlo" panose="020B0609030804020204" pitchFamily="49" charset="0"/>
            </a:endParaRPr>
          </a:p>
        </p:txBody>
      </p:sp>
      <p:pic>
        <p:nvPicPr>
          <p:cNvPr id="8" name="Picture 7">
            <a:hlinkClick r:id="rId2"/>
            <a:extLst>
              <a:ext uri="{FF2B5EF4-FFF2-40B4-BE49-F238E27FC236}">
                <a16:creationId xmlns:a16="http://schemas.microsoft.com/office/drawing/2014/main" id="{293EB618-7855-1D76-3544-8667E26F6020}"/>
              </a:ext>
            </a:extLst>
          </p:cNvPr>
          <p:cNvPicPr>
            <a:picLocks noChangeAspect="1"/>
          </p:cNvPicPr>
          <p:nvPr/>
        </p:nvPicPr>
        <p:blipFill>
          <a:blip r:embed="rId3"/>
          <a:stretch>
            <a:fillRect/>
          </a:stretch>
        </p:blipFill>
        <p:spPr>
          <a:xfrm>
            <a:off x="957516" y="1389498"/>
            <a:ext cx="4245550" cy="1816338"/>
          </a:xfrm>
          <a:prstGeom prst="rect">
            <a:avLst/>
          </a:prstGeom>
          <a:ln>
            <a:solidFill>
              <a:schemeClr val="bg1">
                <a:lumMod val="50000"/>
              </a:schemeClr>
            </a:solidFill>
          </a:ln>
        </p:spPr>
      </p:pic>
      <p:pic>
        <p:nvPicPr>
          <p:cNvPr id="9" name="Picture 8">
            <a:extLst>
              <a:ext uri="{FF2B5EF4-FFF2-40B4-BE49-F238E27FC236}">
                <a16:creationId xmlns:a16="http://schemas.microsoft.com/office/drawing/2014/main" id="{A985CB58-57D3-422E-9B3B-D29CB1C908FD}"/>
              </a:ext>
            </a:extLst>
          </p:cNvPr>
          <p:cNvPicPr>
            <a:picLocks noChangeAspect="1"/>
          </p:cNvPicPr>
          <p:nvPr/>
        </p:nvPicPr>
        <p:blipFill rotWithShape="1">
          <a:blip r:embed="rId4"/>
          <a:srcRect t="-698" r="6430"/>
          <a:stretch/>
        </p:blipFill>
        <p:spPr>
          <a:xfrm>
            <a:off x="957515" y="3424389"/>
            <a:ext cx="5997077" cy="665266"/>
          </a:xfrm>
          <a:prstGeom prst="rect">
            <a:avLst/>
          </a:prstGeom>
        </p:spPr>
      </p:pic>
      <p:pic>
        <p:nvPicPr>
          <p:cNvPr id="11" name="Picture 10">
            <a:extLst>
              <a:ext uri="{FF2B5EF4-FFF2-40B4-BE49-F238E27FC236}">
                <a16:creationId xmlns:a16="http://schemas.microsoft.com/office/drawing/2014/main" id="{7AB5D455-B9BB-E0C2-C38A-79B7B3703706}"/>
              </a:ext>
            </a:extLst>
          </p:cNvPr>
          <p:cNvPicPr>
            <a:picLocks noChangeAspect="1"/>
          </p:cNvPicPr>
          <p:nvPr/>
        </p:nvPicPr>
        <p:blipFill>
          <a:blip r:embed="rId5"/>
          <a:stretch>
            <a:fillRect/>
          </a:stretch>
        </p:blipFill>
        <p:spPr>
          <a:xfrm>
            <a:off x="957515" y="4263654"/>
            <a:ext cx="5997077" cy="1980242"/>
          </a:xfrm>
          <a:prstGeom prst="rect">
            <a:avLst/>
          </a:prstGeom>
        </p:spPr>
      </p:pic>
    </p:spTree>
    <p:extLst>
      <p:ext uri="{BB962C8B-B14F-4D97-AF65-F5344CB8AC3E}">
        <p14:creationId xmlns:p14="http://schemas.microsoft.com/office/powerpoint/2010/main" val="36797325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838200" y="262776"/>
            <a:ext cx="10515600" cy="1325563"/>
          </a:xfrm>
        </p:spPr>
        <p:txBody>
          <a:bodyPr>
            <a:normAutofit/>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Seven testing principles</a:t>
            </a:r>
          </a:p>
        </p:txBody>
      </p:sp>
      <p:sp>
        <p:nvSpPr>
          <p:cNvPr id="7" name="Rectangle 6">
            <a:extLst>
              <a:ext uri="{FF2B5EF4-FFF2-40B4-BE49-F238E27FC236}">
                <a16:creationId xmlns:a16="http://schemas.microsoft.com/office/drawing/2014/main" id="{1862D51B-C2D7-1763-CEAC-B2F8E29D94FA}"/>
              </a:ext>
            </a:extLst>
          </p:cNvPr>
          <p:cNvSpPr/>
          <p:nvPr/>
        </p:nvSpPr>
        <p:spPr>
          <a:xfrm>
            <a:off x="838200" y="6241538"/>
            <a:ext cx="10091224" cy="457369"/>
          </a:xfrm>
          <a:prstGeom prst="rect">
            <a:avLst/>
          </a:prstGeom>
        </p:spPr>
        <p:txBody>
          <a:bodyPr wrap="none">
            <a:spAutoFit/>
          </a:bodyPr>
          <a:lstStyle/>
          <a:p>
            <a:pPr>
              <a:lnSpc>
                <a:spcPct val="150000"/>
              </a:lnSpc>
            </a:pPr>
            <a:r>
              <a:rPr lang="en-GB" u="sng" dirty="0">
                <a:solidFill>
                  <a:schemeClr val="accent5">
                    <a:lumMod val="75000"/>
                  </a:schemeClr>
                </a:solidFill>
                <a:latin typeface="Georgia" panose="02040502050405020303" pitchFamily="18" charset="0"/>
                <a:ea typeface="Helvetica Neue Light" panose="02000403000000020004" pitchFamily="2" charset="0"/>
                <a:cs typeface="Angsana New" panose="02020603050405020304" pitchFamily="18" charset="-34"/>
              </a:rPr>
              <a:t>https://</a:t>
            </a:r>
            <a:r>
              <a:rPr lang="en-GB" u="sng" dirty="0" err="1">
                <a:solidFill>
                  <a:schemeClr val="accent5">
                    <a:lumMod val="75000"/>
                  </a:schemeClr>
                </a:solidFill>
                <a:latin typeface="Georgia" panose="02040502050405020303" pitchFamily="18" charset="0"/>
                <a:ea typeface="Helvetica Neue Light" panose="02000403000000020004" pitchFamily="2" charset="0"/>
                <a:cs typeface="Angsana New" panose="02020603050405020304" pitchFamily="18" charset="-34"/>
              </a:rPr>
              <a:t>www.youtube.com</a:t>
            </a:r>
            <a:r>
              <a:rPr lang="en-GB" u="sng" dirty="0">
                <a:solidFill>
                  <a:schemeClr val="accent5">
                    <a:lumMod val="75000"/>
                  </a:schemeClr>
                </a:solidFill>
                <a:latin typeface="Georgia" panose="02040502050405020303" pitchFamily="18" charset="0"/>
                <a:ea typeface="Helvetica Neue Light" panose="02000403000000020004" pitchFamily="2" charset="0"/>
                <a:cs typeface="Angsana New" panose="02020603050405020304" pitchFamily="18" charset="-34"/>
              </a:rPr>
              <a:t>/</a:t>
            </a:r>
            <a:r>
              <a:rPr lang="en-GB" u="sng" dirty="0" err="1">
                <a:solidFill>
                  <a:schemeClr val="accent5">
                    <a:lumMod val="75000"/>
                  </a:schemeClr>
                </a:solidFill>
                <a:latin typeface="Georgia" panose="02040502050405020303" pitchFamily="18" charset="0"/>
                <a:ea typeface="Helvetica Neue Light" panose="02000403000000020004" pitchFamily="2" charset="0"/>
                <a:cs typeface="Angsana New" panose="02020603050405020304" pitchFamily="18" charset="-34"/>
              </a:rPr>
              <a:t>watch?v</a:t>
            </a:r>
            <a:r>
              <a:rPr lang="en-GB" u="sng" dirty="0">
                <a:solidFill>
                  <a:schemeClr val="accent5">
                    <a:lumMod val="75000"/>
                  </a:schemeClr>
                </a:solidFill>
                <a:latin typeface="Georgia" panose="02040502050405020303" pitchFamily="18" charset="0"/>
                <a:ea typeface="Helvetica Neue Light" panose="02000403000000020004" pitchFamily="2" charset="0"/>
                <a:cs typeface="Angsana New" panose="02020603050405020304" pitchFamily="18" charset="-34"/>
              </a:rPr>
              <a:t>=rFaWOw8bIMM&amp;list=PLDC2A0C8D2EC934C7&amp;index=4</a:t>
            </a:r>
          </a:p>
        </p:txBody>
      </p:sp>
      <p:pic>
        <p:nvPicPr>
          <p:cNvPr id="2" name="Picture 1">
            <a:hlinkClick r:id="rId2"/>
            <a:extLst>
              <a:ext uri="{FF2B5EF4-FFF2-40B4-BE49-F238E27FC236}">
                <a16:creationId xmlns:a16="http://schemas.microsoft.com/office/drawing/2014/main" id="{672C4F86-71F7-703D-C116-2EDBFA596FA4}"/>
              </a:ext>
            </a:extLst>
          </p:cNvPr>
          <p:cNvPicPr>
            <a:picLocks noChangeAspect="1"/>
          </p:cNvPicPr>
          <p:nvPr/>
        </p:nvPicPr>
        <p:blipFill>
          <a:blip r:embed="rId3"/>
          <a:stretch>
            <a:fillRect/>
          </a:stretch>
        </p:blipFill>
        <p:spPr>
          <a:xfrm>
            <a:off x="921118" y="1345366"/>
            <a:ext cx="8364549" cy="4706515"/>
          </a:xfrm>
          <a:prstGeom prst="rect">
            <a:avLst/>
          </a:prstGeom>
        </p:spPr>
      </p:pic>
    </p:spTree>
    <p:extLst>
      <p:ext uri="{BB962C8B-B14F-4D97-AF65-F5344CB8AC3E}">
        <p14:creationId xmlns:p14="http://schemas.microsoft.com/office/powerpoint/2010/main" val="4860035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838200" y="262776"/>
            <a:ext cx="10515600" cy="1325563"/>
          </a:xfrm>
        </p:spPr>
        <p:txBody>
          <a:bodyPr>
            <a:normAutofit/>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The Dunning-Kruger Effect</a:t>
            </a:r>
          </a:p>
        </p:txBody>
      </p:sp>
      <p:sp>
        <p:nvSpPr>
          <p:cNvPr id="7" name="Rectangle 6">
            <a:extLst>
              <a:ext uri="{FF2B5EF4-FFF2-40B4-BE49-F238E27FC236}">
                <a16:creationId xmlns:a16="http://schemas.microsoft.com/office/drawing/2014/main" id="{1862D51B-C2D7-1763-CEAC-B2F8E29D94FA}"/>
              </a:ext>
            </a:extLst>
          </p:cNvPr>
          <p:cNvSpPr/>
          <p:nvPr/>
        </p:nvSpPr>
        <p:spPr>
          <a:xfrm>
            <a:off x="838200" y="6241538"/>
            <a:ext cx="5545108" cy="457369"/>
          </a:xfrm>
          <a:prstGeom prst="rect">
            <a:avLst/>
          </a:prstGeom>
        </p:spPr>
        <p:txBody>
          <a:bodyPr wrap="none">
            <a:spAutoFit/>
          </a:bodyPr>
          <a:lstStyle/>
          <a:p>
            <a:pPr>
              <a:lnSpc>
                <a:spcPct val="150000"/>
              </a:lnSpc>
            </a:pPr>
            <a:r>
              <a:rPr lang="en-GB" u="sng" dirty="0">
                <a:solidFill>
                  <a:schemeClr val="accent5">
                    <a:lumMod val="75000"/>
                  </a:schemeClr>
                </a:solidFill>
                <a:latin typeface="Georgia" panose="02040502050405020303" pitchFamily="18" charset="0"/>
                <a:ea typeface="Helvetica Neue Light" panose="02000403000000020004" pitchFamily="2" charset="0"/>
                <a:cs typeface="Angsana New" panose="02020603050405020304" pitchFamily="18" charset="-34"/>
              </a:rPr>
              <a:t>https://</a:t>
            </a:r>
            <a:r>
              <a:rPr lang="en-GB" u="sng" dirty="0" err="1">
                <a:solidFill>
                  <a:schemeClr val="accent5">
                    <a:lumMod val="75000"/>
                  </a:schemeClr>
                </a:solidFill>
                <a:latin typeface="Georgia" panose="02040502050405020303" pitchFamily="18" charset="0"/>
                <a:ea typeface="Helvetica Neue Light" panose="02000403000000020004" pitchFamily="2" charset="0"/>
                <a:cs typeface="Angsana New" panose="02020603050405020304" pitchFamily="18" charset="-34"/>
              </a:rPr>
              <a:t>www.youtube.com</a:t>
            </a:r>
            <a:r>
              <a:rPr lang="en-GB" u="sng" dirty="0">
                <a:solidFill>
                  <a:schemeClr val="accent5">
                    <a:lumMod val="75000"/>
                  </a:schemeClr>
                </a:solidFill>
                <a:latin typeface="Georgia" panose="02040502050405020303" pitchFamily="18" charset="0"/>
                <a:ea typeface="Helvetica Neue Light" panose="02000403000000020004" pitchFamily="2" charset="0"/>
                <a:cs typeface="Angsana New" panose="02020603050405020304" pitchFamily="18" charset="-34"/>
              </a:rPr>
              <a:t>/</a:t>
            </a:r>
            <a:r>
              <a:rPr lang="en-GB" u="sng" dirty="0" err="1">
                <a:solidFill>
                  <a:schemeClr val="accent5">
                    <a:lumMod val="75000"/>
                  </a:schemeClr>
                </a:solidFill>
                <a:latin typeface="Georgia" panose="02040502050405020303" pitchFamily="18" charset="0"/>
                <a:ea typeface="Helvetica Neue Light" panose="02000403000000020004" pitchFamily="2" charset="0"/>
                <a:cs typeface="Angsana New" panose="02020603050405020304" pitchFamily="18" charset="-34"/>
              </a:rPr>
              <a:t>watch?v</a:t>
            </a:r>
            <a:r>
              <a:rPr lang="en-GB" u="sng" dirty="0">
                <a:solidFill>
                  <a:schemeClr val="accent5">
                    <a:lumMod val="75000"/>
                  </a:schemeClr>
                </a:solidFill>
                <a:latin typeface="Georgia" panose="02040502050405020303" pitchFamily="18" charset="0"/>
                <a:ea typeface="Helvetica Neue Light" panose="02000403000000020004" pitchFamily="2" charset="0"/>
                <a:cs typeface="Angsana New" panose="02020603050405020304" pitchFamily="18" charset="-34"/>
              </a:rPr>
              <a:t>=HzyNXwF1vNg</a:t>
            </a:r>
          </a:p>
        </p:txBody>
      </p:sp>
      <p:pic>
        <p:nvPicPr>
          <p:cNvPr id="3" name="Picture 2">
            <a:hlinkClick r:id="rId2"/>
            <a:extLst>
              <a:ext uri="{FF2B5EF4-FFF2-40B4-BE49-F238E27FC236}">
                <a16:creationId xmlns:a16="http://schemas.microsoft.com/office/drawing/2014/main" id="{8422EBA2-F68A-C2EA-E93B-4E01A0BB5F6F}"/>
              </a:ext>
            </a:extLst>
          </p:cNvPr>
          <p:cNvPicPr>
            <a:picLocks noChangeAspect="1"/>
          </p:cNvPicPr>
          <p:nvPr/>
        </p:nvPicPr>
        <p:blipFill>
          <a:blip r:embed="rId3"/>
          <a:stretch>
            <a:fillRect/>
          </a:stretch>
        </p:blipFill>
        <p:spPr>
          <a:xfrm>
            <a:off x="947670" y="1550675"/>
            <a:ext cx="7772400" cy="4690863"/>
          </a:xfrm>
          <a:prstGeom prst="rect">
            <a:avLst/>
          </a:prstGeom>
          <a:ln>
            <a:solidFill>
              <a:schemeClr val="bg1">
                <a:lumMod val="50000"/>
              </a:schemeClr>
            </a:solidFill>
          </a:ln>
        </p:spPr>
      </p:pic>
    </p:spTree>
    <p:extLst>
      <p:ext uri="{BB962C8B-B14F-4D97-AF65-F5344CB8AC3E}">
        <p14:creationId xmlns:p14="http://schemas.microsoft.com/office/powerpoint/2010/main" val="7438147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FF5B50">
                <a:alpha val="83137"/>
              </a:srgbClr>
            </a:gs>
            <a:gs pos="41000">
              <a:srgbClr val="FF574B">
                <a:lumMod val="87000"/>
                <a:lumOff val="13000"/>
              </a:srgbClr>
            </a:gs>
            <a:gs pos="100000">
              <a:srgbClr val="FF574B"/>
            </a:gs>
          </a:gsLst>
          <a:path path="circle">
            <a:fillToRect l="100000" b="100000"/>
          </a:path>
          <a:tileRect t="-100000" r="-100000"/>
        </a:gradFill>
        <a:effectLst/>
      </p:bgPr>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0" y="705901"/>
            <a:ext cx="12192000" cy="5152767"/>
          </a:xfrm>
          <a:effectLst>
            <a:outerShdw blurRad="266700" dist="127000" dir="13500000" algn="br" rotWithShape="0">
              <a:prstClr val="black">
                <a:alpha val="40000"/>
              </a:prstClr>
            </a:outerShdw>
          </a:effectLst>
        </p:spPr>
        <p:txBody>
          <a:bodyPr anchor="ctr">
            <a:noAutofit/>
          </a:bodyPr>
          <a:lstStyle/>
          <a:p>
            <a:pPr marL="0" indent="0" algn="ctr">
              <a:lnSpc>
                <a:spcPct val="150000"/>
              </a:lnSpc>
              <a:buNone/>
            </a:pPr>
            <a:r>
              <a:rPr lang="en-US" sz="6000" spc="60" dirty="0">
                <a:solidFill>
                  <a:schemeClr val="bg1"/>
                </a:solidFill>
                <a:latin typeface="American Typewriter" panose="02090604020004020304" pitchFamily="18" charset="77"/>
                <a:ea typeface="Helvetica Neue Thin" panose="020B0403020202020204" pitchFamily="34" charset="0"/>
                <a:cs typeface="Georgia Pro Cond Black" panose="020F0502020204030204" pitchFamily="34" charset="0"/>
              </a:rPr>
              <a:t>Moving forward -  year 3</a:t>
            </a:r>
          </a:p>
          <a:p>
            <a:pPr marL="0" indent="0" algn="ctr">
              <a:lnSpc>
                <a:spcPct val="150000"/>
              </a:lnSpc>
              <a:buNone/>
            </a:pPr>
            <a:r>
              <a:rPr lang="en-US" sz="6000" spc="60" dirty="0">
                <a:solidFill>
                  <a:schemeClr val="bg1"/>
                </a:solidFill>
                <a:latin typeface="American Typewriter" panose="02090604020004020304" pitchFamily="18" charset="77"/>
                <a:ea typeface="Helvetica Neue Thin" panose="020B0403020202020204" pitchFamily="34" charset="0"/>
                <a:cs typeface="Georgia Pro Cond Black" panose="020F0502020204030204" pitchFamily="34" charset="0"/>
              </a:rPr>
              <a:t>PROJECTS</a:t>
            </a:r>
            <a:endParaRPr lang="en-GB" sz="6000" spc="70" dirty="0">
              <a:solidFill>
                <a:schemeClr val="bg1"/>
              </a:solidFill>
              <a:latin typeface="Helvetica Neue Thin" panose="020B0403020202020204" pitchFamily="34" charset="0"/>
              <a:ea typeface="Helvetica Neue Thin" panose="020B0403020202020204" pitchFamily="34" charset="0"/>
              <a:cs typeface="Helvetica Neue" panose="02000503000000020004" pitchFamily="2" charset="0"/>
            </a:endParaRPr>
          </a:p>
        </p:txBody>
      </p:sp>
    </p:spTree>
    <p:extLst>
      <p:ext uri="{BB962C8B-B14F-4D97-AF65-F5344CB8AC3E}">
        <p14:creationId xmlns:p14="http://schemas.microsoft.com/office/powerpoint/2010/main" val="40418629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838199" y="0"/>
            <a:ext cx="10515600" cy="1325563"/>
          </a:xfrm>
        </p:spPr>
        <p:txBody>
          <a:bodyPr>
            <a:normAutofit/>
          </a:bodyPr>
          <a:lstStyle/>
          <a:p>
            <a:pPr algn="ctr"/>
            <a:r>
              <a:rPr lang="en-US" sz="48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Remember this?</a:t>
            </a:r>
          </a:p>
        </p:txBody>
      </p:sp>
      <p:pic>
        <p:nvPicPr>
          <p:cNvPr id="2" name="Picture 2" descr="Critical Thinking Skills">
            <a:extLst>
              <a:ext uri="{FF2B5EF4-FFF2-40B4-BE49-F238E27FC236}">
                <a16:creationId xmlns:a16="http://schemas.microsoft.com/office/drawing/2014/main" id="{8ED0EB3E-1AEC-76E8-0C0E-26B03A6B8B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11165" y="945826"/>
            <a:ext cx="5769669" cy="5769669"/>
          </a:xfrm>
          <a:prstGeom prst="rect">
            <a:avLst/>
          </a:prstGeom>
          <a:noFill/>
          <a:ln>
            <a:solidFill>
              <a:schemeClr val="accent1">
                <a:shade val="15000"/>
              </a:schemeClr>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11460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838200" y="9630"/>
            <a:ext cx="10515600" cy="1325563"/>
          </a:xfrm>
        </p:spPr>
        <p:txBody>
          <a:bodyPr>
            <a:normAutofit/>
          </a:bodyPr>
          <a:lstStyle/>
          <a:p>
            <a:pPr algn="ctr"/>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And this?</a:t>
            </a:r>
          </a:p>
        </p:txBody>
      </p:sp>
      <p:pic>
        <p:nvPicPr>
          <p:cNvPr id="3" name="Picture 4" descr="Scientific method - Wikipedia">
            <a:extLst>
              <a:ext uri="{FF2B5EF4-FFF2-40B4-BE49-F238E27FC236}">
                <a16:creationId xmlns:a16="http://schemas.microsoft.com/office/drawing/2014/main" id="{4FF2D54E-AAE4-E34D-CD5B-6BAA79A2A4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23414" y="1098118"/>
            <a:ext cx="6052406" cy="57502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682908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838200" y="228571"/>
            <a:ext cx="10515600" cy="1325563"/>
          </a:xfrm>
        </p:spPr>
        <p:txBody>
          <a:bodyPr>
            <a:normAutofit/>
          </a:bodyPr>
          <a:lstStyle/>
          <a:p>
            <a:pPr algn="ctr"/>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BSc Hons</a:t>
            </a:r>
          </a:p>
        </p:txBody>
      </p:sp>
      <p:sp>
        <p:nvSpPr>
          <p:cNvPr id="5" name="TextBox 4">
            <a:extLst>
              <a:ext uri="{FF2B5EF4-FFF2-40B4-BE49-F238E27FC236}">
                <a16:creationId xmlns:a16="http://schemas.microsoft.com/office/drawing/2014/main" id="{407C5DD7-8B8C-3A07-5906-2A50B99B7939}"/>
              </a:ext>
            </a:extLst>
          </p:cNvPr>
          <p:cNvSpPr txBox="1"/>
          <p:nvPr/>
        </p:nvSpPr>
        <p:spPr>
          <a:xfrm>
            <a:off x="838200" y="1451103"/>
            <a:ext cx="11074758" cy="4532779"/>
          </a:xfrm>
          <a:prstGeom prst="rect">
            <a:avLst/>
          </a:prstGeom>
          <a:noFill/>
        </p:spPr>
        <p:txBody>
          <a:bodyPr wrap="square">
            <a:spAutoFit/>
          </a:bodyPr>
          <a:lstStyle/>
          <a:p>
            <a:pPr>
              <a:lnSpc>
                <a:spcPct val="150000"/>
              </a:lnSpc>
            </a:pPr>
            <a:r>
              <a:rPr lang="en-GB" sz="2800" dirty="0">
                <a:latin typeface="Helvetica Neue Light" panose="02000403000000020004" pitchFamily="2" charset="0"/>
                <a:ea typeface="Helvetica Neue Light" panose="02000403000000020004" pitchFamily="2" charset="0"/>
              </a:rPr>
              <a:t>The Sc bit means science…yes you need to “do a science”…so you will need to apply the scientific method.</a:t>
            </a:r>
          </a:p>
          <a:p>
            <a:pPr>
              <a:lnSpc>
                <a:spcPct val="150000"/>
              </a:lnSpc>
            </a:pPr>
            <a:endParaRPr lang="en-GB" sz="2800" dirty="0">
              <a:latin typeface="Helvetica Neue Light" panose="02000403000000020004" pitchFamily="2" charset="0"/>
              <a:ea typeface="Helvetica Neue Light" panose="02000403000000020004" pitchFamily="2" charset="0"/>
            </a:endParaRPr>
          </a:p>
          <a:p>
            <a:pPr>
              <a:lnSpc>
                <a:spcPct val="150000"/>
              </a:lnSpc>
            </a:pPr>
            <a:r>
              <a:rPr lang="en-GB" sz="2800" dirty="0">
                <a:latin typeface="Helvetica Neue Light" panose="02000403000000020004" pitchFamily="2" charset="0"/>
                <a:ea typeface="Helvetica Neue Light" panose="02000403000000020004" pitchFamily="2" charset="0"/>
              </a:rPr>
              <a:t>The (Hons) bit stands for Honours. This generally means you study for 3 years, or 4 if the course is offered with an optional sandwich-placement year. You study 360 credits, </a:t>
            </a:r>
            <a:r>
              <a:rPr lang="en-GB" sz="2800" dirty="0">
                <a:solidFill>
                  <a:srgbClr val="D3473F"/>
                </a:solidFill>
                <a:latin typeface="Helvetica Neue Light" panose="02000403000000020004" pitchFamily="2" charset="0"/>
                <a:ea typeface="Helvetica Neue Light" panose="02000403000000020004" pitchFamily="2" charset="0"/>
              </a:rPr>
              <a:t>including a major </a:t>
            </a:r>
            <a:r>
              <a:rPr lang="en-GB" sz="2800" b="1" dirty="0">
                <a:solidFill>
                  <a:srgbClr val="D3473F"/>
                </a:solidFill>
                <a:latin typeface="HELVETICA NEUE LIGHT" panose="02000403000000020004" pitchFamily="2" charset="0"/>
                <a:ea typeface="HELVETICA NEUE LIGHT" panose="02000403000000020004" pitchFamily="2" charset="0"/>
              </a:rPr>
              <a:t>independent</a:t>
            </a:r>
            <a:r>
              <a:rPr lang="en-GB" sz="2800" dirty="0">
                <a:solidFill>
                  <a:srgbClr val="D3473F"/>
                </a:solidFill>
                <a:latin typeface="Helvetica Neue Light" panose="02000403000000020004" pitchFamily="2" charset="0"/>
                <a:ea typeface="Helvetica Neue Light" panose="02000403000000020004" pitchFamily="2" charset="0"/>
              </a:rPr>
              <a:t> project or dissertation in your final year.</a:t>
            </a:r>
            <a:endParaRPr lang="en-US" sz="2800" dirty="0">
              <a:solidFill>
                <a:srgbClr val="D3473F"/>
              </a:solidFill>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12953628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838200" y="228571"/>
            <a:ext cx="10515600" cy="1325563"/>
          </a:xfrm>
        </p:spPr>
        <p:txBody>
          <a:bodyPr>
            <a:normAutofit/>
          </a:bodyPr>
          <a:lstStyle/>
          <a:p>
            <a:pPr algn="ctr"/>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Project idea/title</a:t>
            </a:r>
          </a:p>
        </p:txBody>
      </p:sp>
      <p:sp>
        <p:nvSpPr>
          <p:cNvPr id="5" name="TextBox 4">
            <a:extLst>
              <a:ext uri="{FF2B5EF4-FFF2-40B4-BE49-F238E27FC236}">
                <a16:creationId xmlns:a16="http://schemas.microsoft.com/office/drawing/2014/main" id="{407C5DD7-8B8C-3A07-5906-2A50B99B7939}"/>
              </a:ext>
            </a:extLst>
          </p:cNvPr>
          <p:cNvSpPr txBox="1"/>
          <p:nvPr/>
        </p:nvSpPr>
        <p:spPr>
          <a:xfrm>
            <a:off x="838200" y="1451103"/>
            <a:ext cx="11074758" cy="5086777"/>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GB" sz="2400" dirty="0">
                <a:latin typeface="Helvetica Neue Light" panose="02000403000000020004" pitchFamily="2" charset="0"/>
                <a:ea typeface="Helvetica Neue Light" panose="02000403000000020004" pitchFamily="2" charset="0"/>
              </a:rPr>
              <a:t>Much better to come up with your own idea if you can.</a:t>
            </a:r>
          </a:p>
          <a:p>
            <a:pPr marL="342900" indent="-342900">
              <a:lnSpc>
                <a:spcPct val="150000"/>
              </a:lnSpc>
              <a:buFont typeface="Arial" panose="020B0604020202020204" pitchFamily="34" charset="0"/>
              <a:buChar char="•"/>
            </a:pPr>
            <a:r>
              <a:rPr lang="en-GB" sz="2400" dirty="0">
                <a:latin typeface="Helvetica Neue Light" panose="02000403000000020004" pitchFamily="2" charset="0"/>
                <a:ea typeface="Helvetica Neue Light" panose="02000403000000020004" pitchFamily="2" charset="0"/>
              </a:rPr>
              <a:t>Staff title can be a starting point to give a direction but be careful just following someone else’s idea, it really is better if it comes from you.</a:t>
            </a:r>
          </a:p>
          <a:p>
            <a:pPr marL="342900" indent="-342900">
              <a:lnSpc>
                <a:spcPct val="150000"/>
              </a:lnSpc>
              <a:buFont typeface="Arial" panose="020B0604020202020204" pitchFamily="34" charset="0"/>
              <a:buChar char="•"/>
            </a:pPr>
            <a:r>
              <a:rPr lang="en-GB" sz="2400" dirty="0">
                <a:latin typeface="Helvetica Neue Light" panose="02000403000000020004" pitchFamily="2" charset="0"/>
                <a:ea typeface="Helvetica Neue Light" panose="02000403000000020004" pitchFamily="2" charset="0"/>
              </a:rPr>
              <a:t>You need to be passionate about it, you’ll be living with it for 2 terms, 60 credits, if you lose interest, it will be hard to sustain yourself.</a:t>
            </a:r>
          </a:p>
          <a:p>
            <a:pPr marL="342900" indent="-342900">
              <a:lnSpc>
                <a:spcPct val="150000"/>
              </a:lnSpc>
              <a:buFont typeface="Arial" panose="020B0604020202020204" pitchFamily="34" charset="0"/>
              <a:buChar char="•"/>
            </a:pPr>
            <a:r>
              <a:rPr lang="en-GB" sz="2400" dirty="0">
                <a:latin typeface="Helvetica Neue Light" panose="02000403000000020004" pitchFamily="2" charset="0"/>
                <a:ea typeface="Helvetica Neue Light" panose="02000403000000020004" pitchFamily="2" charset="0"/>
              </a:rPr>
              <a:t>Perhaps an area you would like to work in in future?</a:t>
            </a:r>
          </a:p>
          <a:p>
            <a:pPr marL="342900" indent="-342900">
              <a:lnSpc>
                <a:spcPct val="150000"/>
              </a:lnSpc>
              <a:buFont typeface="Arial" panose="020B0604020202020204" pitchFamily="34" charset="0"/>
              <a:buChar char="•"/>
            </a:pPr>
            <a:r>
              <a:rPr lang="en-GB" sz="2400" dirty="0">
                <a:latin typeface="Helvetica Neue Light" panose="02000403000000020004" pitchFamily="2" charset="0"/>
                <a:ea typeface="Helvetica Neue Light" panose="02000403000000020004" pitchFamily="2" charset="0"/>
              </a:rPr>
              <a:t>Could end up as a portfolio piece?</a:t>
            </a:r>
          </a:p>
          <a:p>
            <a:pPr marL="342900" indent="-342900">
              <a:lnSpc>
                <a:spcPct val="150000"/>
              </a:lnSpc>
              <a:buFont typeface="Arial" panose="020B0604020202020204" pitchFamily="34" charset="0"/>
              <a:buChar char="•"/>
            </a:pPr>
            <a:r>
              <a:rPr lang="en-GB" sz="2400" dirty="0">
                <a:latin typeface="Helvetica Neue Light" panose="02000403000000020004" pitchFamily="2" charset="0"/>
                <a:ea typeface="Helvetica Neue Light" panose="02000403000000020004" pitchFamily="2" charset="0"/>
              </a:rPr>
              <a:t>It is not just a big Coursework !!!</a:t>
            </a:r>
          </a:p>
          <a:p>
            <a:pPr>
              <a:lnSpc>
                <a:spcPct val="150000"/>
              </a:lnSpc>
            </a:pPr>
            <a:endParaRPr lang="en-US" sz="2800" dirty="0">
              <a:solidFill>
                <a:srgbClr val="D3473F"/>
              </a:solidFill>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36162991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838200" y="228571"/>
            <a:ext cx="10515600" cy="1325563"/>
          </a:xfrm>
        </p:spPr>
        <p:txBody>
          <a:bodyPr>
            <a:normAutofit/>
          </a:bodyPr>
          <a:lstStyle/>
          <a:p>
            <a:pPr algn="ctr"/>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Don’t focus on the product</a:t>
            </a:r>
          </a:p>
        </p:txBody>
      </p:sp>
      <p:sp>
        <p:nvSpPr>
          <p:cNvPr id="5" name="TextBox 4">
            <a:extLst>
              <a:ext uri="{FF2B5EF4-FFF2-40B4-BE49-F238E27FC236}">
                <a16:creationId xmlns:a16="http://schemas.microsoft.com/office/drawing/2014/main" id="{407C5DD7-8B8C-3A07-5906-2A50B99B7939}"/>
              </a:ext>
            </a:extLst>
          </p:cNvPr>
          <p:cNvSpPr txBox="1"/>
          <p:nvPr/>
        </p:nvSpPr>
        <p:spPr>
          <a:xfrm>
            <a:off x="838200" y="1554134"/>
            <a:ext cx="11074758" cy="2316788"/>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GB" sz="2400" dirty="0">
                <a:latin typeface="Helvetica Neue Light" panose="02000403000000020004" pitchFamily="2" charset="0"/>
                <a:ea typeface="Helvetica Neue Light" panose="02000403000000020004" pitchFamily="2" charset="0"/>
              </a:rPr>
              <a:t>Biggest mistake is to just focus of the product, this is not a coursework, we do not give you a specification to work towards.</a:t>
            </a:r>
          </a:p>
          <a:p>
            <a:pPr marL="342900" indent="-342900">
              <a:lnSpc>
                <a:spcPct val="150000"/>
              </a:lnSpc>
              <a:buFont typeface="Arial" panose="020B0604020202020204" pitchFamily="34" charset="0"/>
              <a:buChar char="•"/>
            </a:pPr>
            <a:r>
              <a:rPr lang="en-GB" sz="2400" dirty="0">
                <a:latin typeface="Helvetica Neue Light" panose="02000403000000020004" pitchFamily="2" charset="0"/>
                <a:ea typeface="Helvetica Neue Light" panose="02000403000000020004" pitchFamily="2" charset="0"/>
              </a:rPr>
              <a:t>Every project is different, every supervisor is different.</a:t>
            </a:r>
          </a:p>
          <a:p>
            <a:pPr>
              <a:lnSpc>
                <a:spcPct val="150000"/>
              </a:lnSpc>
            </a:pPr>
            <a:endParaRPr lang="en-US" sz="2800" dirty="0">
              <a:solidFill>
                <a:srgbClr val="D3473F"/>
              </a:solidFill>
              <a:latin typeface="Helvetica Neue Light" panose="02000403000000020004" pitchFamily="2" charset="0"/>
              <a:ea typeface="Helvetica Neue Light" panose="02000403000000020004" pitchFamily="2" charset="0"/>
            </a:endParaRPr>
          </a:p>
        </p:txBody>
      </p:sp>
      <p:pic>
        <p:nvPicPr>
          <p:cNvPr id="2" name="Picture 4" descr="Scientific method - Wikipedia">
            <a:extLst>
              <a:ext uri="{FF2B5EF4-FFF2-40B4-BE49-F238E27FC236}">
                <a16:creationId xmlns:a16="http://schemas.microsoft.com/office/drawing/2014/main" id="{4276FB64-DE31-22AA-34A2-05BDCDDB58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3477296"/>
            <a:ext cx="3317766" cy="3152133"/>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204E60A2-8D76-B7CE-C12B-4EF29B7E2E24}"/>
              </a:ext>
            </a:extLst>
          </p:cNvPr>
          <p:cNvSpPr txBox="1"/>
          <p:nvPr/>
        </p:nvSpPr>
        <p:spPr>
          <a:xfrm>
            <a:off x="6096000" y="5416674"/>
            <a:ext cx="4301544" cy="574516"/>
          </a:xfrm>
          <a:prstGeom prst="rect">
            <a:avLst/>
          </a:prstGeom>
          <a:noFill/>
        </p:spPr>
        <p:txBody>
          <a:bodyPr wrap="square">
            <a:spAutoFit/>
          </a:bodyPr>
          <a:lstStyle/>
          <a:p>
            <a:pPr>
              <a:lnSpc>
                <a:spcPct val="150000"/>
              </a:lnSpc>
            </a:pPr>
            <a:r>
              <a:rPr lang="en-GB" sz="2400" dirty="0">
                <a:latin typeface="Helvetica Neue Light" panose="02000403000000020004" pitchFamily="2" charset="0"/>
                <a:ea typeface="Helvetica Neue Light" panose="02000403000000020004" pitchFamily="2" charset="0"/>
              </a:rPr>
              <a:t>This is the product </a:t>
            </a:r>
          </a:p>
        </p:txBody>
      </p:sp>
      <p:cxnSp>
        <p:nvCxnSpPr>
          <p:cNvPr id="7" name="Straight Arrow Connector 6">
            <a:extLst>
              <a:ext uri="{FF2B5EF4-FFF2-40B4-BE49-F238E27FC236}">
                <a16:creationId xmlns:a16="http://schemas.microsoft.com/office/drawing/2014/main" id="{A93B777B-6D82-0241-B59F-9C5D444E0EB1}"/>
              </a:ext>
            </a:extLst>
          </p:cNvPr>
          <p:cNvCxnSpPr>
            <a:cxnSpLocks/>
          </p:cNvCxnSpPr>
          <p:nvPr/>
        </p:nvCxnSpPr>
        <p:spPr>
          <a:xfrm flipH="1">
            <a:off x="2884868" y="5794084"/>
            <a:ext cx="3211132" cy="439291"/>
          </a:xfrm>
          <a:prstGeom prst="straightConnector1">
            <a:avLst/>
          </a:prstGeom>
          <a:ln w="28575">
            <a:solidFill>
              <a:srgbClr val="D3473F"/>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356181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838200" y="228571"/>
            <a:ext cx="10515600" cy="1325563"/>
          </a:xfrm>
        </p:spPr>
        <p:txBody>
          <a:bodyPr>
            <a:normAutofit/>
          </a:bodyPr>
          <a:lstStyle/>
          <a:p>
            <a:pPr algn="ctr"/>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The starting point</a:t>
            </a:r>
          </a:p>
        </p:txBody>
      </p:sp>
      <p:sp>
        <p:nvSpPr>
          <p:cNvPr id="5" name="TextBox 4">
            <a:extLst>
              <a:ext uri="{FF2B5EF4-FFF2-40B4-BE49-F238E27FC236}">
                <a16:creationId xmlns:a16="http://schemas.microsoft.com/office/drawing/2014/main" id="{407C5DD7-8B8C-3A07-5906-2A50B99B7939}"/>
              </a:ext>
            </a:extLst>
          </p:cNvPr>
          <p:cNvSpPr txBox="1"/>
          <p:nvPr/>
        </p:nvSpPr>
        <p:spPr>
          <a:xfrm>
            <a:off x="4945486" y="1518699"/>
            <a:ext cx="6967471" cy="5640775"/>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GB" sz="2400" dirty="0">
                <a:latin typeface="Helvetica Neue Light" panose="02000403000000020004" pitchFamily="2" charset="0"/>
                <a:ea typeface="Helvetica Neue Light" panose="02000403000000020004" pitchFamily="2" charset="0"/>
              </a:rPr>
              <a:t>Observation, question, problem domain, reason for the project?</a:t>
            </a:r>
          </a:p>
          <a:p>
            <a:pPr marL="342900" indent="-342900">
              <a:lnSpc>
                <a:spcPct val="150000"/>
              </a:lnSpc>
              <a:buFont typeface="Arial" panose="020B0604020202020204" pitchFamily="34" charset="0"/>
              <a:buChar char="•"/>
            </a:pPr>
            <a:r>
              <a:rPr lang="en-GB" sz="2400" dirty="0">
                <a:latin typeface="Helvetica Neue Light" panose="02000403000000020004" pitchFamily="2" charset="0"/>
                <a:ea typeface="Helvetica Neue Light" panose="02000403000000020004" pitchFamily="2" charset="0"/>
              </a:rPr>
              <a:t>What are you trying to find out not “what do you want to make”.</a:t>
            </a:r>
          </a:p>
          <a:p>
            <a:pPr marL="342900" indent="-342900">
              <a:lnSpc>
                <a:spcPct val="150000"/>
              </a:lnSpc>
              <a:buFont typeface="Arial" panose="020B0604020202020204" pitchFamily="34" charset="0"/>
              <a:buChar char="•"/>
            </a:pPr>
            <a:r>
              <a:rPr lang="en-GB" sz="2400" dirty="0">
                <a:latin typeface="Helvetica Neue Light" panose="02000403000000020004" pitchFamily="2" charset="0"/>
                <a:ea typeface="Helvetica Neue Light" panose="02000403000000020004" pitchFamily="2" charset="0"/>
              </a:rPr>
              <a:t>This is the hardest part of the project and where lots of time can get chewed up resulting in a rushed decision if not careful.</a:t>
            </a:r>
          </a:p>
          <a:p>
            <a:pPr marL="342900" indent="-342900">
              <a:lnSpc>
                <a:spcPct val="150000"/>
              </a:lnSpc>
              <a:buFont typeface="Arial" panose="020B0604020202020204" pitchFamily="34" charset="0"/>
              <a:buChar char="•"/>
            </a:pPr>
            <a:r>
              <a:rPr lang="en-GB" sz="2400" dirty="0">
                <a:latin typeface="Helvetica Neue Light" panose="02000403000000020004" pitchFamily="2" charset="0"/>
                <a:ea typeface="Helvetica Neue Light" panose="02000403000000020004" pitchFamily="2" charset="0"/>
              </a:rPr>
              <a:t>Use the summer to think about this, ask for feedback on ideas.</a:t>
            </a:r>
            <a:endParaRPr lang="en-GB" sz="2800" dirty="0">
              <a:latin typeface="Helvetica Neue Light" panose="02000403000000020004" pitchFamily="2" charset="0"/>
              <a:ea typeface="Helvetica Neue Light" panose="02000403000000020004" pitchFamily="2" charset="0"/>
            </a:endParaRPr>
          </a:p>
          <a:p>
            <a:pPr>
              <a:lnSpc>
                <a:spcPct val="150000"/>
              </a:lnSpc>
            </a:pPr>
            <a:endParaRPr lang="en-US" sz="2800" dirty="0">
              <a:solidFill>
                <a:srgbClr val="D3473F"/>
              </a:solidFill>
              <a:latin typeface="Helvetica Neue Light" panose="02000403000000020004" pitchFamily="2" charset="0"/>
              <a:ea typeface="Helvetica Neue Light" panose="02000403000000020004" pitchFamily="2" charset="0"/>
            </a:endParaRPr>
          </a:p>
        </p:txBody>
      </p:sp>
      <p:pic>
        <p:nvPicPr>
          <p:cNvPr id="2" name="Picture 4" descr="Scientific method - Wikipedia">
            <a:extLst>
              <a:ext uri="{FF2B5EF4-FFF2-40B4-BE49-F238E27FC236}">
                <a16:creationId xmlns:a16="http://schemas.microsoft.com/office/drawing/2014/main" id="{4276FB64-DE31-22AA-34A2-05BDCDDB58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9043" y="1518699"/>
            <a:ext cx="4537338" cy="4310820"/>
          </a:xfrm>
          <a:prstGeom prst="rect">
            <a:avLst/>
          </a:prstGeom>
          <a:noFill/>
          <a:extLst>
            <a:ext uri="{909E8E84-426E-40DD-AFC4-6F175D3DCCD1}">
              <a14:hiddenFill xmlns:a14="http://schemas.microsoft.com/office/drawing/2010/main">
                <a:solidFill>
                  <a:srgbClr val="FFFFFF"/>
                </a:solidFill>
              </a14:hiddenFill>
            </a:ext>
          </a:extLst>
        </p:spPr>
      </p:pic>
      <p:cxnSp>
        <p:nvCxnSpPr>
          <p:cNvPr id="7" name="Straight Arrow Connector 6">
            <a:extLst>
              <a:ext uri="{FF2B5EF4-FFF2-40B4-BE49-F238E27FC236}">
                <a16:creationId xmlns:a16="http://schemas.microsoft.com/office/drawing/2014/main" id="{A93B777B-6D82-0241-B59F-9C5D444E0EB1}"/>
              </a:ext>
            </a:extLst>
          </p:cNvPr>
          <p:cNvCxnSpPr>
            <a:cxnSpLocks/>
          </p:cNvCxnSpPr>
          <p:nvPr/>
        </p:nvCxnSpPr>
        <p:spPr>
          <a:xfrm flipH="1">
            <a:off x="3219718" y="1841678"/>
            <a:ext cx="1596663" cy="218942"/>
          </a:xfrm>
          <a:prstGeom prst="straightConnector1">
            <a:avLst/>
          </a:prstGeom>
          <a:ln w="28575">
            <a:solidFill>
              <a:srgbClr val="D3473F"/>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00489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838200" y="228571"/>
            <a:ext cx="10515600" cy="1325563"/>
          </a:xfrm>
        </p:spPr>
        <p:txBody>
          <a:bodyPr>
            <a:normAutofit/>
          </a:bodyPr>
          <a:lstStyle/>
          <a:p>
            <a:pPr algn="ctr"/>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Types of question</a:t>
            </a:r>
          </a:p>
        </p:txBody>
      </p:sp>
      <p:sp>
        <p:nvSpPr>
          <p:cNvPr id="5" name="TextBox 4">
            <a:extLst>
              <a:ext uri="{FF2B5EF4-FFF2-40B4-BE49-F238E27FC236}">
                <a16:creationId xmlns:a16="http://schemas.microsoft.com/office/drawing/2014/main" id="{407C5DD7-8B8C-3A07-5906-2A50B99B7939}"/>
              </a:ext>
            </a:extLst>
          </p:cNvPr>
          <p:cNvSpPr txBox="1"/>
          <p:nvPr/>
        </p:nvSpPr>
        <p:spPr>
          <a:xfrm>
            <a:off x="476520" y="1554134"/>
            <a:ext cx="10779616" cy="4532779"/>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GB" sz="2800" dirty="0">
                <a:latin typeface="Helvetica Neue Light" panose="02000403000000020004" pitchFamily="2" charset="0"/>
                <a:ea typeface="Helvetica Neue Light" panose="02000403000000020004" pitchFamily="2" charset="0"/>
              </a:rPr>
              <a:t>Comparison – is A better than B ?</a:t>
            </a:r>
          </a:p>
          <a:p>
            <a:pPr marL="342900" indent="-342900">
              <a:lnSpc>
                <a:spcPct val="150000"/>
              </a:lnSpc>
              <a:buFont typeface="Arial" panose="020B0604020202020204" pitchFamily="34" charset="0"/>
              <a:buChar char="•"/>
            </a:pPr>
            <a:r>
              <a:rPr lang="en-GB" sz="2800" dirty="0">
                <a:latin typeface="Helvetica Neue Light" panose="02000403000000020004" pitchFamily="2" charset="0"/>
                <a:ea typeface="Helvetica Neue Light" panose="02000403000000020004" pitchFamily="2" charset="0"/>
              </a:rPr>
              <a:t>Improvement – can this be made better ?</a:t>
            </a:r>
          </a:p>
          <a:p>
            <a:pPr marL="342900" indent="-342900">
              <a:lnSpc>
                <a:spcPct val="150000"/>
              </a:lnSpc>
              <a:buFont typeface="Arial" panose="020B0604020202020204" pitchFamily="34" charset="0"/>
              <a:buChar char="•"/>
            </a:pPr>
            <a:r>
              <a:rPr lang="en-GB" sz="2800" dirty="0">
                <a:latin typeface="Helvetica Neue Light" panose="02000403000000020004" pitchFamily="2" charset="0"/>
                <a:ea typeface="Helvetica Neue Light" panose="02000403000000020004" pitchFamily="2" charset="0"/>
              </a:rPr>
              <a:t>Gap in the market ? – Business related projects</a:t>
            </a:r>
          </a:p>
          <a:p>
            <a:pPr marL="342900" indent="-342900">
              <a:lnSpc>
                <a:spcPct val="150000"/>
              </a:lnSpc>
              <a:buFont typeface="Arial" panose="020B0604020202020204" pitchFamily="34" charset="0"/>
              <a:buChar char="•"/>
            </a:pPr>
            <a:r>
              <a:rPr lang="en-GB" sz="2800" dirty="0">
                <a:latin typeface="Helvetica Neue Light" panose="02000403000000020004" pitchFamily="2" charset="0"/>
                <a:ea typeface="Helvetica Neue Light" panose="02000403000000020004" pitchFamily="2" charset="0"/>
              </a:rPr>
              <a:t>Identify a problem with an existing system</a:t>
            </a:r>
          </a:p>
          <a:p>
            <a:pPr marL="342900" indent="-342900">
              <a:lnSpc>
                <a:spcPct val="150000"/>
              </a:lnSpc>
              <a:buFont typeface="Arial" panose="020B0604020202020204" pitchFamily="34" charset="0"/>
              <a:buChar char="•"/>
            </a:pPr>
            <a:r>
              <a:rPr lang="en-GB" sz="2800" dirty="0">
                <a:latin typeface="Helvetica Neue Light" panose="02000403000000020004" pitchFamily="2" charset="0"/>
                <a:ea typeface="Helvetica Neue Light" panose="02000403000000020004" pitchFamily="2" charset="0"/>
              </a:rPr>
              <a:t>Think big then narrow it down</a:t>
            </a:r>
          </a:p>
          <a:p>
            <a:pPr marL="342900" indent="-342900">
              <a:lnSpc>
                <a:spcPct val="150000"/>
              </a:lnSpc>
              <a:buFont typeface="Arial" panose="020B0604020202020204" pitchFamily="34" charset="0"/>
              <a:buChar char="•"/>
            </a:pPr>
            <a:r>
              <a:rPr lang="en-GB" sz="2800" dirty="0">
                <a:latin typeface="Helvetica Neue Light" panose="02000403000000020004" pitchFamily="2" charset="0"/>
                <a:ea typeface="Helvetica Neue Light" panose="02000403000000020004" pitchFamily="2" charset="0"/>
              </a:rPr>
              <a:t>An investigation into ….</a:t>
            </a:r>
          </a:p>
          <a:p>
            <a:pPr>
              <a:lnSpc>
                <a:spcPct val="150000"/>
              </a:lnSpc>
            </a:pPr>
            <a:endParaRPr lang="en-US" sz="2800" dirty="0">
              <a:solidFill>
                <a:srgbClr val="D3473F"/>
              </a:solidFill>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2966599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4" descr="Scientific method - Wikipedia">
            <a:extLst>
              <a:ext uri="{FF2B5EF4-FFF2-40B4-BE49-F238E27FC236}">
                <a16:creationId xmlns:a16="http://schemas.microsoft.com/office/drawing/2014/main" id="{4FF2D54E-AAE4-E34D-CD5B-6BAA79A2A4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013" y="1440936"/>
            <a:ext cx="5215279" cy="495491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48A89453-C5B5-211A-C2DE-F1F5E02E75D8}"/>
              </a:ext>
            </a:extLst>
          </p:cNvPr>
          <p:cNvSpPr txBox="1"/>
          <p:nvPr/>
        </p:nvSpPr>
        <p:spPr>
          <a:xfrm>
            <a:off x="528034" y="222245"/>
            <a:ext cx="11300709" cy="835613"/>
          </a:xfrm>
          <a:prstGeom prst="rect">
            <a:avLst/>
          </a:prstGeom>
          <a:noFill/>
        </p:spPr>
        <p:txBody>
          <a:bodyPr wrap="square">
            <a:spAutoFit/>
          </a:bodyPr>
          <a:lstStyle/>
          <a:p>
            <a:pPr>
              <a:lnSpc>
                <a:spcPct val="150000"/>
              </a:lnSpc>
            </a:pPr>
            <a:r>
              <a:rPr lang="en-GB" sz="3600" dirty="0">
                <a:solidFill>
                  <a:srgbClr val="D3473F"/>
                </a:solidFill>
                <a:latin typeface="American Typewriter" panose="02090604020004020304" pitchFamily="18" charset="77"/>
                <a:ea typeface="Helvetica Neue Light" panose="02000403000000020004" pitchFamily="2" charset="0"/>
              </a:rPr>
              <a:t>Once you have your question / idea / rough title</a:t>
            </a:r>
          </a:p>
        </p:txBody>
      </p:sp>
      <p:cxnSp>
        <p:nvCxnSpPr>
          <p:cNvPr id="7" name="Straight Arrow Connector 6">
            <a:extLst>
              <a:ext uri="{FF2B5EF4-FFF2-40B4-BE49-F238E27FC236}">
                <a16:creationId xmlns:a16="http://schemas.microsoft.com/office/drawing/2014/main" id="{B160D467-9C8C-175A-1081-4C8E671A52F9}"/>
              </a:ext>
            </a:extLst>
          </p:cNvPr>
          <p:cNvCxnSpPr>
            <a:cxnSpLocks/>
          </p:cNvCxnSpPr>
          <p:nvPr/>
        </p:nvCxnSpPr>
        <p:spPr>
          <a:xfrm flipH="1">
            <a:off x="4906851" y="1712890"/>
            <a:ext cx="940157" cy="978795"/>
          </a:xfrm>
          <a:prstGeom prst="straightConnector1">
            <a:avLst/>
          </a:prstGeom>
          <a:ln w="28575">
            <a:solidFill>
              <a:srgbClr val="D3473F"/>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AF38D15-F5AB-A55B-D37A-483D68BBE42A}"/>
              </a:ext>
            </a:extLst>
          </p:cNvPr>
          <p:cNvSpPr txBox="1"/>
          <p:nvPr/>
        </p:nvSpPr>
        <p:spPr>
          <a:xfrm>
            <a:off x="5525037" y="1286390"/>
            <a:ext cx="6303707" cy="5640775"/>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GB" sz="2400" dirty="0">
                <a:latin typeface="Helvetica Neue Light" panose="02000403000000020004" pitchFamily="2" charset="0"/>
                <a:ea typeface="Helvetica Neue Light" panose="02000403000000020004" pitchFamily="2" charset="0"/>
              </a:rPr>
              <a:t>Research Research Research.</a:t>
            </a:r>
          </a:p>
          <a:p>
            <a:pPr marL="342900" indent="-342900">
              <a:lnSpc>
                <a:spcPct val="150000"/>
              </a:lnSpc>
              <a:buFont typeface="Arial" panose="020B0604020202020204" pitchFamily="34" charset="0"/>
              <a:buChar char="•"/>
            </a:pPr>
            <a:r>
              <a:rPr lang="en-GB" sz="2400" dirty="0">
                <a:latin typeface="Helvetica Neue Light" panose="02000403000000020004" pitchFamily="2" charset="0"/>
                <a:ea typeface="Helvetica Neue Light" panose="02000403000000020004" pitchFamily="2" charset="0"/>
              </a:rPr>
              <a:t>Read Read Read.</a:t>
            </a:r>
          </a:p>
          <a:p>
            <a:pPr marL="342900" indent="-342900">
              <a:lnSpc>
                <a:spcPct val="150000"/>
              </a:lnSpc>
              <a:buFont typeface="Arial" panose="020B0604020202020204" pitchFamily="34" charset="0"/>
              <a:buChar char="•"/>
            </a:pPr>
            <a:r>
              <a:rPr lang="en-GB" sz="2400" dirty="0">
                <a:latin typeface="Helvetica Neue Light" panose="02000403000000020004" pitchFamily="2" charset="0"/>
                <a:ea typeface="Helvetica Neue Light" panose="02000403000000020004" pitchFamily="2" charset="0"/>
              </a:rPr>
              <a:t>Journals, books, blogs but firstly journals.</a:t>
            </a:r>
          </a:p>
          <a:p>
            <a:pPr marL="342900" indent="-342900">
              <a:lnSpc>
                <a:spcPct val="150000"/>
              </a:lnSpc>
              <a:buFont typeface="Arial" panose="020B0604020202020204" pitchFamily="34" charset="0"/>
              <a:buChar char="•"/>
            </a:pPr>
            <a:r>
              <a:rPr lang="en-GB" sz="2400" dirty="0">
                <a:latin typeface="Helvetica Neue Light" panose="02000403000000020004" pitchFamily="2" charset="0"/>
                <a:ea typeface="Helvetica Neue Light" panose="02000403000000020004" pitchFamily="2" charset="0"/>
              </a:rPr>
              <a:t>Google Scholar, Library databases.</a:t>
            </a:r>
          </a:p>
          <a:p>
            <a:pPr marL="342900" indent="-342900">
              <a:lnSpc>
                <a:spcPct val="150000"/>
              </a:lnSpc>
              <a:buFont typeface="Arial" panose="020B0604020202020204" pitchFamily="34" charset="0"/>
              <a:buChar char="•"/>
            </a:pPr>
            <a:r>
              <a:rPr lang="en-GB" sz="2400" dirty="0">
                <a:latin typeface="Helvetica Neue Light" panose="02000403000000020004" pitchFamily="2" charset="0"/>
                <a:ea typeface="Helvetica Neue Light" panose="02000403000000020004" pitchFamily="2" charset="0"/>
              </a:rPr>
              <a:t>What already exists in your domain, what are the leading experts in your field saying about it.</a:t>
            </a:r>
          </a:p>
          <a:p>
            <a:pPr marL="342900" indent="-342900">
              <a:lnSpc>
                <a:spcPct val="150000"/>
              </a:lnSpc>
              <a:buFont typeface="Arial" panose="020B0604020202020204" pitchFamily="34" charset="0"/>
              <a:buChar char="•"/>
            </a:pPr>
            <a:r>
              <a:rPr lang="en-GB" sz="2400" dirty="0">
                <a:latin typeface="Helvetica Neue Light" panose="02000403000000020004" pitchFamily="2" charset="0"/>
                <a:ea typeface="Helvetica Neue Light" panose="02000403000000020004" pitchFamily="2" charset="0"/>
              </a:rPr>
              <a:t>This is where all your references will live ( many pages of references)</a:t>
            </a:r>
            <a:endParaRPr lang="en-GB" sz="2800" dirty="0">
              <a:latin typeface="Helvetica Neue Light" panose="02000403000000020004" pitchFamily="2" charset="0"/>
              <a:ea typeface="Helvetica Neue Light" panose="02000403000000020004" pitchFamily="2" charset="0"/>
            </a:endParaRPr>
          </a:p>
          <a:p>
            <a:pPr>
              <a:lnSpc>
                <a:spcPct val="150000"/>
              </a:lnSpc>
            </a:pPr>
            <a:endParaRPr lang="en-US" sz="2800" dirty="0">
              <a:solidFill>
                <a:srgbClr val="D3473F"/>
              </a:solidFill>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31614279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4" descr="Scientific method - Wikipedia">
            <a:extLst>
              <a:ext uri="{FF2B5EF4-FFF2-40B4-BE49-F238E27FC236}">
                <a16:creationId xmlns:a16="http://schemas.microsoft.com/office/drawing/2014/main" id="{4FF2D54E-AAE4-E34D-CD5B-6BAA79A2A4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013" y="1440936"/>
            <a:ext cx="5215279" cy="4954917"/>
          </a:xfrm>
          <a:prstGeom prst="rect">
            <a:avLst/>
          </a:prstGeom>
          <a:noFill/>
          <a:extLst>
            <a:ext uri="{909E8E84-426E-40DD-AFC4-6F175D3DCCD1}">
              <a14:hiddenFill xmlns:a14="http://schemas.microsoft.com/office/drawing/2010/main">
                <a:solidFill>
                  <a:srgbClr val="FFFFFF"/>
                </a:solidFill>
              </a14:hiddenFill>
            </a:ext>
          </a:extLst>
        </p:spPr>
      </p:pic>
      <p:cxnSp>
        <p:nvCxnSpPr>
          <p:cNvPr id="7" name="Straight Arrow Connector 6">
            <a:extLst>
              <a:ext uri="{FF2B5EF4-FFF2-40B4-BE49-F238E27FC236}">
                <a16:creationId xmlns:a16="http://schemas.microsoft.com/office/drawing/2014/main" id="{B160D467-9C8C-175A-1081-4C8E671A52F9}"/>
              </a:ext>
            </a:extLst>
          </p:cNvPr>
          <p:cNvCxnSpPr>
            <a:cxnSpLocks/>
          </p:cNvCxnSpPr>
          <p:nvPr/>
        </p:nvCxnSpPr>
        <p:spPr>
          <a:xfrm flipH="1">
            <a:off x="4906851" y="1712890"/>
            <a:ext cx="940157" cy="978795"/>
          </a:xfrm>
          <a:prstGeom prst="straightConnector1">
            <a:avLst/>
          </a:prstGeom>
          <a:ln w="28575">
            <a:solidFill>
              <a:srgbClr val="D3473F"/>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AF38D15-F5AB-A55B-D37A-483D68BBE42A}"/>
              </a:ext>
            </a:extLst>
          </p:cNvPr>
          <p:cNvSpPr txBox="1"/>
          <p:nvPr/>
        </p:nvSpPr>
        <p:spPr>
          <a:xfrm>
            <a:off x="5525037" y="1286390"/>
            <a:ext cx="6303707" cy="5179110"/>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GB" sz="2400" dirty="0">
                <a:latin typeface="Helvetica Neue Light" panose="02000403000000020004" pitchFamily="2" charset="0"/>
                <a:ea typeface="Helvetica Neue Light" panose="02000403000000020004" pitchFamily="2" charset="0"/>
              </a:rPr>
              <a:t>Literature review ( maybe 2-3 k words)</a:t>
            </a:r>
          </a:p>
          <a:p>
            <a:pPr marL="342900" indent="-342900">
              <a:lnSpc>
                <a:spcPct val="150000"/>
              </a:lnSpc>
              <a:buFont typeface="Arial" panose="020B0604020202020204" pitchFamily="34" charset="0"/>
              <a:buChar char="•"/>
            </a:pPr>
            <a:r>
              <a:rPr lang="en-GB" sz="2400" dirty="0">
                <a:latin typeface="Helvetica Neue Light" panose="02000403000000020004" pitchFamily="2" charset="0"/>
                <a:ea typeface="Helvetica Neue Light" panose="02000403000000020004" pitchFamily="2" charset="0"/>
              </a:rPr>
              <a:t>Review of other products ( maybe 3 products or other systems in your area of interest).</a:t>
            </a:r>
          </a:p>
          <a:p>
            <a:pPr marL="342900" indent="-342900">
              <a:lnSpc>
                <a:spcPct val="150000"/>
              </a:lnSpc>
              <a:buFont typeface="Arial" panose="020B0604020202020204" pitchFamily="34" charset="0"/>
              <a:buChar char="•"/>
            </a:pPr>
            <a:r>
              <a:rPr lang="en-GB" sz="2400" dirty="0">
                <a:latin typeface="Helvetica Neue Light" panose="02000403000000020004" pitchFamily="2" charset="0"/>
                <a:ea typeface="Helvetica Neue Light" panose="02000403000000020004" pitchFamily="2" charset="0"/>
              </a:rPr>
              <a:t>What has gone before you ?</a:t>
            </a:r>
          </a:p>
          <a:p>
            <a:pPr marL="342900" indent="-342900">
              <a:lnSpc>
                <a:spcPct val="150000"/>
              </a:lnSpc>
              <a:buFont typeface="Arial" panose="020B0604020202020204" pitchFamily="34" charset="0"/>
              <a:buChar char="•"/>
            </a:pPr>
            <a:r>
              <a:rPr lang="en-GB" sz="2400" dirty="0">
                <a:latin typeface="Helvetica Neue Light" panose="02000403000000020004" pitchFamily="2" charset="0"/>
                <a:ea typeface="Helvetica Neue Light" panose="02000403000000020004" pitchFamily="2" charset="0"/>
              </a:rPr>
              <a:t>What can you deduce  and imply from this information?</a:t>
            </a:r>
          </a:p>
          <a:p>
            <a:pPr marL="342900" indent="-342900">
              <a:lnSpc>
                <a:spcPct val="150000"/>
              </a:lnSpc>
              <a:buFont typeface="Arial" panose="020B0604020202020204" pitchFamily="34" charset="0"/>
              <a:buChar char="•"/>
            </a:pPr>
            <a:endParaRPr lang="en-GB" sz="2800" dirty="0">
              <a:latin typeface="Helvetica Neue Light" panose="02000403000000020004" pitchFamily="2" charset="0"/>
              <a:ea typeface="Helvetica Neue Light" panose="02000403000000020004" pitchFamily="2" charset="0"/>
            </a:endParaRPr>
          </a:p>
          <a:p>
            <a:pPr>
              <a:lnSpc>
                <a:spcPct val="150000"/>
              </a:lnSpc>
            </a:pPr>
            <a:endParaRPr lang="en-US" sz="2800" dirty="0">
              <a:solidFill>
                <a:srgbClr val="D3473F"/>
              </a:solidFill>
              <a:latin typeface="Helvetica Neue Light" panose="02000403000000020004" pitchFamily="2" charset="0"/>
              <a:ea typeface="Helvetica Neue Light" panose="02000403000000020004" pitchFamily="2" charset="0"/>
            </a:endParaRPr>
          </a:p>
        </p:txBody>
      </p:sp>
      <p:sp>
        <p:nvSpPr>
          <p:cNvPr id="2" name="TextBox 1">
            <a:extLst>
              <a:ext uri="{FF2B5EF4-FFF2-40B4-BE49-F238E27FC236}">
                <a16:creationId xmlns:a16="http://schemas.microsoft.com/office/drawing/2014/main" id="{7057590C-203E-CF58-AB68-385E1860D20C}"/>
              </a:ext>
            </a:extLst>
          </p:cNvPr>
          <p:cNvSpPr txBox="1"/>
          <p:nvPr/>
        </p:nvSpPr>
        <p:spPr>
          <a:xfrm>
            <a:off x="528034" y="222245"/>
            <a:ext cx="11300709" cy="835613"/>
          </a:xfrm>
          <a:prstGeom prst="rect">
            <a:avLst/>
          </a:prstGeom>
          <a:noFill/>
        </p:spPr>
        <p:txBody>
          <a:bodyPr wrap="square">
            <a:spAutoFit/>
          </a:bodyPr>
          <a:lstStyle/>
          <a:p>
            <a:pPr>
              <a:lnSpc>
                <a:spcPct val="150000"/>
              </a:lnSpc>
            </a:pPr>
            <a:r>
              <a:rPr lang="en-GB" sz="3600" dirty="0">
                <a:solidFill>
                  <a:srgbClr val="D3473F"/>
                </a:solidFill>
                <a:latin typeface="American Typewriter" panose="02090604020004020304" pitchFamily="18" charset="77"/>
                <a:ea typeface="Helvetica Neue Light" panose="02000403000000020004" pitchFamily="2" charset="0"/>
              </a:rPr>
              <a:t>Chapters in your report</a:t>
            </a:r>
          </a:p>
        </p:txBody>
      </p:sp>
    </p:spTree>
    <p:extLst>
      <p:ext uri="{BB962C8B-B14F-4D97-AF65-F5344CB8AC3E}">
        <p14:creationId xmlns:p14="http://schemas.microsoft.com/office/powerpoint/2010/main" val="2252528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4" descr="Scientific method - Wikipedia">
            <a:extLst>
              <a:ext uri="{FF2B5EF4-FFF2-40B4-BE49-F238E27FC236}">
                <a16:creationId xmlns:a16="http://schemas.microsoft.com/office/drawing/2014/main" id="{4FF2D54E-AAE4-E34D-CD5B-6BAA79A2A4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013" y="1440936"/>
            <a:ext cx="5215279" cy="4954917"/>
          </a:xfrm>
          <a:prstGeom prst="rect">
            <a:avLst/>
          </a:prstGeom>
          <a:noFill/>
          <a:extLst>
            <a:ext uri="{909E8E84-426E-40DD-AFC4-6F175D3DCCD1}">
              <a14:hiddenFill xmlns:a14="http://schemas.microsoft.com/office/drawing/2010/main">
                <a:solidFill>
                  <a:srgbClr val="FFFFFF"/>
                </a:solidFill>
              </a14:hiddenFill>
            </a:ext>
          </a:extLst>
        </p:spPr>
      </p:pic>
      <p:cxnSp>
        <p:nvCxnSpPr>
          <p:cNvPr id="7" name="Straight Arrow Connector 6">
            <a:extLst>
              <a:ext uri="{FF2B5EF4-FFF2-40B4-BE49-F238E27FC236}">
                <a16:creationId xmlns:a16="http://schemas.microsoft.com/office/drawing/2014/main" id="{B160D467-9C8C-175A-1081-4C8E671A52F9}"/>
              </a:ext>
            </a:extLst>
          </p:cNvPr>
          <p:cNvCxnSpPr>
            <a:cxnSpLocks/>
          </p:cNvCxnSpPr>
          <p:nvPr/>
        </p:nvCxnSpPr>
        <p:spPr>
          <a:xfrm>
            <a:off x="3052293" y="1057858"/>
            <a:ext cx="605307" cy="3359596"/>
          </a:xfrm>
          <a:prstGeom prst="straightConnector1">
            <a:avLst/>
          </a:prstGeom>
          <a:ln w="28575">
            <a:solidFill>
              <a:srgbClr val="D3473F"/>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AF38D15-F5AB-A55B-D37A-483D68BBE42A}"/>
              </a:ext>
            </a:extLst>
          </p:cNvPr>
          <p:cNvSpPr txBox="1"/>
          <p:nvPr/>
        </p:nvSpPr>
        <p:spPr>
          <a:xfrm>
            <a:off x="5377749" y="1631724"/>
            <a:ext cx="6303707" cy="4625112"/>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GB" sz="2400" dirty="0">
                <a:latin typeface="Helvetica Neue Light" panose="02000403000000020004" pitchFamily="2" charset="0"/>
                <a:ea typeface="Helvetica Neue Light" panose="02000403000000020004" pitchFamily="2" charset="0"/>
              </a:rPr>
              <a:t>I have found a problem. What happens if I do this ?</a:t>
            </a:r>
          </a:p>
          <a:p>
            <a:pPr marL="342900" indent="-342900">
              <a:lnSpc>
                <a:spcPct val="150000"/>
              </a:lnSpc>
              <a:buFont typeface="Arial" panose="020B0604020202020204" pitchFamily="34" charset="0"/>
              <a:buChar char="•"/>
            </a:pPr>
            <a:r>
              <a:rPr lang="en-GB" sz="2400" dirty="0">
                <a:latin typeface="Helvetica Neue Light" panose="02000403000000020004" pitchFamily="2" charset="0"/>
                <a:ea typeface="Helvetica Neue Light" panose="02000403000000020004" pitchFamily="2" charset="0"/>
              </a:rPr>
              <a:t>Or I wonder if x, y or z will produce a result I can measure to fix my problem or answer my question ?</a:t>
            </a:r>
          </a:p>
          <a:p>
            <a:pPr marL="342900" indent="-342900">
              <a:lnSpc>
                <a:spcPct val="150000"/>
              </a:lnSpc>
              <a:buFont typeface="Arial" panose="020B0604020202020204" pitchFamily="34" charset="0"/>
              <a:buChar char="•"/>
            </a:pPr>
            <a:r>
              <a:rPr lang="en-GB" sz="2400" dirty="0">
                <a:latin typeface="Helvetica Neue Light" panose="02000403000000020004" pitchFamily="2" charset="0"/>
                <a:ea typeface="Helvetica Neue Light" panose="02000403000000020004" pitchFamily="2" charset="0"/>
              </a:rPr>
              <a:t>OK, let’s build something….</a:t>
            </a:r>
          </a:p>
          <a:p>
            <a:pPr marL="342900" indent="-342900">
              <a:lnSpc>
                <a:spcPct val="150000"/>
              </a:lnSpc>
              <a:buFont typeface="Arial" panose="020B0604020202020204" pitchFamily="34" charset="0"/>
              <a:buChar char="•"/>
            </a:pPr>
            <a:endParaRPr lang="en-GB" sz="2800" dirty="0">
              <a:latin typeface="Helvetica Neue Light" panose="02000403000000020004" pitchFamily="2" charset="0"/>
              <a:ea typeface="Helvetica Neue Light" panose="02000403000000020004" pitchFamily="2" charset="0"/>
            </a:endParaRPr>
          </a:p>
          <a:p>
            <a:pPr>
              <a:lnSpc>
                <a:spcPct val="150000"/>
              </a:lnSpc>
            </a:pPr>
            <a:endParaRPr lang="en-US" sz="2800" dirty="0">
              <a:solidFill>
                <a:srgbClr val="D3473F"/>
              </a:solidFill>
              <a:latin typeface="Helvetica Neue Light" panose="02000403000000020004" pitchFamily="2" charset="0"/>
              <a:ea typeface="Helvetica Neue Light" panose="02000403000000020004" pitchFamily="2" charset="0"/>
            </a:endParaRPr>
          </a:p>
        </p:txBody>
      </p:sp>
      <p:sp>
        <p:nvSpPr>
          <p:cNvPr id="2" name="TextBox 1">
            <a:extLst>
              <a:ext uri="{FF2B5EF4-FFF2-40B4-BE49-F238E27FC236}">
                <a16:creationId xmlns:a16="http://schemas.microsoft.com/office/drawing/2014/main" id="{7057590C-203E-CF58-AB68-385E1860D20C}"/>
              </a:ext>
            </a:extLst>
          </p:cNvPr>
          <p:cNvSpPr txBox="1"/>
          <p:nvPr/>
        </p:nvSpPr>
        <p:spPr>
          <a:xfrm>
            <a:off x="528034" y="222245"/>
            <a:ext cx="11300709" cy="835613"/>
          </a:xfrm>
          <a:prstGeom prst="rect">
            <a:avLst/>
          </a:prstGeom>
          <a:noFill/>
        </p:spPr>
        <p:txBody>
          <a:bodyPr wrap="square">
            <a:spAutoFit/>
          </a:bodyPr>
          <a:lstStyle/>
          <a:p>
            <a:pPr>
              <a:lnSpc>
                <a:spcPct val="150000"/>
              </a:lnSpc>
            </a:pPr>
            <a:r>
              <a:rPr lang="en-GB" sz="3600" dirty="0">
                <a:solidFill>
                  <a:srgbClr val="D3473F"/>
                </a:solidFill>
                <a:latin typeface="American Typewriter" panose="02090604020004020304" pitchFamily="18" charset="77"/>
                <a:ea typeface="Helvetica Neue Light" panose="02000403000000020004" pitchFamily="2" charset="0"/>
              </a:rPr>
              <a:t>Hypothesis</a:t>
            </a:r>
          </a:p>
        </p:txBody>
      </p:sp>
    </p:spTree>
    <p:extLst>
      <p:ext uri="{BB962C8B-B14F-4D97-AF65-F5344CB8AC3E}">
        <p14:creationId xmlns:p14="http://schemas.microsoft.com/office/powerpoint/2010/main" val="33093699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AF38D15-F5AB-A55B-D37A-483D68BBE42A}"/>
              </a:ext>
            </a:extLst>
          </p:cNvPr>
          <p:cNvSpPr txBox="1"/>
          <p:nvPr/>
        </p:nvSpPr>
        <p:spPr>
          <a:xfrm>
            <a:off x="445645" y="1283994"/>
            <a:ext cx="10650828" cy="5086777"/>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GB" sz="2400" dirty="0">
                <a:latin typeface="Helvetica Neue Light" panose="02000403000000020004" pitchFamily="2" charset="0"/>
                <a:ea typeface="Helvetica Neue Light" panose="02000403000000020004" pitchFamily="2" charset="0"/>
              </a:rPr>
              <a:t>The previous research sections are meant to inform your decisions about the product. Your research may identify which technologies to use etc etc.</a:t>
            </a:r>
          </a:p>
          <a:p>
            <a:pPr marL="342900" indent="-342900">
              <a:lnSpc>
                <a:spcPct val="150000"/>
              </a:lnSpc>
              <a:buFont typeface="Arial" panose="020B0604020202020204" pitchFamily="34" charset="0"/>
              <a:buChar char="•"/>
            </a:pPr>
            <a:r>
              <a:rPr lang="en-GB" sz="2400" dirty="0">
                <a:latin typeface="Helvetica Neue Light" panose="02000403000000020004" pitchFamily="2" charset="0"/>
                <a:ea typeface="Helvetica Neue Light" panose="02000403000000020004" pitchFamily="2" charset="0"/>
              </a:rPr>
              <a:t>Everything in your project is evidence based and comes from the research.</a:t>
            </a:r>
          </a:p>
          <a:p>
            <a:pPr marL="342900" indent="-342900">
              <a:lnSpc>
                <a:spcPct val="150000"/>
              </a:lnSpc>
              <a:buFont typeface="Arial" panose="020B0604020202020204" pitchFamily="34" charset="0"/>
              <a:buChar char="•"/>
            </a:pPr>
            <a:r>
              <a:rPr lang="en-GB" sz="2400" dirty="0">
                <a:latin typeface="Helvetica Neue Light" panose="02000403000000020004" pitchFamily="2" charset="0"/>
                <a:ea typeface="Helvetica Neue Light" panose="02000403000000020004" pitchFamily="2" charset="0"/>
              </a:rPr>
              <a:t>If your research says .NET is better for this task than PHP then you need to learn .NET or have a very good justification for not using it other than “I don’t know it”.</a:t>
            </a:r>
          </a:p>
          <a:p>
            <a:pPr marL="342900" indent="-342900">
              <a:lnSpc>
                <a:spcPct val="150000"/>
              </a:lnSpc>
              <a:buFont typeface="Arial" panose="020B0604020202020204" pitchFamily="34" charset="0"/>
              <a:buChar char="•"/>
            </a:pPr>
            <a:r>
              <a:rPr lang="en-GB" sz="2400" dirty="0">
                <a:latin typeface="Helvetica Neue Light" panose="02000403000000020004" pitchFamily="2" charset="0"/>
                <a:ea typeface="Helvetica Neue Light" panose="02000403000000020004" pitchFamily="2" charset="0"/>
              </a:rPr>
              <a:t>In your project demo you will be asked to justify all of your choices and decisions </a:t>
            </a:r>
            <a:endParaRPr lang="en-GB" sz="2800" dirty="0">
              <a:latin typeface="Helvetica Neue Light" panose="02000403000000020004" pitchFamily="2" charset="0"/>
              <a:ea typeface="Helvetica Neue Light" panose="02000403000000020004" pitchFamily="2" charset="0"/>
            </a:endParaRPr>
          </a:p>
          <a:p>
            <a:pPr>
              <a:lnSpc>
                <a:spcPct val="150000"/>
              </a:lnSpc>
            </a:pPr>
            <a:endParaRPr lang="en-US" sz="2800" dirty="0">
              <a:solidFill>
                <a:srgbClr val="D3473F"/>
              </a:solidFill>
              <a:latin typeface="Helvetica Neue Light" panose="02000403000000020004" pitchFamily="2" charset="0"/>
              <a:ea typeface="Helvetica Neue Light" panose="02000403000000020004" pitchFamily="2" charset="0"/>
            </a:endParaRPr>
          </a:p>
        </p:txBody>
      </p:sp>
      <p:sp>
        <p:nvSpPr>
          <p:cNvPr id="2" name="TextBox 1">
            <a:extLst>
              <a:ext uri="{FF2B5EF4-FFF2-40B4-BE49-F238E27FC236}">
                <a16:creationId xmlns:a16="http://schemas.microsoft.com/office/drawing/2014/main" id="{7057590C-203E-CF58-AB68-385E1860D20C}"/>
              </a:ext>
            </a:extLst>
          </p:cNvPr>
          <p:cNvSpPr txBox="1"/>
          <p:nvPr/>
        </p:nvSpPr>
        <p:spPr>
          <a:xfrm>
            <a:off x="445645" y="222245"/>
            <a:ext cx="11300709" cy="835613"/>
          </a:xfrm>
          <a:prstGeom prst="rect">
            <a:avLst/>
          </a:prstGeom>
          <a:noFill/>
        </p:spPr>
        <p:txBody>
          <a:bodyPr wrap="square">
            <a:spAutoFit/>
          </a:bodyPr>
          <a:lstStyle/>
          <a:p>
            <a:pPr>
              <a:lnSpc>
                <a:spcPct val="150000"/>
              </a:lnSpc>
            </a:pPr>
            <a:r>
              <a:rPr lang="en-GB" sz="3600" dirty="0">
                <a:solidFill>
                  <a:srgbClr val="D3473F"/>
                </a:solidFill>
                <a:latin typeface="American Typewriter" panose="02090604020004020304" pitchFamily="18" charset="77"/>
                <a:ea typeface="Helvetica Neue Light" panose="02000403000000020004" pitchFamily="2" charset="0"/>
              </a:rPr>
              <a:t>Everything leads back to your reading</a:t>
            </a:r>
          </a:p>
        </p:txBody>
      </p:sp>
    </p:spTree>
    <p:extLst>
      <p:ext uri="{BB962C8B-B14F-4D97-AF65-F5344CB8AC3E}">
        <p14:creationId xmlns:p14="http://schemas.microsoft.com/office/powerpoint/2010/main" val="26508541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AF38D15-F5AB-A55B-D37A-483D68BBE42A}"/>
              </a:ext>
            </a:extLst>
          </p:cNvPr>
          <p:cNvSpPr txBox="1"/>
          <p:nvPr/>
        </p:nvSpPr>
        <p:spPr>
          <a:xfrm>
            <a:off x="528034" y="1451419"/>
            <a:ext cx="11088710" cy="4452501"/>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GB" sz="2400" dirty="0">
                <a:latin typeface="Helvetica Neue Light" panose="02000403000000020004" pitchFamily="2" charset="0"/>
                <a:ea typeface="Helvetica Neue Light" panose="02000403000000020004" pitchFamily="2" charset="0"/>
              </a:rPr>
              <a:t>Part of the point of scientific research is that it is transparent and reproduceable.</a:t>
            </a:r>
          </a:p>
          <a:p>
            <a:pPr marL="342900" indent="-342900">
              <a:lnSpc>
                <a:spcPct val="150000"/>
              </a:lnSpc>
              <a:buFont typeface="Arial" panose="020B0604020202020204" pitchFamily="34" charset="0"/>
              <a:buChar char="•"/>
            </a:pPr>
            <a:r>
              <a:rPr lang="en-GB" sz="2400" dirty="0">
                <a:latin typeface="Helvetica Neue Light" panose="02000403000000020004" pitchFamily="2" charset="0"/>
                <a:ea typeface="Helvetica Neue Light" panose="02000403000000020004" pitchFamily="2" charset="0"/>
              </a:rPr>
              <a:t>Your methodology is basically you stating exactly how you did what you did so someone else can reproduce your experiment and hopefully get the same results. It’s nothing more complex than that</a:t>
            </a:r>
          </a:p>
          <a:p>
            <a:pPr marL="342900" indent="-342900">
              <a:lnSpc>
                <a:spcPct val="150000"/>
              </a:lnSpc>
              <a:buFont typeface="Arial" panose="020B0604020202020204" pitchFamily="34" charset="0"/>
              <a:buChar char="•"/>
            </a:pPr>
            <a:r>
              <a:rPr lang="en-GB" sz="2400" dirty="0">
                <a:latin typeface="Helvetica Neue Light" panose="02000403000000020004" pitchFamily="2" charset="0"/>
                <a:ea typeface="Helvetica Neue Light" panose="02000403000000020004" pitchFamily="2" charset="0"/>
              </a:rPr>
              <a:t>Don’t get hung up on adhering to fancy pre-existing methodologies unless they are a good fit for your work.</a:t>
            </a:r>
          </a:p>
          <a:p>
            <a:pPr marL="342900" indent="-342900">
              <a:lnSpc>
                <a:spcPct val="150000"/>
              </a:lnSpc>
              <a:buFont typeface="Arial" panose="020B0604020202020204" pitchFamily="34" charset="0"/>
              <a:buChar char="•"/>
            </a:pPr>
            <a:r>
              <a:rPr lang="en-GB" sz="2400" dirty="0">
                <a:latin typeface="Helvetica Neue Light" panose="02000403000000020004" pitchFamily="2" charset="0"/>
                <a:ea typeface="Helvetica Neue Light" panose="02000403000000020004" pitchFamily="2" charset="0"/>
                <a:hlinkClick r:id="rId2"/>
              </a:rPr>
              <a:t>https://www.npr.org/sections/health-shots/2018/08/27/642218377/in-psychology-and-other-social-sciences-many-studies-fail-the-reproducibility-te</a:t>
            </a:r>
            <a:endParaRPr lang="en-GB" sz="2400" dirty="0">
              <a:latin typeface="Helvetica Neue Light" panose="02000403000000020004" pitchFamily="2" charset="0"/>
              <a:ea typeface="Helvetica Neue Light" panose="02000403000000020004" pitchFamily="2" charset="0"/>
            </a:endParaRPr>
          </a:p>
        </p:txBody>
      </p:sp>
      <p:sp>
        <p:nvSpPr>
          <p:cNvPr id="2" name="TextBox 1">
            <a:extLst>
              <a:ext uri="{FF2B5EF4-FFF2-40B4-BE49-F238E27FC236}">
                <a16:creationId xmlns:a16="http://schemas.microsoft.com/office/drawing/2014/main" id="{7057590C-203E-CF58-AB68-385E1860D20C}"/>
              </a:ext>
            </a:extLst>
          </p:cNvPr>
          <p:cNvSpPr txBox="1"/>
          <p:nvPr/>
        </p:nvSpPr>
        <p:spPr>
          <a:xfrm>
            <a:off x="528034" y="222245"/>
            <a:ext cx="11300709" cy="835613"/>
          </a:xfrm>
          <a:prstGeom prst="rect">
            <a:avLst/>
          </a:prstGeom>
          <a:noFill/>
        </p:spPr>
        <p:txBody>
          <a:bodyPr wrap="square">
            <a:spAutoFit/>
          </a:bodyPr>
          <a:lstStyle/>
          <a:p>
            <a:pPr>
              <a:lnSpc>
                <a:spcPct val="150000"/>
              </a:lnSpc>
            </a:pPr>
            <a:r>
              <a:rPr lang="en-GB" sz="3600" dirty="0">
                <a:solidFill>
                  <a:srgbClr val="D3473F"/>
                </a:solidFill>
                <a:latin typeface="American Typewriter" panose="02090604020004020304" pitchFamily="18" charset="77"/>
                <a:ea typeface="Helvetica Neue Light" panose="02000403000000020004" pitchFamily="2" charset="0"/>
              </a:rPr>
              <a:t>Methodology – what is it for ?</a:t>
            </a:r>
          </a:p>
        </p:txBody>
      </p:sp>
    </p:spTree>
    <p:extLst>
      <p:ext uri="{BB962C8B-B14F-4D97-AF65-F5344CB8AC3E}">
        <p14:creationId xmlns:p14="http://schemas.microsoft.com/office/powerpoint/2010/main" val="5409872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AF38D15-F5AB-A55B-D37A-483D68BBE42A}"/>
              </a:ext>
            </a:extLst>
          </p:cNvPr>
          <p:cNvSpPr txBox="1"/>
          <p:nvPr/>
        </p:nvSpPr>
        <p:spPr>
          <a:xfrm>
            <a:off x="551645" y="1100652"/>
            <a:ext cx="11088710" cy="2605842"/>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GB" sz="2200" dirty="0">
                <a:latin typeface="Helvetica Neue Light" panose="02000403000000020004" pitchFamily="2" charset="0"/>
                <a:ea typeface="Helvetica Neue Light" panose="02000403000000020004" pitchFamily="2" charset="0"/>
              </a:rPr>
              <a:t>If you did the Scrum module you will have seen the waterfall methodology getting a good kicking.</a:t>
            </a:r>
          </a:p>
          <a:p>
            <a:pPr marL="342900" indent="-342900">
              <a:lnSpc>
                <a:spcPct val="150000"/>
              </a:lnSpc>
              <a:buFont typeface="Arial" panose="020B0604020202020204" pitchFamily="34" charset="0"/>
              <a:buChar char="•"/>
            </a:pPr>
            <a:r>
              <a:rPr lang="en-GB" sz="2200" dirty="0">
                <a:latin typeface="Helvetica Neue Light" panose="02000403000000020004" pitchFamily="2" charset="0"/>
                <a:ea typeface="Helvetica Neue Light" panose="02000403000000020004" pitchFamily="2" charset="0"/>
              </a:rPr>
              <a:t>In reality the waterfall method is the most applicable to the project dissertation and process at a high level with other methods nested inside.</a:t>
            </a:r>
          </a:p>
          <a:p>
            <a:pPr marL="342900" indent="-342900">
              <a:lnSpc>
                <a:spcPct val="150000"/>
              </a:lnSpc>
              <a:buFont typeface="Arial" panose="020B0604020202020204" pitchFamily="34" charset="0"/>
              <a:buChar char="•"/>
            </a:pPr>
            <a:endParaRPr lang="en-GB" sz="2400" dirty="0">
              <a:latin typeface="Helvetica Neue Light" panose="02000403000000020004" pitchFamily="2" charset="0"/>
              <a:ea typeface="Helvetica Neue Light" panose="02000403000000020004" pitchFamily="2" charset="0"/>
            </a:endParaRPr>
          </a:p>
        </p:txBody>
      </p:sp>
      <p:sp>
        <p:nvSpPr>
          <p:cNvPr id="2" name="TextBox 1">
            <a:extLst>
              <a:ext uri="{FF2B5EF4-FFF2-40B4-BE49-F238E27FC236}">
                <a16:creationId xmlns:a16="http://schemas.microsoft.com/office/drawing/2014/main" id="{7057590C-203E-CF58-AB68-385E1860D20C}"/>
              </a:ext>
            </a:extLst>
          </p:cNvPr>
          <p:cNvSpPr txBox="1"/>
          <p:nvPr/>
        </p:nvSpPr>
        <p:spPr>
          <a:xfrm>
            <a:off x="528034" y="222245"/>
            <a:ext cx="11300709" cy="835613"/>
          </a:xfrm>
          <a:prstGeom prst="rect">
            <a:avLst/>
          </a:prstGeom>
          <a:noFill/>
        </p:spPr>
        <p:txBody>
          <a:bodyPr wrap="square">
            <a:spAutoFit/>
          </a:bodyPr>
          <a:lstStyle/>
          <a:p>
            <a:pPr>
              <a:lnSpc>
                <a:spcPct val="150000"/>
              </a:lnSpc>
            </a:pPr>
            <a:r>
              <a:rPr lang="en-GB" sz="3600" dirty="0">
                <a:solidFill>
                  <a:srgbClr val="D3473F"/>
                </a:solidFill>
                <a:latin typeface="American Typewriter" panose="02090604020004020304" pitchFamily="18" charset="77"/>
                <a:ea typeface="Helvetica Neue Light" panose="02000403000000020004" pitchFamily="2" charset="0"/>
              </a:rPr>
              <a:t>Methodology – </a:t>
            </a:r>
            <a:r>
              <a:rPr lang="en-GB" sz="3600" dirty="0" err="1">
                <a:solidFill>
                  <a:srgbClr val="D3473F"/>
                </a:solidFill>
                <a:latin typeface="American Typewriter" panose="02090604020004020304" pitchFamily="18" charset="77"/>
                <a:ea typeface="Helvetica Neue Light" panose="02000403000000020004" pitchFamily="2" charset="0"/>
              </a:rPr>
              <a:t>pt</a:t>
            </a:r>
            <a:r>
              <a:rPr lang="en-GB" sz="3600" dirty="0">
                <a:solidFill>
                  <a:srgbClr val="D3473F"/>
                </a:solidFill>
                <a:latin typeface="American Typewriter" panose="02090604020004020304" pitchFamily="18" charset="77"/>
                <a:ea typeface="Helvetica Neue Light" panose="02000403000000020004" pitchFamily="2" charset="0"/>
              </a:rPr>
              <a:t> 2</a:t>
            </a:r>
          </a:p>
        </p:txBody>
      </p:sp>
      <p:pic>
        <p:nvPicPr>
          <p:cNvPr id="3" name="Picture 4" descr="Scientific method - Wikipedia">
            <a:extLst>
              <a:ext uri="{FF2B5EF4-FFF2-40B4-BE49-F238E27FC236}">
                <a16:creationId xmlns:a16="http://schemas.microsoft.com/office/drawing/2014/main" id="{2F1D7565-D4C7-D266-EF57-4BFCFF17AF8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7854" y="3379250"/>
            <a:ext cx="2876280" cy="273268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95144AFF-75C9-1A46-4A21-96149007A152}"/>
              </a:ext>
            </a:extLst>
          </p:cNvPr>
          <p:cNvSpPr txBox="1"/>
          <p:nvPr/>
        </p:nvSpPr>
        <p:spPr>
          <a:xfrm>
            <a:off x="4323014" y="3216445"/>
            <a:ext cx="7021132" cy="1082348"/>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GB" sz="2200" dirty="0">
                <a:latin typeface="Helvetica Neue Light" panose="02000403000000020004" pitchFamily="2" charset="0"/>
                <a:ea typeface="Helvetica Neue Light" panose="02000403000000020004" pitchFamily="2" charset="0"/>
              </a:rPr>
              <a:t>This circle is basically a waterfall diagram </a:t>
            </a:r>
          </a:p>
          <a:p>
            <a:pPr marL="342900" indent="-342900">
              <a:lnSpc>
                <a:spcPct val="150000"/>
              </a:lnSpc>
              <a:buFont typeface="Arial" panose="020B0604020202020204" pitchFamily="34" charset="0"/>
              <a:buChar char="•"/>
            </a:pPr>
            <a:endParaRPr lang="en-GB" sz="2400" dirty="0">
              <a:latin typeface="Helvetica Neue Light" panose="02000403000000020004" pitchFamily="2" charset="0"/>
              <a:ea typeface="Helvetica Neue Light" panose="02000403000000020004" pitchFamily="2" charset="0"/>
            </a:endParaRPr>
          </a:p>
        </p:txBody>
      </p:sp>
      <p:sp>
        <p:nvSpPr>
          <p:cNvPr id="5" name="TextBox 4">
            <a:extLst>
              <a:ext uri="{FF2B5EF4-FFF2-40B4-BE49-F238E27FC236}">
                <a16:creationId xmlns:a16="http://schemas.microsoft.com/office/drawing/2014/main" id="{83A56659-4408-0774-70B0-1599AF49B185}"/>
              </a:ext>
            </a:extLst>
          </p:cNvPr>
          <p:cNvSpPr txBox="1"/>
          <p:nvPr/>
        </p:nvSpPr>
        <p:spPr>
          <a:xfrm>
            <a:off x="4323014" y="3950504"/>
            <a:ext cx="7021132" cy="2605842"/>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GB" sz="2200" dirty="0">
                <a:latin typeface="Helvetica Neue Light" panose="02000403000000020004" pitchFamily="2" charset="0"/>
                <a:ea typeface="Helvetica Neue Light" panose="02000403000000020004" pitchFamily="2" charset="0"/>
              </a:rPr>
              <a:t>The “test with experiment” part can be broken out into a separate iterative stage if desired.</a:t>
            </a:r>
          </a:p>
          <a:p>
            <a:pPr marL="342900" indent="-342900">
              <a:lnSpc>
                <a:spcPct val="150000"/>
              </a:lnSpc>
              <a:buFont typeface="Arial" panose="020B0604020202020204" pitchFamily="34" charset="0"/>
              <a:buChar char="•"/>
            </a:pPr>
            <a:r>
              <a:rPr lang="en-GB" sz="2200" dirty="0">
                <a:latin typeface="Helvetica Neue Light" panose="02000403000000020004" pitchFamily="2" charset="0"/>
                <a:ea typeface="Helvetica Neue Light" panose="02000403000000020004" pitchFamily="2" charset="0"/>
              </a:rPr>
              <a:t>Here you can use, </a:t>
            </a:r>
            <a:r>
              <a:rPr lang="en-GB" sz="2200" dirty="0">
                <a:latin typeface="Helvetica Neue Light" panose="02000403000000020004" pitchFamily="2" charset="0"/>
                <a:ea typeface="Helvetica Neue Light" panose="02000403000000020004" pitchFamily="2" charset="0"/>
                <a:hlinkClick r:id="rId3"/>
              </a:rPr>
              <a:t>RAD</a:t>
            </a:r>
            <a:r>
              <a:rPr lang="en-GB" sz="2200" dirty="0">
                <a:latin typeface="Helvetica Neue Light" panose="02000403000000020004" pitchFamily="2" charset="0"/>
                <a:ea typeface="Helvetica Neue Light" panose="02000403000000020004" pitchFamily="2" charset="0"/>
              </a:rPr>
              <a:t>, </a:t>
            </a:r>
            <a:r>
              <a:rPr lang="en-GB" sz="2200" dirty="0">
                <a:latin typeface="Helvetica Neue Light" panose="02000403000000020004" pitchFamily="2" charset="0"/>
                <a:ea typeface="Helvetica Neue Light" panose="02000403000000020004" pitchFamily="2" charset="0"/>
                <a:hlinkClick r:id="rId4"/>
              </a:rPr>
              <a:t>UCD</a:t>
            </a:r>
            <a:r>
              <a:rPr lang="en-GB" sz="2200" dirty="0">
                <a:latin typeface="Helvetica Neue Light" panose="02000403000000020004" pitchFamily="2" charset="0"/>
                <a:ea typeface="Helvetica Neue Light" panose="02000403000000020004" pitchFamily="2" charset="0"/>
              </a:rPr>
              <a:t> or any suitable development method.</a:t>
            </a:r>
          </a:p>
          <a:p>
            <a:pPr marL="342900" indent="-342900">
              <a:lnSpc>
                <a:spcPct val="150000"/>
              </a:lnSpc>
              <a:buFont typeface="Arial" panose="020B0604020202020204" pitchFamily="34" charset="0"/>
              <a:buChar char="•"/>
            </a:pPr>
            <a:endParaRPr lang="en-GB" sz="2400" dirty="0">
              <a:latin typeface="Helvetica Neue Light" panose="02000403000000020004" pitchFamily="2" charset="0"/>
              <a:ea typeface="Helvetica Neue Light" panose="02000403000000020004" pitchFamily="2" charset="0"/>
            </a:endParaRPr>
          </a:p>
        </p:txBody>
      </p:sp>
      <p:cxnSp>
        <p:nvCxnSpPr>
          <p:cNvPr id="6" name="Straight Arrow Connector 5">
            <a:extLst>
              <a:ext uri="{FF2B5EF4-FFF2-40B4-BE49-F238E27FC236}">
                <a16:creationId xmlns:a16="http://schemas.microsoft.com/office/drawing/2014/main" id="{9C9A5EA1-C042-0E32-961D-39C3869CCC3E}"/>
              </a:ext>
            </a:extLst>
          </p:cNvPr>
          <p:cNvCxnSpPr>
            <a:cxnSpLocks/>
          </p:cNvCxnSpPr>
          <p:nvPr/>
        </p:nvCxnSpPr>
        <p:spPr>
          <a:xfrm flipH="1">
            <a:off x="2588654" y="4430332"/>
            <a:ext cx="1931831" cy="1327016"/>
          </a:xfrm>
          <a:prstGeom prst="straightConnector1">
            <a:avLst/>
          </a:prstGeom>
          <a:ln w="28575">
            <a:solidFill>
              <a:srgbClr val="D3473F"/>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11950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AF38D15-F5AB-A55B-D37A-483D68BBE42A}"/>
              </a:ext>
            </a:extLst>
          </p:cNvPr>
          <p:cNvSpPr txBox="1"/>
          <p:nvPr/>
        </p:nvSpPr>
        <p:spPr>
          <a:xfrm>
            <a:off x="551645" y="925750"/>
            <a:ext cx="11088710" cy="5006499"/>
          </a:xfrm>
          <a:prstGeom prst="rect">
            <a:avLst/>
          </a:prstGeom>
          <a:noFill/>
        </p:spPr>
        <p:txBody>
          <a:bodyPr wrap="square">
            <a:spAutoFit/>
          </a:bodyPr>
          <a:lstStyle/>
          <a:p>
            <a:pPr algn="ctr">
              <a:lnSpc>
                <a:spcPct val="150000"/>
              </a:lnSpc>
            </a:pPr>
            <a:r>
              <a:rPr lang="en-GB" sz="4800" dirty="0">
                <a:latin typeface="Helvetica Neue Light" panose="02000403000000020004" pitchFamily="2" charset="0"/>
                <a:ea typeface="Helvetica Neue Light" panose="02000403000000020004" pitchFamily="2" charset="0"/>
              </a:rPr>
              <a:t>When being asked to document your project methodology it is not the dissertation we are talking about, but the “experiment”.</a:t>
            </a:r>
          </a:p>
          <a:p>
            <a:pPr marL="342900" indent="-342900">
              <a:lnSpc>
                <a:spcPct val="150000"/>
              </a:lnSpc>
              <a:buFont typeface="Arial" panose="020B0604020202020204" pitchFamily="34" charset="0"/>
              <a:buChar char="•"/>
            </a:pPr>
            <a:endParaRPr lang="en-GB" sz="2400" dirty="0">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2080129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AF38D15-F5AB-A55B-D37A-483D68BBE42A}"/>
              </a:ext>
            </a:extLst>
          </p:cNvPr>
          <p:cNvSpPr txBox="1"/>
          <p:nvPr/>
        </p:nvSpPr>
        <p:spPr>
          <a:xfrm>
            <a:off x="551645" y="1268077"/>
            <a:ext cx="11088710" cy="5144998"/>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GB" sz="2200" dirty="0">
                <a:latin typeface="Helvetica Neue Light" panose="02000403000000020004" pitchFamily="2" charset="0"/>
                <a:ea typeface="Helvetica Neue Light" panose="02000403000000020004" pitchFamily="2" charset="0"/>
              </a:rPr>
              <a:t>You will have covered this by now on other modules</a:t>
            </a:r>
          </a:p>
          <a:p>
            <a:pPr marL="342900" indent="-342900">
              <a:lnSpc>
                <a:spcPct val="150000"/>
              </a:lnSpc>
              <a:buFont typeface="Arial" panose="020B0604020202020204" pitchFamily="34" charset="0"/>
              <a:buChar char="•"/>
            </a:pPr>
            <a:r>
              <a:rPr lang="en-GB" sz="2200" dirty="0">
                <a:latin typeface="Helvetica Neue Light" panose="02000403000000020004" pitchFamily="2" charset="0"/>
                <a:ea typeface="Helvetica Neue Light" panose="02000403000000020004" pitchFamily="2" charset="0"/>
              </a:rPr>
              <a:t>You can’t build something without some requirements.</a:t>
            </a:r>
          </a:p>
          <a:p>
            <a:pPr marL="800100" lvl="1" indent="-342900">
              <a:lnSpc>
                <a:spcPct val="150000"/>
              </a:lnSpc>
              <a:buFont typeface="Arial" panose="020B0604020202020204" pitchFamily="34" charset="0"/>
              <a:buChar char="•"/>
            </a:pPr>
            <a:r>
              <a:rPr lang="en-GB" sz="2200" dirty="0">
                <a:latin typeface="Helvetica Neue Light" panose="02000403000000020004" pitchFamily="2" charset="0"/>
                <a:ea typeface="Helvetica Neue Light" panose="02000403000000020004" pitchFamily="2" charset="0"/>
              </a:rPr>
              <a:t>You may be working iteratively with users where new requirements come in late etc like with with scrum, but you need something to get started</a:t>
            </a:r>
          </a:p>
          <a:p>
            <a:pPr marL="342900" indent="-342900">
              <a:lnSpc>
                <a:spcPct val="150000"/>
              </a:lnSpc>
              <a:buFont typeface="Arial" panose="020B0604020202020204" pitchFamily="34" charset="0"/>
              <a:buChar char="•"/>
            </a:pPr>
            <a:r>
              <a:rPr lang="en-GB" sz="2200" dirty="0">
                <a:latin typeface="Helvetica Neue Light" panose="02000403000000020004" pitchFamily="2" charset="0"/>
                <a:ea typeface="Helvetica Neue Light" panose="02000403000000020004" pitchFamily="2" charset="0"/>
              </a:rPr>
              <a:t>Your requirements should lead back to your literature review.</a:t>
            </a:r>
          </a:p>
          <a:p>
            <a:pPr marL="342900" indent="-342900">
              <a:lnSpc>
                <a:spcPct val="150000"/>
              </a:lnSpc>
              <a:buFont typeface="Arial" panose="020B0604020202020204" pitchFamily="34" charset="0"/>
              <a:buChar char="•"/>
            </a:pPr>
            <a:r>
              <a:rPr lang="en-GB" sz="2200" dirty="0">
                <a:latin typeface="Helvetica Neue Light" panose="02000403000000020004" pitchFamily="2" charset="0"/>
                <a:ea typeface="Helvetica Neue Light" panose="02000403000000020004" pitchFamily="2" charset="0"/>
              </a:rPr>
              <a:t>You produce your own requirements spec, it is not given to you.</a:t>
            </a:r>
          </a:p>
          <a:p>
            <a:pPr marL="342900" indent="-342900">
              <a:lnSpc>
                <a:spcPct val="150000"/>
              </a:lnSpc>
              <a:buFont typeface="Arial" panose="020B0604020202020204" pitchFamily="34" charset="0"/>
              <a:buChar char="•"/>
            </a:pPr>
            <a:r>
              <a:rPr lang="en-GB" sz="2200" dirty="0">
                <a:latin typeface="Helvetica Neue Light" panose="02000403000000020004" pitchFamily="2" charset="0"/>
                <a:ea typeface="Helvetica Neue Light" panose="02000403000000020004" pitchFamily="2" charset="0"/>
              </a:rPr>
              <a:t>You need to consider the testing stage now, how are you going to test against your requirements, did you meet them? etc etc.</a:t>
            </a:r>
          </a:p>
          <a:p>
            <a:pPr marL="342900" indent="-342900">
              <a:lnSpc>
                <a:spcPct val="150000"/>
              </a:lnSpc>
              <a:buFont typeface="Arial" panose="020B0604020202020204" pitchFamily="34" charset="0"/>
              <a:buChar char="•"/>
            </a:pPr>
            <a:r>
              <a:rPr lang="en-GB" sz="2200" dirty="0">
                <a:latin typeface="Helvetica Neue Light" panose="02000403000000020004" pitchFamily="2" charset="0"/>
                <a:ea typeface="Helvetica Neue Light" panose="02000403000000020004" pitchFamily="2" charset="0"/>
              </a:rPr>
              <a:t>You may use heuristics here?</a:t>
            </a:r>
          </a:p>
          <a:p>
            <a:pPr marL="342900" indent="-342900">
              <a:lnSpc>
                <a:spcPct val="150000"/>
              </a:lnSpc>
              <a:buFont typeface="Arial" panose="020B0604020202020204" pitchFamily="34" charset="0"/>
              <a:buChar char="•"/>
            </a:pPr>
            <a:endParaRPr lang="en-GB" sz="2400" dirty="0">
              <a:latin typeface="Helvetica Neue Light" panose="02000403000000020004" pitchFamily="2" charset="0"/>
              <a:ea typeface="Helvetica Neue Light" panose="02000403000000020004" pitchFamily="2" charset="0"/>
            </a:endParaRPr>
          </a:p>
        </p:txBody>
      </p:sp>
      <p:sp>
        <p:nvSpPr>
          <p:cNvPr id="2" name="TextBox 1">
            <a:extLst>
              <a:ext uri="{FF2B5EF4-FFF2-40B4-BE49-F238E27FC236}">
                <a16:creationId xmlns:a16="http://schemas.microsoft.com/office/drawing/2014/main" id="{7057590C-203E-CF58-AB68-385E1860D20C}"/>
              </a:ext>
            </a:extLst>
          </p:cNvPr>
          <p:cNvSpPr txBox="1"/>
          <p:nvPr/>
        </p:nvSpPr>
        <p:spPr>
          <a:xfrm>
            <a:off x="551645" y="144972"/>
            <a:ext cx="11300709" cy="835613"/>
          </a:xfrm>
          <a:prstGeom prst="rect">
            <a:avLst/>
          </a:prstGeom>
          <a:noFill/>
        </p:spPr>
        <p:txBody>
          <a:bodyPr wrap="square">
            <a:spAutoFit/>
          </a:bodyPr>
          <a:lstStyle/>
          <a:p>
            <a:pPr>
              <a:lnSpc>
                <a:spcPct val="150000"/>
              </a:lnSpc>
            </a:pPr>
            <a:r>
              <a:rPr lang="en-GB" sz="3600" dirty="0">
                <a:solidFill>
                  <a:srgbClr val="D3473F"/>
                </a:solidFill>
                <a:latin typeface="American Typewriter" panose="02090604020004020304" pitchFamily="18" charset="77"/>
                <a:ea typeface="Helvetica Neue Light" panose="02000403000000020004" pitchFamily="2" charset="0"/>
              </a:rPr>
              <a:t>Requirements stage</a:t>
            </a:r>
          </a:p>
        </p:txBody>
      </p:sp>
    </p:spTree>
    <p:extLst>
      <p:ext uri="{BB962C8B-B14F-4D97-AF65-F5344CB8AC3E}">
        <p14:creationId xmlns:p14="http://schemas.microsoft.com/office/powerpoint/2010/main" val="1955191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AF38D15-F5AB-A55B-D37A-483D68BBE42A}"/>
              </a:ext>
            </a:extLst>
          </p:cNvPr>
          <p:cNvSpPr txBox="1"/>
          <p:nvPr/>
        </p:nvSpPr>
        <p:spPr>
          <a:xfrm>
            <a:off x="5370488" y="2723389"/>
            <a:ext cx="6385775" cy="2051844"/>
          </a:xfrm>
          <a:prstGeom prst="rect">
            <a:avLst/>
          </a:prstGeom>
          <a:noFill/>
        </p:spPr>
        <p:txBody>
          <a:bodyPr wrap="square">
            <a:spAutoFit/>
          </a:bodyPr>
          <a:lstStyle/>
          <a:p>
            <a:pPr>
              <a:lnSpc>
                <a:spcPct val="150000"/>
              </a:lnSpc>
            </a:pPr>
            <a:r>
              <a:rPr lang="en-GB" sz="3200" dirty="0">
                <a:latin typeface="Helvetica Neue Light" panose="02000403000000020004" pitchFamily="2" charset="0"/>
                <a:ea typeface="Helvetica Neue Light" panose="02000403000000020004" pitchFamily="2" charset="0"/>
              </a:rPr>
              <a:t>You are building something to test your hypothesis.</a:t>
            </a:r>
          </a:p>
          <a:p>
            <a:pPr marL="342900" indent="-342900">
              <a:lnSpc>
                <a:spcPct val="150000"/>
              </a:lnSpc>
              <a:buFont typeface="Arial" panose="020B0604020202020204" pitchFamily="34" charset="0"/>
              <a:buChar char="•"/>
            </a:pPr>
            <a:endParaRPr lang="en-GB" sz="2400" dirty="0">
              <a:latin typeface="Helvetica Neue Light" panose="02000403000000020004" pitchFamily="2" charset="0"/>
              <a:ea typeface="Helvetica Neue Light" panose="02000403000000020004" pitchFamily="2" charset="0"/>
            </a:endParaRPr>
          </a:p>
        </p:txBody>
      </p:sp>
      <p:sp>
        <p:nvSpPr>
          <p:cNvPr id="2" name="TextBox 1">
            <a:extLst>
              <a:ext uri="{FF2B5EF4-FFF2-40B4-BE49-F238E27FC236}">
                <a16:creationId xmlns:a16="http://schemas.microsoft.com/office/drawing/2014/main" id="{7057590C-203E-CF58-AB68-385E1860D20C}"/>
              </a:ext>
            </a:extLst>
          </p:cNvPr>
          <p:cNvSpPr txBox="1"/>
          <p:nvPr/>
        </p:nvSpPr>
        <p:spPr>
          <a:xfrm>
            <a:off x="551645" y="144972"/>
            <a:ext cx="11300709" cy="835613"/>
          </a:xfrm>
          <a:prstGeom prst="rect">
            <a:avLst/>
          </a:prstGeom>
          <a:noFill/>
        </p:spPr>
        <p:txBody>
          <a:bodyPr wrap="square">
            <a:spAutoFit/>
          </a:bodyPr>
          <a:lstStyle/>
          <a:p>
            <a:pPr>
              <a:lnSpc>
                <a:spcPct val="150000"/>
              </a:lnSpc>
            </a:pPr>
            <a:r>
              <a:rPr lang="en-GB" sz="3600" dirty="0">
                <a:solidFill>
                  <a:srgbClr val="D3473F"/>
                </a:solidFill>
                <a:latin typeface="American Typewriter" panose="02090604020004020304" pitchFamily="18" charset="77"/>
                <a:ea typeface="Helvetica Neue Light" panose="02000403000000020004" pitchFamily="2" charset="0"/>
              </a:rPr>
              <a:t>The experiment – this is your product</a:t>
            </a:r>
          </a:p>
        </p:txBody>
      </p:sp>
      <p:pic>
        <p:nvPicPr>
          <p:cNvPr id="3" name="Picture 4" descr="Scientific method - Wikipedia">
            <a:extLst>
              <a:ext uri="{FF2B5EF4-FFF2-40B4-BE49-F238E27FC236}">
                <a16:creationId xmlns:a16="http://schemas.microsoft.com/office/drawing/2014/main" id="{9CC4E0B9-52AD-AECD-FFA6-7B9E947BA7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9064" y="1537571"/>
            <a:ext cx="3898767" cy="3704130"/>
          </a:xfrm>
          <a:prstGeom prst="rect">
            <a:avLst/>
          </a:prstGeom>
          <a:noFill/>
          <a:extLst>
            <a:ext uri="{909E8E84-426E-40DD-AFC4-6F175D3DCCD1}">
              <a14:hiddenFill xmlns:a14="http://schemas.microsoft.com/office/drawing/2010/main">
                <a:solidFill>
                  <a:srgbClr val="FFFFFF"/>
                </a:solidFill>
              </a14:hiddenFill>
            </a:ext>
          </a:extLst>
        </p:spPr>
      </p:pic>
      <p:cxnSp>
        <p:nvCxnSpPr>
          <p:cNvPr id="4" name="Straight Arrow Connector 3">
            <a:extLst>
              <a:ext uri="{FF2B5EF4-FFF2-40B4-BE49-F238E27FC236}">
                <a16:creationId xmlns:a16="http://schemas.microsoft.com/office/drawing/2014/main" id="{AD2F160B-ADC3-C588-16DE-B604D3D53095}"/>
              </a:ext>
            </a:extLst>
          </p:cNvPr>
          <p:cNvCxnSpPr>
            <a:cxnSpLocks/>
          </p:cNvCxnSpPr>
          <p:nvPr/>
        </p:nvCxnSpPr>
        <p:spPr>
          <a:xfrm flipH="1">
            <a:off x="3503054" y="3749311"/>
            <a:ext cx="1867434" cy="1183297"/>
          </a:xfrm>
          <a:prstGeom prst="straightConnector1">
            <a:avLst/>
          </a:prstGeom>
          <a:ln w="28575">
            <a:solidFill>
              <a:srgbClr val="D3473F"/>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90819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AF38D15-F5AB-A55B-D37A-483D68BBE42A}"/>
              </a:ext>
            </a:extLst>
          </p:cNvPr>
          <p:cNvSpPr txBox="1"/>
          <p:nvPr/>
        </p:nvSpPr>
        <p:spPr>
          <a:xfrm>
            <a:off x="5370488" y="1246061"/>
            <a:ext cx="6385775" cy="5006499"/>
          </a:xfrm>
          <a:prstGeom prst="rect">
            <a:avLst/>
          </a:prstGeom>
          <a:noFill/>
        </p:spPr>
        <p:txBody>
          <a:bodyPr wrap="square">
            <a:spAutoFit/>
          </a:bodyPr>
          <a:lstStyle/>
          <a:p>
            <a:pPr>
              <a:lnSpc>
                <a:spcPct val="150000"/>
              </a:lnSpc>
            </a:pPr>
            <a:r>
              <a:rPr lang="en-GB" sz="3200" dirty="0">
                <a:latin typeface="Helvetica Neue Light" panose="02000403000000020004" pitchFamily="2" charset="0"/>
                <a:ea typeface="Helvetica Neue Light" panose="02000403000000020004" pitchFamily="2" charset="0"/>
              </a:rPr>
              <a:t>Needs planning in advance.</a:t>
            </a:r>
          </a:p>
          <a:p>
            <a:pPr>
              <a:lnSpc>
                <a:spcPct val="150000"/>
              </a:lnSpc>
            </a:pPr>
            <a:r>
              <a:rPr lang="en-GB" sz="3200" dirty="0">
                <a:latin typeface="Helvetica Neue Light" panose="02000403000000020004" pitchFamily="2" charset="0"/>
                <a:ea typeface="Helvetica Neue Light" panose="02000403000000020004" pitchFamily="2" charset="0"/>
              </a:rPr>
              <a:t>User testing ?</a:t>
            </a:r>
          </a:p>
          <a:p>
            <a:pPr>
              <a:lnSpc>
                <a:spcPct val="150000"/>
              </a:lnSpc>
            </a:pPr>
            <a:r>
              <a:rPr lang="en-GB" sz="3200" dirty="0">
                <a:latin typeface="Helvetica Neue Light" panose="02000403000000020004" pitchFamily="2" charset="0"/>
                <a:ea typeface="Helvetica Neue Light" panose="02000403000000020004" pitchFamily="2" charset="0"/>
              </a:rPr>
              <a:t>Heuristic testing ?</a:t>
            </a:r>
          </a:p>
          <a:p>
            <a:pPr>
              <a:lnSpc>
                <a:spcPct val="150000"/>
              </a:lnSpc>
            </a:pPr>
            <a:r>
              <a:rPr lang="en-GB" sz="3200" dirty="0">
                <a:latin typeface="Helvetica Neue Light" panose="02000403000000020004" pitchFamily="2" charset="0"/>
                <a:ea typeface="Helvetica Neue Light" panose="02000403000000020004" pitchFamily="2" charset="0"/>
              </a:rPr>
              <a:t>Benchmarking ?</a:t>
            </a:r>
          </a:p>
          <a:p>
            <a:pPr>
              <a:lnSpc>
                <a:spcPct val="150000"/>
              </a:lnSpc>
            </a:pPr>
            <a:r>
              <a:rPr lang="en-GB" sz="3200" dirty="0">
                <a:latin typeface="Helvetica Neue Light" panose="02000403000000020004" pitchFamily="2" charset="0"/>
                <a:ea typeface="Helvetica Neue Light" panose="02000403000000020004" pitchFamily="2" charset="0"/>
              </a:rPr>
              <a:t>How will you know your experiment has succeeded or failed?</a:t>
            </a:r>
          </a:p>
          <a:p>
            <a:pPr marL="342900" indent="-342900">
              <a:lnSpc>
                <a:spcPct val="150000"/>
              </a:lnSpc>
              <a:buFont typeface="Arial" panose="020B0604020202020204" pitchFamily="34" charset="0"/>
              <a:buChar char="•"/>
            </a:pPr>
            <a:endParaRPr lang="en-GB" sz="2400" dirty="0">
              <a:latin typeface="Helvetica Neue Light" panose="02000403000000020004" pitchFamily="2" charset="0"/>
              <a:ea typeface="Helvetica Neue Light" panose="02000403000000020004" pitchFamily="2" charset="0"/>
            </a:endParaRPr>
          </a:p>
        </p:txBody>
      </p:sp>
      <p:sp>
        <p:nvSpPr>
          <p:cNvPr id="2" name="TextBox 1">
            <a:extLst>
              <a:ext uri="{FF2B5EF4-FFF2-40B4-BE49-F238E27FC236}">
                <a16:creationId xmlns:a16="http://schemas.microsoft.com/office/drawing/2014/main" id="{7057590C-203E-CF58-AB68-385E1860D20C}"/>
              </a:ext>
            </a:extLst>
          </p:cNvPr>
          <p:cNvSpPr txBox="1"/>
          <p:nvPr/>
        </p:nvSpPr>
        <p:spPr>
          <a:xfrm>
            <a:off x="551645" y="144972"/>
            <a:ext cx="11300709" cy="835613"/>
          </a:xfrm>
          <a:prstGeom prst="rect">
            <a:avLst/>
          </a:prstGeom>
          <a:noFill/>
        </p:spPr>
        <p:txBody>
          <a:bodyPr wrap="square">
            <a:spAutoFit/>
          </a:bodyPr>
          <a:lstStyle/>
          <a:p>
            <a:pPr>
              <a:lnSpc>
                <a:spcPct val="150000"/>
              </a:lnSpc>
            </a:pPr>
            <a:r>
              <a:rPr lang="en-GB" sz="3600" dirty="0">
                <a:solidFill>
                  <a:srgbClr val="D3473F"/>
                </a:solidFill>
                <a:latin typeface="American Typewriter" panose="02090604020004020304" pitchFamily="18" charset="77"/>
                <a:ea typeface="Helvetica Neue Light" panose="02000403000000020004" pitchFamily="2" charset="0"/>
              </a:rPr>
              <a:t>The experiment – testing</a:t>
            </a:r>
          </a:p>
        </p:txBody>
      </p:sp>
      <p:pic>
        <p:nvPicPr>
          <p:cNvPr id="3" name="Picture 4" descr="Scientific method - Wikipedia">
            <a:extLst>
              <a:ext uri="{FF2B5EF4-FFF2-40B4-BE49-F238E27FC236}">
                <a16:creationId xmlns:a16="http://schemas.microsoft.com/office/drawing/2014/main" id="{9CC4E0B9-52AD-AECD-FFA6-7B9E947BA7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9064" y="1537571"/>
            <a:ext cx="3898767" cy="3704130"/>
          </a:xfrm>
          <a:prstGeom prst="rect">
            <a:avLst/>
          </a:prstGeom>
          <a:noFill/>
          <a:extLst>
            <a:ext uri="{909E8E84-426E-40DD-AFC4-6F175D3DCCD1}">
              <a14:hiddenFill xmlns:a14="http://schemas.microsoft.com/office/drawing/2010/main">
                <a:solidFill>
                  <a:srgbClr val="FFFFFF"/>
                </a:solidFill>
              </a14:hiddenFill>
            </a:ext>
          </a:extLst>
        </p:spPr>
      </p:pic>
      <p:cxnSp>
        <p:nvCxnSpPr>
          <p:cNvPr id="4" name="Straight Arrow Connector 3">
            <a:extLst>
              <a:ext uri="{FF2B5EF4-FFF2-40B4-BE49-F238E27FC236}">
                <a16:creationId xmlns:a16="http://schemas.microsoft.com/office/drawing/2014/main" id="{AD2F160B-ADC3-C588-16DE-B604D3D53095}"/>
              </a:ext>
            </a:extLst>
          </p:cNvPr>
          <p:cNvCxnSpPr>
            <a:cxnSpLocks/>
          </p:cNvCxnSpPr>
          <p:nvPr/>
        </p:nvCxnSpPr>
        <p:spPr>
          <a:xfrm flipH="1">
            <a:off x="3503054" y="3749311"/>
            <a:ext cx="1867434" cy="1183297"/>
          </a:xfrm>
          <a:prstGeom prst="straightConnector1">
            <a:avLst/>
          </a:prstGeom>
          <a:ln w="28575">
            <a:solidFill>
              <a:srgbClr val="D3473F"/>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59720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AF38D15-F5AB-A55B-D37A-483D68BBE42A}"/>
              </a:ext>
            </a:extLst>
          </p:cNvPr>
          <p:cNvSpPr txBox="1"/>
          <p:nvPr/>
        </p:nvSpPr>
        <p:spPr>
          <a:xfrm>
            <a:off x="868251" y="756664"/>
            <a:ext cx="10455497" cy="5006499"/>
          </a:xfrm>
          <a:prstGeom prst="rect">
            <a:avLst/>
          </a:prstGeom>
          <a:noFill/>
        </p:spPr>
        <p:txBody>
          <a:bodyPr wrap="square">
            <a:spAutoFit/>
          </a:bodyPr>
          <a:lstStyle/>
          <a:p>
            <a:pPr algn="ctr">
              <a:lnSpc>
                <a:spcPct val="150000"/>
              </a:lnSpc>
            </a:pPr>
            <a:r>
              <a:rPr lang="en-GB" sz="4800" dirty="0">
                <a:latin typeface="Helvetica Neue Light" panose="02000403000000020004" pitchFamily="2" charset="0"/>
                <a:ea typeface="Helvetica Neue Light" panose="02000403000000020004" pitchFamily="2" charset="0"/>
              </a:rPr>
              <a:t>The success or failure of your experiment does not impact your mark. Failure to adhere to the scientific method will though. </a:t>
            </a:r>
          </a:p>
          <a:p>
            <a:pPr marL="342900" indent="-342900">
              <a:lnSpc>
                <a:spcPct val="150000"/>
              </a:lnSpc>
              <a:buFont typeface="Arial" panose="020B0604020202020204" pitchFamily="34" charset="0"/>
              <a:buChar char="•"/>
            </a:pPr>
            <a:endParaRPr lang="en-GB" sz="2400" dirty="0">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21190957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AF38D15-F5AB-A55B-D37A-483D68BBE42A}"/>
              </a:ext>
            </a:extLst>
          </p:cNvPr>
          <p:cNvSpPr txBox="1"/>
          <p:nvPr/>
        </p:nvSpPr>
        <p:spPr>
          <a:xfrm>
            <a:off x="5344731" y="1537571"/>
            <a:ext cx="6385775" cy="4267835"/>
          </a:xfrm>
          <a:prstGeom prst="rect">
            <a:avLst/>
          </a:prstGeom>
          <a:noFill/>
        </p:spPr>
        <p:txBody>
          <a:bodyPr wrap="square">
            <a:spAutoFit/>
          </a:bodyPr>
          <a:lstStyle/>
          <a:p>
            <a:pPr>
              <a:lnSpc>
                <a:spcPct val="150000"/>
              </a:lnSpc>
            </a:pPr>
            <a:r>
              <a:rPr lang="en-GB" sz="3200" dirty="0">
                <a:latin typeface="Helvetica Neue Light" panose="02000403000000020004" pitchFamily="2" charset="0"/>
                <a:ea typeface="Helvetica Neue Light" panose="02000403000000020004" pitchFamily="2" charset="0"/>
              </a:rPr>
              <a:t>These will be covered in the project lectures, but you can get the idea.</a:t>
            </a:r>
          </a:p>
          <a:p>
            <a:pPr>
              <a:lnSpc>
                <a:spcPct val="150000"/>
              </a:lnSpc>
            </a:pPr>
            <a:r>
              <a:rPr lang="en-GB" sz="3200" dirty="0">
                <a:latin typeface="Helvetica Neue Light" panose="02000403000000020004" pitchFamily="2" charset="0"/>
                <a:ea typeface="Helvetica Neue Light" panose="02000403000000020004" pitchFamily="2" charset="0"/>
              </a:rPr>
              <a:t>The testing, evaluation and conclusions are the MOST IMPORTANT part of </a:t>
            </a:r>
            <a:r>
              <a:rPr lang="en-GB" sz="3200">
                <a:latin typeface="Helvetica Neue Light" panose="02000403000000020004" pitchFamily="2" charset="0"/>
                <a:ea typeface="Helvetica Neue Light" panose="02000403000000020004" pitchFamily="2" charset="0"/>
              </a:rPr>
              <a:t>the project.</a:t>
            </a:r>
            <a:endParaRPr lang="en-GB" sz="3200" dirty="0">
              <a:latin typeface="Helvetica Neue Light" panose="02000403000000020004" pitchFamily="2" charset="0"/>
              <a:ea typeface="Helvetica Neue Light" panose="02000403000000020004" pitchFamily="2" charset="0"/>
            </a:endParaRPr>
          </a:p>
          <a:p>
            <a:pPr marL="342900" indent="-342900">
              <a:lnSpc>
                <a:spcPct val="150000"/>
              </a:lnSpc>
              <a:buFont typeface="Arial" panose="020B0604020202020204" pitchFamily="34" charset="0"/>
              <a:buChar char="•"/>
            </a:pPr>
            <a:endParaRPr lang="en-GB" sz="2400" dirty="0">
              <a:latin typeface="Helvetica Neue Light" panose="02000403000000020004" pitchFamily="2" charset="0"/>
              <a:ea typeface="Helvetica Neue Light" panose="02000403000000020004" pitchFamily="2" charset="0"/>
            </a:endParaRPr>
          </a:p>
        </p:txBody>
      </p:sp>
      <p:sp>
        <p:nvSpPr>
          <p:cNvPr id="2" name="TextBox 1">
            <a:extLst>
              <a:ext uri="{FF2B5EF4-FFF2-40B4-BE49-F238E27FC236}">
                <a16:creationId xmlns:a16="http://schemas.microsoft.com/office/drawing/2014/main" id="{7057590C-203E-CF58-AB68-385E1860D20C}"/>
              </a:ext>
            </a:extLst>
          </p:cNvPr>
          <p:cNvSpPr txBox="1"/>
          <p:nvPr/>
        </p:nvSpPr>
        <p:spPr>
          <a:xfrm>
            <a:off x="551645" y="144972"/>
            <a:ext cx="11300709" cy="835613"/>
          </a:xfrm>
          <a:prstGeom prst="rect">
            <a:avLst/>
          </a:prstGeom>
          <a:noFill/>
        </p:spPr>
        <p:txBody>
          <a:bodyPr wrap="square">
            <a:spAutoFit/>
          </a:bodyPr>
          <a:lstStyle/>
          <a:p>
            <a:pPr>
              <a:lnSpc>
                <a:spcPct val="150000"/>
              </a:lnSpc>
            </a:pPr>
            <a:r>
              <a:rPr lang="en-GB" sz="3600" dirty="0">
                <a:solidFill>
                  <a:srgbClr val="D3473F"/>
                </a:solidFill>
                <a:latin typeface="American Typewriter" panose="02090604020004020304" pitchFamily="18" charset="77"/>
                <a:ea typeface="Helvetica Neue Light" panose="02000403000000020004" pitchFamily="2" charset="0"/>
              </a:rPr>
              <a:t>Data analysis and report conclusions</a:t>
            </a:r>
          </a:p>
        </p:txBody>
      </p:sp>
      <p:pic>
        <p:nvPicPr>
          <p:cNvPr id="3" name="Picture 4" descr="Scientific method - Wikipedia">
            <a:extLst>
              <a:ext uri="{FF2B5EF4-FFF2-40B4-BE49-F238E27FC236}">
                <a16:creationId xmlns:a16="http://schemas.microsoft.com/office/drawing/2014/main" id="{9CC4E0B9-52AD-AECD-FFA6-7B9E947BA7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9064" y="1537571"/>
            <a:ext cx="3898767" cy="37041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86528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AF38D15-F5AB-A55B-D37A-483D68BBE42A}"/>
              </a:ext>
            </a:extLst>
          </p:cNvPr>
          <p:cNvSpPr txBox="1"/>
          <p:nvPr/>
        </p:nvSpPr>
        <p:spPr>
          <a:xfrm>
            <a:off x="551645" y="1051674"/>
            <a:ext cx="10691611" cy="1682512"/>
          </a:xfrm>
          <a:prstGeom prst="rect">
            <a:avLst/>
          </a:prstGeom>
          <a:noFill/>
        </p:spPr>
        <p:txBody>
          <a:bodyPr wrap="square">
            <a:spAutoFit/>
          </a:bodyPr>
          <a:lstStyle/>
          <a:p>
            <a:pPr>
              <a:lnSpc>
                <a:spcPct val="150000"/>
              </a:lnSpc>
            </a:pPr>
            <a:r>
              <a:rPr lang="en-GB" sz="2400" dirty="0">
                <a:latin typeface="Helvetica Neue Light" panose="02000403000000020004" pitchFamily="2" charset="0"/>
                <a:ea typeface="Helvetica Neue Light" panose="02000403000000020004" pitchFamily="2" charset="0"/>
              </a:rPr>
              <a:t>Journal articles can be very dry and hard going. Scientists and academics often don’t make the most interesting writers.</a:t>
            </a:r>
          </a:p>
          <a:p>
            <a:pPr marL="342900" indent="-342900">
              <a:lnSpc>
                <a:spcPct val="150000"/>
              </a:lnSpc>
              <a:buFont typeface="Arial" panose="020B0604020202020204" pitchFamily="34" charset="0"/>
              <a:buChar char="•"/>
            </a:pPr>
            <a:endParaRPr lang="en-GB" sz="2400" dirty="0">
              <a:latin typeface="Helvetica Neue Light" panose="02000403000000020004" pitchFamily="2" charset="0"/>
              <a:ea typeface="Helvetica Neue Light" panose="02000403000000020004" pitchFamily="2" charset="0"/>
            </a:endParaRPr>
          </a:p>
        </p:txBody>
      </p:sp>
      <p:sp>
        <p:nvSpPr>
          <p:cNvPr id="2" name="TextBox 1">
            <a:extLst>
              <a:ext uri="{FF2B5EF4-FFF2-40B4-BE49-F238E27FC236}">
                <a16:creationId xmlns:a16="http://schemas.microsoft.com/office/drawing/2014/main" id="{7057590C-203E-CF58-AB68-385E1860D20C}"/>
              </a:ext>
            </a:extLst>
          </p:cNvPr>
          <p:cNvSpPr txBox="1"/>
          <p:nvPr/>
        </p:nvSpPr>
        <p:spPr>
          <a:xfrm>
            <a:off x="551645" y="144972"/>
            <a:ext cx="11300709" cy="835613"/>
          </a:xfrm>
          <a:prstGeom prst="rect">
            <a:avLst/>
          </a:prstGeom>
          <a:noFill/>
        </p:spPr>
        <p:txBody>
          <a:bodyPr wrap="square">
            <a:spAutoFit/>
          </a:bodyPr>
          <a:lstStyle/>
          <a:p>
            <a:pPr>
              <a:lnSpc>
                <a:spcPct val="150000"/>
              </a:lnSpc>
            </a:pPr>
            <a:r>
              <a:rPr lang="en-GB" sz="3600" dirty="0">
                <a:solidFill>
                  <a:srgbClr val="D3473F"/>
                </a:solidFill>
                <a:latin typeface="American Typewriter" panose="02090604020004020304" pitchFamily="18" charset="77"/>
                <a:ea typeface="Helvetica Neue Light" panose="02000403000000020004" pitchFamily="2" charset="0"/>
              </a:rPr>
              <a:t>Reading academic journals -  101</a:t>
            </a:r>
          </a:p>
        </p:txBody>
      </p:sp>
      <p:pic>
        <p:nvPicPr>
          <p:cNvPr id="1026" name="Picture 2" descr="Season 4 Sleep GIF by The Simpsons">
            <a:extLst>
              <a:ext uri="{FF2B5EF4-FFF2-40B4-BE49-F238E27FC236}">
                <a16:creationId xmlns:a16="http://schemas.microsoft.com/office/drawing/2014/main" id="{4BB68A9D-FB20-2394-D9AF-7464D21B8B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3129" y="2425093"/>
            <a:ext cx="4936301" cy="372279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EB974040-3E34-9CD3-6DC8-0BE74F69B384}"/>
              </a:ext>
            </a:extLst>
          </p:cNvPr>
          <p:cNvSpPr txBox="1"/>
          <p:nvPr/>
        </p:nvSpPr>
        <p:spPr>
          <a:xfrm>
            <a:off x="5789053" y="2809140"/>
            <a:ext cx="6063301" cy="3344505"/>
          </a:xfrm>
          <a:prstGeom prst="rect">
            <a:avLst/>
          </a:prstGeom>
          <a:noFill/>
        </p:spPr>
        <p:txBody>
          <a:bodyPr wrap="square">
            <a:spAutoFit/>
          </a:bodyPr>
          <a:lstStyle/>
          <a:p>
            <a:pPr>
              <a:lnSpc>
                <a:spcPct val="150000"/>
              </a:lnSpc>
            </a:pPr>
            <a:r>
              <a:rPr lang="en-GB" sz="2400" dirty="0">
                <a:latin typeface="Helvetica Neue Light" panose="02000403000000020004" pitchFamily="2" charset="0"/>
                <a:ea typeface="Helvetica Neue Light" panose="02000403000000020004" pitchFamily="2" charset="0"/>
              </a:rPr>
              <a:t>Do not read from start to finish</a:t>
            </a:r>
          </a:p>
          <a:p>
            <a:pPr>
              <a:lnSpc>
                <a:spcPct val="150000"/>
              </a:lnSpc>
            </a:pPr>
            <a:r>
              <a:rPr lang="en-GB" sz="2400" dirty="0">
                <a:latin typeface="Helvetica Neue Light" panose="02000403000000020004" pitchFamily="2" charset="0"/>
                <a:ea typeface="Helvetica Neue Light" panose="02000403000000020004" pitchFamily="2" charset="0"/>
              </a:rPr>
              <a:t>Read the </a:t>
            </a:r>
            <a:r>
              <a:rPr lang="en-GB" sz="2400" dirty="0">
                <a:latin typeface="Helvetica Neue Light" panose="02000403000000020004" pitchFamily="2" charset="0"/>
                <a:ea typeface="Helvetica Neue Light" panose="02000403000000020004" pitchFamily="2" charset="0"/>
                <a:hlinkClick r:id="rId3"/>
              </a:rPr>
              <a:t>abstract</a:t>
            </a:r>
            <a:r>
              <a:rPr lang="en-GB" sz="2400" dirty="0">
                <a:latin typeface="Helvetica Neue Light" panose="02000403000000020004" pitchFamily="2" charset="0"/>
                <a:ea typeface="Helvetica Neue Light" panose="02000403000000020004" pitchFamily="2" charset="0"/>
              </a:rPr>
              <a:t> first then the results/conclusions.</a:t>
            </a:r>
          </a:p>
          <a:p>
            <a:pPr>
              <a:lnSpc>
                <a:spcPct val="150000"/>
              </a:lnSpc>
            </a:pPr>
            <a:r>
              <a:rPr lang="en-GB" sz="2400" dirty="0">
                <a:latin typeface="Helvetica Neue Light" panose="02000403000000020004" pitchFamily="2" charset="0"/>
                <a:ea typeface="Helvetica Neue Light" panose="02000403000000020004" pitchFamily="2" charset="0"/>
              </a:rPr>
              <a:t>If it seems interesting, you can read the rest of the paper otherwise move on.</a:t>
            </a:r>
          </a:p>
          <a:p>
            <a:pPr>
              <a:lnSpc>
                <a:spcPct val="150000"/>
              </a:lnSpc>
            </a:pPr>
            <a:r>
              <a:rPr lang="en-GB" sz="2400" dirty="0">
                <a:latin typeface="Helvetica Neue Light" panose="02000403000000020004" pitchFamily="2" charset="0"/>
                <a:ea typeface="Helvetica Neue Light" panose="02000403000000020004" pitchFamily="2" charset="0"/>
              </a:rPr>
              <a:t>Make a note of it for your references now !!!</a:t>
            </a:r>
          </a:p>
        </p:txBody>
      </p:sp>
    </p:spTree>
    <p:extLst>
      <p:ext uri="{BB962C8B-B14F-4D97-AF65-F5344CB8AC3E}">
        <p14:creationId xmlns:p14="http://schemas.microsoft.com/office/powerpoint/2010/main" val="15954714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AF38D15-F5AB-A55B-D37A-483D68BBE42A}"/>
              </a:ext>
            </a:extLst>
          </p:cNvPr>
          <p:cNvSpPr txBox="1"/>
          <p:nvPr/>
        </p:nvSpPr>
        <p:spPr>
          <a:xfrm>
            <a:off x="566668" y="558777"/>
            <a:ext cx="10702345" cy="5745163"/>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GB" sz="3200" dirty="0">
                <a:latin typeface="Helvetica Neue Light" panose="02000403000000020004" pitchFamily="2" charset="0"/>
                <a:ea typeface="Helvetica Neue Light" panose="02000403000000020004" pitchFamily="2" charset="0"/>
              </a:rPr>
              <a:t>Keep in contact with your supervisor, they are marking your project. Do what they say.</a:t>
            </a:r>
          </a:p>
          <a:p>
            <a:pPr marL="457200" indent="-457200">
              <a:lnSpc>
                <a:spcPct val="150000"/>
              </a:lnSpc>
              <a:buFont typeface="Arial" panose="020B0604020202020204" pitchFamily="34" charset="0"/>
              <a:buChar char="•"/>
            </a:pPr>
            <a:r>
              <a:rPr lang="en-GB" sz="3200" dirty="0">
                <a:latin typeface="Helvetica Neue Light" panose="02000403000000020004" pitchFamily="2" charset="0"/>
                <a:ea typeface="Helvetica Neue Light" panose="02000403000000020004" pitchFamily="2" charset="0"/>
              </a:rPr>
              <a:t>All projects are different, there is no marking scheme like for a coursework !</a:t>
            </a:r>
          </a:p>
          <a:p>
            <a:pPr marL="457200" indent="-457200">
              <a:lnSpc>
                <a:spcPct val="150000"/>
              </a:lnSpc>
              <a:buFont typeface="Arial" panose="020B0604020202020204" pitchFamily="34" charset="0"/>
              <a:buChar char="•"/>
            </a:pPr>
            <a:r>
              <a:rPr lang="en-GB" sz="3200" dirty="0">
                <a:latin typeface="Helvetica Neue Light" panose="02000403000000020004" pitchFamily="2" charset="0"/>
                <a:ea typeface="Helvetica Neue Light" panose="02000403000000020004" pitchFamily="2" charset="0"/>
              </a:rPr>
              <a:t>You need a product and a dissertation to pass.</a:t>
            </a:r>
          </a:p>
          <a:p>
            <a:pPr marL="457200" indent="-457200">
              <a:lnSpc>
                <a:spcPct val="150000"/>
              </a:lnSpc>
              <a:buFont typeface="Arial" panose="020B0604020202020204" pitchFamily="34" charset="0"/>
              <a:buChar char="•"/>
            </a:pPr>
            <a:r>
              <a:rPr lang="en-GB" sz="3200" dirty="0">
                <a:latin typeface="Helvetica Neue Light" panose="02000403000000020004" pitchFamily="2" charset="0"/>
                <a:ea typeface="Helvetica Neue Light" panose="02000403000000020004" pitchFamily="2" charset="0"/>
              </a:rPr>
              <a:t>You need to teach yourself the tech you need, we don’t teach coding for projects.</a:t>
            </a:r>
          </a:p>
          <a:p>
            <a:pPr marL="342900" indent="-342900">
              <a:lnSpc>
                <a:spcPct val="150000"/>
              </a:lnSpc>
              <a:buFont typeface="Arial" panose="020B0604020202020204" pitchFamily="34" charset="0"/>
              <a:buChar char="•"/>
            </a:pPr>
            <a:endParaRPr lang="en-GB" sz="2400" dirty="0">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7626317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AF38D15-F5AB-A55B-D37A-483D68BBE42A}"/>
              </a:ext>
            </a:extLst>
          </p:cNvPr>
          <p:cNvSpPr txBox="1"/>
          <p:nvPr/>
        </p:nvSpPr>
        <p:spPr>
          <a:xfrm>
            <a:off x="566668" y="558777"/>
            <a:ext cx="10435949" cy="5745163"/>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GB" sz="3200" dirty="0">
                <a:latin typeface="Helvetica Neue Light" panose="02000403000000020004" pitchFamily="2" charset="0"/>
                <a:ea typeface="Helvetica Neue Light" panose="02000403000000020004" pitchFamily="2" charset="0"/>
              </a:rPr>
              <a:t>20 hours a week self-directed learning.</a:t>
            </a:r>
          </a:p>
          <a:p>
            <a:pPr marL="457200" indent="-457200">
              <a:lnSpc>
                <a:spcPct val="150000"/>
              </a:lnSpc>
              <a:buFont typeface="Arial" panose="020B0604020202020204" pitchFamily="34" charset="0"/>
              <a:buChar char="•"/>
            </a:pPr>
            <a:r>
              <a:rPr lang="en-GB" sz="3200" dirty="0">
                <a:latin typeface="Helvetica Neue Light" panose="02000403000000020004" pitchFamily="2" charset="0"/>
                <a:ea typeface="Helvetica Neue Light" panose="02000403000000020004" pitchFamily="2" charset="0"/>
              </a:rPr>
              <a:t>It adds up quick and it’s easy to fall behind.</a:t>
            </a:r>
          </a:p>
          <a:p>
            <a:pPr marL="457200" indent="-457200">
              <a:lnSpc>
                <a:spcPct val="150000"/>
              </a:lnSpc>
              <a:buFont typeface="Arial" panose="020B0604020202020204" pitchFamily="34" charset="0"/>
              <a:buChar char="•"/>
            </a:pPr>
            <a:r>
              <a:rPr lang="en-GB" sz="3200" dirty="0">
                <a:latin typeface="Helvetica Neue Light" panose="02000403000000020004" pitchFamily="2" charset="0"/>
                <a:ea typeface="Helvetica Neue Light" panose="02000403000000020004" pitchFamily="2" charset="0"/>
              </a:rPr>
              <a:t>This is an exercise in time management, self-reliance, independent learning problem solving and taking responsibility.</a:t>
            </a:r>
          </a:p>
          <a:p>
            <a:pPr marL="457200" indent="-457200">
              <a:lnSpc>
                <a:spcPct val="150000"/>
              </a:lnSpc>
              <a:buFont typeface="Arial" panose="020B0604020202020204" pitchFamily="34" charset="0"/>
              <a:buChar char="•"/>
            </a:pPr>
            <a:r>
              <a:rPr lang="en-GB" sz="3200" dirty="0">
                <a:latin typeface="Helvetica Neue Light" panose="02000403000000020004" pitchFamily="2" charset="0"/>
                <a:ea typeface="Helvetica Neue Light" panose="02000403000000020004" pitchFamily="2" charset="0"/>
              </a:rPr>
              <a:t>These are the qualities employers are looking for.</a:t>
            </a:r>
          </a:p>
          <a:p>
            <a:pPr marL="457200" indent="-457200">
              <a:lnSpc>
                <a:spcPct val="150000"/>
              </a:lnSpc>
              <a:buFont typeface="Arial" panose="020B0604020202020204" pitchFamily="34" charset="0"/>
              <a:buChar char="•"/>
            </a:pPr>
            <a:r>
              <a:rPr lang="en-GB" sz="3200" dirty="0">
                <a:latin typeface="Helvetica Neue Light" panose="02000403000000020004" pitchFamily="2" charset="0"/>
                <a:ea typeface="Helvetica Neue Light" panose="02000403000000020004" pitchFamily="2" charset="0"/>
              </a:rPr>
              <a:t>This is what defines a degree level education.</a:t>
            </a:r>
          </a:p>
          <a:p>
            <a:pPr marL="342900" indent="-342900">
              <a:lnSpc>
                <a:spcPct val="150000"/>
              </a:lnSpc>
              <a:buFont typeface="Arial" panose="020B0604020202020204" pitchFamily="34" charset="0"/>
              <a:buChar char="•"/>
            </a:pPr>
            <a:endParaRPr lang="en-GB" sz="2400" dirty="0">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36267018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AF38D15-F5AB-A55B-D37A-483D68BBE42A}"/>
              </a:ext>
            </a:extLst>
          </p:cNvPr>
          <p:cNvSpPr txBox="1"/>
          <p:nvPr/>
        </p:nvSpPr>
        <p:spPr>
          <a:xfrm>
            <a:off x="592426" y="404230"/>
            <a:ext cx="10702345" cy="2236510"/>
          </a:xfrm>
          <a:prstGeom prst="rect">
            <a:avLst/>
          </a:prstGeom>
          <a:noFill/>
        </p:spPr>
        <p:txBody>
          <a:bodyPr wrap="square">
            <a:spAutoFit/>
          </a:bodyPr>
          <a:lstStyle/>
          <a:p>
            <a:pPr>
              <a:lnSpc>
                <a:spcPct val="150000"/>
              </a:lnSpc>
            </a:pPr>
            <a:r>
              <a:rPr lang="en-GB" sz="2400" dirty="0">
                <a:latin typeface="Helvetica Neue Light" panose="02000403000000020004" pitchFamily="2" charset="0"/>
                <a:ea typeface="Helvetica Neue Light" panose="02000403000000020004" pitchFamily="2" charset="0"/>
              </a:rPr>
              <a:t>If you have a genuine interest in Web tech moving forward sign up for all the newsletters I have put on Moodle for this week and you will get all the latest updates for front end and JS. Otherwise good luck with your 3</a:t>
            </a:r>
            <a:r>
              <a:rPr lang="en-GB" sz="2400" baseline="30000" dirty="0">
                <a:latin typeface="Helvetica Neue Light" panose="02000403000000020004" pitchFamily="2" charset="0"/>
                <a:ea typeface="Helvetica Neue Light" panose="02000403000000020004" pitchFamily="2" charset="0"/>
              </a:rPr>
              <a:t>rd</a:t>
            </a:r>
            <a:r>
              <a:rPr lang="en-GB" sz="2400" dirty="0">
                <a:latin typeface="Helvetica Neue Light" panose="02000403000000020004" pitchFamily="2" charset="0"/>
                <a:ea typeface="Helvetica Neue Light" panose="02000403000000020004" pitchFamily="2" charset="0"/>
              </a:rPr>
              <a:t> year</a:t>
            </a:r>
          </a:p>
          <a:p>
            <a:pPr marL="342900" indent="-342900">
              <a:lnSpc>
                <a:spcPct val="150000"/>
              </a:lnSpc>
              <a:buFont typeface="Arial" panose="020B0604020202020204" pitchFamily="34" charset="0"/>
              <a:buChar char="•"/>
            </a:pPr>
            <a:endParaRPr lang="en-GB" sz="2400" dirty="0">
              <a:latin typeface="Helvetica Neue Light" panose="02000403000000020004" pitchFamily="2" charset="0"/>
              <a:ea typeface="Helvetica Neue Light" panose="02000403000000020004" pitchFamily="2" charset="0"/>
            </a:endParaRPr>
          </a:p>
        </p:txBody>
      </p:sp>
      <p:pic>
        <p:nvPicPr>
          <p:cNvPr id="2052" name="Picture 4" descr="Bye Bye Goodbye GIF">
            <a:extLst>
              <a:ext uri="{FF2B5EF4-FFF2-40B4-BE49-F238E27FC236}">
                <a16:creationId xmlns:a16="http://schemas.microsoft.com/office/drawing/2014/main" id="{581F4EA7-DC47-9057-1408-E231C20A17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95750" y="2559814"/>
            <a:ext cx="5587642" cy="42981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2311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FF5B50">
                <a:alpha val="83137"/>
              </a:srgbClr>
            </a:gs>
            <a:gs pos="41000">
              <a:srgbClr val="FF574B">
                <a:lumMod val="87000"/>
                <a:lumOff val="13000"/>
              </a:srgbClr>
            </a:gs>
            <a:gs pos="100000">
              <a:srgbClr val="FF574B"/>
            </a:gs>
          </a:gsLst>
          <a:path path="circle">
            <a:fillToRect l="100000" b="100000"/>
          </a:path>
          <a:tileRect t="-100000" r="-100000"/>
        </a:gradFill>
        <a:effectLst/>
      </p:bgPr>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0" y="-247136"/>
            <a:ext cx="12192000" cy="5152767"/>
          </a:xfrm>
          <a:effectLst>
            <a:outerShdw blurRad="266700" dist="127000" dir="13500000" algn="br" rotWithShape="0">
              <a:prstClr val="black">
                <a:alpha val="40000"/>
              </a:prstClr>
            </a:outerShdw>
          </a:effectLst>
        </p:spPr>
        <p:txBody>
          <a:bodyPr anchor="ctr">
            <a:noAutofit/>
          </a:bodyPr>
          <a:lstStyle/>
          <a:p>
            <a:pPr marL="0" indent="0" algn="ctr">
              <a:lnSpc>
                <a:spcPct val="150000"/>
              </a:lnSpc>
              <a:buNone/>
            </a:pPr>
            <a:r>
              <a:rPr lang="en-GB" sz="40000" spc="70" dirty="0">
                <a:solidFill>
                  <a:schemeClr val="bg1"/>
                </a:solidFill>
                <a:latin typeface="Helvetica Neue Thin" panose="020B0403020202020204" pitchFamily="34" charset="0"/>
                <a:ea typeface="Helvetica Neue Thin" panose="020B0403020202020204" pitchFamily="34" charset="0"/>
                <a:cs typeface="Helvetica Neue" panose="02000503000000020004" pitchFamily="2" charset="0"/>
              </a:rPr>
              <a:t>?</a:t>
            </a:r>
          </a:p>
        </p:txBody>
      </p:sp>
    </p:spTree>
    <p:extLst>
      <p:ext uri="{BB962C8B-B14F-4D97-AF65-F5344CB8AC3E}">
        <p14:creationId xmlns:p14="http://schemas.microsoft.com/office/powerpoint/2010/main" val="3844783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368</TotalTime>
  <Words>1453</Words>
  <Application>Microsoft Macintosh PowerPoint</Application>
  <PresentationFormat>Widescreen</PresentationFormat>
  <Paragraphs>129</Paragraphs>
  <Slides>33</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33</vt:i4>
      </vt:variant>
    </vt:vector>
  </HeadingPairs>
  <TitlesOfParts>
    <vt:vector size="43" baseType="lpstr">
      <vt:lpstr>American Typewriter</vt:lpstr>
      <vt:lpstr>Arial</vt:lpstr>
      <vt:lpstr>Calibri</vt:lpstr>
      <vt:lpstr>Calibri Light</vt:lpstr>
      <vt:lpstr>Georgia</vt:lpstr>
      <vt:lpstr>Helvetica Neue Light</vt:lpstr>
      <vt:lpstr>Helvetica Neue Light</vt:lpstr>
      <vt:lpstr>Helvetica Neue Thin</vt:lpstr>
      <vt:lpstr>Menlo</vt:lpstr>
      <vt:lpstr>Office Theme</vt:lpstr>
      <vt:lpstr>COMP 1842</vt:lpstr>
      <vt:lpstr>Introduction</vt:lpstr>
      <vt:lpstr>PowerPoint Presentation</vt:lpstr>
      <vt:lpstr>Other options</vt:lpstr>
      <vt:lpstr>Consider mobile</vt:lpstr>
      <vt:lpstr>PHP RESTful API</vt:lpstr>
      <vt:lpstr>Seven testing principles</vt:lpstr>
      <vt:lpstr>The Dunning-Kruger Effect</vt:lpstr>
      <vt:lpstr>PowerPoint Presentation</vt:lpstr>
      <vt:lpstr>Remember this?</vt:lpstr>
      <vt:lpstr>And this?</vt:lpstr>
      <vt:lpstr>BSc Hons</vt:lpstr>
      <vt:lpstr>Project idea/title</vt:lpstr>
      <vt:lpstr>Don’t focus on the product</vt:lpstr>
      <vt:lpstr>The starting point</vt:lpstr>
      <vt:lpstr>Types of question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 1321</dc:title>
  <dc:creator>Matthew Prichard</dc:creator>
  <cp:lastModifiedBy>Matthew Prichard</cp:lastModifiedBy>
  <cp:revision>36</cp:revision>
  <dcterms:created xsi:type="dcterms:W3CDTF">2020-06-28T01:46:05Z</dcterms:created>
  <dcterms:modified xsi:type="dcterms:W3CDTF">2025-03-25T09:36:40Z</dcterms:modified>
</cp:coreProperties>
</file>