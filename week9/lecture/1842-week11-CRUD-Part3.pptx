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1" r:id="rId3"/>
    <p:sldId id="258" r:id="rId4"/>
    <p:sldId id="411" r:id="rId5"/>
    <p:sldId id="423" r:id="rId6"/>
    <p:sldId id="424" r:id="rId7"/>
    <p:sldId id="412" r:id="rId8"/>
    <p:sldId id="413" r:id="rId9"/>
    <p:sldId id="414" r:id="rId10"/>
    <p:sldId id="415" r:id="rId11"/>
    <p:sldId id="419" r:id="rId12"/>
    <p:sldId id="416" r:id="rId13"/>
    <p:sldId id="417" r:id="rId14"/>
    <p:sldId id="262" r:id="rId15"/>
    <p:sldId id="364" r:id="rId16"/>
    <p:sldId id="418" r:id="rId17"/>
    <p:sldId id="421" r:id="rId18"/>
    <p:sldId id="422" r:id="rId19"/>
    <p:sldId id="369" r:id="rId20"/>
    <p:sldId id="356" r:id="rId21"/>
    <p:sldId id="370" r:id="rId22"/>
    <p:sldId id="358" r:id="rId23"/>
    <p:sldId id="360" r:id="rId24"/>
    <p:sldId id="401" r:id="rId25"/>
    <p:sldId id="425" r:id="rId26"/>
    <p:sldId id="371" r:id="rId27"/>
    <p:sldId id="426" r:id="rId28"/>
    <p:sldId id="427" r:id="rId29"/>
    <p:sldId id="452" r:id="rId30"/>
    <p:sldId id="361" r:id="rId31"/>
    <p:sldId id="428" r:id="rId32"/>
    <p:sldId id="429" r:id="rId33"/>
    <p:sldId id="362" r:id="rId34"/>
    <p:sldId id="430" r:id="rId35"/>
    <p:sldId id="406" r:id="rId36"/>
    <p:sldId id="431" r:id="rId37"/>
    <p:sldId id="432" r:id="rId38"/>
    <p:sldId id="433" r:id="rId39"/>
    <p:sldId id="434" r:id="rId40"/>
    <p:sldId id="435" r:id="rId41"/>
    <p:sldId id="437" r:id="rId42"/>
    <p:sldId id="436" r:id="rId43"/>
    <p:sldId id="438" r:id="rId44"/>
    <p:sldId id="439" r:id="rId45"/>
    <p:sldId id="440" r:id="rId46"/>
    <p:sldId id="442" r:id="rId47"/>
    <p:sldId id="441" r:id="rId48"/>
    <p:sldId id="443" r:id="rId49"/>
    <p:sldId id="444" r:id="rId50"/>
    <p:sldId id="445" r:id="rId51"/>
    <p:sldId id="446" r:id="rId52"/>
    <p:sldId id="447" r:id="rId53"/>
    <p:sldId id="448" r:id="rId54"/>
    <p:sldId id="449" r:id="rId55"/>
    <p:sldId id="450" r:id="rId56"/>
    <p:sldId id="451" r:id="rId57"/>
    <p:sldId id="368"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74B"/>
    <a:srgbClr val="FF5B50"/>
    <a:srgbClr val="D347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061"/>
    <p:restoredTop sz="86395"/>
  </p:normalViewPr>
  <p:slideViewPr>
    <p:cSldViewPr snapToGrid="0" snapToObjects="1">
      <p:cViewPr varScale="1">
        <p:scale>
          <a:sx n="94" d="100"/>
          <a:sy n="94" d="100"/>
        </p:scale>
        <p:origin x="200" y="119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4.141"/>
    </inkml:context>
    <inkml:brush xml:id="br0">
      <inkml:brushProperty name="width" value="0.05" units="cm"/>
      <inkml:brushProperty name="height" value="0.05" units="cm"/>
      <inkml:brushProperty name="color" value="#E71224"/>
    </inkml:brush>
  </inkml:definitions>
  <inkml:trace contextRef="#ctx0" brushRef="#br0">1 10 24575,'0'-6'0,"0"2"0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5.093"/>
    </inkml:context>
    <inkml:brush xml:id="br0">
      <inkml:brushProperty name="width" value="0.05" units="cm"/>
      <inkml:brushProperty name="height" value="0.05" units="cm"/>
      <inkml:brushProperty name="color" value="#E71224"/>
    </inkml:brush>
  </inkml:definitions>
  <inkml:trace contextRef="#ctx0" brushRef="#br0">1 1 24575,'5'5'0,"-1"-1"0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0.298"/>
    </inkml:context>
    <inkml:brush xml:id="br0">
      <inkml:brushProperty name="width" value="0.05" units="cm"/>
      <inkml:brushProperty name="height" value="0.05" units="cm"/>
      <inkml:brushProperty name="color" value="#E71224"/>
    </inkml:brush>
  </inkml:definitions>
  <inkml:trace contextRef="#ctx0" brushRef="#br0">1 10 24575,'0'-5'0,"0"1"0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6.0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8.710"/>
    </inkml:context>
    <inkml:brush xml:id="br0">
      <inkml:brushProperty name="width" value="0.05" units="cm"/>
      <inkml:brushProperty name="height" value="0.05" units="cm"/>
      <inkml:brushProperty name="color" value="#E71224"/>
    </inkml:brush>
  </inkml:definitions>
  <inkml:trace contextRef="#ctx0" brushRef="#br0">0 1 24575,'5'0'0,"-1"0"0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539-EFFE-4545-8560-8B85D420C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27E099-A4CF-C148-8D5A-DC7DCE6EA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14F13F-321A-6C44-A529-3C63949C72C6}"/>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97777D4B-E972-3F48-8AB6-BC30D35A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37F83-FC1F-964D-9D14-71EC1C06AE71}"/>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63798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8E1E-8C7B-BF49-ADDF-0DBF11C19E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96981E-8F9B-D64C-9D10-A1DF590341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020193-341C-E347-A42A-A1A21E43FF77}"/>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2B618F1D-D2AE-3E45-9684-41082CDD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7C00-9FE2-D644-877F-E440C7FDB26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12644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FB7A-866B-8144-B7A1-B3D2CE8B4D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A9333F-7620-324C-821F-9AD4629D8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41DDB4-466A-D142-8FFA-437B8B3B2108}"/>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0E5B42E0-284F-5746-B82C-C36E036E5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5C72-09E6-E047-BEF5-956CDC65F70E}"/>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3278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2E35-2AE7-6F47-B4DA-83DE0DF474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FCAD58-35EE-E345-9223-93C0D708CA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64EF8E7-11C7-6E44-9C23-E6F8B255FA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588C67-D211-A347-94D3-2566B042CEAC}"/>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6" name="Footer Placeholder 5">
            <a:extLst>
              <a:ext uri="{FF2B5EF4-FFF2-40B4-BE49-F238E27FC236}">
                <a16:creationId xmlns:a16="http://schemas.microsoft.com/office/drawing/2014/main" id="{BF3FAA6E-E7CE-1B4F-A78D-8055C20FF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079D9-12B3-A149-9192-6D6EE5E58F8C}"/>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6961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7B05-85DB-5A4D-931F-231EBBA112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6F10373-280F-CA46-BE02-633860BE9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0A25CD-D56D-9749-8FA7-012A6FFB1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940AEA-A232-8E45-B81D-24868FB2C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DB3D5C-B45E-294F-899C-37B8ABB445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43D68E-FDF7-C045-8CAA-189B56B2E697}"/>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8" name="Footer Placeholder 7">
            <a:extLst>
              <a:ext uri="{FF2B5EF4-FFF2-40B4-BE49-F238E27FC236}">
                <a16:creationId xmlns:a16="http://schemas.microsoft.com/office/drawing/2014/main" id="{7C413D46-B78B-B34E-A26D-1E905B740B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BDADF-5108-CD45-9618-15BBE06090DB}"/>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99492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9E0C-142B-1A4D-89C5-B127E3184B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8F2823E-3DFF-BC40-A52F-4043983FB2DD}"/>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4" name="Footer Placeholder 3">
            <a:extLst>
              <a:ext uri="{FF2B5EF4-FFF2-40B4-BE49-F238E27FC236}">
                <a16:creationId xmlns:a16="http://schemas.microsoft.com/office/drawing/2014/main" id="{124D8986-40E4-9C4C-9000-D7F27294F6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A2C31-69A8-2541-8800-BF6093390D3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80514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6F4BA-B7C3-0B40-A517-3063895B03DF}"/>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3" name="Footer Placeholder 2">
            <a:extLst>
              <a:ext uri="{FF2B5EF4-FFF2-40B4-BE49-F238E27FC236}">
                <a16:creationId xmlns:a16="http://schemas.microsoft.com/office/drawing/2014/main" id="{4797E2D8-25FE-5D4E-AA84-54C5D96B6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3C8086-56AB-5846-9B21-24E9FACF9EE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56485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128B-CB7D-4949-BDCD-CEA57AD653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C22BEB-180F-2C4F-AD00-7398A27FFD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449D24-1922-914E-8AE1-EDB93293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CC72B2-DD18-5848-8941-A617E3E7920F}"/>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6" name="Footer Placeholder 5">
            <a:extLst>
              <a:ext uri="{FF2B5EF4-FFF2-40B4-BE49-F238E27FC236}">
                <a16:creationId xmlns:a16="http://schemas.microsoft.com/office/drawing/2014/main" id="{688227D4-8A18-8847-B7F4-B294D0E21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1A7C-E471-BB41-A5AE-D7F2A5EF524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0120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BA7A-65F6-804A-9941-BCE8970B95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38F054-1226-C841-8344-D63DBC021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1DC94-414C-3F41-B393-D969AAC6A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DE8132-7D31-F647-A931-5987A506D35F}"/>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6" name="Footer Placeholder 5">
            <a:extLst>
              <a:ext uri="{FF2B5EF4-FFF2-40B4-BE49-F238E27FC236}">
                <a16:creationId xmlns:a16="http://schemas.microsoft.com/office/drawing/2014/main" id="{59DF137E-B2CD-DD4D-BF38-E08630C9F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F7E92-EA36-7B48-A10F-1F43EE78FE1D}"/>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38456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4E04-9F9F-AB48-88B1-E1883CD331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657EA1-F037-8B4E-9A3A-2DE41A3DE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DB8C3C-2D4F-BE41-8BC7-084B83BEFA84}"/>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D612D0DE-14FE-1D40-BE53-A452852B6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D8C1-DBB4-6047-9F3A-27574BE70FD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1818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564D8-A2EB-6040-A321-450F2B3B53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E19CC6-DE46-8941-A1E0-A043207418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B8749-56EB-B24A-9291-4EBB8B556CFA}"/>
              </a:ext>
            </a:extLst>
          </p:cNvPr>
          <p:cNvSpPr>
            <a:spLocks noGrp="1"/>
          </p:cNvSpPr>
          <p:nvPr>
            <p:ph type="dt" sz="half" idx="10"/>
          </p:nvPr>
        </p:nvSpPr>
        <p:spPr/>
        <p:txBody>
          <a:body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527ABE29-13B7-C144-9FE6-C43F1BC65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9BD64-DA0B-7445-BB80-5A502968ADB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8931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0518A-80A7-B946-A2C0-357FF80B4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66F8D-B95D-3748-A8C1-B613B61AC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1E4AA-0008-E746-A8C3-917D9ECC1F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38E33-E634-164E-9160-E9D257145221}" type="datetimeFigureOut">
              <a:rPr lang="en-US" smtClean="0"/>
              <a:t>3/25/25</a:t>
            </a:fld>
            <a:endParaRPr lang="en-US"/>
          </a:p>
        </p:txBody>
      </p:sp>
      <p:sp>
        <p:nvSpPr>
          <p:cNvPr id="5" name="Footer Placeholder 4">
            <a:extLst>
              <a:ext uri="{FF2B5EF4-FFF2-40B4-BE49-F238E27FC236}">
                <a16:creationId xmlns:a16="http://schemas.microsoft.com/office/drawing/2014/main" id="{32A644B1-065E-4C4F-8DD6-AB2140588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71CFFB-C884-9249-B66F-52213D90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301A9-E266-4A4D-81C0-23C5428F31B4}" type="slidenum">
              <a:rPr lang="en-US" smtClean="0"/>
              <a:t>‹#›</a:t>
            </a:fld>
            <a:endParaRPr lang="en-US"/>
          </a:p>
        </p:txBody>
      </p:sp>
    </p:spTree>
    <p:extLst>
      <p:ext uri="{BB962C8B-B14F-4D97-AF65-F5344CB8AC3E}">
        <p14:creationId xmlns:p14="http://schemas.microsoft.com/office/powerpoint/2010/main" val="183214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cli.vuejs.org/"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npmjs.com/package/semantic-ui-css" TargetMode="External"/><Relationship Id="rId2" Type="http://schemas.openxmlformats.org/officeDocument/2006/relationships/hyperlink" Target="https://www.npmjs.com/package/axios" TargetMode="External"/><Relationship Id="rId1" Type="http://schemas.openxmlformats.org/officeDocument/2006/relationships/slideLayout" Target="../slideLayouts/slideLayout2.xml"/><Relationship Id="rId4" Type="http://schemas.openxmlformats.org/officeDocument/2006/relationships/hyperlink" Target="https://www.npmjs.com/package/vue-flash-messag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v3.router.vuejs.org/guide/essentials/history-mode.html#example-server-configurations" TargetMode="Externa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v3.router.vuejs.org/"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vuejs-templates/webpack-simple/issues/29" TargetMode="External"/><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codesource.io/vue-export-default-vs-vue-new/" TargetMode="Externa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sitepoint.com/flow-control-callbacks-promises-async-await/" TargetMode="External"/><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axios-http.com/"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javascript.info/promise-basics" TargetMode="External"/><Relationship Id="rId1" Type="http://schemas.openxmlformats.org/officeDocument/2006/relationships/slideLayout" Target="../slideLayouts/slideLayout2.xml"/><Relationship Id="rId4" Type="http://schemas.openxmlformats.org/officeDocument/2006/relationships/hyperlink" Target="https://www.w3schools.com/js/js_promise.asp"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www.vuemastery.com/courses/intro-to-vue-js/components" TargetMode="External"/><Relationship Id="rId1" Type="http://schemas.openxmlformats.org/officeDocument/2006/relationships/slideLayout" Target="../slideLayouts/slideLayout2.xml"/><Relationship Id="rId5" Type="http://schemas.openxmlformats.org/officeDocument/2006/relationships/hyperlink" Target="https://vuejs.org/v2/api/#v-if" TargetMode="External"/><Relationship Id="rId4" Type="http://schemas.openxmlformats.org/officeDocument/2006/relationships/hyperlink" Target="https://softauthor.com/vuejs-prevent-form-submission/" TargetMode="External"/></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6.xml.rels><?xml version="1.0" encoding="UTF-8" standalone="yes"?>
<Relationships xmlns="http://schemas.openxmlformats.org/package/2006/relationships"><Relationship Id="rId2" Type="http://schemas.openxmlformats.org/officeDocument/2006/relationships/image" Target="../media/image60.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8B91-A0EF-6441-AC27-9667FD447C0F}"/>
              </a:ext>
            </a:extLst>
          </p:cNvPr>
          <p:cNvSpPr>
            <a:spLocks noGrp="1"/>
          </p:cNvSpPr>
          <p:nvPr>
            <p:ph type="ctrTitle"/>
          </p:nvPr>
        </p:nvSpPr>
        <p:spPr>
          <a:xfrm>
            <a:off x="0" y="1604375"/>
            <a:ext cx="12192000" cy="2472633"/>
          </a:xfrm>
          <a:ln>
            <a:noFill/>
          </a:ln>
          <a:effectLst>
            <a:outerShdw blurRad="165100" dist="101600" dir="5400000" algn="t" rotWithShape="0">
              <a:prstClr val="black">
                <a:alpha val="40000"/>
              </a:prstClr>
            </a:outerShdw>
          </a:effectLst>
        </p:spPr>
        <p:txBody>
          <a:bodyPr>
            <a:noAutofit/>
          </a:bodyPr>
          <a:lstStyle/>
          <a:p>
            <a:r>
              <a:rPr lang="en-US" sz="1500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 1842</a:t>
            </a:r>
          </a:p>
        </p:txBody>
      </p:sp>
      <p:sp>
        <p:nvSpPr>
          <p:cNvPr id="3" name="Subtitle 2">
            <a:extLst>
              <a:ext uri="{FF2B5EF4-FFF2-40B4-BE49-F238E27FC236}">
                <a16:creationId xmlns:a16="http://schemas.microsoft.com/office/drawing/2014/main" id="{7CC15634-394B-C140-BAEF-ABAB8B4926C9}"/>
              </a:ext>
            </a:extLst>
          </p:cNvPr>
          <p:cNvSpPr>
            <a:spLocks noGrp="1"/>
          </p:cNvSpPr>
          <p:nvPr>
            <p:ph type="subTitle" idx="1"/>
          </p:nvPr>
        </p:nvSpPr>
        <p:spPr>
          <a:xfrm>
            <a:off x="0" y="4640041"/>
            <a:ext cx="12192000" cy="1244392"/>
          </a:xfrm>
        </p:spPr>
        <p:txBody>
          <a:bodyPr>
            <a:normAutofit fontScale="92500" lnSpcReduction="10000"/>
          </a:bodyPr>
          <a:lstStyle/>
          <a:p>
            <a:r>
              <a:rPr lang="en-US" sz="3000" dirty="0">
                <a:solidFill>
                  <a:schemeClr val="bg1"/>
                </a:solidFill>
                <a:latin typeface="Helvetica Neue Thin" panose="020B0403020202020204" pitchFamily="34" charset="0"/>
                <a:ea typeface="Helvetica Neue Thin" panose="020B0403020202020204" pitchFamily="34" charset="0"/>
              </a:rPr>
              <a:t>Coursework CRUD system part 3 front end</a:t>
            </a:r>
          </a:p>
          <a:p>
            <a:endParaRPr lang="en-US" dirty="0">
              <a:solidFill>
                <a:schemeClr val="bg1"/>
              </a:solidFill>
              <a:latin typeface="Helvetica Neue Thin" panose="020B0403020202020204" pitchFamily="34" charset="0"/>
              <a:ea typeface="Helvetica Neue Thin" panose="020B0403020202020204" pitchFamily="34" charset="0"/>
            </a:endParaRPr>
          </a:p>
          <a:p>
            <a:r>
              <a:rPr lang="en-US" dirty="0">
                <a:solidFill>
                  <a:schemeClr val="bg1"/>
                </a:solidFill>
                <a:latin typeface="Helvetica Neue Thin" panose="020B0403020202020204" pitchFamily="34" charset="0"/>
                <a:ea typeface="Helvetica Neue Thin" panose="020B0403020202020204" pitchFamily="34" charset="0"/>
              </a:rPr>
              <a:t>Matt Prichard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D7C0677-BBE1-414B-814E-FB526796BABE}"/>
                  </a:ext>
                </a:extLst>
              </p14:cNvPr>
              <p14:cNvContentPartPr/>
              <p14:nvPr/>
            </p14:nvContentPartPr>
            <p14:xfrm>
              <a:off x="8651014" y="2840692"/>
              <a:ext cx="360" cy="3600"/>
            </p14:xfrm>
          </p:contentPart>
        </mc:Choice>
        <mc:Fallback xmlns="">
          <p:pic>
            <p:nvPicPr>
              <p:cNvPr id="5" name="Ink 4">
                <a:extLst>
                  <a:ext uri="{FF2B5EF4-FFF2-40B4-BE49-F238E27FC236}">
                    <a16:creationId xmlns:a16="http://schemas.microsoft.com/office/drawing/2014/main" id="{DD7C0677-BBE1-414B-814E-FB526796BABE}"/>
                  </a:ext>
                </a:extLst>
              </p:cNvPr>
              <p:cNvPicPr/>
              <p:nvPr/>
            </p:nvPicPr>
            <p:blipFill>
              <a:blip r:embed="rId3"/>
              <a:stretch>
                <a:fillRect/>
              </a:stretch>
            </p:blipFill>
            <p:spPr>
              <a:xfrm>
                <a:off x="8642374" y="283169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850E275-2940-D64F-8F9D-8FEA90F263CD}"/>
                  </a:ext>
                </a:extLst>
              </p14:cNvPr>
              <p14:cNvContentPartPr/>
              <p14:nvPr/>
            </p14:nvContentPartPr>
            <p14:xfrm>
              <a:off x="7568494" y="1355692"/>
              <a:ext cx="3600" cy="3600"/>
            </p14:xfrm>
          </p:contentPart>
        </mc:Choice>
        <mc:Fallback xmlns="">
          <p:pic>
            <p:nvPicPr>
              <p:cNvPr id="6" name="Ink 5">
                <a:extLst>
                  <a:ext uri="{FF2B5EF4-FFF2-40B4-BE49-F238E27FC236}">
                    <a16:creationId xmlns:a16="http://schemas.microsoft.com/office/drawing/2014/main" id="{2850E275-2940-D64F-8F9D-8FEA90F263CD}"/>
                  </a:ext>
                </a:extLst>
              </p:cNvPr>
              <p:cNvPicPr/>
              <p:nvPr/>
            </p:nvPicPr>
            <p:blipFill>
              <a:blip r:embed="rId5"/>
              <a:stretch>
                <a:fillRect/>
              </a:stretch>
            </p:blipFill>
            <p:spPr>
              <a:xfrm>
                <a:off x="7559854" y="1347052"/>
                <a:ext cx="21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C9CF2D3-71F9-664F-83A1-4ACBF7039607}"/>
                  </a:ext>
                </a:extLst>
              </p14:cNvPr>
              <p14:cNvContentPartPr/>
              <p14:nvPr/>
            </p14:nvContentPartPr>
            <p14:xfrm>
              <a:off x="5078734" y="3049852"/>
              <a:ext cx="360" cy="3600"/>
            </p14:xfrm>
          </p:contentPart>
        </mc:Choice>
        <mc:Fallback xmlns="">
          <p:pic>
            <p:nvPicPr>
              <p:cNvPr id="7" name="Ink 6">
                <a:extLst>
                  <a:ext uri="{FF2B5EF4-FFF2-40B4-BE49-F238E27FC236}">
                    <a16:creationId xmlns:a16="http://schemas.microsoft.com/office/drawing/2014/main" id="{3C9CF2D3-71F9-664F-83A1-4ACBF7039607}"/>
                  </a:ext>
                </a:extLst>
              </p:cNvPr>
              <p:cNvPicPr/>
              <p:nvPr/>
            </p:nvPicPr>
            <p:blipFill>
              <a:blip r:embed="rId3"/>
              <a:stretch>
                <a:fillRect/>
              </a:stretch>
            </p:blipFill>
            <p:spPr>
              <a:xfrm>
                <a:off x="5070094" y="304121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FDACCB0-A54B-354A-A3EC-60B7525CDF0A}"/>
                  </a:ext>
                </a:extLst>
              </p14:cNvPr>
              <p14:cNvContentPartPr/>
              <p14:nvPr/>
            </p14:nvContentPartPr>
            <p14:xfrm>
              <a:off x="5525854" y="1776532"/>
              <a:ext cx="360" cy="360"/>
            </p14:xfrm>
          </p:contentPart>
        </mc:Choice>
        <mc:Fallback xmlns="">
          <p:pic>
            <p:nvPicPr>
              <p:cNvPr id="8" name="Ink 7">
                <a:extLst>
                  <a:ext uri="{FF2B5EF4-FFF2-40B4-BE49-F238E27FC236}">
                    <a16:creationId xmlns:a16="http://schemas.microsoft.com/office/drawing/2014/main" id="{8FDACCB0-A54B-354A-A3EC-60B7525CDF0A}"/>
                  </a:ext>
                </a:extLst>
              </p:cNvPr>
              <p:cNvPicPr/>
              <p:nvPr/>
            </p:nvPicPr>
            <p:blipFill>
              <a:blip r:embed="rId8"/>
              <a:stretch>
                <a:fillRect/>
              </a:stretch>
            </p:blipFill>
            <p:spPr>
              <a:xfrm>
                <a:off x="5517214" y="17675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5448C-44AF-1340-8608-65DF607A0667}"/>
                  </a:ext>
                </a:extLst>
              </p14:cNvPr>
              <p14:cNvContentPartPr/>
              <p14:nvPr/>
            </p14:nvContentPartPr>
            <p14:xfrm>
              <a:off x="768814" y="1290172"/>
              <a:ext cx="3600" cy="360"/>
            </p14:xfrm>
          </p:contentPart>
        </mc:Choice>
        <mc:Fallback xmlns="">
          <p:pic>
            <p:nvPicPr>
              <p:cNvPr id="9" name="Ink 8">
                <a:extLst>
                  <a:ext uri="{FF2B5EF4-FFF2-40B4-BE49-F238E27FC236}">
                    <a16:creationId xmlns:a16="http://schemas.microsoft.com/office/drawing/2014/main" id="{6465448C-44AF-1340-8608-65DF607A0667}"/>
                  </a:ext>
                </a:extLst>
              </p:cNvPr>
              <p:cNvPicPr/>
              <p:nvPr/>
            </p:nvPicPr>
            <p:blipFill>
              <a:blip r:embed="rId10"/>
              <a:stretch>
                <a:fillRect/>
              </a:stretch>
            </p:blipFill>
            <p:spPr>
              <a:xfrm>
                <a:off x="759814" y="1281532"/>
                <a:ext cx="21240" cy="18000"/>
              </a:xfrm>
              <a:prstGeom prst="rect">
                <a:avLst/>
              </a:prstGeom>
            </p:spPr>
          </p:pic>
        </mc:Fallback>
      </mc:AlternateContent>
    </p:spTree>
    <p:extLst>
      <p:ext uri="{BB962C8B-B14F-4D97-AF65-F5344CB8AC3E}">
        <p14:creationId xmlns:p14="http://schemas.microsoft.com/office/powerpoint/2010/main" val="16342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5"/>
            <a:ext cx="10515600" cy="1079853"/>
          </a:xfrm>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Recap</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238602"/>
            <a:ext cx="10515600" cy="1549753"/>
          </a:xfrm>
        </p:spPr>
        <p:txBody>
          <a:bodyPr>
            <a:normAutofit/>
          </a:bodyPr>
          <a:lstStyle/>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Last week we finished our RESTful API and tested it in Postcode</a:t>
            </a:r>
          </a:p>
        </p:txBody>
      </p:sp>
      <p:pic>
        <p:nvPicPr>
          <p:cNvPr id="6" name="Picture 5">
            <a:extLst>
              <a:ext uri="{FF2B5EF4-FFF2-40B4-BE49-F238E27FC236}">
                <a16:creationId xmlns:a16="http://schemas.microsoft.com/office/drawing/2014/main" id="{C046943F-C4A6-0326-FA0E-7D678C91FFAA}"/>
              </a:ext>
            </a:extLst>
          </p:cNvPr>
          <p:cNvPicPr>
            <a:picLocks noChangeAspect="1"/>
          </p:cNvPicPr>
          <p:nvPr/>
        </p:nvPicPr>
        <p:blipFill>
          <a:blip r:embed="rId2"/>
          <a:stretch>
            <a:fillRect/>
          </a:stretch>
        </p:blipFill>
        <p:spPr>
          <a:xfrm>
            <a:off x="943131" y="2013478"/>
            <a:ext cx="8080947" cy="4671502"/>
          </a:xfrm>
          <a:prstGeom prst="rect">
            <a:avLst/>
          </a:prstGeom>
        </p:spPr>
      </p:pic>
      <p:pic>
        <p:nvPicPr>
          <p:cNvPr id="7" name="Picture 6">
            <a:extLst>
              <a:ext uri="{FF2B5EF4-FFF2-40B4-BE49-F238E27FC236}">
                <a16:creationId xmlns:a16="http://schemas.microsoft.com/office/drawing/2014/main" id="{C25155CB-8827-4751-FA98-72B40DBF94C6}"/>
              </a:ext>
            </a:extLst>
          </p:cNvPr>
          <p:cNvPicPr>
            <a:picLocks noChangeAspect="1"/>
          </p:cNvPicPr>
          <p:nvPr/>
        </p:nvPicPr>
        <p:blipFill>
          <a:blip r:embed="rId3"/>
          <a:stretch>
            <a:fillRect/>
          </a:stretch>
        </p:blipFill>
        <p:spPr>
          <a:xfrm>
            <a:off x="7455806" y="4137321"/>
            <a:ext cx="4518479" cy="2542602"/>
          </a:xfrm>
          <a:prstGeom prst="rect">
            <a:avLst/>
          </a:prstGeom>
          <a:ln>
            <a:solidFill>
              <a:schemeClr val="bg1">
                <a:lumMod val="85000"/>
              </a:schemeClr>
            </a:solidFill>
          </a:ln>
        </p:spPr>
      </p:pic>
    </p:spTree>
    <p:extLst>
      <p:ext uri="{BB962C8B-B14F-4D97-AF65-F5344CB8AC3E}">
        <p14:creationId xmlns:p14="http://schemas.microsoft.com/office/powerpoint/2010/main" val="285449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Introduction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36914"/>
            <a:ext cx="10515600" cy="1845118"/>
          </a:xfrm>
        </p:spPr>
        <p:txBody>
          <a:bodyPr>
            <a:normAutofit fontScale="85000" lnSpcReduction="20000"/>
          </a:bodyPr>
          <a:lstStyle/>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This week we will create the first part of the Vue frontend.</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We will install Vue cli globally to scaffold the project</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hlinkClick r:id="rId2"/>
              </a:rPr>
              <a:t>https://cli.vuejs.org/</a:t>
            </a: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 - Vue command line interface</a:t>
            </a:r>
          </a:p>
          <a:p>
            <a:pPr marL="0" indent="0">
              <a:lnSpc>
                <a:spcPct val="150000"/>
              </a:lnSpc>
              <a:buNone/>
            </a:pPr>
            <a:endPar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pic>
        <p:nvPicPr>
          <p:cNvPr id="7" name="Picture 6">
            <a:extLst>
              <a:ext uri="{FF2B5EF4-FFF2-40B4-BE49-F238E27FC236}">
                <a16:creationId xmlns:a16="http://schemas.microsoft.com/office/drawing/2014/main" id="{2B84D184-8010-49C6-75DB-DD731C124406}"/>
              </a:ext>
            </a:extLst>
          </p:cNvPr>
          <p:cNvPicPr>
            <a:picLocks noChangeAspect="1"/>
          </p:cNvPicPr>
          <p:nvPr/>
        </p:nvPicPr>
        <p:blipFill>
          <a:blip r:embed="rId3"/>
          <a:stretch>
            <a:fillRect/>
          </a:stretch>
        </p:blipFill>
        <p:spPr>
          <a:xfrm>
            <a:off x="870856" y="3282032"/>
            <a:ext cx="5627914" cy="803988"/>
          </a:xfrm>
          <a:prstGeom prst="rect">
            <a:avLst/>
          </a:prstGeom>
        </p:spPr>
      </p:pic>
      <p:pic>
        <p:nvPicPr>
          <p:cNvPr id="8" name="Picture 7">
            <a:extLst>
              <a:ext uri="{FF2B5EF4-FFF2-40B4-BE49-F238E27FC236}">
                <a16:creationId xmlns:a16="http://schemas.microsoft.com/office/drawing/2014/main" id="{C52456FA-BBB1-95EB-9616-4C1E1DC43189}"/>
              </a:ext>
            </a:extLst>
          </p:cNvPr>
          <p:cNvPicPr>
            <a:picLocks noChangeAspect="1"/>
          </p:cNvPicPr>
          <p:nvPr/>
        </p:nvPicPr>
        <p:blipFill>
          <a:blip r:embed="rId4"/>
          <a:stretch>
            <a:fillRect/>
          </a:stretch>
        </p:blipFill>
        <p:spPr>
          <a:xfrm>
            <a:off x="800781" y="5024624"/>
            <a:ext cx="7347858" cy="1309255"/>
          </a:xfrm>
          <a:prstGeom prst="rect">
            <a:avLst/>
          </a:prstGeom>
        </p:spPr>
      </p:pic>
      <p:sp>
        <p:nvSpPr>
          <p:cNvPr id="9" name="Content Placeholder 4">
            <a:extLst>
              <a:ext uri="{FF2B5EF4-FFF2-40B4-BE49-F238E27FC236}">
                <a16:creationId xmlns:a16="http://schemas.microsoft.com/office/drawing/2014/main" id="{F7AE6595-070E-25E1-084D-447D67B02D77}"/>
              </a:ext>
            </a:extLst>
          </p:cNvPr>
          <p:cNvSpPr txBox="1">
            <a:spLocks/>
          </p:cNvSpPr>
          <p:nvPr/>
        </p:nvSpPr>
        <p:spPr>
          <a:xfrm>
            <a:off x="870856" y="4206348"/>
            <a:ext cx="10515600" cy="8039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We can check our install by typing.   </a:t>
            </a:r>
            <a:r>
              <a:rPr lang="en-GB" sz="2400" spc="50" dirty="0" err="1">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vue</a:t>
            </a:r>
            <a:r>
              <a:rPr lang="en-GB" sz="24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 –-version </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Mine is 5.0.8</a:t>
            </a:r>
          </a:p>
          <a:p>
            <a:pPr marL="0" indent="0">
              <a:lnSpc>
                <a:spcPct val="150000"/>
              </a:lnSpc>
              <a:buFont typeface="Arial" panose="020B0604020202020204" pitchFamily="34" charset="0"/>
              <a:buNone/>
            </a:pPr>
            <a:endPar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5913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Basic set up</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1566997"/>
            <a:ext cx="11092543" cy="664574"/>
          </a:xfrm>
        </p:spPr>
        <p:txBody>
          <a:bodyPr>
            <a:noAutofit/>
          </a:bodyPr>
          <a:lstStyle/>
          <a:p>
            <a:pPr marL="0" indent="0">
              <a:lnSpc>
                <a:spcPct val="150000"/>
              </a:lnSpc>
              <a:buNone/>
            </a:pPr>
            <a:r>
              <a:rPr lang="en-GB" sz="2200" dirty="0">
                <a:solidFill>
                  <a:srgbClr val="1F1E20"/>
                </a:solidFill>
                <a:effectLst/>
                <a:latin typeface="Helvetica Neue Light" panose="02000403000000020004" pitchFamily="2" charset="0"/>
                <a:ea typeface="Helvetica Neue Light" panose="02000403000000020004" pitchFamily="2" charset="0"/>
              </a:rPr>
              <a:t>Make sure you’re in the root folder of the project (cd </a:t>
            </a:r>
            <a:r>
              <a:rPr lang="en-GB" sz="2200" dirty="0">
                <a:latin typeface="Helvetica Neue Light" panose="02000403000000020004" pitchFamily="2" charset="0"/>
                <a:ea typeface="Helvetica Neue Light" panose="02000403000000020004" pitchFamily="2" charset="0"/>
              </a:rPr>
              <a:t>vocab-builder</a:t>
            </a:r>
            <a:r>
              <a:rPr lang="en-GB" sz="2200" dirty="0">
                <a:solidFill>
                  <a:srgbClr val="1F1E20"/>
                </a:solidFill>
                <a:effectLst/>
                <a:latin typeface="Helvetica Neue Light" panose="02000403000000020004" pitchFamily="2" charset="0"/>
                <a:ea typeface="Helvetica Neue Light" panose="02000403000000020004" pitchFamily="2" charset="0"/>
              </a:rPr>
              <a:t>), then run the following:</a:t>
            </a:r>
            <a:endParaRPr lang="en-GB" sz="22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pic>
        <p:nvPicPr>
          <p:cNvPr id="10" name="Picture 9">
            <a:extLst>
              <a:ext uri="{FF2B5EF4-FFF2-40B4-BE49-F238E27FC236}">
                <a16:creationId xmlns:a16="http://schemas.microsoft.com/office/drawing/2014/main" id="{16FDCD5D-380D-4C8F-B1F3-11635CBE9E7F}"/>
              </a:ext>
            </a:extLst>
          </p:cNvPr>
          <p:cNvPicPr>
            <a:picLocks noChangeAspect="1"/>
          </p:cNvPicPr>
          <p:nvPr/>
        </p:nvPicPr>
        <p:blipFill>
          <a:blip r:embed="rId2"/>
          <a:stretch>
            <a:fillRect/>
          </a:stretch>
        </p:blipFill>
        <p:spPr>
          <a:xfrm>
            <a:off x="838199" y="2433680"/>
            <a:ext cx="6313892" cy="815840"/>
          </a:xfrm>
          <a:prstGeom prst="rect">
            <a:avLst/>
          </a:prstGeom>
        </p:spPr>
      </p:pic>
      <p:sp>
        <p:nvSpPr>
          <p:cNvPr id="12" name="Content Placeholder 4">
            <a:extLst>
              <a:ext uri="{FF2B5EF4-FFF2-40B4-BE49-F238E27FC236}">
                <a16:creationId xmlns:a16="http://schemas.microsoft.com/office/drawing/2014/main" id="{412A06E6-B318-5576-0A4E-BB4C5E305FF3}"/>
              </a:ext>
            </a:extLst>
          </p:cNvPr>
          <p:cNvSpPr txBox="1">
            <a:spLocks/>
          </p:cNvSpPr>
          <p:nvPr/>
        </p:nvSpPr>
        <p:spPr>
          <a:xfrm>
            <a:off x="707571" y="3451629"/>
            <a:ext cx="11092543" cy="6645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200" dirty="0">
                <a:solidFill>
                  <a:srgbClr val="1F1E20"/>
                </a:solidFill>
                <a:latin typeface="Helvetica Neue Light" panose="02000403000000020004" pitchFamily="2" charset="0"/>
                <a:ea typeface="Helvetica Neue Light" panose="02000403000000020004" pitchFamily="2" charset="0"/>
              </a:rPr>
              <a:t>When prompted use the arrow keys to select Manually select features and hit enter</a:t>
            </a:r>
            <a:endParaRPr lang="en-GB" sz="22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pic>
        <p:nvPicPr>
          <p:cNvPr id="13" name="Picture 12">
            <a:extLst>
              <a:ext uri="{FF2B5EF4-FFF2-40B4-BE49-F238E27FC236}">
                <a16:creationId xmlns:a16="http://schemas.microsoft.com/office/drawing/2014/main" id="{F7403008-321C-8CEB-C609-DB5462D97109}"/>
              </a:ext>
            </a:extLst>
          </p:cNvPr>
          <p:cNvPicPr>
            <a:picLocks noChangeAspect="1"/>
          </p:cNvPicPr>
          <p:nvPr/>
        </p:nvPicPr>
        <p:blipFill>
          <a:blip r:embed="rId3"/>
          <a:stretch>
            <a:fillRect/>
          </a:stretch>
        </p:blipFill>
        <p:spPr>
          <a:xfrm>
            <a:off x="838199" y="4135303"/>
            <a:ext cx="6654512" cy="2194060"/>
          </a:xfrm>
          <a:prstGeom prst="rect">
            <a:avLst/>
          </a:prstGeom>
        </p:spPr>
      </p:pic>
    </p:spTree>
    <p:extLst>
      <p:ext uri="{BB962C8B-B14F-4D97-AF65-F5344CB8AC3E}">
        <p14:creationId xmlns:p14="http://schemas.microsoft.com/office/powerpoint/2010/main" val="3084451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Basic set up </a:t>
            </a:r>
            <a:r>
              <a:rPr lang="en-US" sz="6000"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pt</a:t>
            </a:r>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2</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8" y="1365102"/>
            <a:ext cx="11092543" cy="1257300"/>
          </a:xfrm>
        </p:spPr>
        <p:txBody>
          <a:bodyPr>
            <a:noAutofit/>
          </a:bodyPr>
          <a:lstStyle/>
          <a:p>
            <a:pPr marL="0" indent="0">
              <a:lnSpc>
                <a:spcPct val="150000"/>
              </a:lnSpc>
              <a:buNone/>
            </a:pPr>
            <a:r>
              <a:rPr lang="en-GB" sz="2200" dirty="0">
                <a:solidFill>
                  <a:srgbClr val="1F1E20"/>
                </a:solidFill>
                <a:effectLst/>
                <a:latin typeface="Helvetica Neue Light" panose="02000403000000020004" pitchFamily="2" charset="0"/>
                <a:ea typeface="Helvetica Neue Light" panose="02000403000000020004" pitchFamily="2" charset="0"/>
              </a:rPr>
              <a:t>Click space to unselect Babel, use arrow key to go down and use space to unselect Linter,</a:t>
            </a:r>
          </a:p>
          <a:p>
            <a:pPr marL="0" indent="0">
              <a:lnSpc>
                <a:spcPct val="150000"/>
              </a:lnSpc>
              <a:buNone/>
            </a:pPr>
            <a:endParaRPr lang="en-GB" sz="22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pic>
        <p:nvPicPr>
          <p:cNvPr id="3" name="Picture 2" descr="Text&#10;&#10;Description automatically generated">
            <a:extLst>
              <a:ext uri="{FF2B5EF4-FFF2-40B4-BE49-F238E27FC236}">
                <a16:creationId xmlns:a16="http://schemas.microsoft.com/office/drawing/2014/main" id="{4CBDCB54-A914-E7E7-5322-A6BA20D3394E}"/>
              </a:ext>
            </a:extLst>
          </p:cNvPr>
          <p:cNvPicPr>
            <a:picLocks noChangeAspect="1"/>
          </p:cNvPicPr>
          <p:nvPr/>
        </p:nvPicPr>
        <p:blipFill>
          <a:blip r:embed="rId2"/>
          <a:stretch>
            <a:fillRect/>
          </a:stretch>
        </p:blipFill>
        <p:spPr>
          <a:xfrm>
            <a:off x="946146" y="2002202"/>
            <a:ext cx="2705102" cy="2203019"/>
          </a:xfrm>
          <a:prstGeom prst="rect">
            <a:avLst/>
          </a:prstGeom>
        </p:spPr>
      </p:pic>
      <p:pic>
        <p:nvPicPr>
          <p:cNvPr id="6" name="Picture 5">
            <a:extLst>
              <a:ext uri="{FF2B5EF4-FFF2-40B4-BE49-F238E27FC236}">
                <a16:creationId xmlns:a16="http://schemas.microsoft.com/office/drawing/2014/main" id="{271CD509-8EE2-C46F-869A-D4F11793AA5E}"/>
              </a:ext>
            </a:extLst>
          </p:cNvPr>
          <p:cNvPicPr>
            <a:picLocks noChangeAspect="1"/>
          </p:cNvPicPr>
          <p:nvPr/>
        </p:nvPicPr>
        <p:blipFill rotWithShape="1">
          <a:blip r:embed="rId3"/>
          <a:srcRect t="20161"/>
          <a:stretch/>
        </p:blipFill>
        <p:spPr>
          <a:xfrm>
            <a:off x="895348" y="5162846"/>
            <a:ext cx="5511800" cy="1257300"/>
          </a:xfrm>
          <a:prstGeom prst="rect">
            <a:avLst/>
          </a:prstGeom>
        </p:spPr>
      </p:pic>
      <p:sp>
        <p:nvSpPr>
          <p:cNvPr id="7" name="Content Placeholder 4">
            <a:extLst>
              <a:ext uri="{FF2B5EF4-FFF2-40B4-BE49-F238E27FC236}">
                <a16:creationId xmlns:a16="http://schemas.microsoft.com/office/drawing/2014/main" id="{4B418875-8640-4AAF-B571-A130495CA4E1}"/>
              </a:ext>
            </a:extLst>
          </p:cNvPr>
          <p:cNvSpPr txBox="1">
            <a:spLocks/>
          </p:cNvSpPr>
          <p:nvPr/>
        </p:nvSpPr>
        <p:spPr>
          <a:xfrm>
            <a:off x="838198" y="4417264"/>
            <a:ext cx="8060871" cy="5270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200" dirty="0">
                <a:solidFill>
                  <a:srgbClr val="1F1E20"/>
                </a:solidFill>
                <a:latin typeface="Helvetica Neue Light" panose="02000403000000020004" pitchFamily="2" charset="0"/>
                <a:ea typeface="Helvetica Neue Light" panose="02000403000000020004" pitchFamily="2" charset="0"/>
              </a:rPr>
              <a:t>Click enter and the select version 2 from the list and hit enter</a:t>
            </a:r>
            <a:endParaRPr lang="en-GB" sz="22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739203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Basic set up </a:t>
            </a:r>
            <a:r>
              <a:rPr lang="en-US" sz="6000"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pt</a:t>
            </a:r>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3</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912184" y="1387947"/>
            <a:ext cx="11092543" cy="1257300"/>
          </a:xfrm>
        </p:spPr>
        <p:txBody>
          <a:bodyPr>
            <a:noAutofit/>
          </a:bodyPr>
          <a:lstStyle/>
          <a:p>
            <a:pPr marL="0" indent="0">
              <a:lnSpc>
                <a:spcPct val="150000"/>
              </a:lnSpc>
              <a:buNone/>
            </a:pPr>
            <a:r>
              <a:rPr lang="en-GB" sz="2200" dirty="0">
                <a:solidFill>
                  <a:srgbClr val="1F1E20"/>
                </a:solidFill>
                <a:effectLst/>
                <a:latin typeface="Helvetica Neue Light" panose="02000403000000020004" pitchFamily="2" charset="0"/>
                <a:ea typeface="Helvetica Neue Light" panose="02000403000000020004" pitchFamily="2" charset="0"/>
              </a:rPr>
              <a:t>Leave – ‘In dedicated Config file’  hit Enter</a:t>
            </a:r>
          </a:p>
          <a:p>
            <a:pPr marL="0" indent="0">
              <a:lnSpc>
                <a:spcPct val="150000"/>
              </a:lnSpc>
              <a:buNone/>
            </a:pPr>
            <a:endParaRPr lang="en-GB" sz="22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
        <p:nvSpPr>
          <p:cNvPr id="8" name="Content Placeholder 4">
            <a:extLst>
              <a:ext uri="{FF2B5EF4-FFF2-40B4-BE49-F238E27FC236}">
                <a16:creationId xmlns:a16="http://schemas.microsoft.com/office/drawing/2014/main" id="{4B4E2ABB-80D5-7092-0A64-511F6A77C06E}"/>
              </a:ext>
            </a:extLst>
          </p:cNvPr>
          <p:cNvSpPr txBox="1">
            <a:spLocks/>
          </p:cNvSpPr>
          <p:nvPr/>
        </p:nvSpPr>
        <p:spPr>
          <a:xfrm>
            <a:off x="838200" y="3684239"/>
            <a:ext cx="7721943" cy="6146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200" dirty="0">
                <a:solidFill>
                  <a:srgbClr val="1F1E20"/>
                </a:solidFill>
                <a:latin typeface="Helvetica Neue Light" panose="02000403000000020004" pitchFamily="2" charset="0"/>
                <a:ea typeface="Helvetica Neue Light" panose="02000403000000020004" pitchFamily="2" charset="0"/>
              </a:rPr>
              <a:t>Type N and Enter again</a:t>
            </a:r>
          </a:p>
          <a:p>
            <a:pPr marL="0" indent="0">
              <a:lnSpc>
                <a:spcPct val="150000"/>
              </a:lnSpc>
              <a:buFont typeface="Arial" panose="020B0604020202020204" pitchFamily="34" charset="0"/>
              <a:buNone/>
            </a:pPr>
            <a:endParaRPr lang="en-GB" sz="22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ECE47C0D-CB5D-0F94-C8A7-CC306FF221A9}"/>
              </a:ext>
            </a:extLst>
          </p:cNvPr>
          <p:cNvPicPr>
            <a:picLocks noChangeAspect="1"/>
          </p:cNvPicPr>
          <p:nvPr/>
        </p:nvPicPr>
        <p:blipFill>
          <a:blip r:embed="rId2"/>
          <a:stretch>
            <a:fillRect/>
          </a:stretch>
        </p:blipFill>
        <p:spPr>
          <a:xfrm>
            <a:off x="912184" y="2012170"/>
            <a:ext cx="5662787" cy="1617939"/>
          </a:xfrm>
          <a:prstGeom prst="rect">
            <a:avLst/>
          </a:prstGeom>
        </p:spPr>
      </p:pic>
      <p:pic>
        <p:nvPicPr>
          <p:cNvPr id="9" name="Picture 8">
            <a:extLst>
              <a:ext uri="{FF2B5EF4-FFF2-40B4-BE49-F238E27FC236}">
                <a16:creationId xmlns:a16="http://schemas.microsoft.com/office/drawing/2014/main" id="{A210B7F7-A04E-5DAF-BD1E-F90D7F55D6EA}"/>
              </a:ext>
            </a:extLst>
          </p:cNvPr>
          <p:cNvPicPr>
            <a:picLocks noChangeAspect="1"/>
          </p:cNvPicPr>
          <p:nvPr/>
        </p:nvPicPr>
        <p:blipFill>
          <a:blip r:embed="rId3"/>
          <a:stretch>
            <a:fillRect/>
          </a:stretch>
        </p:blipFill>
        <p:spPr>
          <a:xfrm>
            <a:off x="900844" y="4298898"/>
            <a:ext cx="6769100" cy="967014"/>
          </a:xfrm>
          <a:prstGeom prst="rect">
            <a:avLst/>
          </a:prstGeom>
        </p:spPr>
      </p:pic>
      <p:pic>
        <p:nvPicPr>
          <p:cNvPr id="3" name="Picture 2">
            <a:extLst>
              <a:ext uri="{FF2B5EF4-FFF2-40B4-BE49-F238E27FC236}">
                <a16:creationId xmlns:a16="http://schemas.microsoft.com/office/drawing/2014/main" id="{09EA6BCF-B59B-E3E8-0ECE-CF6C650629C4}"/>
              </a:ext>
            </a:extLst>
          </p:cNvPr>
          <p:cNvPicPr>
            <a:picLocks noChangeAspect="1"/>
          </p:cNvPicPr>
          <p:nvPr/>
        </p:nvPicPr>
        <p:blipFill>
          <a:blip r:embed="rId4"/>
          <a:stretch>
            <a:fillRect/>
          </a:stretch>
        </p:blipFill>
        <p:spPr>
          <a:xfrm>
            <a:off x="912184" y="5863267"/>
            <a:ext cx="4919435" cy="858363"/>
          </a:xfrm>
          <a:prstGeom prst="rect">
            <a:avLst/>
          </a:prstGeom>
        </p:spPr>
      </p:pic>
      <p:sp>
        <p:nvSpPr>
          <p:cNvPr id="6" name="Content Placeholder 4">
            <a:extLst>
              <a:ext uri="{FF2B5EF4-FFF2-40B4-BE49-F238E27FC236}">
                <a16:creationId xmlns:a16="http://schemas.microsoft.com/office/drawing/2014/main" id="{C72DAEA7-3F01-6930-A3F7-D88E16D40DEF}"/>
              </a:ext>
            </a:extLst>
          </p:cNvPr>
          <p:cNvSpPr txBox="1">
            <a:spLocks/>
          </p:cNvSpPr>
          <p:nvPr/>
        </p:nvSpPr>
        <p:spPr>
          <a:xfrm>
            <a:off x="835530" y="5265912"/>
            <a:ext cx="7721943" cy="6146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200" dirty="0">
                <a:solidFill>
                  <a:srgbClr val="1F1E20"/>
                </a:solidFill>
                <a:latin typeface="Helvetica Neue Light" panose="02000403000000020004" pitchFamily="2" charset="0"/>
                <a:ea typeface="Helvetica Neue Light" panose="02000403000000020004" pitchFamily="2" charset="0"/>
              </a:rPr>
              <a:t>If using a Mac pick -  Use NPM</a:t>
            </a:r>
          </a:p>
          <a:p>
            <a:pPr marL="0" indent="0">
              <a:lnSpc>
                <a:spcPct val="150000"/>
              </a:lnSpc>
              <a:buFont typeface="Arial" panose="020B0604020202020204" pitchFamily="34" charset="0"/>
              <a:buNone/>
            </a:pPr>
            <a:endParaRPr lang="en-GB" sz="22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4175028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Basic set up </a:t>
            </a:r>
            <a:r>
              <a:rPr lang="en-US" sz="6000"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pt</a:t>
            </a:r>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4</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375930"/>
            <a:ext cx="6530163" cy="664574"/>
          </a:xfrm>
        </p:spPr>
        <p:txBody>
          <a:bodyPr>
            <a:noAutofit/>
          </a:bodyPr>
          <a:lstStyle/>
          <a:p>
            <a:pPr marL="0" indent="0">
              <a:lnSpc>
                <a:spcPct val="150000"/>
              </a:lnSpc>
              <a:buNone/>
            </a:pPr>
            <a:r>
              <a:rPr lang="en-GB" sz="2400" dirty="0">
                <a:solidFill>
                  <a:srgbClr val="1F1E20"/>
                </a:solidFill>
                <a:effectLst/>
                <a:latin typeface="Helvetica Neue Light" panose="02000403000000020004" pitchFamily="2" charset="0"/>
                <a:ea typeface="Helvetica Neue Light" panose="02000403000000020004" pitchFamily="2" charset="0"/>
              </a:rPr>
              <a:t>Eventually you should see something like this</a:t>
            </a: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pic>
        <p:nvPicPr>
          <p:cNvPr id="6" name="Picture 5">
            <a:extLst>
              <a:ext uri="{FF2B5EF4-FFF2-40B4-BE49-F238E27FC236}">
                <a16:creationId xmlns:a16="http://schemas.microsoft.com/office/drawing/2014/main" id="{54F64AF8-B32A-ED6E-4A3F-1CEA6085241F}"/>
              </a:ext>
            </a:extLst>
          </p:cNvPr>
          <p:cNvPicPr>
            <a:picLocks noChangeAspect="1"/>
          </p:cNvPicPr>
          <p:nvPr/>
        </p:nvPicPr>
        <p:blipFill>
          <a:blip r:embed="rId2"/>
          <a:stretch>
            <a:fillRect/>
          </a:stretch>
        </p:blipFill>
        <p:spPr>
          <a:xfrm>
            <a:off x="947055" y="2040504"/>
            <a:ext cx="5584373" cy="4278489"/>
          </a:xfrm>
          <a:prstGeom prst="rect">
            <a:avLst/>
          </a:prstGeom>
        </p:spPr>
      </p:pic>
      <p:pic>
        <p:nvPicPr>
          <p:cNvPr id="7" name="Picture 6">
            <a:extLst>
              <a:ext uri="{FF2B5EF4-FFF2-40B4-BE49-F238E27FC236}">
                <a16:creationId xmlns:a16="http://schemas.microsoft.com/office/drawing/2014/main" id="{5A422C1B-D8AF-BFC9-4378-7F4C084A4281}"/>
              </a:ext>
            </a:extLst>
          </p:cNvPr>
          <p:cNvPicPr>
            <a:picLocks noChangeAspect="1"/>
          </p:cNvPicPr>
          <p:nvPr/>
        </p:nvPicPr>
        <p:blipFill>
          <a:blip r:embed="rId3"/>
          <a:stretch>
            <a:fillRect/>
          </a:stretch>
        </p:blipFill>
        <p:spPr>
          <a:xfrm>
            <a:off x="8036017" y="2084081"/>
            <a:ext cx="3208928" cy="4234912"/>
          </a:xfrm>
          <a:prstGeom prst="rect">
            <a:avLst/>
          </a:prstGeom>
        </p:spPr>
      </p:pic>
      <p:sp>
        <p:nvSpPr>
          <p:cNvPr id="8" name="Content Placeholder 4">
            <a:extLst>
              <a:ext uri="{FF2B5EF4-FFF2-40B4-BE49-F238E27FC236}">
                <a16:creationId xmlns:a16="http://schemas.microsoft.com/office/drawing/2014/main" id="{F0034F4A-D2B6-A76D-0E82-37D2B6E9C862}"/>
              </a:ext>
            </a:extLst>
          </p:cNvPr>
          <p:cNvSpPr txBox="1">
            <a:spLocks/>
          </p:cNvSpPr>
          <p:nvPr/>
        </p:nvSpPr>
        <p:spPr>
          <a:xfrm>
            <a:off x="8036017" y="1375930"/>
            <a:ext cx="2642191" cy="6645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400" dirty="0">
                <a:solidFill>
                  <a:srgbClr val="1F1E20"/>
                </a:solidFill>
                <a:latin typeface="Helvetica Neue Light" panose="02000403000000020004" pitchFamily="2" charset="0"/>
                <a:ea typeface="Helvetica Neue Light" panose="02000403000000020004" pitchFamily="2" charset="0"/>
              </a:rPr>
              <a:t>VS code view</a:t>
            </a: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966345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67326"/>
            <a:ext cx="10515600" cy="1325563"/>
          </a:xfrm>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Install Vue router</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947056" y="1278845"/>
            <a:ext cx="11092543" cy="1049686"/>
          </a:xfrm>
        </p:spPr>
        <p:txBody>
          <a:bodyPr>
            <a:noAutofit/>
          </a:bodyPr>
          <a:lstStyle/>
          <a:p>
            <a:pPr marL="0" indent="0">
              <a:lnSpc>
                <a:spcPct val="100000"/>
              </a:lnSpc>
              <a:buNone/>
            </a:pPr>
            <a:r>
              <a:rPr lang="en-GB" sz="2400" spc="5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cd front-end – </a:t>
            </a:r>
            <a:r>
              <a:rPr lang="en-GB" sz="2400" spc="50" dirty="0">
                <a:solidFill>
                  <a:srgbClr val="1F1E20"/>
                </a:solidFill>
                <a:latin typeface="Helvetica Neue Light" panose="02000403000000020004" pitchFamily="2" charset="0"/>
                <a:ea typeface="Helvetica Neue Light" panose="02000403000000020004" pitchFamily="2" charset="0"/>
                <a:cs typeface="Courier New" panose="02070309020205020404" pitchFamily="49" charset="0"/>
              </a:rPr>
              <a:t>make sure you are still in front-end</a:t>
            </a:r>
          </a:p>
          <a:p>
            <a:pPr marL="0" indent="0">
              <a:lnSpc>
                <a:spcPct val="100000"/>
              </a:lnSpc>
              <a:buNone/>
            </a:pPr>
            <a:r>
              <a:rPr lang="en-GB" sz="2400" spc="50" dirty="0" err="1">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npm</a:t>
            </a:r>
            <a:r>
              <a:rPr lang="en-GB" sz="2400" spc="5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 install vue-router@3.6.5</a:t>
            </a:r>
            <a:endParaRPr lang="en-GB" sz="24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endParaRPr>
          </a:p>
        </p:txBody>
      </p:sp>
      <p:pic>
        <p:nvPicPr>
          <p:cNvPr id="7" name="Picture 6">
            <a:extLst>
              <a:ext uri="{FF2B5EF4-FFF2-40B4-BE49-F238E27FC236}">
                <a16:creationId xmlns:a16="http://schemas.microsoft.com/office/drawing/2014/main" id="{862C37C4-1D2E-3AC9-CEA2-5C6802035390}"/>
              </a:ext>
            </a:extLst>
          </p:cNvPr>
          <p:cNvPicPr>
            <a:picLocks noChangeAspect="1"/>
          </p:cNvPicPr>
          <p:nvPr/>
        </p:nvPicPr>
        <p:blipFill rotWithShape="1">
          <a:blip r:embed="rId2"/>
          <a:srcRect t="24565"/>
          <a:stretch/>
        </p:blipFill>
        <p:spPr>
          <a:xfrm>
            <a:off x="1004205" y="2328531"/>
            <a:ext cx="7253969" cy="671100"/>
          </a:xfrm>
          <a:prstGeom prst="rect">
            <a:avLst/>
          </a:prstGeom>
        </p:spPr>
      </p:pic>
      <p:pic>
        <p:nvPicPr>
          <p:cNvPr id="8" name="Picture 7">
            <a:extLst>
              <a:ext uri="{FF2B5EF4-FFF2-40B4-BE49-F238E27FC236}">
                <a16:creationId xmlns:a16="http://schemas.microsoft.com/office/drawing/2014/main" id="{254A6117-60D7-AC1C-1E7E-982CF5C3A5AC}"/>
              </a:ext>
            </a:extLst>
          </p:cNvPr>
          <p:cNvPicPr>
            <a:picLocks noChangeAspect="1"/>
          </p:cNvPicPr>
          <p:nvPr/>
        </p:nvPicPr>
        <p:blipFill rotWithShape="1">
          <a:blip r:embed="rId3"/>
          <a:srcRect t="27881"/>
          <a:stretch/>
        </p:blipFill>
        <p:spPr>
          <a:xfrm>
            <a:off x="1004205" y="3164173"/>
            <a:ext cx="7368269" cy="1391140"/>
          </a:xfrm>
          <a:prstGeom prst="rect">
            <a:avLst/>
          </a:prstGeom>
        </p:spPr>
      </p:pic>
      <p:pic>
        <p:nvPicPr>
          <p:cNvPr id="9" name="Picture 8">
            <a:extLst>
              <a:ext uri="{FF2B5EF4-FFF2-40B4-BE49-F238E27FC236}">
                <a16:creationId xmlns:a16="http://schemas.microsoft.com/office/drawing/2014/main" id="{91868EEC-A61C-2043-E244-66773CBC514E}"/>
              </a:ext>
            </a:extLst>
          </p:cNvPr>
          <p:cNvPicPr>
            <a:picLocks noChangeAspect="1"/>
          </p:cNvPicPr>
          <p:nvPr/>
        </p:nvPicPr>
        <p:blipFill>
          <a:blip r:embed="rId4"/>
          <a:stretch>
            <a:fillRect/>
          </a:stretch>
        </p:blipFill>
        <p:spPr>
          <a:xfrm>
            <a:off x="1004205" y="4758189"/>
            <a:ext cx="8802574" cy="1641931"/>
          </a:xfrm>
          <a:prstGeom prst="rect">
            <a:avLst/>
          </a:prstGeom>
          <a:ln>
            <a:solidFill>
              <a:schemeClr val="bg1">
                <a:lumMod val="50000"/>
              </a:schemeClr>
            </a:solidFill>
          </a:ln>
        </p:spPr>
      </p:pic>
    </p:spTree>
    <p:extLst>
      <p:ext uri="{BB962C8B-B14F-4D97-AF65-F5344CB8AC3E}">
        <p14:creationId xmlns:p14="http://schemas.microsoft.com/office/powerpoint/2010/main" val="747444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Test front end server</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947056" y="1375931"/>
            <a:ext cx="11092543" cy="664574"/>
          </a:xfrm>
        </p:spPr>
        <p:txBody>
          <a:bodyPr>
            <a:noAutofit/>
          </a:bodyPr>
          <a:lstStyle/>
          <a:p>
            <a:pPr marL="0" indent="0">
              <a:lnSpc>
                <a:spcPct val="150000"/>
              </a:lnSpc>
              <a:buNone/>
            </a:pPr>
            <a:r>
              <a:rPr lang="en-GB" sz="2400" dirty="0">
                <a:solidFill>
                  <a:srgbClr val="1F1E20"/>
                </a:solidFill>
                <a:effectLst/>
                <a:latin typeface="Helvetica Neue Light" panose="02000403000000020004" pitchFamily="2" charset="0"/>
                <a:ea typeface="Helvetica Neue Light" panose="02000403000000020004" pitchFamily="2" charset="0"/>
              </a:rPr>
              <a:t>While still in front-end.      </a:t>
            </a:r>
            <a:r>
              <a:rPr lang="en-GB" sz="2400" dirty="0" err="1">
                <a:solidFill>
                  <a:srgbClr val="1F1E20"/>
                </a:solidFill>
                <a:effectLst/>
                <a:latin typeface="Courier New" panose="02070309020205020404" pitchFamily="49" charset="0"/>
                <a:ea typeface="Helvetica Neue Light" panose="02000403000000020004" pitchFamily="2" charset="0"/>
                <a:cs typeface="Courier New" panose="02070309020205020404" pitchFamily="49" charset="0"/>
              </a:rPr>
              <a:t>npm</a:t>
            </a:r>
            <a:r>
              <a:rPr lang="en-GB" sz="2400" dirty="0">
                <a:solidFill>
                  <a:srgbClr val="1F1E20"/>
                </a:solidFill>
                <a:effectLst/>
                <a:latin typeface="Courier New" panose="02070309020205020404" pitchFamily="49" charset="0"/>
                <a:ea typeface="Helvetica Neue Light" panose="02000403000000020004" pitchFamily="2" charset="0"/>
                <a:cs typeface="Courier New" panose="02070309020205020404" pitchFamily="49" charset="0"/>
              </a:rPr>
              <a:t> run serve</a:t>
            </a:r>
            <a:endParaRPr lang="en-GB" sz="24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endParaRPr>
          </a:p>
        </p:txBody>
      </p:sp>
      <p:pic>
        <p:nvPicPr>
          <p:cNvPr id="6" name="Picture 5">
            <a:extLst>
              <a:ext uri="{FF2B5EF4-FFF2-40B4-BE49-F238E27FC236}">
                <a16:creationId xmlns:a16="http://schemas.microsoft.com/office/drawing/2014/main" id="{5B88AC49-60EF-C9B1-451A-B9F843327777}"/>
              </a:ext>
            </a:extLst>
          </p:cNvPr>
          <p:cNvPicPr>
            <a:picLocks noChangeAspect="1"/>
          </p:cNvPicPr>
          <p:nvPr/>
        </p:nvPicPr>
        <p:blipFill>
          <a:blip r:embed="rId2"/>
          <a:stretch>
            <a:fillRect/>
          </a:stretch>
        </p:blipFill>
        <p:spPr>
          <a:xfrm>
            <a:off x="947056" y="2203881"/>
            <a:ext cx="5913876" cy="3968319"/>
          </a:xfrm>
          <a:prstGeom prst="rect">
            <a:avLst/>
          </a:prstGeom>
        </p:spPr>
      </p:pic>
    </p:spTree>
    <p:extLst>
      <p:ext uri="{BB962C8B-B14F-4D97-AF65-F5344CB8AC3E}">
        <p14:creationId xmlns:p14="http://schemas.microsoft.com/office/powerpoint/2010/main" val="312098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1003091" y="170252"/>
            <a:ext cx="10515600" cy="1325563"/>
          </a:xfrm>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Check in browser</a:t>
            </a:r>
          </a:p>
        </p:txBody>
      </p:sp>
      <p:pic>
        <p:nvPicPr>
          <p:cNvPr id="3" name="Picture 2">
            <a:extLst>
              <a:ext uri="{FF2B5EF4-FFF2-40B4-BE49-F238E27FC236}">
                <a16:creationId xmlns:a16="http://schemas.microsoft.com/office/drawing/2014/main" id="{FA556817-A7A4-B04C-C6B1-F6511F0C03E4}"/>
              </a:ext>
            </a:extLst>
          </p:cNvPr>
          <p:cNvPicPr>
            <a:picLocks noChangeAspect="1"/>
          </p:cNvPicPr>
          <p:nvPr/>
        </p:nvPicPr>
        <p:blipFill rotWithShape="1">
          <a:blip r:embed="rId2"/>
          <a:srcRect b="40933"/>
          <a:stretch/>
        </p:blipFill>
        <p:spPr>
          <a:xfrm>
            <a:off x="1137824" y="1891695"/>
            <a:ext cx="9954719" cy="4796053"/>
          </a:xfrm>
          <a:prstGeom prst="rect">
            <a:avLst/>
          </a:prstGeom>
          <a:ln>
            <a:solidFill>
              <a:schemeClr val="tx1">
                <a:lumMod val="50000"/>
                <a:lumOff val="50000"/>
              </a:schemeClr>
            </a:solidFill>
          </a:ln>
        </p:spPr>
      </p:pic>
      <p:sp>
        <p:nvSpPr>
          <p:cNvPr id="8" name="Content Placeholder 4">
            <a:extLst>
              <a:ext uri="{FF2B5EF4-FFF2-40B4-BE49-F238E27FC236}">
                <a16:creationId xmlns:a16="http://schemas.microsoft.com/office/drawing/2014/main" id="{46999F5E-B62B-1448-0D26-E7763C49530F}"/>
              </a:ext>
            </a:extLst>
          </p:cNvPr>
          <p:cNvSpPr>
            <a:spLocks noGrp="1"/>
          </p:cNvSpPr>
          <p:nvPr>
            <p:ph idx="1"/>
          </p:nvPr>
        </p:nvSpPr>
        <p:spPr>
          <a:xfrm>
            <a:off x="1099457" y="1227121"/>
            <a:ext cx="11092543" cy="664574"/>
          </a:xfrm>
        </p:spPr>
        <p:txBody>
          <a:bodyPr>
            <a:noAutofit/>
          </a:bodyPr>
          <a:lstStyle/>
          <a:p>
            <a:pPr marL="0" indent="0">
              <a:lnSpc>
                <a:spcPct val="150000"/>
              </a:lnSpc>
              <a:buNone/>
            </a:pPr>
            <a:r>
              <a:rPr lang="en-GB" sz="2400" dirty="0">
                <a:solidFill>
                  <a:srgbClr val="1F1E20"/>
                </a:solidFill>
                <a:effectLst/>
                <a:latin typeface="Helvetica Neue Light" panose="02000403000000020004" pitchFamily="2" charset="0"/>
                <a:ea typeface="Helvetica Neue Light" panose="02000403000000020004" pitchFamily="2" charset="0"/>
              </a:rPr>
              <a:t>Localhost:8080</a:t>
            </a: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566121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1003091" y="170252"/>
            <a:ext cx="10515600" cy="1325563"/>
          </a:xfrm>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Control C stop the server</a:t>
            </a:r>
          </a:p>
        </p:txBody>
      </p:sp>
      <p:sp>
        <p:nvSpPr>
          <p:cNvPr id="5" name="Content Placeholder 4">
            <a:extLst>
              <a:ext uri="{FF2B5EF4-FFF2-40B4-BE49-F238E27FC236}">
                <a16:creationId xmlns:a16="http://schemas.microsoft.com/office/drawing/2014/main" id="{EC6358D4-44A4-022E-7EF0-9B328A4724D8}"/>
              </a:ext>
            </a:extLst>
          </p:cNvPr>
          <p:cNvSpPr>
            <a:spLocks noGrp="1"/>
          </p:cNvSpPr>
          <p:nvPr>
            <p:ph idx="1"/>
          </p:nvPr>
        </p:nvSpPr>
        <p:spPr>
          <a:xfrm>
            <a:off x="1003091" y="1495815"/>
            <a:ext cx="10515600" cy="647310"/>
          </a:xfrm>
        </p:spPr>
        <p:txBody>
          <a:bodyPr/>
          <a:lstStyle/>
          <a:p>
            <a:pPr marL="0" indent="0">
              <a:buNone/>
            </a:pPr>
            <a:r>
              <a:rPr lang="en-US" dirty="0">
                <a:latin typeface="Helvetica Neue Light" panose="02000403000000020004" pitchFamily="2" charset="0"/>
                <a:ea typeface="Helvetica Neue Light" panose="02000403000000020004" pitchFamily="2" charset="0"/>
              </a:rPr>
              <a:t>Delete </a:t>
            </a:r>
            <a:r>
              <a:rPr lang="en-US" dirty="0" err="1">
                <a:latin typeface="Helvetica Neue Light" panose="02000403000000020004" pitchFamily="2" charset="0"/>
                <a:ea typeface="Helvetica Neue Light" panose="02000403000000020004" pitchFamily="2" charset="0"/>
              </a:rPr>
              <a:t>helloWorld.vue</a:t>
            </a:r>
            <a:r>
              <a:rPr lang="en-US" dirty="0">
                <a:latin typeface="Helvetica Neue Light" panose="02000403000000020004" pitchFamily="2" charset="0"/>
                <a:ea typeface="Helvetica Neue Light" panose="02000403000000020004" pitchFamily="2" charset="0"/>
              </a:rPr>
              <a:t> from the </a:t>
            </a:r>
            <a:r>
              <a:rPr lang="en-US" dirty="0" err="1">
                <a:latin typeface="Helvetica Neue Light" panose="02000403000000020004" pitchFamily="2" charset="0"/>
                <a:ea typeface="Helvetica Neue Light" panose="02000403000000020004" pitchFamily="2" charset="0"/>
              </a:rPr>
              <a:t>src</a:t>
            </a:r>
            <a:r>
              <a:rPr lang="en-US" dirty="0">
                <a:latin typeface="Helvetica Neue Light" panose="02000403000000020004" pitchFamily="2" charset="0"/>
                <a:ea typeface="Helvetica Neue Light" panose="02000403000000020004" pitchFamily="2" charset="0"/>
              </a:rPr>
              <a:t>/components folder</a:t>
            </a:r>
          </a:p>
        </p:txBody>
      </p:sp>
    </p:spTree>
    <p:extLst>
      <p:ext uri="{BB962C8B-B14F-4D97-AF65-F5344CB8AC3E}">
        <p14:creationId xmlns:p14="http://schemas.microsoft.com/office/powerpoint/2010/main" val="2089099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1003091" y="85725"/>
            <a:ext cx="10515600" cy="1325563"/>
          </a:xfrm>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Finish structure</a:t>
            </a:r>
          </a:p>
        </p:txBody>
      </p:sp>
      <p:pic>
        <p:nvPicPr>
          <p:cNvPr id="2" name="Picture 1">
            <a:extLst>
              <a:ext uri="{FF2B5EF4-FFF2-40B4-BE49-F238E27FC236}">
                <a16:creationId xmlns:a16="http://schemas.microsoft.com/office/drawing/2014/main" id="{4F084DF3-42AB-467D-573E-4CBB6B6167C0}"/>
              </a:ext>
            </a:extLst>
          </p:cNvPr>
          <p:cNvPicPr>
            <a:picLocks noChangeAspect="1"/>
          </p:cNvPicPr>
          <p:nvPr/>
        </p:nvPicPr>
        <p:blipFill rotWithShape="1">
          <a:blip r:embed="rId2"/>
          <a:srcRect l="2351" t="15866" r="58633" b="4799"/>
          <a:stretch/>
        </p:blipFill>
        <p:spPr>
          <a:xfrm>
            <a:off x="1095094" y="2324503"/>
            <a:ext cx="3891243" cy="4363376"/>
          </a:xfrm>
          <a:prstGeom prst="rect">
            <a:avLst/>
          </a:prstGeom>
        </p:spPr>
      </p:pic>
      <p:sp>
        <p:nvSpPr>
          <p:cNvPr id="6" name="Content Placeholder 5">
            <a:extLst>
              <a:ext uri="{FF2B5EF4-FFF2-40B4-BE49-F238E27FC236}">
                <a16:creationId xmlns:a16="http://schemas.microsoft.com/office/drawing/2014/main" id="{81EAF44B-F998-74E6-C0EA-7FB4D11EC035}"/>
              </a:ext>
            </a:extLst>
          </p:cNvPr>
          <p:cNvSpPr>
            <a:spLocks noGrp="1"/>
          </p:cNvSpPr>
          <p:nvPr>
            <p:ph idx="1"/>
          </p:nvPr>
        </p:nvSpPr>
        <p:spPr>
          <a:xfrm>
            <a:off x="1003091" y="998940"/>
            <a:ext cx="7407552" cy="1579954"/>
          </a:xfrm>
        </p:spPr>
        <p:txBody>
          <a:bodyPr>
            <a:noAutofit/>
          </a:bodyPr>
          <a:lstStyle/>
          <a:p>
            <a:pPr marL="0" indent="0">
              <a:lnSpc>
                <a:spcPct val="170000"/>
              </a:lnSpc>
              <a:buNone/>
            </a:pPr>
            <a:r>
              <a:rPr lang="en-US" sz="2200" dirty="0">
                <a:latin typeface="Helvetica Neue Light" panose="02000403000000020004" pitchFamily="2" charset="0"/>
                <a:ea typeface="Helvetica Neue Light" panose="02000403000000020004" pitchFamily="2" charset="0"/>
              </a:rPr>
              <a:t>Carefully from within VS Code make the contents of the folder </a:t>
            </a:r>
            <a:r>
              <a:rPr lang="en-US" sz="2200" dirty="0" err="1">
                <a:latin typeface="Helvetica Neue Light" panose="02000403000000020004" pitchFamily="2" charset="0"/>
                <a:ea typeface="Helvetica Neue Light" panose="02000403000000020004" pitchFamily="2" charset="0"/>
              </a:rPr>
              <a:t>src</a:t>
            </a:r>
            <a:r>
              <a:rPr lang="en-US" sz="2200" dirty="0">
                <a:latin typeface="Helvetica Neue Light" panose="02000403000000020004" pitchFamily="2" charset="0"/>
                <a:ea typeface="Helvetica Neue Light" panose="02000403000000020004" pitchFamily="2" charset="0"/>
              </a:rPr>
              <a:t> look like this with all these folders and empty files</a:t>
            </a:r>
          </a:p>
        </p:txBody>
      </p:sp>
      <p:pic>
        <p:nvPicPr>
          <p:cNvPr id="10" name="Picture 9">
            <a:extLst>
              <a:ext uri="{FF2B5EF4-FFF2-40B4-BE49-F238E27FC236}">
                <a16:creationId xmlns:a16="http://schemas.microsoft.com/office/drawing/2014/main" id="{50165F1A-53FA-F9AB-545B-443BE61E4F15}"/>
              </a:ext>
            </a:extLst>
          </p:cNvPr>
          <p:cNvPicPr>
            <a:picLocks noChangeAspect="1"/>
          </p:cNvPicPr>
          <p:nvPr/>
        </p:nvPicPr>
        <p:blipFill>
          <a:blip r:embed="rId3"/>
          <a:stretch>
            <a:fillRect/>
          </a:stretch>
        </p:blipFill>
        <p:spPr>
          <a:xfrm>
            <a:off x="8616950" y="1264979"/>
            <a:ext cx="3302000" cy="5422900"/>
          </a:xfrm>
          <a:prstGeom prst="rect">
            <a:avLst/>
          </a:prstGeom>
        </p:spPr>
      </p:pic>
    </p:spTree>
    <p:extLst>
      <p:ext uri="{BB962C8B-B14F-4D97-AF65-F5344CB8AC3E}">
        <p14:creationId xmlns:p14="http://schemas.microsoft.com/office/powerpoint/2010/main" val="1346483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1003091" y="170252"/>
            <a:ext cx="10515600" cy="1325563"/>
          </a:xfrm>
        </p:spPr>
        <p:txBody>
          <a:bodyPr>
            <a:normAutofit/>
          </a:bodyPr>
          <a:lstStyle/>
          <a:p>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Front end dependencies</a:t>
            </a:r>
          </a:p>
        </p:txBody>
      </p:sp>
      <p:sp>
        <p:nvSpPr>
          <p:cNvPr id="6" name="Content Placeholder 5">
            <a:extLst>
              <a:ext uri="{FF2B5EF4-FFF2-40B4-BE49-F238E27FC236}">
                <a16:creationId xmlns:a16="http://schemas.microsoft.com/office/drawing/2014/main" id="{81EAF44B-F998-74E6-C0EA-7FB4D11EC035}"/>
              </a:ext>
            </a:extLst>
          </p:cNvPr>
          <p:cNvSpPr>
            <a:spLocks noGrp="1"/>
          </p:cNvSpPr>
          <p:nvPr>
            <p:ph idx="1"/>
          </p:nvPr>
        </p:nvSpPr>
        <p:spPr>
          <a:xfrm>
            <a:off x="1003091" y="1367227"/>
            <a:ext cx="10515600" cy="5191933"/>
          </a:xfrm>
        </p:spPr>
        <p:txBody>
          <a:bodyPr>
            <a:normAutofit fontScale="92500" lnSpcReduction="20000"/>
          </a:bodyPr>
          <a:lstStyle/>
          <a:p>
            <a:pPr marL="0" indent="0">
              <a:lnSpc>
                <a:spcPct val="160000"/>
              </a:lnSpc>
              <a:buNone/>
            </a:pPr>
            <a:r>
              <a:rPr lang="en-US" dirty="0">
                <a:latin typeface="Helvetica Neue Light" panose="02000403000000020004" pitchFamily="2" charset="0"/>
                <a:ea typeface="Helvetica Neue Light" panose="02000403000000020004" pitchFamily="2" charset="0"/>
              </a:rPr>
              <a:t>For the front end, we’ll be using the following libraries:</a:t>
            </a:r>
          </a:p>
          <a:p>
            <a:pPr marL="0" indent="0">
              <a:lnSpc>
                <a:spcPct val="160000"/>
              </a:lnSpc>
              <a:buNone/>
            </a:pPr>
            <a:r>
              <a:rPr lang="en-US" dirty="0" err="1">
                <a:latin typeface="Helvetica Neue Light" panose="02000403000000020004" pitchFamily="2" charset="0"/>
                <a:ea typeface="Helvetica Neue Light" panose="02000403000000020004" pitchFamily="2" charset="0"/>
                <a:hlinkClick r:id="rId2"/>
              </a:rPr>
              <a:t>axios</a:t>
            </a:r>
            <a:r>
              <a:rPr lang="en-US" dirty="0">
                <a:latin typeface="Helvetica Neue Light" panose="02000403000000020004" pitchFamily="2" charset="0"/>
                <a:ea typeface="Helvetica Neue Light" panose="02000403000000020004" pitchFamily="2" charset="0"/>
              </a:rPr>
              <a:t> —a Promise-based HTTP client which will allow us to make Ajax requests from our front end to our back end.</a:t>
            </a:r>
          </a:p>
          <a:p>
            <a:pPr marL="0" indent="0">
              <a:lnSpc>
                <a:spcPct val="160000"/>
              </a:lnSpc>
              <a:buNone/>
            </a:pPr>
            <a:r>
              <a:rPr lang="en-US" dirty="0">
                <a:latin typeface="Helvetica Neue Light" panose="02000403000000020004" pitchFamily="2" charset="0"/>
                <a:ea typeface="Helvetica Neue Light" panose="02000403000000020004" pitchFamily="2" charset="0"/>
                <a:hlinkClick r:id="rId3"/>
              </a:rPr>
              <a:t>semantic-</a:t>
            </a:r>
            <a:r>
              <a:rPr lang="en-US" dirty="0" err="1">
                <a:latin typeface="Helvetica Neue Light" panose="02000403000000020004" pitchFamily="2" charset="0"/>
                <a:ea typeface="Helvetica Neue Light" panose="02000403000000020004" pitchFamily="2" charset="0"/>
                <a:hlinkClick r:id="rId3"/>
              </a:rPr>
              <a:t>ui</a:t>
            </a:r>
            <a:r>
              <a:rPr lang="en-US" dirty="0">
                <a:latin typeface="Helvetica Neue Light" panose="02000403000000020004" pitchFamily="2" charset="0"/>
                <a:ea typeface="Helvetica Neue Light" panose="02000403000000020004" pitchFamily="2" charset="0"/>
                <a:hlinkClick r:id="rId3"/>
              </a:rPr>
              <a:t>-</a:t>
            </a:r>
            <a:r>
              <a:rPr lang="en-US" dirty="0" err="1">
                <a:latin typeface="Helvetica Neue Light" panose="02000403000000020004" pitchFamily="2" charset="0"/>
                <a:ea typeface="Helvetica Neue Light" panose="02000403000000020004" pitchFamily="2" charset="0"/>
                <a:hlinkClick r:id="rId3"/>
              </a:rPr>
              <a:t>css</a:t>
            </a:r>
            <a:r>
              <a:rPr lang="en-US" dirty="0">
                <a:latin typeface="Helvetica Neue Light" panose="02000403000000020004" pitchFamily="2" charset="0"/>
                <a:ea typeface="Helvetica Neue Light" panose="02000403000000020004" pitchFamily="2" charset="0"/>
              </a:rPr>
              <a:t> —a lightweight, CSS-only version of Semantic UI.</a:t>
            </a:r>
          </a:p>
          <a:p>
            <a:pPr marL="0" indent="0">
              <a:lnSpc>
                <a:spcPct val="160000"/>
              </a:lnSpc>
              <a:buNone/>
            </a:pPr>
            <a:r>
              <a:rPr lang="en-US" dirty="0" err="1">
                <a:latin typeface="Helvetica Neue Light" panose="02000403000000020004" pitchFamily="2" charset="0"/>
                <a:ea typeface="Helvetica Neue Light" panose="02000403000000020004" pitchFamily="2" charset="0"/>
                <a:hlinkClick r:id="rId4"/>
              </a:rPr>
              <a:t>vue</a:t>
            </a:r>
            <a:r>
              <a:rPr lang="en-US" dirty="0">
                <a:latin typeface="Helvetica Neue Light" panose="02000403000000020004" pitchFamily="2" charset="0"/>
                <a:ea typeface="Helvetica Neue Light" panose="02000403000000020004" pitchFamily="2" charset="0"/>
                <a:hlinkClick r:id="rId4"/>
              </a:rPr>
              <a:t>-flash-message</a:t>
            </a:r>
            <a:r>
              <a:rPr lang="en-US" dirty="0">
                <a:latin typeface="Helvetica Neue Light" panose="02000403000000020004" pitchFamily="2" charset="0"/>
                <a:ea typeface="Helvetica Neue Light" panose="02000403000000020004" pitchFamily="2" charset="0"/>
              </a:rPr>
              <a:t> —a Vue flash message component which we will use to display information to the user.</a:t>
            </a:r>
          </a:p>
          <a:p>
            <a:pPr marL="0" indent="0">
              <a:lnSpc>
                <a:spcPct val="160000"/>
              </a:lnSpc>
              <a:buNone/>
            </a:pPr>
            <a:r>
              <a:rPr lang="en-US" sz="3000" b="1" dirty="0">
                <a:solidFill>
                  <a:srgbClr val="C00000"/>
                </a:solidFill>
                <a:latin typeface="Helvetica Neue Light" panose="02000403000000020004" pitchFamily="2" charset="0"/>
                <a:ea typeface="Helvetica Neue Light" panose="02000403000000020004" pitchFamily="2" charset="0"/>
              </a:rPr>
              <a:t>While still in front-end run:</a:t>
            </a:r>
          </a:p>
          <a:p>
            <a:pPr marL="0" indent="0">
              <a:buNone/>
            </a:pPr>
            <a:r>
              <a:rPr lang="en-US" sz="3000" b="1" dirty="0" err="1">
                <a:solidFill>
                  <a:srgbClr val="C00000"/>
                </a:solidFill>
                <a:latin typeface="Courier New" panose="02070309020205020404" pitchFamily="49" charset="0"/>
                <a:cs typeface="Courier New" panose="02070309020205020404" pitchFamily="49" charset="0"/>
              </a:rPr>
              <a:t>npm</a:t>
            </a:r>
            <a:r>
              <a:rPr lang="en-US" sz="3000" b="1" dirty="0">
                <a:solidFill>
                  <a:srgbClr val="C00000"/>
                </a:solidFill>
                <a:latin typeface="Courier New" panose="02070309020205020404" pitchFamily="49" charset="0"/>
                <a:cs typeface="Courier New" panose="02070309020205020404" pitchFamily="49" charset="0"/>
              </a:rPr>
              <a:t> </a:t>
            </a:r>
            <a:r>
              <a:rPr lang="en-US" sz="3000" b="1" dirty="0" err="1">
                <a:solidFill>
                  <a:srgbClr val="C00000"/>
                </a:solidFill>
                <a:latin typeface="Courier New" panose="02070309020205020404" pitchFamily="49" charset="0"/>
                <a:cs typeface="Courier New" panose="02070309020205020404" pitchFamily="49" charset="0"/>
              </a:rPr>
              <a:t>i</a:t>
            </a:r>
            <a:r>
              <a:rPr lang="en-US" sz="3000" b="1" dirty="0">
                <a:solidFill>
                  <a:srgbClr val="C00000"/>
                </a:solidFill>
                <a:latin typeface="Courier New" panose="02070309020205020404" pitchFamily="49" charset="0"/>
                <a:cs typeface="Courier New" panose="02070309020205020404" pitchFamily="49" charset="0"/>
              </a:rPr>
              <a:t> </a:t>
            </a:r>
            <a:r>
              <a:rPr lang="en-US" sz="3000" b="1" dirty="0" err="1">
                <a:solidFill>
                  <a:srgbClr val="C00000"/>
                </a:solidFill>
                <a:latin typeface="Courier New" panose="02070309020205020404" pitchFamily="49" charset="0"/>
                <a:cs typeface="Courier New" panose="02070309020205020404" pitchFamily="49" charset="0"/>
              </a:rPr>
              <a:t>axios</a:t>
            </a:r>
            <a:r>
              <a:rPr lang="en-US" sz="3000" b="1" dirty="0">
                <a:solidFill>
                  <a:srgbClr val="C00000"/>
                </a:solidFill>
                <a:latin typeface="Courier New" panose="02070309020205020404" pitchFamily="49" charset="0"/>
                <a:cs typeface="Courier New" panose="02070309020205020404" pitchFamily="49" charset="0"/>
              </a:rPr>
              <a:t> semantic-</a:t>
            </a:r>
            <a:r>
              <a:rPr lang="en-US" sz="3000" b="1" dirty="0" err="1">
                <a:solidFill>
                  <a:srgbClr val="C00000"/>
                </a:solidFill>
                <a:latin typeface="Courier New" panose="02070309020205020404" pitchFamily="49" charset="0"/>
                <a:cs typeface="Courier New" panose="02070309020205020404" pitchFamily="49" charset="0"/>
              </a:rPr>
              <a:t>ui</a:t>
            </a:r>
            <a:r>
              <a:rPr lang="en-US" sz="3000" b="1" dirty="0">
                <a:solidFill>
                  <a:srgbClr val="C00000"/>
                </a:solidFill>
                <a:latin typeface="Courier New" panose="02070309020205020404" pitchFamily="49" charset="0"/>
                <a:cs typeface="Courier New" panose="02070309020205020404" pitchFamily="49" charset="0"/>
              </a:rPr>
              <a:t>-</a:t>
            </a:r>
            <a:r>
              <a:rPr lang="en-US" sz="3000" b="1" dirty="0" err="1">
                <a:solidFill>
                  <a:srgbClr val="C00000"/>
                </a:solidFill>
                <a:latin typeface="Courier New" panose="02070309020205020404" pitchFamily="49" charset="0"/>
                <a:cs typeface="Courier New" panose="02070309020205020404" pitchFamily="49" charset="0"/>
              </a:rPr>
              <a:t>css</a:t>
            </a:r>
            <a:r>
              <a:rPr lang="en-US" sz="3000" b="1" dirty="0">
                <a:solidFill>
                  <a:srgbClr val="C00000"/>
                </a:solidFill>
                <a:latin typeface="Courier New" panose="02070309020205020404" pitchFamily="49" charset="0"/>
                <a:cs typeface="Courier New" panose="02070309020205020404" pitchFamily="49" charset="0"/>
              </a:rPr>
              <a:t> </a:t>
            </a:r>
            <a:r>
              <a:rPr lang="en-US" sz="3000" b="1" dirty="0" err="1">
                <a:solidFill>
                  <a:srgbClr val="C00000"/>
                </a:solidFill>
                <a:latin typeface="Courier New" panose="02070309020205020404" pitchFamily="49" charset="0"/>
                <a:cs typeface="Courier New" panose="02070309020205020404" pitchFamily="49" charset="0"/>
              </a:rPr>
              <a:t>vue</a:t>
            </a:r>
            <a:r>
              <a:rPr lang="en-US" sz="3000" b="1" dirty="0">
                <a:solidFill>
                  <a:srgbClr val="C00000"/>
                </a:solidFill>
                <a:latin typeface="Courier New" panose="02070309020205020404" pitchFamily="49" charset="0"/>
                <a:cs typeface="Courier New" panose="02070309020205020404" pitchFamily="49" charset="0"/>
              </a:rPr>
              <a:t>-flash-message</a:t>
            </a:r>
          </a:p>
          <a:p>
            <a:pPr marL="0" indent="0">
              <a:buNone/>
            </a:pPr>
            <a:endParaRPr lang="en-US" dirty="0"/>
          </a:p>
        </p:txBody>
      </p:sp>
    </p:spTree>
    <p:extLst>
      <p:ext uri="{BB962C8B-B14F-4D97-AF65-F5344CB8AC3E}">
        <p14:creationId xmlns:p14="http://schemas.microsoft.com/office/powerpoint/2010/main" val="3017499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646754"/>
            <a:ext cx="12192000" cy="1564492"/>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src</a:t>
            </a: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router.js</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384478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85798"/>
            <a:ext cx="10515600" cy="684742"/>
          </a:xfrm>
        </p:spPr>
        <p:txBody>
          <a:bodyPr>
            <a:noAutofit/>
          </a:bodyPr>
          <a:lstStyle/>
          <a:p>
            <a:pPr algn="l"/>
            <a:r>
              <a:rPr lang="en-GB" dirty="0">
                <a:solidFill>
                  <a:schemeClr val="accent6"/>
                </a:solidFill>
                <a:effectLst/>
                <a:latin typeface="American Typewriter" panose="02090604020004020304" pitchFamily="18" charset="77"/>
              </a:rPr>
              <a:t>Creating the Routes</a:t>
            </a:r>
          </a:p>
        </p:txBody>
      </p:sp>
      <p:sp>
        <p:nvSpPr>
          <p:cNvPr id="5" name="Content Placeholder 4">
            <a:extLst>
              <a:ext uri="{FF2B5EF4-FFF2-40B4-BE49-F238E27FC236}">
                <a16:creationId xmlns:a16="http://schemas.microsoft.com/office/drawing/2014/main" id="{5F546C19-2219-FDC9-AECD-8F3D6DC2D6DE}"/>
              </a:ext>
            </a:extLst>
          </p:cNvPr>
          <p:cNvSpPr>
            <a:spLocks noGrp="1"/>
          </p:cNvSpPr>
          <p:nvPr>
            <p:ph idx="1"/>
          </p:nvPr>
        </p:nvSpPr>
        <p:spPr>
          <a:xfrm>
            <a:off x="838200" y="970540"/>
            <a:ext cx="10515600" cy="5887460"/>
          </a:xfrm>
        </p:spPr>
        <p:txBody>
          <a:bodyPr>
            <a:normAutofit/>
          </a:bodyPr>
          <a:lstStyle/>
          <a:p>
            <a:pPr marL="0" indent="0" algn="l">
              <a:lnSpc>
                <a:spcPct val="150000"/>
              </a:lnSpc>
              <a:buNone/>
            </a:pPr>
            <a:r>
              <a:rPr lang="en-GB" sz="2400" dirty="0">
                <a:solidFill>
                  <a:srgbClr val="1F1E20"/>
                </a:solidFill>
                <a:effectLst/>
                <a:latin typeface="Helvetica Neue Light" panose="02000403000000020004" pitchFamily="2" charset="0"/>
                <a:ea typeface="Helvetica Neue Light" panose="02000403000000020004" pitchFamily="2" charset="0"/>
              </a:rPr>
              <a:t>Firstly, we need to consider which routes our application will have. We’ll need to perform all of the CRUD options we created in the back end.</a:t>
            </a:r>
          </a:p>
          <a:p>
            <a:pPr algn="l">
              <a:lnSpc>
                <a:spcPct val="150000"/>
              </a:lnSpc>
              <a:buFont typeface="Arial" panose="020B0604020202020204" pitchFamily="34" charset="0"/>
              <a:buChar char="•"/>
            </a:pPr>
            <a:r>
              <a:rPr lang="en-GB" sz="2400" b="1" dirty="0">
                <a:solidFill>
                  <a:schemeClr val="accent6"/>
                </a:solidFill>
                <a:effectLst/>
                <a:latin typeface="HELVETICA NEUE LIGHT" panose="02000403000000020004" pitchFamily="2" charset="0"/>
                <a:ea typeface="HELVETICA NEUE LIGHT" panose="02000403000000020004" pitchFamily="2" charset="0"/>
              </a:rPr>
              <a:t>/words </a:t>
            </a:r>
            <a:r>
              <a:rPr lang="en-GB" sz="2400" dirty="0">
                <a:solidFill>
                  <a:srgbClr val="1F1E20"/>
                </a:solidFill>
                <a:effectLst/>
                <a:latin typeface="Helvetica Neue Light" panose="02000403000000020004" pitchFamily="2" charset="0"/>
                <a:ea typeface="Helvetica Neue Light" panose="02000403000000020004" pitchFamily="2" charset="0"/>
              </a:rPr>
              <a:t>—display all the words in the database</a:t>
            </a:r>
          </a:p>
          <a:p>
            <a:pPr algn="l">
              <a:lnSpc>
                <a:spcPct val="150000"/>
              </a:lnSpc>
              <a:buFont typeface="Arial" panose="020B0604020202020204" pitchFamily="34" charset="0"/>
              <a:buChar char="•"/>
            </a:pPr>
            <a:r>
              <a:rPr lang="en-GB" sz="2400" b="1" dirty="0">
                <a:solidFill>
                  <a:schemeClr val="accent6"/>
                </a:solidFill>
                <a:effectLst/>
                <a:latin typeface="HELVETICA NEUE LIGHT" panose="02000403000000020004" pitchFamily="2" charset="0"/>
                <a:ea typeface="HELVETICA NEUE LIGHT" panose="02000403000000020004" pitchFamily="2" charset="0"/>
              </a:rPr>
              <a:t>/words/new </a:t>
            </a:r>
            <a:r>
              <a:rPr lang="en-GB" sz="2400" dirty="0">
                <a:solidFill>
                  <a:srgbClr val="1F1E20"/>
                </a:solidFill>
                <a:effectLst/>
                <a:latin typeface="Helvetica Neue Light" panose="02000403000000020004" pitchFamily="2" charset="0"/>
                <a:ea typeface="Helvetica Neue Light" panose="02000403000000020004" pitchFamily="2" charset="0"/>
              </a:rPr>
              <a:t>—create a new word</a:t>
            </a:r>
          </a:p>
          <a:p>
            <a:pPr algn="l">
              <a:lnSpc>
                <a:spcPct val="150000"/>
              </a:lnSpc>
              <a:buFont typeface="Arial" panose="020B0604020202020204" pitchFamily="34" charset="0"/>
              <a:buChar char="•"/>
            </a:pPr>
            <a:r>
              <a:rPr lang="en-GB" sz="2400" b="1" dirty="0">
                <a:solidFill>
                  <a:schemeClr val="accent6"/>
                </a:solidFill>
                <a:effectLst/>
                <a:latin typeface="HELVETICA NEUE LIGHT" panose="02000403000000020004" pitchFamily="2" charset="0"/>
                <a:ea typeface="HELVETICA NEUE LIGHT" panose="02000403000000020004" pitchFamily="2" charset="0"/>
              </a:rPr>
              <a:t>/words/:id </a:t>
            </a:r>
            <a:r>
              <a:rPr lang="en-GB" sz="2400" dirty="0">
                <a:solidFill>
                  <a:srgbClr val="1F1E20"/>
                </a:solidFill>
                <a:effectLst/>
                <a:latin typeface="Helvetica Neue Light" panose="02000403000000020004" pitchFamily="2" charset="0"/>
                <a:ea typeface="Helvetica Neue Light" panose="02000403000000020004" pitchFamily="2" charset="0"/>
              </a:rPr>
              <a:t>—display a word</a:t>
            </a:r>
          </a:p>
          <a:p>
            <a:pPr algn="l">
              <a:lnSpc>
                <a:spcPct val="150000"/>
              </a:lnSpc>
              <a:buFont typeface="Arial" panose="020B0604020202020204" pitchFamily="34" charset="0"/>
              <a:buChar char="•"/>
            </a:pPr>
            <a:r>
              <a:rPr lang="en-GB" sz="2400" b="1" dirty="0">
                <a:solidFill>
                  <a:schemeClr val="accent6"/>
                </a:solidFill>
                <a:effectLst/>
                <a:latin typeface="HELVETICA NEUE LIGHT" panose="02000403000000020004" pitchFamily="2" charset="0"/>
                <a:ea typeface="HELVETICA NEUE LIGHT" panose="02000403000000020004" pitchFamily="2" charset="0"/>
              </a:rPr>
              <a:t>/words/:id/edit </a:t>
            </a:r>
            <a:r>
              <a:rPr lang="en-GB" sz="2400" dirty="0">
                <a:solidFill>
                  <a:srgbClr val="1F1E20"/>
                </a:solidFill>
                <a:effectLst/>
                <a:latin typeface="Helvetica Neue Light" panose="02000403000000020004" pitchFamily="2" charset="0"/>
                <a:ea typeface="Helvetica Neue Light" panose="02000403000000020004" pitchFamily="2" charset="0"/>
              </a:rPr>
              <a:t>—edit a word</a:t>
            </a:r>
          </a:p>
          <a:p>
            <a:pPr algn="l">
              <a:lnSpc>
                <a:spcPct val="150000"/>
              </a:lnSpc>
              <a:buFont typeface="Arial" panose="020B0604020202020204" pitchFamily="34" charset="0"/>
              <a:buChar char="•"/>
            </a:pPr>
            <a:r>
              <a:rPr lang="en-GB" sz="2400" b="1" dirty="0">
                <a:solidFill>
                  <a:schemeClr val="accent6"/>
                </a:solidFill>
                <a:effectLst/>
                <a:latin typeface="HELVETICA NEUE LIGHT" panose="02000403000000020004" pitchFamily="2" charset="0"/>
                <a:ea typeface="HELVETICA NEUE LIGHT" panose="02000403000000020004" pitchFamily="2" charset="0"/>
              </a:rPr>
              <a:t>/test </a:t>
            </a:r>
            <a:r>
              <a:rPr lang="en-GB" sz="2400" dirty="0">
                <a:solidFill>
                  <a:srgbClr val="1F1E20"/>
                </a:solidFill>
                <a:effectLst/>
                <a:latin typeface="Helvetica Neue Light" panose="02000403000000020004" pitchFamily="2" charset="0"/>
                <a:ea typeface="Helvetica Neue Light" panose="02000403000000020004" pitchFamily="2" charset="0"/>
              </a:rPr>
              <a:t>—test your knowledge</a:t>
            </a:r>
          </a:p>
          <a:p>
            <a:pPr algn="l">
              <a:lnSpc>
                <a:spcPct val="150000"/>
              </a:lnSpc>
            </a:pPr>
            <a:r>
              <a:rPr lang="en-GB" sz="2400" dirty="0">
                <a:solidFill>
                  <a:srgbClr val="1F1E20"/>
                </a:solidFill>
                <a:effectLst/>
                <a:latin typeface="Helvetica Neue Light" panose="02000403000000020004" pitchFamily="2" charset="0"/>
                <a:ea typeface="Helvetica Neue Light" panose="02000403000000020004" pitchFamily="2" charset="0"/>
              </a:rPr>
              <a:t>Deleting a word doesn’t require its own route. We’ll just fire off the appropriate request and redirect to </a:t>
            </a:r>
            <a:r>
              <a:rPr lang="en-GB" sz="2400" b="1" dirty="0">
                <a:solidFill>
                  <a:schemeClr val="accent6"/>
                </a:solidFill>
                <a:effectLst/>
                <a:latin typeface="Helvetica Neue Light" panose="02000403000000020004" pitchFamily="2" charset="0"/>
                <a:ea typeface="Helvetica Neue Light" panose="02000403000000020004" pitchFamily="2" charset="0"/>
              </a:rPr>
              <a:t>/words</a:t>
            </a:r>
            <a:r>
              <a:rPr lang="en-GB" sz="2400" b="1" dirty="0">
                <a:solidFill>
                  <a:srgbClr val="1F1E20"/>
                </a:solidFill>
                <a:effectLst/>
                <a:latin typeface="Helvetica Neue Light" panose="02000403000000020004" pitchFamily="2" charset="0"/>
                <a:ea typeface="Helvetica Neue Light" panose="02000403000000020004" pitchFamily="2" charset="0"/>
              </a:rPr>
              <a:t>.</a:t>
            </a:r>
          </a:p>
          <a:p>
            <a:endParaRPr lang="en-US" dirty="0"/>
          </a:p>
        </p:txBody>
      </p:sp>
    </p:spTree>
    <p:extLst>
      <p:ext uri="{BB962C8B-B14F-4D97-AF65-F5344CB8AC3E}">
        <p14:creationId xmlns:p14="http://schemas.microsoft.com/office/powerpoint/2010/main" val="10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5135644" y="0"/>
            <a:ext cx="4341731" cy="684742"/>
          </a:xfrm>
        </p:spPr>
        <p:txBody>
          <a:bodyPr>
            <a:noAutofit/>
          </a:bodyPr>
          <a:lstStyle/>
          <a:p>
            <a:pPr algn="ctr"/>
            <a:r>
              <a:rPr lang="en-GB" dirty="0" err="1">
                <a:solidFill>
                  <a:schemeClr val="accent6"/>
                </a:solidFill>
                <a:latin typeface="American Typewriter" panose="02090604020004020304" pitchFamily="18" charset="77"/>
              </a:rPr>
              <a:t>r</a:t>
            </a:r>
            <a:r>
              <a:rPr lang="en-GB" dirty="0" err="1">
                <a:solidFill>
                  <a:schemeClr val="accent6"/>
                </a:solidFill>
                <a:effectLst/>
                <a:latin typeface="American Typewriter" panose="02090604020004020304" pitchFamily="18" charset="77"/>
              </a:rPr>
              <a:t>outer.js</a:t>
            </a:r>
            <a:r>
              <a:rPr lang="en-GB" dirty="0">
                <a:solidFill>
                  <a:schemeClr val="accent6"/>
                </a:solidFill>
                <a:effectLst/>
                <a:latin typeface="American Typewriter" panose="02090604020004020304" pitchFamily="18" charset="77"/>
              </a:rPr>
              <a:t> pt1</a:t>
            </a:r>
          </a:p>
        </p:txBody>
      </p:sp>
      <p:pic>
        <p:nvPicPr>
          <p:cNvPr id="7" name="Picture 6">
            <a:extLst>
              <a:ext uri="{FF2B5EF4-FFF2-40B4-BE49-F238E27FC236}">
                <a16:creationId xmlns:a16="http://schemas.microsoft.com/office/drawing/2014/main" id="{585C5BCB-5C59-6157-FDE7-1FA0DA292CBB}"/>
              </a:ext>
            </a:extLst>
          </p:cNvPr>
          <p:cNvPicPr>
            <a:picLocks noChangeAspect="1"/>
          </p:cNvPicPr>
          <p:nvPr/>
        </p:nvPicPr>
        <p:blipFill>
          <a:blip r:embed="rId2"/>
          <a:stretch>
            <a:fillRect/>
          </a:stretch>
        </p:blipFill>
        <p:spPr>
          <a:xfrm>
            <a:off x="0" y="0"/>
            <a:ext cx="5368763" cy="6858000"/>
          </a:xfrm>
          <a:prstGeom prst="rect">
            <a:avLst/>
          </a:prstGeom>
        </p:spPr>
      </p:pic>
      <p:sp>
        <p:nvSpPr>
          <p:cNvPr id="8" name="Content Placeholder 4">
            <a:extLst>
              <a:ext uri="{FF2B5EF4-FFF2-40B4-BE49-F238E27FC236}">
                <a16:creationId xmlns:a16="http://schemas.microsoft.com/office/drawing/2014/main" id="{3EBDC69C-E800-D20D-3CAA-0549BF7F0C68}"/>
              </a:ext>
            </a:extLst>
          </p:cNvPr>
          <p:cNvSpPr>
            <a:spLocks noGrp="1"/>
          </p:cNvSpPr>
          <p:nvPr>
            <p:ph idx="1"/>
          </p:nvPr>
        </p:nvSpPr>
        <p:spPr>
          <a:xfrm>
            <a:off x="5614989" y="784802"/>
            <a:ext cx="6443662" cy="5673148"/>
          </a:xfrm>
        </p:spPr>
        <p:txBody>
          <a:bodyPr>
            <a:normAutofit/>
          </a:bodyPr>
          <a:lstStyle/>
          <a:p>
            <a:pPr marL="0" indent="0" algn="l">
              <a:lnSpc>
                <a:spcPct val="150000"/>
              </a:lnSpc>
              <a:buNone/>
            </a:pPr>
            <a:r>
              <a:rPr lang="en-GB" sz="2400" dirty="0">
                <a:solidFill>
                  <a:srgbClr val="1F1E20"/>
                </a:solidFill>
                <a:effectLst/>
                <a:latin typeface="Helvetica Neue Light" panose="02000403000000020004" pitchFamily="2" charset="0"/>
                <a:ea typeface="Helvetica Neue Light" panose="02000403000000020004" pitchFamily="2" charset="0"/>
              </a:rPr>
              <a:t>Import </a:t>
            </a:r>
            <a:r>
              <a:rPr lang="en-GB" sz="2400" dirty="0" err="1">
                <a:solidFill>
                  <a:srgbClr val="1F1E20"/>
                </a:solidFill>
                <a:effectLst/>
                <a:latin typeface="Helvetica Neue Light" panose="02000403000000020004" pitchFamily="2" charset="0"/>
                <a:ea typeface="Helvetica Neue Light" panose="02000403000000020004" pitchFamily="2" charset="0"/>
              </a:rPr>
              <a:t>vue</a:t>
            </a:r>
            <a:r>
              <a:rPr lang="en-GB" sz="2400" dirty="0">
                <a:solidFill>
                  <a:srgbClr val="1F1E20"/>
                </a:solidFill>
                <a:effectLst/>
                <a:latin typeface="Helvetica Neue Light" panose="02000403000000020004" pitchFamily="2" charset="0"/>
                <a:ea typeface="Helvetica Neue Light" panose="02000403000000020004" pitchFamily="2" charset="0"/>
              </a:rPr>
              <a:t>, import </a:t>
            </a:r>
            <a:r>
              <a:rPr lang="en-GB" sz="2400" dirty="0" err="1">
                <a:solidFill>
                  <a:srgbClr val="1F1E20"/>
                </a:solidFill>
                <a:effectLst/>
                <a:latin typeface="Helvetica Neue Light" panose="02000403000000020004" pitchFamily="2" charset="0"/>
                <a:ea typeface="Helvetica Neue Light" panose="02000403000000020004" pitchFamily="2" charset="0"/>
              </a:rPr>
              <a:t>vue</a:t>
            </a:r>
            <a:r>
              <a:rPr lang="en-GB" sz="2400" dirty="0">
                <a:solidFill>
                  <a:srgbClr val="1F1E20"/>
                </a:solidFill>
                <a:effectLst/>
                <a:latin typeface="Helvetica Neue Light" panose="02000403000000020004" pitchFamily="2" charset="0"/>
                <a:ea typeface="Helvetica Neue Light" panose="02000403000000020004" pitchFamily="2" charset="0"/>
              </a:rPr>
              <a:t>-router, import the views.</a:t>
            </a:r>
          </a:p>
          <a:p>
            <a:pPr marL="0" indent="0" algn="l">
              <a:lnSpc>
                <a:spcPct val="150000"/>
              </a:lnSpc>
              <a:buNone/>
            </a:pPr>
            <a:r>
              <a:rPr lang="en-GB" sz="2400" dirty="0">
                <a:solidFill>
                  <a:srgbClr val="1F1E20"/>
                </a:solidFill>
                <a:effectLst/>
                <a:latin typeface="Helvetica Neue Light" panose="02000403000000020004" pitchFamily="2" charset="0"/>
                <a:ea typeface="Helvetica Neue Light" panose="02000403000000020004" pitchFamily="2" charset="0"/>
              </a:rPr>
              <a:t>Line12:</a:t>
            </a:r>
            <a:r>
              <a:rPr lang="en-GB" sz="2400" dirty="0">
                <a:solidFill>
                  <a:srgbClr val="1F1E20"/>
                </a:solidFill>
                <a:effectLst/>
                <a:latin typeface="Helvetica Neue Light" panose="02000403000000020004" pitchFamily="2" charset="0"/>
                <a:ea typeface="Helvetica Neue Light" panose="02000403000000020004" pitchFamily="2" charset="0"/>
                <a:hlinkClick r:id="rId3"/>
              </a:rPr>
              <a:t>https://v3.router.vuejs.org/guide/essentials/history-mode.html#example-server-configurations</a:t>
            </a:r>
            <a:endParaRPr lang="en-GB" sz="2400" dirty="0">
              <a:solidFill>
                <a:srgbClr val="1F1E20"/>
              </a:solidFill>
              <a:effectLst/>
              <a:latin typeface="Helvetica Neue Light" panose="02000403000000020004" pitchFamily="2" charset="0"/>
              <a:ea typeface="Helvetica Neue Light" panose="02000403000000020004" pitchFamily="2" charset="0"/>
            </a:endParaRPr>
          </a:p>
          <a:p>
            <a:pPr marL="0" indent="0">
              <a:lnSpc>
                <a:spcPct val="150000"/>
              </a:lnSpc>
              <a:buNone/>
            </a:pPr>
            <a:r>
              <a:rPr lang="en-GB" sz="2400" dirty="0">
                <a:solidFill>
                  <a:srgbClr val="1F1E20"/>
                </a:solidFill>
                <a:effectLst/>
                <a:latin typeface="Helvetica Neue Light" panose="02000403000000020004" pitchFamily="2" charset="0"/>
                <a:ea typeface="Helvetica Neue Light" panose="02000403000000020004" pitchFamily="2" charset="0"/>
              </a:rPr>
              <a:t>Line 14  tells the router to apply a class of ’active’ to the currently activated navigation.</a:t>
            </a:r>
          </a:p>
          <a:p>
            <a:pPr marL="0" indent="0" algn="l">
              <a:lnSpc>
                <a:spcPct val="150000"/>
              </a:lnSpc>
              <a:buNone/>
            </a:pPr>
            <a:r>
              <a:rPr lang="en-GB" sz="2400" dirty="0">
                <a:solidFill>
                  <a:srgbClr val="1F1E20"/>
                </a:solidFill>
                <a:latin typeface="Helvetica Neue Light" panose="02000403000000020004" pitchFamily="2" charset="0"/>
                <a:ea typeface="Helvetica Neue Light" panose="02000403000000020004" pitchFamily="2" charset="0"/>
              </a:rPr>
              <a:t>Create the various routes, the first one 17/18 redirects to a default route if just / is put in the URL</a:t>
            </a:r>
            <a:endParaRPr lang="en-GB" sz="2400" dirty="0">
              <a:solidFill>
                <a:srgbClr val="1F1E20"/>
              </a:solidFill>
              <a:effectLst/>
              <a:latin typeface="Helvetica Neue Light" panose="02000403000000020004" pitchFamily="2" charset="0"/>
              <a:ea typeface="Helvetica Neue Light" panose="02000403000000020004" pitchFamily="2" charset="0"/>
            </a:endParaRPr>
          </a:p>
          <a:p>
            <a:endParaRPr lang="en-US" dirty="0"/>
          </a:p>
        </p:txBody>
      </p:sp>
    </p:spTree>
    <p:extLst>
      <p:ext uri="{BB962C8B-B14F-4D97-AF65-F5344CB8AC3E}">
        <p14:creationId xmlns:p14="http://schemas.microsoft.com/office/powerpoint/2010/main" val="1278998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6438899" y="114348"/>
            <a:ext cx="4341731" cy="684742"/>
          </a:xfrm>
        </p:spPr>
        <p:txBody>
          <a:bodyPr>
            <a:noAutofit/>
          </a:bodyPr>
          <a:lstStyle/>
          <a:p>
            <a:pPr algn="l"/>
            <a:r>
              <a:rPr lang="en-GB" dirty="0" err="1">
                <a:solidFill>
                  <a:schemeClr val="accent6"/>
                </a:solidFill>
                <a:latin typeface="American Typewriter" panose="02090604020004020304" pitchFamily="18" charset="77"/>
              </a:rPr>
              <a:t>r</a:t>
            </a:r>
            <a:r>
              <a:rPr lang="en-GB" dirty="0" err="1">
                <a:solidFill>
                  <a:schemeClr val="accent6"/>
                </a:solidFill>
                <a:effectLst/>
                <a:latin typeface="American Typewriter" panose="02090604020004020304" pitchFamily="18" charset="77"/>
              </a:rPr>
              <a:t>outer.js</a:t>
            </a:r>
            <a:r>
              <a:rPr lang="en-GB" dirty="0">
                <a:solidFill>
                  <a:schemeClr val="accent6"/>
                </a:solidFill>
                <a:effectLst/>
                <a:latin typeface="American Typewriter" panose="02090604020004020304" pitchFamily="18" charset="77"/>
              </a:rPr>
              <a:t> pt2</a:t>
            </a:r>
          </a:p>
        </p:txBody>
      </p:sp>
      <p:pic>
        <p:nvPicPr>
          <p:cNvPr id="2" name="Picture 1">
            <a:extLst>
              <a:ext uri="{FF2B5EF4-FFF2-40B4-BE49-F238E27FC236}">
                <a16:creationId xmlns:a16="http://schemas.microsoft.com/office/drawing/2014/main" id="{DFACE8E9-743F-8967-0DAB-B8A5ACE34930}"/>
              </a:ext>
            </a:extLst>
          </p:cNvPr>
          <p:cNvPicPr>
            <a:picLocks noChangeAspect="1"/>
          </p:cNvPicPr>
          <p:nvPr/>
        </p:nvPicPr>
        <p:blipFill>
          <a:blip r:embed="rId2"/>
          <a:stretch>
            <a:fillRect/>
          </a:stretch>
        </p:blipFill>
        <p:spPr>
          <a:xfrm>
            <a:off x="0" y="0"/>
            <a:ext cx="6096000" cy="6877538"/>
          </a:xfrm>
          <a:prstGeom prst="rect">
            <a:avLst/>
          </a:prstGeom>
        </p:spPr>
      </p:pic>
      <p:sp>
        <p:nvSpPr>
          <p:cNvPr id="3" name="Content Placeholder 4">
            <a:extLst>
              <a:ext uri="{FF2B5EF4-FFF2-40B4-BE49-F238E27FC236}">
                <a16:creationId xmlns:a16="http://schemas.microsoft.com/office/drawing/2014/main" id="{E0313E5E-FCF1-BD7E-59B5-C008768F9537}"/>
              </a:ext>
            </a:extLst>
          </p:cNvPr>
          <p:cNvSpPr>
            <a:spLocks noGrp="1"/>
          </p:cNvSpPr>
          <p:nvPr>
            <p:ph idx="1"/>
          </p:nvPr>
        </p:nvSpPr>
        <p:spPr>
          <a:xfrm>
            <a:off x="6438899" y="1256290"/>
            <a:ext cx="5619752" cy="3515736"/>
          </a:xfrm>
        </p:spPr>
        <p:txBody>
          <a:bodyPr>
            <a:normAutofit/>
          </a:bodyPr>
          <a:lstStyle/>
          <a:p>
            <a:pPr marL="0" indent="0" algn="l">
              <a:lnSpc>
                <a:spcPct val="150000"/>
              </a:lnSpc>
              <a:buNone/>
            </a:pPr>
            <a:r>
              <a:rPr lang="en-GB" dirty="0">
                <a:solidFill>
                  <a:srgbClr val="1F1E20"/>
                </a:solidFill>
                <a:effectLst/>
                <a:latin typeface="Helvetica Neue Light" panose="02000403000000020004" pitchFamily="2" charset="0"/>
                <a:ea typeface="Helvetica Neue Light" panose="02000403000000020004" pitchFamily="2" charset="0"/>
              </a:rPr>
              <a:t>Continue making the rest of the routes for our app</a:t>
            </a:r>
          </a:p>
          <a:p>
            <a:endParaRPr lang="en-US" dirty="0"/>
          </a:p>
        </p:txBody>
      </p:sp>
    </p:spTree>
    <p:extLst>
      <p:ext uri="{BB962C8B-B14F-4D97-AF65-F5344CB8AC3E}">
        <p14:creationId xmlns:p14="http://schemas.microsoft.com/office/powerpoint/2010/main" val="1062807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2014538" y="256213"/>
            <a:ext cx="8343900" cy="684742"/>
          </a:xfrm>
        </p:spPr>
        <p:txBody>
          <a:bodyPr>
            <a:noAutofit/>
          </a:bodyPr>
          <a:lstStyle/>
          <a:p>
            <a:pPr algn="ctr"/>
            <a:r>
              <a:rPr lang="en-GB" dirty="0">
                <a:solidFill>
                  <a:schemeClr val="accent6"/>
                </a:solidFill>
                <a:latin typeface="American Typewriter" panose="02090604020004020304" pitchFamily="18" charset="77"/>
              </a:rPr>
              <a:t>Vue router – further reading</a:t>
            </a:r>
            <a:endParaRPr lang="en-GB" dirty="0">
              <a:solidFill>
                <a:schemeClr val="accent6"/>
              </a:solidFill>
              <a:effectLst/>
              <a:latin typeface="American Typewriter" panose="02090604020004020304" pitchFamily="18" charset="77"/>
            </a:endParaRPr>
          </a:p>
        </p:txBody>
      </p:sp>
      <p:sp>
        <p:nvSpPr>
          <p:cNvPr id="5" name="TextBox 4">
            <a:extLst>
              <a:ext uri="{FF2B5EF4-FFF2-40B4-BE49-F238E27FC236}">
                <a16:creationId xmlns:a16="http://schemas.microsoft.com/office/drawing/2014/main" id="{60127D67-E402-545E-4A90-53DB625CB489}"/>
              </a:ext>
            </a:extLst>
          </p:cNvPr>
          <p:cNvSpPr txBox="1"/>
          <p:nvPr/>
        </p:nvSpPr>
        <p:spPr>
          <a:xfrm>
            <a:off x="3139679" y="940955"/>
            <a:ext cx="6093618" cy="369332"/>
          </a:xfrm>
          <a:prstGeom prst="rect">
            <a:avLst/>
          </a:prstGeom>
          <a:noFill/>
        </p:spPr>
        <p:txBody>
          <a:bodyPr wrap="square">
            <a:spAutoFit/>
          </a:bodyPr>
          <a:lstStyle/>
          <a:p>
            <a:pPr algn="ctr"/>
            <a:r>
              <a:rPr lang="en-US" dirty="0">
                <a:hlinkClick r:id="rId2"/>
              </a:rPr>
              <a:t>https://v3.router.vuejs.org/</a:t>
            </a:r>
            <a:endParaRPr lang="en-US" dirty="0"/>
          </a:p>
        </p:txBody>
      </p:sp>
      <p:pic>
        <p:nvPicPr>
          <p:cNvPr id="6" name="Picture 5">
            <a:extLst>
              <a:ext uri="{FF2B5EF4-FFF2-40B4-BE49-F238E27FC236}">
                <a16:creationId xmlns:a16="http://schemas.microsoft.com/office/drawing/2014/main" id="{7B87DE45-35CE-8CBF-D530-299266DB917B}"/>
              </a:ext>
            </a:extLst>
          </p:cNvPr>
          <p:cNvPicPr>
            <a:picLocks noChangeAspect="1"/>
          </p:cNvPicPr>
          <p:nvPr/>
        </p:nvPicPr>
        <p:blipFill>
          <a:blip r:embed="rId3"/>
          <a:stretch>
            <a:fillRect/>
          </a:stretch>
        </p:blipFill>
        <p:spPr>
          <a:xfrm>
            <a:off x="2209800" y="1440529"/>
            <a:ext cx="7772400" cy="5003086"/>
          </a:xfrm>
          <a:prstGeom prst="rect">
            <a:avLst/>
          </a:prstGeom>
          <a:ln>
            <a:solidFill>
              <a:schemeClr val="tx1">
                <a:lumMod val="75000"/>
                <a:lumOff val="25000"/>
              </a:schemeClr>
            </a:solidFill>
          </a:ln>
        </p:spPr>
      </p:pic>
    </p:spTree>
    <p:extLst>
      <p:ext uri="{BB962C8B-B14F-4D97-AF65-F5344CB8AC3E}">
        <p14:creationId xmlns:p14="http://schemas.microsoft.com/office/powerpoint/2010/main" val="680216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646754"/>
            <a:ext cx="12192000" cy="1564492"/>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src</a:t>
            </a: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main.js</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3057576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28648"/>
            <a:ext cx="10515600" cy="684742"/>
          </a:xfrm>
        </p:spPr>
        <p:txBody>
          <a:bodyPr>
            <a:noAutofit/>
          </a:bodyPr>
          <a:lstStyle/>
          <a:p>
            <a:r>
              <a:rPr lang="en-US" sz="5400"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main.js</a:t>
            </a:r>
            <a:r>
              <a:rPr lang="en-US" sz="54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 full code </a:t>
            </a:r>
          </a:p>
        </p:txBody>
      </p:sp>
      <p:pic>
        <p:nvPicPr>
          <p:cNvPr id="5" name="Picture 4">
            <a:extLst>
              <a:ext uri="{FF2B5EF4-FFF2-40B4-BE49-F238E27FC236}">
                <a16:creationId xmlns:a16="http://schemas.microsoft.com/office/drawing/2014/main" id="{3CE3371D-2E98-44A3-9DB6-D369516B707C}"/>
              </a:ext>
            </a:extLst>
          </p:cNvPr>
          <p:cNvPicPr>
            <a:picLocks noChangeAspect="1"/>
          </p:cNvPicPr>
          <p:nvPr/>
        </p:nvPicPr>
        <p:blipFill>
          <a:blip r:embed="rId2"/>
          <a:stretch>
            <a:fillRect/>
          </a:stretch>
        </p:blipFill>
        <p:spPr>
          <a:xfrm>
            <a:off x="838200" y="2727902"/>
            <a:ext cx="5192842" cy="3362765"/>
          </a:xfrm>
          <a:prstGeom prst="rect">
            <a:avLst/>
          </a:prstGeom>
        </p:spPr>
      </p:pic>
      <p:sp>
        <p:nvSpPr>
          <p:cNvPr id="6" name="Content Placeholder 4">
            <a:extLst>
              <a:ext uri="{FF2B5EF4-FFF2-40B4-BE49-F238E27FC236}">
                <a16:creationId xmlns:a16="http://schemas.microsoft.com/office/drawing/2014/main" id="{5A58B242-CE8D-AAE8-C706-D2A91C7E9F1F}"/>
              </a:ext>
            </a:extLst>
          </p:cNvPr>
          <p:cNvSpPr>
            <a:spLocks noGrp="1"/>
          </p:cNvSpPr>
          <p:nvPr>
            <p:ph idx="1"/>
          </p:nvPr>
        </p:nvSpPr>
        <p:spPr>
          <a:xfrm>
            <a:off x="838201" y="998104"/>
            <a:ext cx="11106150" cy="1645084"/>
          </a:xfrm>
        </p:spPr>
        <p:txBody>
          <a:bodyPr>
            <a:normAutofit fontScale="92500"/>
          </a:bodyPr>
          <a:lstStyle/>
          <a:p>
            <a:pPr marL="0" indent="0" algn="l">
              <a:lnSpc>
                <a:spcPct val="150000"/>
              </a:lnSpc>
              <a:buNone/>
            </a:pPr>
            <a:r>
              <a:rPr lang="en-GB" dirty="0">
                <a:solidFill>
                  <a:srgbClr val="1F1E20"/>
                </a:solidFill>
                <a:effectLst/>
                <a:latin typeface="Helvetica Neue Light" panose="02000403000000020004" pitchFamily="2" charset="0"/>
                <a:ea typeface="Helvetica Neue Light" panose="02000403000000020004" pitchFamily="2" charset="0"/>
              </a:rPr>
              <a:t>We are adding lines 3 and 5 to </a:t>
            </a:r>
            <a:r>
              <a:rPr lang="en-GB" dirty="0" err="1">
                <a:solidFill>
                  <a:srgbClr val="1F1E20"/>
                </a:solidFill>
                <a:effectLst/>
                <a:latin typeface="Helvetica Neue Light" panose="02000403000000020004" pitchFamily="2" charset="0"/>
                <a:ea typeface="Helvetica Neue Light" panose="02000403000000020004" pitchFamily="2" charset="0"/>
              </a:rPr>
              <a:t>main.js</a:t>
            </a:r>
            <a:r>
              <a:rPr lang="en-GB" dirty="0">
                <a:solidFill>
                  <a:srgbClr val="1F1E20"/>
                </a:solidFill>
                <a:effectLst/>
                <a:latin typeface="Helvetica Neue Light" panose="02000403000000020004" pitchFamily="2" charset="0"/>
                <a:ea typeface="Helvetica Neue Light" panose="02000403000000020004" pitchFamily="2" charset="0"/>
              </a:rPr>
              <a:t>, importing router and our </a:t>
            </a:r>
            <a:r>
              <a:rPr lang="en-GB" dirty="0" err="1">
                <a:solidFill>
                  <a:srgbClr val="1F1E20"/>
                </a:solidFill>
                <a:effectLst/>
                <a:latin typeface="Helvetica Neue Light" panose="02000403000000020004" pitchFamily="2" charset="0"/>
                <a:ea typeface="Helvetica Neue Light" panose="02000403000000020004" pitchFamily="2" charset="0"/>
              </a:rPr>
              <a:t>css</a:t>
            </a:r>
            <a:endParaRPr lang="en-GB" dirty="0">
              <a:solidFill>
                <a:srgbClr val="1F1E20"/>
              </a:solidFill>
              <a:effectLst/>
              <a:latin typeface="Helvetica Neue Light" panose="02000403000000020004" pitchFamily="2" charset="0"/>
              <a:ea typeface="Helvetica Neue Light" panose="02000403000000020004" pitchFamily="2" charset="0"/>
            </a:endParaRPr>
          </a:p>
          <a:p>
            <a:pPr marL="0" indent="0" algn="l">
              <a:lnSpc>
                <a:spcPct val="150000"/>
              </a:lnSpc>
              <a:buNone/>
            </a:pPr>
            <a:r>
              <a:rPr lang="en-GB" dirty="0">
                <a:solidFill>
                  <a:srgbClr val="1F1E20"/>
                </a:solidFill>
                <a:latin typeface="Helvetica Neue Light" panose="02000403000000020004" pitchFamily="2" charset="0"/>
                <a:ea typeface="Helvetica Neue Light" panose="02000403000000020004" pitchFamily="2" charset="0"/>
              </a:rPr>
              <a:t>Line 7 turns off development mode warning message, don’t worry about it.</a:t>
            </a:r>
            <a:endParaRPr lang="en-GB" dirty="0">
              <a:solidFill>
                <a:srgbClr val="1F1E20"/>
              </a:solidFill>
              <a:effectLst/>
              <a:latin typeface="Helvetica Neue Light" panose="02000403000000020004" pitchFamily="2" charset="0"/>
              <a:ea typeface="Helvetica Neue Light" panose="02000403000000020004" pitchFamily="2" charset="0"/>
            </a:endParaRPr>
          </a:p>
          <a:p>
            <a:endParaRPr lang="en-US" dirty="0"/>
          </a:p>
        </p:txBody>
      </p:sp>
      <p:sp>
        <p:nvSpPr>
          <p:cNvPr id="8" name="TextBox 7">
            <a:extLst>
              <a:ext uri="{FF2B5EF4-FFF2-40B4-BE49-F238E27FC236}">
                <a16:creationId xmlns:a16="http://schemas.microsoft.com/office/drawing/2014/main" id="{6C966553-C4E4-8644-39C0-44D13188A0EA}"/>
              </a:ext>
            </a:extLst>
          </p:cNvPr>
          <p:cNvSpPr txBox="1"/>
          <p:nvPr/>
        </p:nvSpPr>
        <p:spPr>
          <a:xfrm>
            <a:off x="6391276" y="2727902"/>
            <a:ext cx="5800724" cy="3693319"/>
          </a:xfrm>
          <a:prstGeom prst="rect">
            <a:avLst/>
          </a:prstGeom>
          <a:noFill/>
        </p:spPr>
        <p:txBody>
          <a:bodyPr wrap="square">
            <a:spAutoFit/>
          </a:bodyPr>
          <a:lstStyle/>
          <a:p>
            <a:pPr>
              <a:lnSpc>
                <a:spcPct val="150000"/>
              </a:lnSpc>
            </a:pPr>
            <a:r>
              <a:rPr lang="en-US" sz="2400" dirty="0">
                <a:latin typeface="Helvetica Neue Light" panose="02000403000000020004" pitchFamily="2" charset="0"/>
                <a:ea typeface="Helvetica Neue Light" panose="02000403000000020004" pitchFamily="2" charset="0"/>
              </a:rPr>
              <a:t>Line 9 -12 are are rendering and mounting the app in the element with id app in </a:t>
            </a:r>
            <a:r>
              <a:rPr lang="en-US" sz="2400" dirty="0" err="1">
                <a:latin typeface="Helvetica Neue Light" panose="02000403000000020004" pitchFamily="2" charset="0"/>
                <a:ea typeface="Helvetica Neue Light" panose="02000403000000020004" pitchFamily="2" charset="0"/>
              </a:rPr>
              <a:t>index.html</a:t>
            </a:r>
            <a:endParaRPr lang="en-US" sz="2400" dirty="0">
              <a:latin typeface="Helvetica Neue Light" panose="02000403000000020004" pitchFamily="2" charset="0"/>
              <a:ea typeface="Helvetica Neue Light" panose="02000403000000020004" pitchFamily="2" charset="0"/>
            </a:endParaRPr>
          </a:p>
          <a:p>
            <a:pPr>
              <a:lnSpc>
                <a:spcPct val="150000"/>
              </a:lnSpc>
            </a:pPr>
            <a:r>
              <a:rPr lang="en-US" sz="2400" dirty="0">
                <a:latin typeface="Helvetica Neue Light" panose="02000403000000020004" pitchFamily="2" charset="0"/>
                <a:ea typeface="Helvetica Neue Light" panose="02000403000000020004" pitchFamily="2" charset="0"/>
              </a:rPr>
              <a:t>Further reading:</a:t>
            </a:r>
          </a:p>
          <a:p>
            <a:pPr>
              <a:lnSpc>
                <a:spcPct val="150000"/>
              </a:lnSpc>
            </a:pPr>
            <a:r>
              <a:rPr lang="en-US" sz="2400" dirty="0">
                <a:latin typeface="Helvetica Neue Light" panose="02000403000000020004" pitchFamily="2" charset="0"/>
                <a:ea typeface="Helvetica Neue Light" panose="02000403000000020004" pitchFamily="2" charset="0"/>
                <a:hlinkClick r:id="rId3"/>
              </a:rPr>
              <a:t>https://github.com/vuejs-templates/webpack-simple/issues/29</a:t>
            </a:r>
            <a:endParaRPr lang="en-US" sz="2400" dirty="0">
              <a:latin typeface="Helvetica Neue Light" panose="02000403000000020004" pitchFamily="2" charset="0"/>
              <a:ea typeface="Helvetica Neue Light" panose="02000403000000020004" pitchFamily="2" charset="0"/>
            </a:endParaRPr>
          </a:p>
          <a:p>
            <a:endParaRPr lang="en-US" dirty="0"/>
          </a:p>
        </p:txBody>
      </p:sp>
    </p:spTree>
    <p:extLst>
      <p:ext uri="{BB962C8B-B14F-4D97-AF65-F5344CB8AC3E}">
        <p14:creationId xmlns:p14="http://schemas.microsoft.com/office/powerpoint/2010/main" val="1882462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646754"/>
            <a:ext cx="12192000" cy="1564492"/>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src</a:t>
            </a: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App.vue</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a:p>
            <a:pPr marL="0" indent="0" algn="ctr">
              <a:lnSpc>
                <a:spcPct val="150000"/>
              </a:lnSpc>
              <a:buNone/>
            </a:pP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File on </a:t>
            </a: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moodle</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3709339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7996238" y="109975"/>
            <a:ext cx="3919538" cy="684742"/>
          </a:xfrm>
        </p:spPr>
        <p:txBody>
          <a:bodyPr>
            <a:normAutofit fontScale="90000"/>
          </a:bodyPr>
          <a:lstStyle/>
          <a:p>
            <a:r>
              <a:rPr lang="en-US" sz="36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The template part</a:t>
            </a:r>
          </a:p>
        </p:txBody>
      </p:sp>
      <p:pic>
        <p:nvPicPr>
          <p:cNvPr id="6" name="Picture 5">
            <a:extLst>
              <a:ext uri="{FF2B5EF4-FFF2-40B4-BE49-F238E27FC236}">
                <a16:creationId xmlns:a16="http://schemas.microsoft.com/office/drawing/2014/main" id="{B094811F-8F72-F9E5-66BE-9DC6CD0D89FE}"/>
              </a:ext>
            </a:extLst>
          </p:cNvPr>
          <p:cNvPicPr>
            <a:picLocks noChangeAspect="1"/>
          </p:cNvPicPr>
          <p:nvPr/>
        </p:nvPicPr>
        <p:blipFill>
          <a:blip r:embed="rId2"/>
          <a:stretch>
            <a:fillRect/>
          </a:stretch>
        </p:blipFill>
        <p:spPr>
          <a:xfrm>
            <a:off x="-1" y="-1"/>
            <a:ext cx="7858125" cy="6904581"/>
          </a:xfrm>
          <a:prstGeom prst="rect">
            <a:avLst/>
          </a:prstGeom>
        </p:spPr>
      </p:pic>
      <p:sp>
        <p:nvSpPr>
          <p:cNvPr id="7" name="TextBox 6">
            <a:extLst>
              <a:ext uri="{FF2B5EF4-FFF2-40B4-BE49-F238E27FC236}">
                <a16:creationId xmlns:a16="http://schemas.microsoft.com/office/drawing/2014/main" id="{B5FEDB83-43BF-C749-4416-6A814CFC3756}"/>
              </a:ext>
            </a:extLst>
          </p:cNvPr>
          <p:cNvSpPr txBox="1"/>
          <p:nvPr/>
        </p:nvSpPr>
        <p:spPr>
          <a:xfrm>
            <a:off x="8146257" y="794717"/>
            <a:ext cx="3619500" cy="5355312"/>
          </a:xfrm>
          <a:prstGeom prst="rect">
            <a:avLst/>
          </a:prstGeom>
          <a:noFill/>
        </p:spPr>
        <p:txBody>
          <a:bodyPr wrap="square">
            <a:spAutoFit/>
          </a:bodyPr>
          <a:lstStyle/>
          <a:p>
            <a:pPr>
              <a:lnSpc>
                <a:spcPct val="150000"/>
              </a:lnSpc>
            </a:pPr>
            <a:r>
              <a:rPr lang="en-US" sz="2400" dirty="0">
                <a:latin typeface="Helvetica Neue Light" panose="02000403000000020004" pitchFamily="2" charset="0"/>
                <a:ea typeface="Helvetica Neue Light" panose="02000403000000020004" pitchFamily="2" charset="0"/>
              </a:rPr>
              <a:t>This is the HTML and Semantic UI CSS classes to make the main nav bar and includes the 3 Vue router links 6, 9 and 12. </a:t>
            </a:r>
            <a:r>
              <a:rPr lang="en-GB" sz="2400" dirty="0">
                <a:solidFill>
                  <a:srgbClr val="1F1E20"/>
                </a:solidFill>
                <a:effectLst/>
                <a:latin typeface="Helvetica Neue Light" panose="02000403000000020004" pitchFamily="2" charset="0"/>
                <a:ea typeface="Helvetica Neue Light" panose="02000403000000020004" pitchFamily="2" charset="0"/>
              </a:rPr>
              <a:t>then declares an outlet (the </a:t>
            </a:r>
            <a:r>
              <a:rPr lang="en-GB" sz="2400" dirty="0">
                <a:latin typeface="Helvetica Neue Light" panose="02000403000000020004" pitchFamily="2" charset="0"/>
                <a:ea typeface="Helvetica Neue Light" panose="02000403000000020004" pitchFamily="2" charset="0"/>
              </a:rPr>
              <a:t>&lt;router-view /&gt;</a:t>
            </a:r>
            <a:r>
              <a:rPr lang="en-GB" sz="2400" dirty="0">
                <a:solidFill>
                  <a:srgbClr val="1F1E20"/>
                </a:solidFill>
                <a:effectLst/>
                <a:latin typeface="Helvetica Neue Light" panose="02000403000000020004" pitchFamily="2" charset="0"/>
                <a:ea typeface="Helvetica Neue Light" panose="02000403000000020004" pitchFamily="2" charset="0"/>
              </a:rPr>
              <a:t> component – line 22) for our views.</a:t>
            </a:r>
            <a:endParaRPr lang="en-US" sz="2400" dirty="0">
              <a:latin typeface="Helvetica Neue Light" panose="02000403000000020004" pitchFamily="2" charset="0"/>
              <a:ea typeface="Helvetica Neue Light" panose="02000403000000020004" pitchFamily="2" charset="0"/>
            </a:endParaRPr>
          </a:p>
          <a:p>
            <a:endParaRPr lang="en-US"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692830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5053012" y="138466"/>
            <a:ext cx="4748213" cy="684742"/>
          </a:xfrm>
        </p:spPr>
        <p:txBody>
          <a:bodyPr>
            <a:normAutofit/>
          </a:bodyPr>
          <a:lstStyle/>
          <a:p>
            <a:r>
              <a:rPr lang="en-US" sz="36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Script and </a:t>
            </a:r>
            <a:r>
              <a:rPr lang="en-US" sz="3600"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css</a:t>
            </a:r>
            <a:r>
              <a:rPr lang="en-US" sz="36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part</a:t>
            </a:r>
          </a:p>
        </p:txBody>
      </p:sp>
      <p:pic>
        <p:nvPicPr>
          <p:cNvPr id="5" name="Picture 4">
            <a:extLst>
              <a:ext uri="{FF2B5EF4-FFF2-40B4-BE49-F238E27FC236}">
                <a16:creationId xmlns:a16="http://schemas.microsoft.com/office/drawing/2014/main" id="{D86A2B75-CAFC-46CF-331A-6D1F3986E3BB}"/>
              </a:ext>
            </a:extLst>
          </p:cNvPr>
          <p:cNvPicPr>
            <a:picLocks noChangeAspect="1"/>
          </p:cNvPicPr>
          <p:nvPr/>
        </p:nvPicPr>
        <p:blipFill>
          <a:blip r:embed="rId2"/>
          <a:stretch>
            <a:fillRect/>
          </a:stretch>
        </p:blipFill>
        <p:spPr>
          <a:xfrm>
            <a:off x="0" y="0"/>
            <a:ext cx="4442114" cy="6858000"/>
          </a:xfrm>
          <a:prstGeom prst="rect">
            <a:avLst/>
          </a:prstGeom>
        </p:spPr>
      </p:pic>
      <p:sp>
        <p:nvSpPr>
          <p:cNvPr id="6" name="TextBox 5">
            <a:extLst>
              <a:ext uri="{FF2B5EF4-FFF2-40B4-BE49-F238E27FC236}">
                <a16:creationId xmlns:a16="http://schemas.microsoft.com/office/drawing/2014/main" id="{68A54CC5-2E5F-A6C9-54B7-0814392D9D30}"/>
              </a:ext>
            </a:extLst>
          </p:cNvPr>
          <p:cNvSpPr txBox="1"/>
          <p:nvPr/>
        </p:nvSpPr>
        <p:spPr>
          <a:xfrm>
            <a:off x="5053012" y="947309"/>
            <a:ext cx="6905626" cy="4801314"/>
          </a:xfrm>
          <a:prstGeom prst="rect">
            <a:avLst/>
          </a:prstGeom>
          <a:noFill/>
        </p:spPr>
        <p:txBody>
          <a:bodyPr wrap="square">
            <a:spAutoFit/>
          </a:bodyPr>
          <a:lstStyle/>
          <a:p>
            <a:pPr algn="l" fontAlgn="base">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Using export default:</a:t>
            </a:r>
          </a:p>
          <a:p>
            <a:pPr algn="l" fontAlgn="base">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Another way is declaring a component. In Vue you can create a component and register it. You may also reuse it later if you needed.</a:t>
            </a:r>
            <a:endParaRPr lang="en-US" sz="2400" dirty="0">
              <a:latin typeface="Helvetica Neue Light" panose="02000403000000020004" pitchFamily="2" charset="0"/>
              <a:ea typeface="Helvetica Neue Light" panose="02000403000000020004" pitchFamily="2" charset="0"/>
              <a:hlinkClick r:id="rId3"/>
            </a:endParaRPr>
          </a:p>
          <a:p>
            <a:pPr>
              <a:lnSpc>
                <a:spcPct val="150000"/>
              </a:lnSpc>
            </a:pPr>
            <a:r>
              <a:rPr lang="en-US" sz="2400" dirty="0">
                <a:latin typeface="Helvetica Neue Light" panose="02000403000000020004" pitchFamily="2" charset="0"/>
                <a:ea typeface="Helvetica Neue Light" panose="02000403000000020004" pitchFamily="2" charset="0"/>
                <a:hlinkClick r:id="rId3"/>
              </a:rPr>
              <a:t>https://codesource.io/vue-export-default-vs-vue-new/</a:t>
            </a:r>
            <a:endParaRPr lang="en-US" sz="2400" dirty="0">
              <a:latin typeface="Helvetica Neue Light" panose="02000403000000020004" pitchFamily="2" charset="0"/>
              <a:ea typeface="Helvetica Neue Light" panose="02000403000000020004" pitchFamily="2" charset="0"/>
            </a:endParaRPr>
          </a:p>
          <a:p>
            <a:pPr>
              <a:lnSpc>
                <a:spcPct val="150000"/>
              </a:lnSpc>
            </a:pPr>
            <a:endParaRPr lang="en-US" sz="2400" dirty="0">
              <a:latin typeface="Helvetica Neue Light" panose="02000403000000020004" pitchFamily="2" charset="0"/>
              <a:ea typeface="Helvetica Neue Light" panose="02000403000000020004" pitchFamily="2" charset="0"/>
            </a:endParaRPr>
          </a:p>
          <a:p>
            <a:pPr>
              <a:lnSpc>
                <a:spcPct val="150000"/>
              </a:lnSpc>
            </a:pPr>
            <a:r>
              <a:rPr lang="en-US" sz="2400" dirty="0">
                <a:latin typeface="Helvetica Neue Light" panose="02000403000000020004" pitchFamily="2" charset="0"/>
                <a:ea typeface="Helvetica Neue Light" panose="02000403000000020004" pitchFamily="2" charset="0"/>
              </a:rPr>
              <a:t>Some additional CSS from line 35 onwards</a:t>
            </a:r>
          </a:p>
          <a:p>
            <a:endParaRPr lang="en-US" dirty="0"/>
          </a:p>
        </p:txBody>
      </p:sp>
    </p:spTree>
    <p:extLst>
      <p:ext uri="{BB962C8B-B14F-4D97-AF65-F5344CB8AC3E}">
        <p14:creationId xmlns:p14="http://schemas.microsoft.com/office/powerpoint/2010/main" val="681606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04819"/>
            <a:ext cx="10515600" cy="662781"/>
          </a:xfrm>
        </p:spPr>
        <p:txBody>
          <a:bodyPr>
            <a:normAutofit fontScale="90000"/>
          </a:bodyPr>
          <a:lstStyle/>
          <a:p>
            <a:r>
              <a:rPr lang="en-US"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Test the front end</a:t>
            </a:r>
          </a:p>
        </p:txBody>
      </p:sp>
      <p:sp>
        <p:nvSpPr>
          <p:cNvPr id="5" name="TextBox 4">
            <a:extLst>
              <a:ext uri="{FF2B5EF4-FFF2-40B4-BE49-F238E27FC236}">
                <a16:creationId xmlns:a16="http://schemas.microsoft.com/office/drawing/2014/main" id="{7580C5DE-101E-AA47-41A2-90B4AD1BE570}"/>
              </a:ext>
            </a:extLst>
          </p:cNvPr>
          <p:cNvSpPr txBox="1"/>
          <p:nvPr/>
        </p:nvSpPr>
        <p:spPr>
          <a:xfrm>
            <a:off x="7296150" y="2188142"/>
            <a:ext cx="3929065" cy="854080"/>
          </a:xfrm>
          <a:prstGeom prst="rect">
            <a:avLst/>
          </a:prstGeom>
          <a:noFill/>
        </p:spPr>
        <p:txBody>
          <a:bodyPr wrap="square">
            <a:spAutoFit/>
          </a:bodyPr>
          <a:lstStyle/>
          <a:p>
            <a:pPr algn="l">
              <a:lnSpc>
                <a:spcPct val="150000"/>
              </a:lnSpc>
            </a:pPr>
            <a:r>
              <a:rPr lang="en-GB" sz="3600" dirty="0" err="1">
                <a:solidFill>
                  <a:srgbClr val="444444"/>
                </a:solidFill>
                <a:latin typeface="Courier New" panose="02070309020205020404" pitchFamily="49" charset="0"/>
                <a:ea typeface="Helvetica Neue Light" panose="02000403000000020004" pitchFamily="2" charset="0"/>
                <a:cs typeface="Courier New" panose="02070309020205020404" pitchFamily="49" charset="0"/>
              </a:rPr>
              <a:t>n</a:t>
            </a:r>
            <a:r>
              <a:rPr lang="en-GB" sz="3600" dirty="0" err="1">
                <a:solidFill>
                  <a:srgbClr val="444444"/>
                </a:solidFill>
                <a:effectLst/>
                <a:latin typeface="Courier New" panose="02070309020205020404" pitchFamily="49" charset="0"/>
                <a:ea typeface="Helvetica Neue Light" panose="02000403000000020004" pitchFamily="2" charset="0"/>
                <a:cs typeface="Courier New" panose="02070309020205020404" pitchFamily="49" charset="0"/>
              </a:rPr>
              <a:t>pm</a:t>
            </a:r>
            <a:r>
              <a:rPr lang="en-GB" sz="3600" dirty="0">
                <a:solidFill>
                  <a:srgbClr val="444444"/>
                </a:solidFill>
                <a:effectLst/>
                <a:latin typeface="Courier New" panose="02070309020205020404" pitchFamily="49" charset="0"/>
                <a:ea typeface="Helvetica Neue Light" panose="02000403000000020004" pitchFamily="2" charset="0"/>
                <a:cs typeface="Courier New" panose="02070309020205020404" pitchFamily="49" charset="0"/>
              </a:rPr>
              <a:t> run serve</a:t>
            </a:r>
          </a:p>
        </p:txBody>
      </p:sp>
      <p:pic>
        <p:nvPicPr>
          <p:cNvPr id="2" name="Picture 1">
            <a:extLst>
              <a:ext uri="{FF2B5EF4-FFF2-40B4-BE49-F238E27FC236}">
                <a16:creationId xmlns:a16="http://schemas.microsoft.com/office/drawing/2014/main" id="{2B8E6EFC-3D15-EAA5-23DD-929F1E4F3236}"/>
              </a:ext>
            </a:extLst>
          </p:cNvPr>
          <p:cNvPicPr>
            <a:picLocks noChangeAspect="1"/>
          </p:cNvPicPr>
          <p:nvPr/>
        </p:nvPicPr>
        <p:blipFill rotWithShape="1">
          <a:blip r:embed="rId2"/>
          <a:srcRect t="3221"/>
          <a:stretch/>
        </p:blipFill>
        <p:spPr>
          <a:xfrm>
            <a:off x="985496" y="4311340"/>
            <a:ext cx="8275186" cy="1588217"/>
          </a:xfrm>
          <a:prstGeom prst="rect">
            <a:avLst/>
          </a:prstGeom>
          <a:ln>
            <a:solidFill>
              <a:schemeClr val="tx1">
                <a:lumMod val="65000"/>
                <a:lumOff val="35000"/>
              </a:schemeClr>
            </a:solidFill>
          </a:ln>
        </p:spPr>
      </p:pic>
      <p:pic>
        <p:nvPicPr>
          <p:cNvPr id="3" name="Picture 2">
            <a:extLst>
              <a:ext uri="{FF2B5EF4-FFF2-40B4-BE49-F238E27FC236}">
                <a16:creationId xmlns:a16="http://schemas.microsoft.com/office/drawing/2014/main" id="{DD13E7DB-96CC-ED16-4944-2877D07BD060}"/>
              </a:ext>
            </a:extLst>
          </p:cNvPr>
          <p:cNvPicPr>
            <a:picLocks noChangeAspect="1"/>
          </p:cNvPicPr>
          <p:nvPr/>
        </p:nvPicPr>
        <p:blipFill>
          <a:blip r:embed="rId3"/>
          <a:stretch>
            <a:fillRect/>
          </a:stretch>
        </p:blipFill>
        <p:spPr>
          <a:xfrm>
            <a:off x="966786" y="967601"/>
            <a:ext cx="4693786" cy="3077304"/>
          </a:xfrm>
          <a:prstGeom prst="rect">
            <a:avLst/>
          </a:prstGeom>
        </p:spPr>
      </p:pic>
      <p:cxnSp>
        <p:nvCxnSpPr>
          <p:cNvPr id="7" name="Straight Arrow Connector 6">
            <a:extLst>
              <a:ext uri="{FF2B5EF4-FFF2-40B4-BE49-F238E27FC236}">
                <a16:creationId xmlns:a16="http://schemas.microsoft.com/office/drawing/2014/main" id="{F626BA3B-FF66-3305-9D95-03588586351A}"/>
              </a:ext>
            </a:extLst>
          </p:cNvPr>
          <p:cNvCxnSpPr>
            <a:cxnSpLocks/>
            <a:stCxn id="5" idx="1"/>
          </p:cNvCxnSpPr>
          <p:nvPr/>
        </p:nvCxnSpPr>
        <p:spPr>
          <a:xfrm flipH="1" flipV="1">
            <a:off x="4626429" y="1165514"/>
            <a:ext cx="2669721" cy="1449668"/>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69D9C112-9B3F-9A74-0575-86FDE896E724}"/>
              </a:ext>
            </a:extLst>
          </p:cNvPr>
          <p:cNvCxnSpPr>
            <a:cxnSpLocks/>
          </p:cNvCxnSpPr>
          <p:nvPr/>
        </p:nvCxnSpPr>
        <p:spPr>
          <a:xfrm>
            <a:off x="3954917" y="3195673"/>
            <a:ext cx="0" cy="1425651"/>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58E08AEC-2367-772E-E5B7-ADD4BCDEC2EF}"/>
              </a:ext>
            </a:extLst>
          </p:cNvPr>
          <p:cNvSpPr txBox="1"/>
          <p:nvPr/>
        </p:nvSpPr>
        <p:spPr>
          <a:xfrm>
            <a:off x="966786" y="6051047"/>
            <a:ext cx="8873900" cy="494110"/>
          </a:xfrm>
          <a:prstGeom prst="rect">
            <a:avLst/>
          </a:prstGeom>
          <a:noFill/>
        </p:spPr>
        <p:txBody>
          <a:bodyPr wrap="square">
            <a:spAutoFit/>
          </a:bodyPr>
          <a:lstStyle/>
          <a:p>
            <a:pPr algn="l">
              <a:lnSpc>
                <a:spcPct val="150000"/>
              </a:lnSpc>
            </a:pPr>
            <a:r>
              <a:rPr lang="en-GB" sz="2000" dirty="0">
                <a:solidFill>
                  <a:srgbClr val="444444"/>
                </a:solidFill>
                <a:latin typeface="Helvetica Neue Light" panose="02000403000000020004" pitchFamily="2" charset="0"/>
                <a:ea typeface="Helvetica Neue Light" panose="02000403000000020004" pitchFamily="2" charset="0"/>
                <a:cs typeface="Courier New" panose="02070309020205020404" pitchFamily="49" charset="0"/>
              </a:rPr>
              <a:t>NB- end of week 9 part1 in my code - you carry on </a:t>
            </a:r>
            <a:endParaRPr lang="en-GB" sz="2000" dirty="0">
              <a:solidFill>
                <a:srgbClr val="444444"/>
              </a:solidFill>
              <a:effectLst/>
              <a:latin typeface="Helvetica Neue Light" panose="02000403000000020004" pitchFamily="2" charset="0"/>
              <a:ea typeface="Helvetica Neue Light" panose="02000403000000020004" pitchFamily="2" charset="0"/>
              <a:cs typeface="Courier New" panose="02070309020205020404" pitchFamily="49" charset="0"/>
            </a:endParaRPr>
          </a:p>
        </p:txBody>
      </p:sp>
    </p:spTree>
    <p:extLst>
      <p:ext uri="{BB962C8B-B14F-4D97-AF65-F5344CB8AC3E}">
        <p14:creationId xmlns:p14="http://schemas.microsoft.com/office/powerpoint/2010/main" val="2002948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440904"/>
            <a:ext cx="10320338" cy="1230734"/>
          </a:xfrm>
        </p:spPr>
        <p:txBody>
          <a:bodyPr>
            <a:noAutofit/>
          </a:bodyPr>
          <a:lstStyle/>
          <a:p>
            <a:r>
              <a:rPr lang="en-US" sz="54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YAY - coffee Beak</a:t>
            </a:r>
          </a:p>
        </p:txBody>
      </p:sp>
      <p:pic>
        <p:nvPicPr>
          <p:cNvPr id="1026" name="Picture 2">
            <a:extLst>
              <a:ext uri="{FF2B5EF4-FFF2-40B4-BE49-F238E27FC236}">
                <a16:creationId xmlns:a16="http://schemas.microsoft.com/office/drawing/2014/main" id="{DD1101CC-6780-3C48-3201-D51893445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71638"/>
            <a:ext cx="7377113" cy="4918834"/>
          </a:xfrm>
          <a:prstGeom prst="rect">
            <a:avLst/>
          </a:prstGeom>
          <a:noFill/>
          <a:ln>
            <a:solidFill>
              <a:schemeClr val="tx1">
                <a:lumMod val="65000"/>
                <a:lumOff val="3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95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864394"/>
            <a:ext cx="12192000" cy="5129212"/>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Back to work !</a:t>
            </a:r>
          </a:p>
          <a:p>
            <a:pPr marL="0" indent="0" algn="ctr">
              <a:lnSpc>
                <a:spcPct val="150000"/>
              </a:lnSpc>
              <a:buNone/>
            </a:pP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Communicating with the Back End</a:t>
            </a:r>
          </a:p>
          <a:p>
            <a:pPr marL="0" indent="0" algn="ctr">
              <a:lnSpc>
                <a:spcPct val="150000"/>
              </a:lnSpc>
              <a:buNone/>
            </a:pP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part 1</a:t>
            </a:r>
          </a:p>
        </p:txBody>
      </p:sp>
    </p:spTree>
    <p:extLst>
      <p:ext uri="{BB962C8B-B14F-4D97-AF65-F5344CB8AC3E}">
        <p14:creationId xmlns:p14="http://schemas.microsoft.com/office/powerpoint/2010/main" val="2250555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646754"/>
            <a:ext cx="12192000" cy="1564492"/>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src</a:t>
            </a: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/helpers/</a:t>
            </a: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helpers.js</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230471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6970080" y="152221"/>
            <a:ext cx="4821432" cy="684742"/>
          </a:xfrm>
        </p:spPr>
        <p:txBody>
          <a:bodyPr>
            <a:normAutofit/>
          </a:bodyPr>
          <a:lstStyle/>
          <a:p>
            <a:r>
              <a:rPr lang="en-US" sz="3600"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helpers.js</a:t>
            </a:r>
            <a:r>
              <a:rPr lang="en-US" sz="36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full code</a:t>
            </a:r>
          </a:p>
        </p:txBody>
      </p:sp>
      <p:pic>
        <p:nvPicPr>
          <p:cNvPr id="3" name="Picture 2">
            <a:extLst>
              <a:ext uri="{FF2B5EF4-FFF2-40B4-BE49-F238E27FC236}">
                <a16:creationId xmlns:a16="http://schemas.microsoft.com/office/drawing/2014/main" id="{6E9CAA0F-70B8-8102-BB8A-EC1FF9DF1ECA}"/>
              </a:ext>
            </a:extLst>
          </p:cNvPr>
          <p:cNvPicPr>
            <a:picLocks noChangeAspect="1"/>
          </p:cNvPicPr>
          <p:nvPr/>
        </p:nvPicPr>
        <p:blipFill>
          <a:blip r:embed="rId2"/>
          <a:stretch>
            <a:fillRect/>
          </a:stretch>
        </p:blipFill>
        <p:spPr>
          <a:xfrm>
            <a:off x="0" y="0"/>
            <a:ext cx="6532368" cy="6858000"/>
          </a:xfrm>
          <a:prstGeom prst="rect">
            <a:avLst/>
          </a:prstGeom>
        </p:spPr>
      </p:pic>
      <p:sp>
        <p:nvSpPr>
          <p:cNvPr id="5" name="TextBox 4">
            <a:extLst>
              <a:ext uri="{FF2B5EF4-FFF2-40B4-BE49-F238E27FC236}">
                <a16:creationId xmlns:a16="http://schemas.microsoft.com/office/drawing/2014/main" id="{87BD121C-4E49-CBC0-FA0E-2F53D9C0EF04}"/>
              </a:ext>
            </a:extLst>
          </p:cNvPr>
          <p:cNvSpPr txBox="1"/>
          <p:nvPr/>
        </p:nvSpPr>
        <p:spPr>
          <a:xfrm>
            <a:off x="6970080" y="836963"/>
            <a:ext cx="4821431" cy="5612627"/>
          </a:xfrm>
          <a:prstGeom prst="rect">
            <a:avLst/>
          </a:prstGeom>
          <a:noFill/>
        </p:spPr>
        <p:txBody>
          <a:bodyPr wrap="square">
            <a:spAutoFit/>
          </a:bodyPr>
          <a:lstStyle/>
          <a:p>
            <a:pPr>
              <a:lnSpc>
                <a:spcPct val="150000"/>
              </a:lnSpc>
            </a:pPr>
            <a:r>
              <a:rPr lang="en-GB" sz="2200" dirty="0">
                <a:solidFill>
                  <a:srgbClr val="1F1E20"/>
                </a:solidFill>
                <a:effectLst/>
                <a:latin typeface="Helvetica Neue Light" panose="02000403000000020004" pitchFamily="2" charset="0"/>
                <a:ea typeface="Helvetica Neue Light" panose="02000403000000020004" pitchFamily="2" charset="0"/>
              </a:rPr>
              <a:t>The next thing we need to do is establish a method of communicating with our Node back end. This is where the </a:t>
            </a:r>
            <a:r>
              <a:rPr lang="en-GB" sz="2200" dirty="0" err="1">
                <a:solidFill>
                  <a:srgbClr val="1F1E20"/>
                </a:solidFill>
                <a:effectLst/>
                <a:latin typeface="Helvetica Neue Light" panose="02000403000000020004" pitchFamily="2" charset="0"/>
                <a:ea typeface="Helvetica Neue Light" panose="02000403000000020004" pitchFamily="2" charset="0"/>
              </a:rPr>
              <a:t>axios</a:t>
            </a:r>
            <a:r>
              <a:rPr lang="en-GB" sz="2200" dirty="0">
                <a:solidFill>
                  <a:srgbClr val="1F1E20"/>
                </a:solidFill>
                <a:effectLst/>
                <a:latin typeface="Helvetica Neue Light" panose="02000403000000020004" pitchFamily="2" charset="0"/>
                <a:ea typeface="Helvetica Neue Light" panose="02000403000000020004" pitchFamily="2" charset="0"/>
              </a:rPr>
              <a:t> library comes in that we installed previously. To make our app flexible, we can add any </a:t>
            </a:r>
            <a:r>
              <a:rPr lang="en-GB" sz="2200" dirty="0" err="1">
                <a:solidFill>
                  <a:srgbClr val="1F1E20"/>
                </a:solidFill>
                <a:effectLst/>
                <a:latin typeface="Helvetica Neue Light" panose="02000403000000020004" pitchFamily="2" charset="0"/>
                <a:ea typeface="Helvetica Neue Light" panose="02000403000000020004" pitchFamily="2" charset="0"/>
              </a:rPr>
              <a:t>axios</a:t>
            </a:r>
            <a:r>
              <a:rPr lang="en-GB" sz="2200" dirty="0">
                <a:solidFill>
                  <a:srgbClr val="1F1E20"/>
                </a:solidFill>
                <a:effectLst/>
                <a:latin typeface="Helvetica Neue Light" panose="02000403000000020004" pitchFamily="2" charset="0"/>
                <a:ea typeface="Helvetica Neue Light" panose="02000403000000020004" pitchFamily="2" charset="0"/>
              </a:rPr>
              <a:t>-related code to a helper file which can be included in any component that needs it. Setting things up this way has the advantage of keeping all of our Ajax logic in one place</a:t>
            </a:r>
            <a:r>
              <a:rPr lang="en-GB" sz="2200" dirty="0">
                <a:solidFill>
                  <a:srgbClr val="1F1E20"/>
                </a:solidFill>
                <a:latin typeface="Helvetica Neue Light" panose="02000403000000020004" pitchFamily="2" charset="0"/>
                <a:ea typeface="Helvetica Neue Light" panose="02000403000000020004" pitchFamily="2" charset="0"/>
              </a:rPr>
              <a:t>.</a:t>
            </a:r>
            <a:endParaRPr lang="en-US" sz="22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35028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9CAA0F-70B8-8102-BB8A-EC1FF9DF1ECA}"/>
              </a:ext>
            </a:extLst>
          </p:cNvPr>
          <p:cNvPicPr>
            <a:picLocks noChangeAspect="1"/>
          </p:cNvPicPr>
          <p:nvPr/>
        </p:nvPicPr>
        <p:blipFill rotWithShape="1">
          <a:blip r:embed="rId2"/>
          <a:srcRect t="30359" b="30666"/>
          <a:stretch/>
        </p:blipFill>
        <p:spPr>
          <a:xfrm>
            <a:off x="0" y="868521"/>
            <a:ext cx="6532368" cy="2672862"/>
          </a:xfrm>
          <a:prstGeom prst="rect">
            <a:avLst/>
          </a:prstGeom>
        </p:spPr>
      </p:pic>
      <p:sp>
        <p:nvSpPr>
          <p:cNvPr id="5" name="TextBox 4">
            <a:extLst>
              <a:ext uri="{FF2B5EF4-FFF2-40B4-BE49-F238E27FC236}">
                <a16:creationId xmlns:a16="http://schemas.microsoft.com/office/drawing/2014/main" id="{87BD121C-4E49-CBC0-FA0E-2F53D9C0EF04}"/>
              </a:ext>
            </a:extLst>
          </p:cNvPr>
          <p:cNvSpPr txBox="1"/>
          <p:nvPr/>
        </p:nvSpPr>
        <p:spPr>
          <a:xfrm>
            <a:off x="6854467" y="724083"/>
            <a:ext cx="4937044" cy="3073470"/>
          </a:xfrm>
          <a:prstGeom prst="rect">
            <a:avLst/>
          </a:prstGeom>
          <a:noFill/>
        </p:spPr>
        <p:txBody>
          <a:bodyPr wrap="square">
            <a:spAutoFit/>
          </a:bodyPr>
          <a:lstStyle/>
          <a:p>
            <a:pPr>
              <a:lnSpc>
                <a:spcPct val="150000"/>
              </a:lnSpc>
            </a:pPr>
            <a:r>
              <a:rPr lang="en-GB" sz="2200" dirty="0">
                <a:solidFill>
                  <a:srgbClr val="1F1E20"/>
                </a:solidFill>
                <a:latin typeface="Helvetica Neue Light" panose="02000403000000020004" pitchFamily="2" charset="0"/>
                <a:ea typeface="Helvetica Neue Light" panose="02000403000000020004" pitchFamily="2" charset="0"/>
              </a:rPr>
              <a:t>W</a:t>
            </a:r>
            <a:r>
              <a:rPr lang="en-GB" sz="2200" dirty="0">
                <a:solidFill>
                  <a:srgbClr val="1F1E20"/>
                </a:solidFill>
                <a:effectLst/>
                <a:latin typeface="Helvetica Neue Light" panose="02000403000000020004" pitchFamily="2" charset="0"/>
                <a:ea typeface="Helvetica Neue Light" panose="02000403000000020004" pitchFamily="2" charset="0"/>
              </a:rPr>
              <a:t>e’re exporting an </a:t>
            </a:r>
            <a:r>
              <a:rPr lang="en-GB" sz="2200" dirty="0" err="1">
                <a:solidFill>
                  <a:srgbClr val="1F1E20"/>
                </a:solidFill>
                <a:effectLst/>
                <a:latin typeface="Helvetica Neue Light" panose="02000403000000020004" pitchFamily="2" charset="0"/>
                <a:ea typeface="Helvetica Neue Light" panose="02000403000000020004" pitchFamily="2" charset="0"/>
              </a:rPr>
              <a:t>api</a:t>
            </a:r>
            <a:r>
              <a:rPr lang="en-GB" sz="2200" dirty="0">
                <a:solidFill>
                  <a:srgbClr val="1F1E20"/>
                </a:solidFill>
                <a:effectLst/>
                <a:latin typeface="Helvetica Neue Light" panose="02000403000000020004" pitchFamily="2" charset="0"/>
                <a:ea typeface="Helvetica Neue Light" panose="02000403000000020004" pitchFamily="2" charset="0"/>
              </a:rPr>
              <a:t> object that exposes methods corresponding to the endpoints we created in the previous section. These methods will make Ajax calls to our back end, which will carry out the various CRUD operations.</a:t>
            </a:r>
            <a:endParaRPr lang="en-US" sz="2200" dirty="0">
              <a:latin typeface="Helvetica Neue Light" panose="02000403000000020004" pitchFamily="2" charset="0"/>
              <a:ea typeface="Helvetica Neue Light" panose="02000403000000020004" pitchFamily="2" charset="0"/>
            </a:endParaRPr>
          </a:p>
        </p:txBody>
      </p:sp>
      <p:sp>
        <p:nvSpPr>
          <p:cNvPr id="2" name="Title 3">
            <a:extLst>
              <a:ext uri="{FF2B5EF4-FFF2-40B4-BE49-F238E27FC236}">
                <a16:creationId xmlns:a16="http://schemas.microsoft.com/office/drawing/2014/main" id="{813AA512-2175-6963-FDF6-C86A5209BAB7}"/>
              </a:ext>
            </a:extLst>
          </p:cNvPr>
          <p:cNvSpPr txBox="1">
            <a:spLocks/>
          </p:cNvSpPr>
          <p:nvPr/>
        </p:nvSpPr>
        <p:spPr>
          <a:xfrm>
            <a:off x="400489" y="152221"/>
            <a:ext cx="4821432" cy="6847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helpers.js</a:t>
            </a:r>
            <a:r>
              <a:rPr lang="en-US" sz="36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detail</a:t>
            </a:r>
          </a:p>
        </p:txBody>
      </p:sp>
      <p:cxnSp>
        <p:nvCxnSpPr>
          <p:cNvPr id="9" name="Straight Arrow Connector 8">
            <a:extLst>
              <a:ext uri="{FF2B5EF4-FFF2-40B4-BE49-F238E27FC236}">
                <a16:creationId xmlns:a16="http://schemas.microsoft.com/office/drawing/2014/main" id="{262B8370-6B7B-6BE0-F14D-DF1CC365EFEF}"/>
              </a:ext>
            </a:extLst>
          </p:cNvPr>
          <p:cNvCxnSpPr/>
          <p:nvPr/>
        </p:nvCxnSpPr>
        <p:spPr>
          <a:xfrm flipH="1" flipV="1">
            <a:off x="3055116" y="1030013"/>
            <a:ext cx="3638301" cy="12612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4169BE7-2172-4876-7017-510BD71783DF}"/>
              </a:ext>
            </a:extLst>
          </p:cNvPr>
          <p:cNvCxnSpPr>
            <a:cxnSpLocks/>
          </p:cNvCxnSpPr>
          <p:nvPr/>
        </p:nvCxnSpPr>
        <p:spPr>
          <a:xfrm flipH="1" flipV="1">
            <a:off x="4529959" y="1629103"/>
            <a:ext cx="2324508" cy="51281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6F1E030-F722-B095-79E7-B67BCDFBE90C}"/>
              </a:ext>
            </a:extLst>
          </p:cNvPr>
          <p:cNvCxnSpPr>
            <a:cxnSpLocks/>
          </p:cNvCxnSpPr>
          <p:nvPr/>
        </p:nvCxnSpPr>
        <p:spPr>
          <a:xfrm flipH="1">
            <a:off x="4288385" y="2204952"/>
            <a:ext cx="2566082" cy="5586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9099EEA-ECDE-3D82-3804-2BBE08407C00}"/>
              </a:ext>
            </a:extLst>
          </p:cNvPr>
          <p:cNvCxnSpPr>
            <a:cxnSpLocks/>
          </p:cNvCxnSpPr>
          <p:nvPr/>
        </p:nvCxnSpPr>
        <p:spPr>
          <a:xfrm flipH="1">
            <a:off x="5055476" y="2232885"/>
            <a:ext cx="1798991" cy="94123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CD8213D-11CE-FDA9-84D3-13145F36914B}"/>
              </a:ext>
            </a:extLst>
          </p:cNvPr>
          <p:cNvSpPr txBox="1"/>
          <p:nvPr/>
        </p:nvSpPr>
        <p:spPr>
          <a:xfrm>
            <a:off x="267342" y="5989479"/>
            <a:ext cx="8042086" cy="369332"/>
          </a:xfrm>
          <a:prstGeom prst="rect">
            <a:avLst/>
          </a:prstGeom>
          <a:noFill/>
        </p:spPr>
        <p:txBody>
          <a:bodyPr wrap="square">
            <a:spAutoFit/>
          </a:bodyPr>
          <a:lstStyle/>
          <a:p>
            <a:r>
              <a:rPr lang="en-US" dirty="0">
                <a:hlinkClick r:id="rId3"/>
              </a:rPr>
              <a:t>https://www.sitepoint.com/flow-control-callbacks-promises-async-await/</a:t>
            </a:r>
            <a:endParaRPr lang="en-US" dirty="0"/>
          </a:p>
        </p:txBody>
      </p:sp>
    </p:spTree>
    <p:extLst>
      <p:ext uri="{BB962C8B-B14F-4D97-AF65-F5344CB8AC3E}">
        <p14:creationId xmlns:p14="http://schemas.microsoft.com/office/powerpoint/2010/main" val="97063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hlinkClick r:id="rId2"/>
            <a:extLst>
              <a:ext uri="{FF2B5EF4-FFF2-40B4-BE49-F238E27FC236}">
                <a16:creationId xmlns:a16="http://schemas.microsoft.com/office/drawing/2014/main" id="{5F7546B6-E314-8B21-AACC-7ED86F5DE36C}"/>
              </a:ext>
            </a:extLst>
          </p:cNvPr>
          <p:cNvPicPr>
            <a:picLocks noChangeAspect="1"/>
          </p:cNvPicPr>
          <p:nvPr/>
        </p:nvPicPr>
        <p:blipFill>
          <a:blip r:embed="rId3"/>
          <a:stretch>
            <a:fillRect/>
          </a:stretch>
        </p:blipFill>
        <p:spPr>
          <a:xfrm>
            <a:off x="1019628" y="316159"/>
            <a:ext cx="10507920" cy="5383853"/>
          </a:xfrm>
          <a:prstGeom prst="rect">
            <a:avLst/>
          </a:prstGeom>
          <a:ln>
            <a:solidFill>
              <a:schemeClr val="bg2">
                <a:lumMod val="50000"/>
              </a:schemeClr>
            </a:solidFill>
          </a:ln>
        </p:spPr>
      </p:pic>
      <p:sp>
        <p:nvSpPr>
          <p:cNvPr id="9" name="TextBox 8">
            <a:extLst>
              <a:ext uri="{FF2B5EF4-FFF2-40B4-BE49-F238E27FC236}">
                <a16:creationId xmlns:a16="http://schemas.microsoft.com/office/drawing/2014/main" id="{B3B36D8D-5D17-A369-AAA7-0126B87E73F1}"/>
              </a:ext>
            </a:extLst>
          </p:cNvPr>
          <p:cNvSpPr txBox="1"/>
          <p:nvPr/>
        </p:nvSpPr>
        <p:spPr>
          <a:xfrm>
            <a:off x="3225588" y="6080176"/>
            <a:ext cx="6096000" cy="461665"/>
          </a:xfrm>
          <a:prstGeom prst="rect">
            <a:avLst/>
          </a:prstGeom>
          <a:noFill/>
        </p:spPr>
        <p:txBody>
          <a:bodyPr wrap="square">
            <a:spAutoFit/>
          </a:bodyPr>
          <a:lstStyle/>
          <a:p>
            <a:pPr algn="ctr"/>
            <a:r>
              <a:rPr lang="en-US" sz="2400" dirty="0">
                <a:latin typeface="Helvetica Neue Light" panose="02000403000000020004" pitchFamily="2" charset="0"/>
                <a:ea typeface="Helvetica Neue Light" panose="02000403000000020004" pitchFamily="2" charset="0"/>
                <a:hlinkClick r:id="rId2"/>
              </a:rPr>
              <a:t>https://axios-http.com/</a:t>
            </a:r>
            <a:endParaRPr lang="en-US"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474154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3B36D8D-5D17-A369-AAA7-0126B87E73F1}"/>
              </a:ext>
            </a:extLst>
          </p:cNvPr>
          <p:cNvSpPr txBox="1"/>
          <p:nvPr/>
        </p:nvSpPr>
        <p:spPr>
          <a:xfrm>
            <a:off x="3047998" y="1232541"/>
            <a:ext cx="6096000" cy="523220"/>
          </a:xfrm>
          <a:prstGeom prst="rect">
            <a:avLst/>
          </a:prstGeom>
          <a:noFill/>
        </p:spPr>
        <p:txBody>
          <a:bodyPr wrap="square">
            <a:spAutoFit/>
          </a:bodyPr>
          <a:lstStyle/>
          <a:p>
            <a:pPr algn="ctr"/>
            <a:r>
              <a:rPr lang="en-US" sz="2800" dirty="0">
                <a:latin typeface="Helvetica Neue Light" panose="02000403000000020004" pitchFamily="2" charset="0"/>
                <a:ea typeface="Helvetica Neue Light" panose="02000403000000020004" pitchFamily="2" charset="0"/>
                <a:hlinkClick r:id="rId2"/>
              </a:rPr>
              <a:t>https://javascript.info/promise-basics</a:t>
            </a:r>
            <a:endParaRPr lang="en-US" sz="2800" dirty="0">
              <a:latin typeface="Helvetica Neue Light" panose="02000403000000020004" pitchFamily="2" charset="0"/>
              <a:ea typeface="Helvetica Neue Light" panose="02000403000000020004" pitchFamily="2" charset="0"/>
            </a:endParaRPr>
          </a:p>
        </p:txBody>
      </p:sp>
      <p:sp>
        <p:nvSpPr>
          <p:cNvPr id="2" name="TextBox 1">
            <a:extLst>
              <a:ext uri="{FF2B5EF4-FFF2-40B4-BE49-F238E27FC236}">
                <a16:creationId xmlns:a16="http://schemas.microsoft.com/office/drawing/2014/main" id="{9467E85E-9454-126A-35CD-DCC48512C273}"/>
              </a:ext>
            </a:extLst>
          </p:cNvPr>
          <p:cNvSpPr txBox="1"/>
          <p:nvPr/>
        </p:nvSpPr>
        <p:spPr>
          <a:xfrm>
            <a:off x="798285" y="364950"/>
            <a:ext cx="10595429" cy="1015663"/>
          </a:xfrm>
          <a:prstGeom prst="rect">
            <a:avLst/>
          </a:prstGeom>
          <a:noFill/>
        </p:spPr>
        <p:txBody>
          <a:bodyPr wrap="square">
            <a:spAutoFit/>
          </a:bodyPr>
          <a:lstStyle/>
          <a:p>
            <a:pPr algn="ctr" fontAlgn="base">
              <a:lnSpc>
                <a:spcPct val="150000"/>
              </a:lnSpc>
            </a:pPr>
            <a:r>
              <a:rPr lang="en-GB" sz="2800" dirty="0">
                <a:solidFill>
                  <a:srgbClr val="333333"/>
                </a:solidFill>
                <a:effectLst/>
                <a:latin typeface="Helvetica Neue Light" panose="02000403000000020004" pitchFamily="2" charset="0"/>
                <a:ea typeface="Helvetica Neue Light" panose="02000403000000020004" pitchFamily="2" charset="0"/>
              </a:rPr>
              <a:t>Beyond the scope of this module, but if you are interested</a:t>
            </a:r>
            <a:endParaRPr lang="en-US" sz="2800" dirty="0">
              <a:latin typeface="Helvetica Neue Light" panose="02000403000000020004" pitchFamily="2" charset="0"/>
              <a:ea typeface="Helvetica Neue Light" panose="02000403000000020004" pitchFamily="2" charset="0"/>
            </a:endParaRPr>
          </a:p>
          <a:p>
            <a:pPr algn="ctr"/>
            <a:endParaRPr lang="en-US" dirty="0"/>
          </a:p>
        </p:txBody>
      </p:sp>
      <p:pic>
        <p:nvPicPr>
          <p:cNvPr id="3" name="Picture 2">
            <a:extLst>
              <a:ext uri="{FF2B5EF4-FFF2-40B4-BE49-F238E27FC236}">
                <a16:creationId xmlns:a16="http://schemas.microsoft.com/office/drawing/2014/main" id="{BBC1E139-6158-0FC1-EAA6-4FCDBC4A4E55}"/>
              </a:ext>
            </a:extLst>
          </p:cNvPr>
          <p:cNvPicPr>
            <a:picLocks noChangeAspect="1"/>
          </p:cNvPicPr>
          <p:nvPr/>
        </p:nvPicPr>
        <p:blipFill>
          <a:blip r:embed="rId3"/>
          <a:stretch>
            <a:fillRect/>
          </a:stretch>
        </p:blipFill>
        <p:spPr>
          <a:xfrm>
            <a:off x="2209799" y="2685201"/>
            <a:ext cx="7772400" cy="3807849"/>
          </a:xfrm>
          <a:prstGeom prst="rect">
            <a:avLst/>
          </a:prstGeom>
          <a:ln>
            <a:solidFill>
              <a:schemeClr val="bg2">
                <a:lumMod val="50000"/>
              </a:schemeClr>
            </a:solidFill>
          </a:ln>
        </p:spPr>
      </p:pic>
      <p:sp>
        <p:nvSpPr>
          <p:cNvPr id="6" name="TextBox 5">
            <a:extLst>
              <a:ext uri="{FF2B5EF4-FFF2-40B4-BE49-F238E27FC236}">
                <a16:creationId xmlns:a16="http://schemas.microsoft.com/office/drawing/2014/main" id="{9C0506A5-B7ED-295D-3CAB-0BC267F3FDB5}"/>
              </a:ext>
            </a:extLst>
          </p:cNvPr>
          <p:cNvSpPr txBox="1"/>
          <p:nvPr/>
        </p:nvSpPr>
        <p:spPr>
          <a:xfrm>
            <a:off x="1799769" y="1957993"/>
            <a:ext cx="8592459" cy="523220"/>
          </a:xfrm>
          <a:prstGeom prst="rect">
            <a:avLst/>
          </a:prstGeom>
          <a:noFill/>
        </p:spPr>
        <p:txBody>
          <a:bodyPr wrap="square">
            <a:spAutoFit/>
          </a:bodyPr>
          <a:lstStyle/>
          <a:p>
            <a:pPr algn="ctr"/>
            <a:r>
              <a:rPr lang="en-US" sz="2800" dirty="0">
                <a:latin typeface="Helvetica Neue Light" panose="02000403000000020004" pitchFamily="2" charset="0"/>
                <a:ea typeface="Helvetica Neue Light" panose="02000403000000020004" pitchFamily="2" charset="0"/>
                <a:hlinkClick r:id="rId4"/>
              </a:rPr>
              <a:t>https://www.w3schools.com/js/js_promise.asp</a:t>
            </a:r>
            <a:endParaRPr lang="en-US" sz="28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849683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646754"/>
            <a:ext cx="12192000" cy="1564492"/>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src</a:t>
            </a: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/views/</a:t>
            </a: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Words.vue</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3343519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51400"/>
            <a:ext cx="10515600" cy="1325563"/>
          </a:xfrm>
        </p:spPr>
        <p:txBody>
          <a:bodyPr>
            <a:normAutofit fontScale="90000"/>
          </a:bodyPr>
          <a:lstStyle/>
          <a:p>
            <a:r>
              <a:rPr lang="en-US" sz="6000"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Words.vue</a:t>
            </a:r>
            <a:r>
              <a:rPr lang="en-US" sz="60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pt1 – </a:t>
            </a:r>
            <a:r>
              <a:rPr lang="en-US" sz="49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write this code</a:t>
            </a:r>
          </a:p>
        </p:txBody>
      </p:sp>
      <p:pic>
        <p:nvPicPr>
          <p:cNvPr id="6" name="Picture 5">
            <a:extLst>
              <a:ext uri="{FF2B5EF4-FFF2-40B4-BE49-F238E27FC236}">
                <a16:creationId xmlns:a16="http://schemas.microsoft.com/office/drawing/2014/main" id="{00EFC5BA-EA6C-AF73-A252-9CD61F0B871D}"/>
              </a:ext>
            </a:extLst>
          </p:cNvPr>
          <p:cNvPicPr>
            <a:picLocks noChangeAspect="1"/>
          </p:cNvPicPr>
          <p:nvPr/>
        </p:nvPicPr>
        <p:blipFill>
          <a:blip r:embed="rId2"/>
          <a:stretch>
            <a:fillRect/>
          </a:stretch>
        </p:blipFill>
        <p:spPr>
          <a:xfrm>
            <a:off x="838200" y="1594884"/>
            <a:ext cx="6812248" cy="5111716"/>
          </a:xfrm>
          <a:prstGeom prst="rect">
            <a:avLst/>
          </a:prstGeom>
        </p:spPr>
      </p:pic>
      <p:sp>
        <p:nvSpPr>
          <p:cNvPr id="7" name="TextBox 6">
            <a:extLst>
              <a:ext uri="{FF2B5EF4-FFF2-40B4-BE49-F238E27FC236}">
                <a16:creationId xmlns:a16="http://schemas.microsoft.com/office/drawing/2014/main" id="{48E00B9A-22E7-4ADB-FC22-FB1DFBF29CDC}"/>
              </a:ext>
            </a:extLst>
          </p:cNvPr>
          <p:cNvSpPr txBox="1"/>
          <p:nvPr/>
        </p:nvSpPr>
        <p:spPr>
          <a:xfrm>
            <a:off x="7876659" y="1488928"/>
            <a:ext cx="3848990" cy="1947456"/>
          </a:xfrm>
          <a:prstGeom prst="rect">
            <a:avLst/>
          </a:prstGeom>
          <a:noFill/>
        </p:spPr>
        <p:txBody>
          <a:bodyPr wrap="square">
            <a:spAutoFit/>
          </a:bodyPr>
          <a:lstStyle/>
          <a:p>
            <a:pPr>
              <a:lnSpc>
                <a:spcPct val="150000"/>
              </a:lnSpc>
            </a:pPr>
            <a:r>
              <a:rPr lang="en-GB" sz="2800" dirty="0">
                <a:solidFill>
                  <a:srgbClr val="1F1E20"/>
                </a:solidFill>
                <a:effectLst/>
                <a:latin typeface="Helvetica Neue Light" panose="02000403000000020004" pitchFamily="2" charset="0"/>
                <a:ea typeface="Helvetica Neue Light" panose="02000403000000020004" pitchFamily="2" charset="0"/>
              </a:rPr>
              <a:t>I’ll let you deduce what this code is more or less doing</a:t>
            </a:r>
            <a:endParaRPr lang="en-US" sz="28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74487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0F47F09-9503-0934-862B-8EDFAFD45503}"/>
              </a:ext>
            </a:extLst>
          </p:cNvPr>
          <p:cNvPicPr>
            <a:picLocks noChangeAspect="1"/>
          </p:cNvPicPr>
          <p:nvPr/>
        </p:nvPicPr>
        <p:blipFill>
          <a:blip r:embed="rId2"/>
          <a:stretch>
            <a:fillRect/>
          </a:stretch>
        </p:blipFill>
        <p:spPr>
          <a:xfrm>
            <a:off x="380852" y="1082989"/>
            <a:ext cx="5834346" cy="4242169"/>
          </a:xfrm>
          <a:prstGeom prst="rect">
            <a:avLst/>
          </a:prstGeom>
        </p:spPr>
      </p:pic>
      <p:sp>
        <p:nvSpPr>
          <p:cNvPr id="7" name="Title 3">
            <a:extLst>
              <a:ext uri="{FF2B5EF4-FFF2-40B4-BE49-F238E27FC236}">
                <a16:creationId xmlns:a16="http://schemas.microsoft.com/office/drawing/2014/main" id="{DD870D9E-DD46-8817-27DC-99B6C4660A16}"/>
              </a:ext>
            </a:extLst>
          </p:cNvPr>
          <p:cNvSpPr txBox="1">
            <a:spLocks/>
          </p:cNvSpPr>
          <p:nvPr/>
        </p:nvSpPr>
        <p:spPr>
          <a:xfrm>
            <a:off x="380852" y="265814"/>
            <a:ext cx="7806217" cy="531628"/>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Words.vue</a:t>
            </a:r>
            <a:r>
              <a:rPr lang="en-US"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pt2</a:t>
            </a:r>
          </a:p>
        </p:txBody>
      </p:sp>
      <p:sp>
        <p:nvSpPr>
          <p:cNvPr id="8" name="TextBox 7">
            <a:extLst>
              <a:ext uri="{FF2B5EF4-FFF2-40B4-BE49-F238E27FC236}">
                <a16:creationId xmlns:a16="http://schemas.microsoft.com/office/drawing/2014/main" id="{7CBB9FDA-0C36-A07C-8402-D3A275C675C2}"/>
              </a:ext>
            </a:extLst>
          </p:cNvPr>
          <p:cNvSpPr txBox="1"/>
          <p:nvPr/>
        </p:nvSpPr>
        <p:spPr>
          <a:xfrm>
            <a:off x="6358271" y="905592"/>
            <a:ext cx="5656520" cy="5104795"/>
          </a:xfrm>
          <a:prstGeom prst="rect">
            <a:avLst/>
          </a:prstGeom>
          <a:noFill/>
        </p:spPr>
        <p:txBody>
          <a:bodyPr wrap="square">
            <a:spAutoFit/>
          </a:bodyPr>
          <a:lstStyle/>
          <a:p>
            <a:pPr>
              <a:lnSpc>
                <a:spcPct val="150000"/>
              </a:lnSpc>
            </a:pPr>
            <a:r>
              <a:rPr lang="en-GB" sz="2200" dirty="0">
                <a:solidFill>
                  <a:srgbClr val="1F1E20"/>
                </a:solidFill>
                <a:effectLst/>
                <a:latin typeface="Helvetica Neue Light" panose="02000403000000020004" pitchFamily="2" charset="0"/>
                <a:ea typeface="Helvetica Neue Light" panose="02000403000000020004" pitchFamily="2" charset="0"/>
              </a:rPr>
              <a:t>We are importing our API (24) to perform operations against the back end, then in the component’s </a:t>
            </a:r>
            <a:r>
              <a:rPr lang="en-GB" sz="2200" dirty="0">
                <a:latin typeface="Helvetica Neue Light" panose="02000403000000020004" pitchFamily="2" charset="0"/>
                <a:ea typeface="Helvetica Neue Light" panose="02000403000000020004" pitchFamily="2" charset="0"/>
              </a:rPr>
              <a:t>mounted</a:t>
            </a:r>
            <a:r>
              <a:rPr lang="en-GB" sz="2200" dirty="0">
                <a:solidFill>
                  <a:srgbClr val="1F1E20"/>
                </a:solidFill>
                <a:effectLst/>
                <a:latin typeface="Helvetica Neue Light" panose="02000403000000020004" pitchFamily="2" charset="0"/>
                <a:ea typeface="Helvetica Neue Light" panose="02000403000000020004" pitchFamily="2" charset="0"/>
              </a:rPr>
              <a:t> lifecycle hook we’re calling its </a:t>
            </a:r>
            <a:r>
              <a:rPr lang="en-GB" sz="2200" b="1" dirty="0" err="1">
                <a:solidFill>
                  <a:schemeClr val="accent6"/>
                </a:solidFill>
                <a:latin typeface="Helvetica Neue Light" panose="02000403000000020004" pitchFamily="2" charset="0"/>
                <a:ea typeface="Helvetica Neue Light" panose="02000403000000020004" pitchFamily="2" charset="0"/>
              </a:rPr>
              <a:t>getWords</a:t>
            </a:r>
            <a:r>
              <a:rPr lang="en-GB" sz="2200" b="1" dirty="0">
                <a:solidFill>
                  <a:schemeClr val="accent6"/>
                </a:solidFill>
                <a:effectLst/>
                <a:latin typeface="Helvetica Neue Light" panose="02000403000000020004" pitchFamily="2" charset="0"/>
                <a:ea typeface="Helvetica Neue Light" panose="02000403000000020004" pitchFamily="2" charset="0"/>
              </a:rPr>
              <a:t> method </a:t>
            </a:r>
            <a:r>
              <a:rPr lang="en-GB" sz="2200" dirty="0">
                <a:effectLst/>
                <a:latin typeface="Helvetica Neue Light" panose="02000403000000020004" pitchFamily="2" charset="0"/>
                <a:ea typeface="Helvetica Neue Light" panose="02000403000000020004" pitchFamily="2" charset="0"/>
              </a:rPr>
              <a:t>(34) </a:t>
            </a:r>
            <a:r>
              <a:rPr lang="en-GB" sz="2200" dirty="0">
                <a:solidFill>
                  <a:srgbClr val="1F1E20"/>
                </a:solidFill>
                <a:effectLst/>
                <a:latin typeface="Helvetica Neue Light" panose="02000403000000020004" pitchFamily="2" charset="0"/>
                <a:ea typeface="Helvetica Neue Light" panose="02000403000000020004" pitchFamily="2" charset="0"/>
              </a:rPr>
              <a:t>to fetch all of the words from the database. As the component has a </a:t>
            </a:r>
            <a:r>
              <a:rPr lang="en-GB" sz="2200" dirty="0">
                <a:latin typeface="Helvetica Neue Light" panose="02000403000000020004" pitchFamily="2" charset="0"/>
                <a:ea typeface="Helvetica Neue Light" panose="02000403000000020004" pitchFamily="2" charset="0"/>
              </a:rPr>
              <a:t>words</a:t>
            </a:r>
            <a:r>
              <a:rPr lang="en-GB" sz="2200" dirty="0">
                <a:solidFill>
                  <a:srgbClr val="1F1E20"/>
                </a:solidFill>
                <a:effectLst/>
                <a:latin typeface="Helvetica Neue Light" panose="02000403000000020004" pitchFamily="2" charset="0"/>
                <a:ea typeface="Helvetica Neue Light" panose="02000403000000020004" pitchFamily="2" charset="0"/>
              </a:rPr>
              <a:t> property (30) on its </a:t>
            </a:r>
            <a:r>
              <a:rPr lang="en-GB" sz="2200" dirty="0">
                <a:latin typeface="Helvetica Neue Light" panose="02000403000000020004" pitchFamily="2" charset="0"/>
                <a:ea typeface="Helvetica Neue Light" panose="02000403000000020004" pitchFamily="2" charset="0"/>
              </a:rPr>
              <a:t>data</a:t>
            </a:r>
            <a:r>
              <a:rPr lang="en-GB" sz="2200" dirty="0">
                <a:solidFill>
                  <a:srgbClr val="1F1E20"/>
                </a:solidFill>
                <a:effectLst/>
                <a:latin typeface="Helvetica Neue Light" panose="02000403000000020004" pitchFamily="2" charset="0"/>
                <a:ea typeface="Helvetica Neue Light" panose="02000403000000020004" pitchFamily="2" charset="0"/>
              </a:rPr>
              <a:t> object, we can await the answer from the back end, then insert the response into </a:t>
            </a:r>
            <a:r>
              <a:rPr lang="en-GB" sz="2200" b="1" dirty="0" err="1">
                <a:solidFill>
                  <a:schemeClr val="accent6"/>
                </a:solidFill>
                <a:latin typeface="Helvetica Neue Light" panose="02000403000000020004" pitchFamily="2" charset="0"/>
                <a:ea typeface="Helvetica Neue Light" panose="02000403000000020004" pitchFamily="2" charset="0"/>
              </a:rPr>
              <a:t>this.words</a:t>
            </a:r>
            <a:r>
              <a:rPr lang="en-GB" sz="2200" b="1" dirty="0">
                <a:solidFill>
                  <a:schemeClr val="accent6"/>
                </a:solidFill>
                <a:effectLst/>
                <a:latin typeface="Helvetica Neue Light" panose="02000403000000020004" pitchFamily="2" charset="0"/>
                <a:ea typeface="Helvetica Neue Light" panose="02000403000000020004" pitchFamily="2" charset="0"/>
              </a:rPr>
              <a:t> </a:t>
            </a:r>
            <a:r>
              <a:rPr lang="en-GB" sz="2200" dirty="0">
                <a:solidFill>
                  <a:srgbClr val="1F1E20"/>
                </a:solidFill>
                <a:effectLst/>
                <a:latin typeface="Helvetica Neue Light" panose="02000403000000020004" pitchFamily="2" charset="0"/>
                <a:ea typeface="Helvetica Neue Light" panose="02000403000000020004" pitchFamily="2" charset="0"/>
              </a:rPr>
              <a:t>(34) and the component will update.</a:t>
            </a:r>
            <a:endParaRPr lang="en-US" sz="22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65217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259BC4A-D6C3-191B-4F12-2831E56931F5}"/>
              </a:ext>
            </a:extLst>
          </p:cNvPr>
          <p:cNvPicPr>
            <a:picLocks noChangeAspect="1"/>
          </p:cNvPicPr>
          <p:nvPr/>
        </p:nvPicPr>
        <p:blipFill>
          <a:blip r:embed="rId2"/>
          <a:stretch>
            <a:fillRect/>
          </a:stretch>
        </p:blipFill>
        <p:spPr>
          <a:xfrm>
            <a:off x="380852" y="3429000"/>
            <a:ext cx="10684559" cy="2851971"/>
          </a:xfrm>
          <a:prstGeom prst="rect">
            <a:avLst/>
          </a:prstGeom>
        </p:spPr>
      </p:pic>
      <p:sp>
        <p:nvSpPr>
          <p:cNvPr id="11" name="Title 3">
            <a:extLst>
              <a:ext uri="{FF2B5EF4-FFF2-40B4-BE49-F238E27FC236}">
                <a16:creationId xmlns:a16="http://schemas.microsoft.com/office/drawing/2014/main" id="{54EECD6A-C3FC-06B0-CA71-25346476EA2D}"/>
              </a:ext>
            </a:extLst>
          </p:cNvPr>
          <p:cNvSpPr txBox="1">
            <a:spLocks/>
          </p:cNvSpPr>
          <p:nvPr/>
        </p:nvSpPr>
        <p:spPr>
          <a:xfrm>
            <a:off x="380852" y="265814"/>
            <a:ext cx="7806217" cy="531628"/>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Test system so far</a:t>
            </a:r>
          </a:p>
        </p:txBody>
      </p:sp>
      <p:sp>
        <p:nvSpPr>
          <p:cNvPr id="12" name="TextBox 11">
            <a:extLst>
              <a:ext uri="{FF2B5EF4-FFF2-40B4-BE49-F238E27FC236}">
                <a16:creationId xmlns:a16="http://schemas.microsoft.com/office/drawing/2014/main" id="{747F8E30-0E29-E676-2610-66877EB14951}"/>
              </a:ext>
            </a:extLst>
          </p:cNvPr>
          <p:cNvSpPr txBox="1"/>
          <p:nvPr/>
        </p:nvSpPr>
        <p:spPr>
          <a:xfrm>
            <a:off x="380852" y="871173"/>
            <a:ext cx="11642982" cy="2260106"/>
          </a:xfrm>
          <a:prstGeom prst="rect">
            <a:avLst/>
          </a:prstGeom>
          <a:noFill/>
        </p:spPr>
        <p:txBody>
          <a:bodyPr wrap="square">
            <a:spAutoFit/>
          </a:bodyPr>
          <a:lstStyle/>
          <a:p>
            <a:pPr>
              <a:lnSpc>
                <a:spcPct val="150000"/>
              </a:lnSpc>
            </a:pPr>
            <a:r>
              <a:rPr lang="en-GB" sz="2400" dirty="0">
                <a:solidFill>
                  <a:srgbClr val="1F1E20"/>
                </a:solidFill>
                <a:effectLst/>
                <a:latin typeface="Helvetica Neue Light" panose="02000403000000020004" pitchFamily="2" charset="0"/>
                <a:ea typeface="Helvetica Neue Light" panose="02000403000000020004" pitchFamily="2" charset="0"/>
              </a:rPr>
              <a:t>We need 2 instances of the terminal open at once. One for the back end on port 3000 and one for the front-end port 8080</a:t>
            </a:r>
          </a:p>
          <a:p>
            <a:pPr>
              <a:lnSpc>
                <a:spcPct val="150000"/>
              </a:lnSpc>
            </a:pPr>
            <a:r>
              <a:rPr lang="en-GB" sz="2400" dirty="0">
                <a:solidFill>
                  <a:srgbClr val="1F1E20"/>
                </a:solidFill>
                <a:latin typeface="Helvetica Neue Light" panose="02000403000000020004" pitchFamily="2" charset="0"/>
                <a:ea typeface="Helvetica Neue Light" panose="02000403000000020004" pitchFamily="2" charset="0"/>
              </a:rPr>
              <a:t>Back-end    </a:t>
            </a:r>
            <a:r>
              <a:rPr lang="en-GB" sz="24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cd </a:t>
            </a:r>
            <a:r>
              <a:rPr lang="en-GB" sz="2400" dirty="0" err="1">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uni</a:t>
            </a:r>
            <a:r>
              <a:rPr lang="en-GB" sz="24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/vocab/vocab-wk9-pt2/server </a:t>
            </a:r>
            <a:r>
              <a:rPr lang="en-GB" sz="2400" dirty="0">
                <a:solidFill>
                  <a:srgbClr val="1F1E20"/>
                </a:solidFill>
                <a:latin typeface="Helvetica Neue Light" panose="02000403000000020004" pitchFamily="2" charset="0"/>
                <a:ea typeface="Helvetica Neue Light" panose="02000403000000020004" pitchFamily="2" charset="0"/>
                <a:cs typeface="Courier New" panose="02070309020205020404" pitchFamily="49" charset="0"/>
              </a:rPr>
              <a:t>then</a:t>
            </a:r>
            <a:r>
              <a:rPr lang="en-GB" sz="24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 </a:t>
            </a:r>
            <a:r>
              <a:rPr lang="en-GB" sz="2400" dirty="0" err="1">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npm</a:t>
            </a:r>
            <a:r>
              <a:rPr lang="en-GB" sz="24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 run start</a:t>
            </a:r>
          </a:p>
          <a:p>
            <a:pPr>
              <a:lnSpc>
                <a:spcPct val="150000"/>
              </a:lnSpc>
            </a:pPr>
            <a:r>
              <a:rPr lang="en-GB" sz="2400" dirty="0">
                <a:solidFill>
                  <a:srgbClr val="1F1E20"/>
                </a:solidFill>
                <a:latin typeface="Helvetica Neue Light" panose="02000403000000020004" pitchFamily="2" charset="0"/>
                <a:ea typeface="Helvetica Neue Light" panose="02000403000000020004" pitchFamily="2" charset="0"/>
                <a:cs typeface="Courier New" panose="02070309020205020404" pitchFamily="49" charset="0"/>
              </a:rPr>
              <a:t>Front-end </a:t>
            </a:r>
            <a:r>
              <a:rPr lang="en-GB" sz="24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cd </a:t>
            </a:r>
            <a:r>
              <a:rPr lang="en-GB" sz="2400" dirty="0" err="1">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uni</a:t>
            </a:r>
            <a:r>
              <a:rPr lang="en-GB" sz="24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/vocab/vocab-wk9-pt2/front-end </a:t>
            </a:r>
            <a:r>
              <a:rPr lang="en-GB" sz="2400" dirty="0">
                <a:solidFill>
                  <a:srgbClr val="1F1E20"/>
                </a:solidFill>
                <a:latin typeface="Helvetica Neue Light" panose="02000403000000020004" pitchFamily="2" charset="0"/>
                <a:ea typeface="Helvetica Neue Light" panose="02000403000000020004" pitchFamily="2" charset="0"/>
                <a:cs typeface="Courier New" panose="02070309020205020404" pitchFamily="49" charset="0"/>
              </a:rPr>
              <a:t>then  </a:t>
            </a:r>
            <a:r>
              <a:rPr lang="en-GB" sz="2400" dirty="0" err="1">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npm</a:t>
            </a:r>
            <a:r>
              <a:rPr lang="en-GB" sz="24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 run serve</a:t>
            </a:r>
            <a:endParaRPr lang="en-US" sz="2400" dirty="0">
              <a:latin typeface="Courier New" panose="02070309020205020404" pitchFamily="49" charset="0"/>
              <a:ea typeface="Helvetica Neue Light" panose="02000403000000020004" pitchFamily="2" charset="0"/>
              <a:cs typeface="Courier New" panose="02070309020205020404" pitchFamily="49" charset="0"/>
            </a:endParaRPr>
          </a:p>
        </p:txBody>
      </p:sp>
    </p:spTree>
    <p:extLst>
      <p:ext uri="{BB962C8B-B14F-4D97-AF65-F5344CB8AC3E}">
        <p14:creationId xmlns:p14="http://schemas.microsoft.com/office/powerpoint/2010/main" val="186129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A964943-D34E-9EF5-534E-B127315A0563}"/>
              </a:ext>
            </a:extLst>
          </p:cNvPr>
          <p:cNvPicPr>
            <a:picLocks noChangeAspect="1"/>
          </p:cNvPicPr>
          <p:nvPr/>
        </p:nvPicPr>
        <p:blipFill rotWithShape="1">
          <a:blip r:embed="rId2"/>
          <a:srcRect t="-1" b="-510"/>
          <a:stretch/>
        </p:blipFill>
        <p:spPr>
          <a:xfrm>
            <a:off x="590323" y="1264443"/>
            <a:ext cx="10184995" cy="4836320"/>
          </a:xfrm>
          <a:prstGeom prst="rect">
            <a:avLst/>
          </a:prstGeom>
          <a:ln>
            <a:solidFill>
              <a:schemeClr val="bg2">
                <a:lumMod val="50000"/>
              </a:schemeClr>
            </a:solidFill>
          </a:ln>
        </p:spPr>
      </p:pic>
      <p:sp>
        <p:nvSpPr>
          <p:cNvPr id="11" name="Title 3">
            <a:extLst>
              <a:ext uri="{FF2B5EF4-FFF2-40B4-BE49-F238E27FC236}">
                <a16:creationId xmlns:a16="http://schemas.microsoft.com/office/drawing/2014/main" id="{54EECD6A-C3FC-06B0-CA71-25346476EA2D}"/>
              </a:ext>
            </a:extLst>
          </p:cNvPr>
          <p:cNvSpPr txBox="1">
            <a:spLocks/>
          </p:cNvSpPr>
          <p:nvPr/>
        </p:nvSpPr>
        <p:spPr>
          <a:xfrm>
            <a:off x="590323" y="491423"/>
            <a:ext cx="7806217" cy="531628"/>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Localhost:8080/words</a:t>
            </a:r>
          </a:p>
        </p:txBody>
      </p:sp>
      <p:sp>
        <p:nvSpPr>
          <p:cNvPr id="2" name="TextBox 1">
            <a:extLst>
              <a:ext uri="{FF2B5EF4-FFF2-40B4-BE49-F238E27FC236}">
                <a16:creationId xmlns:a16="http://schemas.microsoft.com/office/drawing/2014/main" id="{C9C07945-6D55-0A72-2F5E-A87F93550548}"/>
              </a:ext>
            </a:extLst>
          </p:cNvPr>
          <p:cNvSpPr txBox="1"/>
          <p:nvPr/>
        </p:nvSpPr>
        <p:spPr>
          <a:xfrm>
            <a:off x="509586" y="6225219"/>
            <a:ext cx="8873900" cy="494110"/>
          </a:xfrm>
          <a:prstGeom prst="rect">
            <a:avLst/>
          </a:prstGeom>
          <a:noFill/>
        </p:spPr>
        <p:txBody>
          <a:bodyPr wrap="square">
            <a:spAutoFit/>
          </a:bodyPr>
          <a:lstStyle/>
          <a:p>
            <a:pPr algn="l">
              <a:lnSpc>
                <a:spcPct val="150000"/>
              </a:lnSpc>
            </a:pPr>
            <a:r>
              <a:rPr lang="en-GB" sz="2000" dirty="0">
                <a:solidFill>
                  <a:srgbClr val="444444"/>
                </a:solidFill>
                <a:latin typeface="Helvetica Neue Light" panose="02000403000000020004" pitchFamily="2" charset="0"/>
                <a:ea typeface="Helvetica Neue Light" panose="02000403000000020004" pitchFamily="2" charset="0"/>
                <a:cs typeface="Courier New" panose="02070309020205020404" pitchFamily="49" charset="0"/>
              </a:rPr>
              <a:t>NB- end of week 9 part2 in my code - you carry on </a:t>
            </a:r>
            <a:endParaRPr lang="en-GB" sz="2000" dirty="0">
              <a:solidFill>
                <a:srgbClr val="444444"/>
              </a:solidFill>
              <a:effectLst/>
              <a:latin typeface="Helvetica Neue Light" panose="02000403000000020004" pitchFamily="2" charset="0"/>
              <a:ea typeface="Helvetica Neue Light" panose="02000403000000020004" pitchFamily="2" charset="0"/>
              <a:cs typeface="Courier New" panose="02070309020205020404" pitchFamily="49" charset="0"/>
            </a:endParaRPr>
          </a:p>
        </p:txBody>
      </p:sp>
    </p:spTree>
    <p:extLst>
      <p:ext uri="{BB962C8B-B14F-4D97-AF65-F5344CB8AC3E}">
        <p14:creationId xmlns:p14="http://schemas.microsoft.com/office/powerpoint/2010/main" val="3613606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485775" y="412329"/>
            <a:ext cx="10887075" cy="1230734"/>
          </a:xfrm>
        </p:spPr>
        <p:txBody>
          <a:bodyPr>
            <a:noAutofit/>
          </a:bodyPr>
          <a:lstStyle/>
          <a:p>
            <a:pPr algn="ctr"/>
            <a:r>
              <a:rPr lang="en-US" sz="48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If you have got this far give yourself a…</a:t>
            </a:r>
          </a:p>
        </p:txBody>
      </p:sp>
      <p:pic>
        <p:nvPicPr>
          <p:cNvPr id="2" name="Picture 1">
            <a:extLst>
              <a:ext uri="{FF2B5EF4-FFF2-40B4-BE49-F238E27FC236}">
                <a16:creationId xmlns:a16="http://schemas.microsoft.com/office/drawing/2014/main" id="{63CBD670-9349-D777-B89F-BEE00A321546}"/>
              </a:ext>
            </a:extLst>
          </p:cNvPr>
          <p:cNvPicPr>
            <a:picLocks noChangeAspect="1"/>
          </p:cNvPicPr>
          <p:nvPr/>
        </p:nvPicPr>
        <p:blipFill>
          <a:blip r:embed="rId2"/>
          <a:stretch>
            <a:fillRect/>
          </a:stretch>
        </p:blipFill>
        <p:spPr>
          <a:xfrm>
            <a:off x="596900" y="2294270"/>
            <a:ext cx="3832226" cy="3816711"/>
          </a:xfrm>
          <a:prstGeom prst="rect">
            <a:avLst/>
          </a:prstGeom>
        </p:spPr>
      </p:pic>
      <p:pic>
        <p:nvPicPr>
          <p:cNvPr id="3074" name="Picture 2">
            <a:extLst>
              <a:ext uri="{FF2B5EF4-FFF2-40B4-BE49-F238E27FC236}">
                <a16:creationId xmlns:a16="http://schemas.microsoft.com/office/drawing/2014/main" id="{CAD48D2B-DB47-1FCA-CC01-056B8869A4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490" y="2243230"/>
            <a:ext cx="5567360" cy="4614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777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1514475"/>
            <a:ext cx="12192000" cy="3829050"/>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Next…</a:t>
            </a:r>
          </a:p>
          <a:p>
            <a:pPr marL="0" indent="0" algn="ctr">
              <a:lnSpc>
                <a:spcPct val="150000"/>
              </a:lnSpc>
              <a:buNone/>
            </a:pP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displaying a single word</a:t>
            </a:r>
          </a:p>
        </p:txBody>
      </p:sp>
    </p:spTree>
    <p:extLst>
      <p:ext uri="{BB962C8B-B14F-4D97-AF65-F5344CB8AC3E}">
        <p14:creationId xmlns:p14="http://schemas.microsoft.com/office/powerpoint/2010/main" val="39298794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DD870D9E-DD46-8817-27DC-99B6C4660A16}"/>
              </a:ext>
            </a:extLst>
          </p:cNvPr>
          <p:cNvSpPr txBox="1">
            <a:spLocks/>
          </p:cNvSpPr>
          <p:nvPr/>
        </p:nvSpPr>
        <p:spPr>
          <a:xfrm>
            <a:off x="852340" y="480126"/>
            <a:ext cx="7806217" cy="53162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The theory</a:t>
            </a:r>
          </a:p>
        </p:txBody>
      </p:sp>
      <p:sp>
        <p:nvSpPr>
          <p:cNvPr id="8" name="TextBox 7">
            <a:extLst>
              <a:ext uri="{FF2B5EF4-FFF2-40B4-BE49-F238E27FC236}">
                <a16:creationId xmlns:a16="http://schemas.microsoft.com/office/drawing/2014/main" id="{7CBB9FDA-0C36-A07C-8402-D3A275C675C2}"/>
              </a:ext>
            </a:extLst>
          </p:cNvPr>
          <p:cNvSpPr txBox="1"/>
          <p:nvPr/>
        </p:nvSpPr>
        <p:spPr>
          <a:xfrm>
            <a:off x="852340" y="1446092"/>
            <a:ext cx="10063310" cy="4532779"/>
          </a:xfrm>
          <a:prstGeom prst="rect">
            <a:avLst/>
          </a:prstGeom>
          <a:noFill/>
        </p:spPr>
        <p:txBody>
          <a:bodyPr wrap="square">
            <a:spAutoFit/>
          </a:bodyPr>
          <a:lstStyle/>
          <a:p>
            <a:pPr>
              <a:lnSpc>
                <a:spcPct val="150000"/>
              </a:lnSpc>
            </a:pPr>
            <a:r>
              <a:rPr lang="en-GB" sz="2800" dirty="0">
                <a:solidFill>
                  <a:srgbClr val="1F1E20"/>
                </a:solidFill>
                <a:effectLst/>
                <a:latin typeface="Helvetica Neue Light" panose="02000403000000020004" pitchFamily="2" charset="0"/>
                <a:ea typeface="Helvetica Neue Light" panose="02000403000000020004" pitchFamily="2" charset="0"/>
              </a:rPr>
              <a:t>To show a single word we will need it’s ID from </a:t>
            </a:r>
            <a:r>
              <a:rPr lang="en-GB" sz="2800" dirty="0" err="1">
                <a:solidFill>
                  <a:srgbClr val="1F1E20"/>
                </a:solidFill>
                <a:effectLst/>
                <a:latin typeface="Helvetica Neue Light" panose="02000403000000020004" pitchFamily="2" charset="0"/>
                <a:ea typeface="Helvetica Neue Light" panose="02000403000000020004" pitchFamily="2" charset="0"/>
              </a:rPr>
              <a:t>mongoDB</a:t>
            </a:r>
            <a:r>
              <a:rPr lang="en-GB" sz="2800" dirty="0">
                <a:solidFill>
                  <a:srgbClr val="1F1E20"/>
                </a:solidFill>
                <a:effectLst/>
                <a:latin typeface="Helvetica Neue Light" panose="02000403000000020004" pitchFamily="2" charset="0"/>
                <a:ea typeface="Helvetica Neue Light" panose="02000403000000020004" pitchFamily="2" charset="0"/>
              </a:rPr>
              <a:t>, equivalent of the primary key from SQL.</a:t>
            </a:r>
          </a:p>
          <a:p>
            <a:pPr>
              <a:lnSpc>
                <a:spcPct val="150000"/>
              </a:lnSpc>
            </a:pPr>
            <a:r>
              <a:rPr lang="en-GB" sz="2800" dirty="0">
                <a:solidFill>
                  <a:srgbClr val="1F1E20"/>
                </a:solidFill>
                <a:latin typeface="Helvetica Neue Light" panose="02000403000000020004" pitchFamily="2" charset="0"/>
                <a:ea typeface="Helvetica Neue Light" panose="02000403000000020004" pitchFamily="2" charset="0"/>
              </a:rPr>
              <a:t>We will need a link from the home page.</a:t>
            </a:r>
          </a:p>
          <a:p>
            <a:pPr>
              <a:lnSpc>
                <a:spcPct val="150000"/>
              </a:lnSpc>
            </a:pPr>
            <a:r>
              <a:rPr lang="en-GB" sz="2800" dirty="0">
                <a:solidFill>
                  <a:srgbClr val="1F1E20"/>
                </a:solidFill>
                <a:latin typeface="Helvetica Neue Light" panose="02000403000000020004" pitchFamily="2" charset="0"/>
                <a:ea typeface="Helvetica Neue Light" panose="02000403000000020004" pitchFamily="2" charset="0"/>
              </a:rPr>
              <a:t>We will use the route </a:t>
            </a:r>
            <a:r>
              <a:rPr lang="en-GB" sz="2800" b="1" dirty="0">
                <a:solidFill>
                  <a:schemeClr val="accent6"/>
                </a:solidFill>
                <a:latin typeface="Helvetica Neue Light" panose="02000403000000020004" pitchFamily="2" charset="0"/>
                <a:ea typeface="Helvetica Neue Light" panose="02000403000000020004" pitchFamily="2" charset="0"/>
              </a:rPr>
              <a:t>/words/:id </a:t>
            </a:r>
            <a:r>
              <a:rPr lang="en-GB" sz="2800" dirty="0">
                <a:solidFill>
                  <a:srgbClr val="1F1E20"/>
                </a:solidFill>
                <a:latin typeface="Helvetica Neue Light" panose="02000403000000020004" pitchFamily="2" charset="0"/>
                <a:ea typeface="Helvetica Neue Light" panose="02000403000000020004" pitchFamily="2" charset="0"/>
              </a:rPr>
              <a:t>from </a:t>
            </a:r>
            <a:r>
              <a:rPr lang="en-GB" sz="2800" dirty="0" err="1">
                <a:solidFill>
                  <a:srgbClr val="1F1E20"/>
                </a:solidFill>
                <a:latin typeface="Helvetica Neue Light" panose="02000403000000020004" pitchFamily="2" charset="0"/>
                <a:ea typeface="Helvetica Neue Light" panose="02000403000000020004" pitchFamily="2" charset="0"/>
              </a:rPr>
              <a:t>routes.js</a:t>
            </a:r>
            <a:endParaRPr lang="en-GB" sz="2800" dirty="0">
              <a:solidFill>
                <a:srgbClr val="1F1E20"/>
              </a:solidFill>
              <a:latin typeface="Helvetica Neue Light" panose="02000403000000020004" pitchFamily="2" charset="0"/>
              <a:ea typeface="Helvetica Neue Light" panose="02000403000000020004" pitchFamily="2" charset="0"/>
            </a:endParaRPr>
          </a:p>
          <a:p>
            <a:pPr>
              <a:lnSpc>
                <a:spcPct val="150000"/>
              </a:lnSpc>
            </a:pPr>
            <a:r>
              <a:rPr lang="en-GB" sz="2800" dirty="0">
                <a:solidFill>
                  <a:srgbClr val="1F1E20"/>
                </a:solidFill>
                <a:latin typeface="Helvetica Neue Light" panose="02000403000000020004" pitchFamily="2" charset="0"/>
                <a:ea typeface="Helvetica Neue Light" panose="02000403000000020004" pitchFamily="2" charset="0"/>
              </a:rPr>
              <a:t>We will need a component to display the result as we did with the get all words.</a:t>
            </a:r>
          </a:p>
          <a:p>
            <a:pPr>
              <a:lnSpc>
                <a:spcPct val="150000"/>
              </a:lnSpc>
            </a:pPr>
            <a:endParaRPr lang="en-US" sz="2800" dirty="0">
              <a:latin typeface="Helvetica Neue Light" panose="02000403000000020004" pitchFamily="2" charset="0"/>
              <a:ea typeface="Helvetica Neue Light" panose="02000403000000020004" pitchFamily="2" charset="0"/>
            </a:endParaRPr>
          </a:p>
        </p:txBody>
      </p:sp>
      <p:sp>
        <p:nvSpPr>
          <p:cNvPr id="3" name="TextBox 2">
            <a:extLst>
              <a:ext uri="{FF2B5EF4-FFF2-40B4-BE49-F238E27FC236}">
                <a16:creationId xmlns:a16="http://schemas.microsoft.com/office/drawing/2014/main" id="{AEBC8694-409A-EDD3-1981-38E0A59268A5}"/>
              </a:ext>
            </a:extLst>
          </p:cNvPr>
          <p:cNvSpPr txBox="1"/>
          <p:nvPr/>
        </p:nvSpPr>
        <p:spPr>
          <a:xfrm>
            <a:off x="852340" y="5751917"/>
            <a:ext cx="6096000" cy="453907"/>
          </a:xfrm>
          <a:prstGeom prst="rect">
            <a:avLst/>
          </a:prstGeom>
          <a:noFill/>
        </p:spPr>
        <p:txBody>
          <a:bodyPr wrap="square">
            <a:spAutoFit/>
          </a:bodyPr>
          <a:lstStyle/>
          <a:p>
            <a:pPr algn="l">
              <a:lnSpc>
                <a:spcPct val="150000"/>
              </a:lnSpc>
            </a:pPr>
            <a:r>
              <a:rPr lang="en-GB" sz="1800" dirty="0">
                <a:solidFill>
                  <a:srgbClr val="FF0000"/>
                </a:solidFill>
                <a:latin typeface="Helvetica Neue Light" panose="02000403000000020004" pitchFamily="2" charset="0"/>
                <a:ea typeface="Helvetica Neue Light" panose="02000403000000020004" pitchFamily="2" charset="0"/>
                <a:cs typeface="Courier New" panose="02070309020205020404" pitchFamily="49" charset="0"/>
              </a:rPr>
              <a:t>week 9 part 3 in my code</a:t>
            </a:r>
            <a:endParaRPr lang="en-GB" sz="1800" dirty="0">
              <a:solidFill>
                <a:srgbClr val="FF0000"/>
              </a:solidFill>
              <a:effectLst/>
              <a:latin typeface="Helvetica Neue Light" panose="02000403000000020004" pitchFamily="2" charset="0"/>
              <a:ea typeface="Helvetica Neue Light" panose="02000403000000020004" pitchFamily="2" charset="0"/>
              <a:cs typeface="Courier New" panose="02070309020205020404" pitchFamily="49" charset="0"/>
            </a:endParaRPr>
          </a:p>
        </p:txBody>
      </p:sp>
    </p:spTree>
    <p:extLst>
      <p:ext uri="{BB962C8B-B14F-4D97-AF65-F5344CB8AC3E}">
        <p14:creationId xmlns:p14="http://schemas.microsoft.com/office/powerpoint/2010/main" val="1892159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DD870D9E-DD46-8817-27DC-99B6C4660A16}"/>
              </a:ext>
            </a:extLst>
          </p:cNvPr>
          <p:cNvSpPr txBox="1">
            <a:spLocks/>
          </p:cNvSpPr>
          <p:nvPr/>
        </p:nvSpPr>
        <p:spPr>
          <a:xfrm>
            <a:off x="852340" y="480126"/>
            <a:ext cx="7806217" cy="53162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The practice - firstly</a:t>
            </a:r>
          </a:p>
        </p:txBody>
      </p:sp>
      <p:sp>
        <p:nvSpPr>
          <p:cNvPr id="8" name="TextBox 7">
            <a:extLst>
              <a:ext uri="{FF2B5EF4-FFF2-40B4-BE49-F238E27FC236}">
                <a16:creationId xmlns:a16="http://schemas.microsoft.com/office/drawing/2014/main" id="{7CBB9FDA-0C36-A07C-8402-D3A275C675C2}"/>
              </a:ext>
            </a:extLst>
          </p:cNvPr>
          <p:cNvSpPr txBox="1"/>
          <p:nvPr/>
        </p:nvSpPr>
        <p:spPr>
          <a:xfrm>
            <a:off x="891584" y="1080190"/>
            <a:ext cx="7209429" cy="654795"/>
          </a:xfrm>
          <a:prstGeom prst="rect">
            <a:avLst/>
          </a:prstGeom>
          <a:noFill/>
        </p:spPr>
        <p:txBody>
          <a:bodyPr wrap="square">
            <a:spAutoFit/>
          </a:bodyPr>
          <a:lstStyle/>
          <a:p>
            <a:pPr>
              <a:lnSpc>
                <a:spcPct val="150000"/>
              </a:lnSpc>
            </a:pPr>
            <a:r>
              <a:rPr lang="en-GB" sz="2800" dirty="0">
                <a:solidFill>
                  <a:srgbClr val="1F1E20"/>
                </a:solidFill>
                <a:effectLst/>
                <a:latin typeface="Helvetica Neue Light" panose="02000403000000020004" pitchFamily="2" charset="0"/>
                <a:ea typeface="Helvetica Neue Light" panose="02000403000000020004" pitchFamily="2" charset="0"/>
              </a:rPr>
              <a:t>In </a:t>
            </a:r>
            <a:r>
              <a:rPr lang="en-GB" sz="2800" dirty="0" err="1">
                <a:solidFill>
                  <a:srgbClr val="1F1E20"/>
                </a:solidFill>
                <a:effectLst/>
                <a:latin typeface="Helvetica Neue Light" panose="02000403000000020004" pitchFamily="2" charset="0"/>
                <a:ea typeface="Helvetica Neue Light" panose="02000403000000020004" pitchFamily="2" charset="0"/>
              </a:rPr>
              <a:t>Words.vue</a:t>
            </a:r>
            <a:r>
              <a:rPr lang="en-GB" sz="2800" dirty="0">
                <a:solidFill>
                  <a:srgbClr val="1F1E20"/>
                </a:solidFill>
                <a:effectLst/>
                <a:latin typeface="Helvetica Neue Light" panose="02000403000000020004" pitchFamily="2" charset="0"/>
                <a:ea typeface="Helvetica Neue Light" panose="02000403000000020004" pitchFamily="2" charset="0"/>
              </a:rPr>
              <a:t> overwrite line 15</a:t>
            </a:r>
            <a:endParaRPr lang="en-US" sz="28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6B003470-B241-6A3A-775D-5EEB6C4C4F10}"/>
              </a:ext>
            </a:extLst>
          </p:cNvPr>
          <p:cNvPicPr>
            <a:picLocks noChangeAspect="1"/>
          </p:cNvPicPr>
          <p:nvPr/>
        </p:nvPicPr>
        <p:blipFill>
          <a:blip r:embed="rId2"/>
          <a:stretch>
            <a:fillRect/>
          </a:stretch>
        </p:blipFill>
        <p:spPr>
          <a:xfrm>
            <a:off x="857509" y="1904049"/>
            <a:ext cx="10358686" cy="531627"/>
          </a:xfrm>
          <a:prstGeom prst="rect">
            <a:avLst/>
          </a:prstGeom>
        </p:spPr>
      </p:pic>
      <p:sp>
        <p:nvSpPr>
          <p:cNvPr id="5" name="TextBox 4">
            <a:extLst>
              <a:ext uri="{FF2B5EF4-FFF2-40B4-BE49-F238E27FC236}">
                <a16:creationId xmlns:a16="http://schemas.microsoft.com/office/drawing/2014/main" id="{E31686EE-3C6B-DA31-3AA1-29E39A08E1BB}"/>
              </a:ext>
            </a:extLst>
          </p:cNvPr>
          <p:cNvSpPr txBox="1"/>
          <p:nvPr/>
        </p:nvSpPr>
        <p:spPr>
          <a:xfrm>
            <a:off x="852340" y="2485649"/>
            <a:ext cx="7209429" cy="654795"/>
          </a:xfrm>
          <a:prstGeom prst="rect">
            <a:avLst/>
          </a:prstGeom>
          <a:noFill/>
        </p:spPr>
        <p:txBody>
          <a:bodyPr wrap="square">
            <a:spAutoFit/>
          </a:bodyPr>
          <a:lstStyle/>
          <a:p>
            <a:pPr>
              <a:lnSpc>
                <a:spcPct val="150000"/>
              </a:lnSpc>
            </a:pPr>
            <a:r>
              <a:rPr lang="en-GB" sz="2800" dirty="0">
                <a:solidFill>
                  <a:srgbClr val="1F1E20"/>
                </a:solidFill>
                <a:effectLst/>
                <a:latin typeface="Helvetica Neue Light" panose="02000403000000020004" pitchFamily="2" charset="0"/>
                <a:ea typeface="Helvetica Neue Light" panose="02000403000000020004" pitchFamily="2" charset="0"/>
              </a:rPr>
              <a:t>With the following:</a:t>
            </a:r>
            <a:endParaRPr lang="en-US" sz="2800" dirty="0">
              <a:latin typeface="Helvetica Neue Light" panose="02000403000000020004" pitchFamily="2" charset="0"/>
              <a:ea typeface="Helvetica Neue Light" panose="02000403000000020004" pitchFamily="2" charset="0"/>
            </a:endParaRPr>
          </a:p>
        </p:txBody>
      </p:sp>
      <p:sp>
        <p:nvSpPr>
          <p:cNvPr id="9" name="TextBox 8">
            <a:extLst>
              <a:ext uri="{FF2B5EF4-FFF2-40B4-BE49-F238E27FC236}">
                <a16:creationId xmlns:a16="http://schemas.microsoft.com/office/drawing/2014/main" id="{A7E8929C-62E0-6638-B7C4-B8B32DE784CE}"/>
              </a:ext>
            </a:extLst>
          </p:cNvPr>
          <p:cNvSpPr txBox="1"/>
          <p:nvPr/>
        </p:nvSpPr>
        <p:spPr>
          <a:xfrm>
            <a:off x="891584" y="4056978"/>
            <a:ext cx="10758413" cy="2593787"/>
          </a:xfrm>
          <a:prstGeom prst="rect">
            <a:avLst/>
          </a:prstGeom>
          <a:noFill/>
        </p:spPr>
        <p:txBody>
          <a:bodyPr wrap="square">
            <a:spAutoFit/>
          </a:bodyPr>
          <a:lstStyle/>
          <a:p>
            <a:pPr>
              <a:lnSpc>
                <a:spcPct val="150000"/>
              </a:lnSpc>
            </a:pPr>
            <a:r>
              <a:rPr lang="en-GB" sz="2800" dirty="0">
                <a:solidFill>
                  <a:srgbClr val="1F1E20"/>
                </a:solidFill>
                <a:effectLst/>
                <a:latin typeface="Helvetica Neue Light" panose="02000403000000020004" pitchFamily="2" charset="0"/>
                <a:ea typeface="Helvetica Neue Light" panose="02000403000000020004" pitchFamily="2" charset="0"/>
              </a:rPr>
              <a:t>This creates a link to the </a:t>
            </a:r>
            <a:r>
              <a:rPr lang="en-GB" sz="2800" dirty="0">
                <a:latin typeface="Helvetica Neue Light" panose="02000403000000020004" pitchFamily="2" charset="0"/>
                <a:ea typeface="Helvetica Neue Light" panose="02000403000000020004" pitchFamily="2" charset="0"/>
              </a:rPr>
              <a:t>show</a:t>
            </a:r>
            <a:r>
              <a:rPr lang="en-GB" sz="2800" dirty="0">
                <a:solidFill>
                  <a:srgbClr val="1F1E20"/>
                </a:solidFill>
                <a:effectLst/>
                <a:latin typeface="Helvetica Neue Light" panose="02000403000000020004" pitchFamily="2" charset="0"/>
                <a:ea typeface="Helvetica Neue Light" panose="02000403000000020004" pitchFamily="2" charset="0"/>
              </a:rPr>
              <a:t> route which we defined in our </a:t>
            </a:r>
            <a:r>
              <a:rPr lang="en-GB" sz="2800" dirty="0" err="1">
                <a:latin typeface="Helvetica Neue Light" panose="02000403000000020004" pitchFamily="2" charset="0"/>
                <a:ea typeface="Helvetica Neue Light" panose="02000403000000020004" pitchFamily="2" charset="0"/>
              </a:rPr>
              <a:t>src</a:t>
            </a:r>
            <a:r>
              <a:rPr lang="en-GB" sz="2800" dirty="0">
                <a:latin typeface="Helvetica Neue Light" panose="02000403000000020004" pitchFamily="2" charset="0"/>
                <a:ea typeface="Helvetica Neue Light" panose="02000403000000020004" pitchFamily="2" charset="0"/>
              </a:rPr>
              <a:t>/</a:t>
            </a:r>
            <a:r>
              <a:rPr lang="en-GB" sz="2800" dirty="0" err="1">
                <a:latin typeface="Helvetica Neue Light" panose="02000403000000020004" pitchFamily="2" charset="0"/>
                <a:ea typeface="Helvetica Neue Light" panose="02000403000000020004" pitchFamily="2" charset="0"/>
              </a:rPr>
              <a:t>router.js</a:t>
            </a:r>
            <a:r>
              <a:rPr lang="en-GB" sz="2800" dirty="0">
                <a:solidFill>
                  <a:srgbClr val="1F1E20"/>
                </a:solidFill>
                <a:effectLst/>
                <a:latin typeface="Helvetica Neue Light" panose="02000403000000020004" pitchFamily="2" charset="0"/>
                <a:ea typeface="Helvetica Neue Light" panose="02000403000000020004" pitchFamily="2" charset="0"/>
              </a:rPr>
              <a:t> file. It uses the current word’s </a:t>
            </a:r>
            <a:r>
              <a:rPr lang="en-GB" sz="2800" dirty="0">
                <a:latin typeface="Helvetica Neue Light" panose="02000403000000020004" pitchFamily="2" charset="0"/>
                <a:ea typeface="Helvetica Neue Light" panose="02000403000000020004" pitchFamily="2" charset="0"/>
              </a:rPr>
              <a:t>_id</a:t>
            </a:r>
            <a:r>
              <a:rPr lang="en-GB" sz="2800" dirty="0">
                <a:solidFill>
                  <a:srgbClr val="1F1E20"/>
                </a:solidFill>
                <a:effectLst/>
                <a:latin typeface="Helvetica Neue Light" panose="02000403000000020004" pitchFamily="2" charset="0"/>
                <a:ea typeface="Helvetica Neue Light" panose="02000403000000020004" pitchFamily="2" charset="0"/>
              </a:rPr>
              <a:t> property to build the URL, resulting in something like:</a:t>
            </a:r>
          </a:p>
          <a:p>
            <a:pPr>
              <a:lnSpc>
                <a:spcPct val="150000"/>
              </a:lnSpc>
            </a:pPr>
            <a:r>
              <a:rPr lang="en-GB" sz="2800" dirty="0">
                <a:latin typeface="Helvetica Neue Light" panose="02000403000000020004" pitchFamily="2" charset="0"/>
                <a:ea typeface="Helvetica Neue Light" panose="02000403000000020004" pitchFamily="2" charset="0"/>
              </a:rPr>
              <a:t>http://localhost:8080/words/6400c0e3cfa24f50ed9d7730</a:t>
            </a:r>
            <a:endParaRPr lang="en-US" sz="2800" dirty="0">
              <a:latin typeface="Helvetica Neue Light" panose="02000403000000020004" pitchFamily="2" charset="0"/>
              <a:ea typeface="Helvetica Neue Light" panose="02000403000000020004" pitchFamily="2" charset="0"/>
            </a:endParaRPr>
          </a:p>
        </p:txBody>
      </p:sp>
      <p:grpSp>
        <p:nvGrpSpPr>
          <p:cNvPr id="12" name="Group 11">
            <a:extLst>
              <a:ext uri="{FF2B5EF4-FFF2-40B4-BE49-F238E27FC236}">
                <a16:creationId xmlns:a16="http://schemas.microsoft.com/office/drawing/2014/main" id="{A7C00233-DFFD-EE8B-598D-3962C2ECEA53}"/>
              </a:ext>
            </a:extLst>
          </p:cNvPr>
          <p:cNvGrpSpPr/>
          <p:nvPr/>
        </p:nvGrpSpPr>
        <p:grpSpPr>
          <a:xfrm>
            <a:off x="852340" y="3257057"/>
            <a:ext cx="11055338" cy="683307"/>
            <a:chOff x="852340" y="3381180"/>
            <a:chExt cx="11055338" cy="683307"/>
          </a:xfrm>
        </p:grpSpPr>
        <p:pic>
          <p:nvPicPr>
            <p:cNvPr id="4" name="Picture 3">
              <a:extLst>
                <a:ext uri="{FF2B5EF4-FFF2-40B4-BE49-F238E27FC236}">
                  <a16:creationId xmlns:a16="http://schemas.microsoft.com/office/drawing/2014/main" id="{DC748C1A-84AC-A881-34EF-F9EDC21F5B9F}"/>
                </a:ext>
              </a:extLst>
            </p:cNvPr>
            <p:cNvPicPr>
              <a:picLocks noChangeAspect="1"/>
            </p:cNvPicPr>
            <p:nvPr/>
          </p:nvPicPr>
          <p:blipFill rotWithShape="1">
            <a:blip r:embed="rId3"/>
            <a:srcRect l="15037"/>
            <a:stretch/>
          </p:blipFill>
          <p:spPr>
            <a:xfrm>
              <a:off x="1548992" y="3381180"/>
              <a:ext cx="10358686" cy="679553"/>
            </a:xfrm>
            <a:prstGeom prst="rect">
              <a:avLst/>
            </a:prstGeom>
          </p:spPr>
        </p:pic>
        <p:pic>
          <p:nvPicPr>
            <p:cNvPr id="11" name="Picture 10">
              <a:extLst>
                <a:ext uri="{FF2B5EF4-FFF2-40B4-BE49-F238E27FC236}">
                  <a16:creationId xmlns:a16="http://schemas.microsoft.com/office/drawing/2014/main" id="{21D4CE21-ACFD-3F9C-D68A-D73308216F83}"/>
                </a:ext>
              </a:extLst>
            </p:cNvPr>
            <p:cNvPicPr>
              <a:picLocks noChangeAspect="1"/>
            </p:cNvPicPr>
            <p:nvPr/>
          </p:nvPicPr>
          <p:blipFill rotWithShape="1">
            <a:blip r:embed="rId3"/>
            <a:srcRect r="94259"/>
            <a:stretch/>
          </p:blipFill>
          <p:spPr>
            <a:xfrm>
              <a:off x="852340" y="3384934"/>
              <a:ext cx="699940" cy="679553"/>
            </a:xfrm>
            <a:prstGeom prst="rect">
              <a:avLst/>
            </a:prstGeom>
          </p:spPr>
        </p:pic>
      </p:grpSp>
    </p:spTree>
    <p:extLst>
      <p:ext uri="{BB962C8B-B14F-4D97-AF65-F5344CB8AC3E}">
        <p14:creationId xmlns:p14="http://schemas.microsoft.com/office/powerpoint/2010/main" val="1059398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1514475"/>
            <a:ext cx="12192000" cy="3829050"/>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src</a:t>
            </a: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/views/</a:t>
            </a: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Show.vue</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a:p>
            <a:pPr marL="0" indent="0" algn="ctr">
              <a:lnSpc>
                <a:spcPct val="150000"/>
              </a:lnSpc>
              <a:buNone/>
            </a:pP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Base file on Moodle</a:t>
            </a:r>
          </a:p>
        </p:txBody>
      </p:sp>
    </p:spTree>
    <p:extLst>
      <p:ext uri="{BB962C8B-B14F-4D97-AF65-F5344CB8AC3E}">
        <p14:creationId xmlns:p14="http://schemas.microsoft.com/office/powerpoint/2010/main" val="30327332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DD870D9E-DD46-8817-27DC-99B6C4660A16}"/>
              </a:ext>
            </a:extLst>
          </p:cNvPr>
          <p:cNvSpPr txBox="1">
            <a:spLocks/>
          </p:cNvSpPr>
          <p:nvPr/>
        </p:nvSpPr>
        <p:spPr>
          <a:xfrm>
            <a:off x="852340" y="480126"/>
            <a:ext cx="7806217" cy="53162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Show.vue</a:t>
            </a:r>
            <a:endParaRPr lang="en-US" sz="54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9" name="TextBox 8">
            <a:extLst>
              <a:ext uri="{FF2B5EF4-FFF2-40B4-BE49-F238E27FC236}">
                <a16:creationId xmlns:a16="http://schemas.microsoft.com/office/drawing/2014/main" id="{A7E8929C-62E0-6638-B7C4-B8B32DE784CE}"/>
              </a:ext>
            </a:extLst>
          </p:cNvPr>
          <p:cNvSpPr txBox="1"/>
          <p:nvPr/>
        </p:nvSpPr>
        <p:spPr>
          <a:xfrm>
            <a:off x="852340" y="1128583"/>
            <a:ext cx="10758413" cy="2790508"/>
          </a:xfrm>
          <a:prstGeom prst="rect">
            <a:avLst/>
          </a:prstGeom>
          <a:noFill/>
        </p:spPr>
        <p:txBody>
          <a:bodyPr wrap="square">
            <a:spAutoFit/>
          </a:bodyPr>
          <a:lstStyle/>
          <a:p>
            <a:pPr>
              <a:lnSpc>
                <a:spcPct val="150000"/>
              </a:lnSpc>
            </a:pPr>
            <a:r>
              <a:rPr lang="en-GB" sz="2400" dirty="0">
                <a:solidFill>
                  <a:srgbClr val="1F1E20"/>
                </a:solidFill>
                <a:effectLst/>
                <a:latin typeface="Helvetica Neue Light" panose="02000403000000020004" pitchFamily="2" charset="0"/>
                <a:ea typeface="Helvetica Neue Light" panose="02000403000000020004" pitchFamily="2" charset="0"/>
              </a:rPr>
              <a:t>Copy the code from </a:t>
            </a:r>
            <a:r>
              <a:rPr lang="en-GB" sz="2400" dirty="0" err="1">
                <a:solidFill>
                  <a:srgbClr val="1F1E20"/>
                </a:solidFill>
                <a:effectLst/>
                <a:latin typeface="Helvetica Neue Light" panose="02000403000000020004" pitchFamily="2" charset="0"/>
                <a:ea typeface="Helvetica Neue Light" panose="02000403000000020004" pitchFamily="2" charset="0"/>
              </a:rPr>
              <a:t>Show.vue</a:t>
            </a:r>
            <a:r>
              <a:rPr lang="en-GB" sz="2400" dirty="0">
                <a:solidFill>
                  <a:srgbClr val="1F1E20"/>
                </a:solidFill>
                <a:effectLst/>
                <a:latin typeface="Helvetica Neue Light" panose="02000403000000020004" pitchFamily="2" charset="0"/>
                <a:ea typeface="Helvetica Neue Light" panose="02000403000000020004" pitchFamily="2" charset="0"/>
              </a:rPr>
              <a:t> from the zip file on Moodle to your </a:t>
            </a:r>
            <a:r>
              <a:rPr lang="en-GB" sz="2400" dirty="0" err="1">
                <a:solidFill>
                  <a:srgbClr val="1F1E20"/>
                </a:solidFill>
                <a:effectLst/>
                <a:latin typeface="Helvetica Neue Light" panose="02000403000000020004" pitchFamily="2" charset="0"/>
                <a:ea typeface="Helvetica Neue Light" panose="02000403000000020004" pitchFamily="2" charset="0"/>
              </a:rPr>
              <a:t>Show.vue</a:t>
            </a:r>
            <a:r>
              <a:rPr lang="en-GB" sz="2400" dirty="0">
                <a:solidFill>
                  <a:srgbClr val="1F1E20"/>
                </a:solidFill>
                <a:effectLst/>
                <a:latin typeface="Helvetica Neue Light" panose="02000403000000020004" pitchFamily="2" charset="0"/>
                <a:ea typeface="Helvetica Neue Light" panose="02000403000000020004" pitchFamily="2" charset="0"/>
              </a:rPr>
              <a:t> file in </a:t>
            </a:r>
            <a:r>
              <a:rPr lang="en-GB" sz="2400" dirty="0" err="1">
                <a:solidFill>
                  <a:srgbClr val="1F1E20"/>
                </a:solidFill>
                <a:effectLst/>
                <a:latin typeface="Helvetica Neue Light" panose="02000403000000020004" pitchFamily="2" charset="0"/>
                <a:ea typeface="Helvetica Neue Light" panose="02000403000000020004" pitchFamily="2" charset="0"/>
              </a:rPr>
              <a:t>src</a:t>
            </a:r>
            <a:r>
              <a:rPr lang="en-GB" sz="2400" dirty="0">
                <a:solidFill>
                  <a:srgbClr val="1F1E20"/>
                </a:solidFill>
                <a:effectLst/>
                <a:latin typeface="Helvetica Neue Light" panose="02000403000000020004" pitchFamily="2" charset="0"/>
                <a:ea typeface="Helvetica Neue Light" panose="02000403000000020004" pitchFamily="2" charset="0"/>
              </a:rPr>
              <a:t>/views.</a:t>
            </a:r>
          </a:p>
          <a:p>
            <a:pPr>
              <a:lnSpc>
                <a:spcPct val="150000"/>
              </a:lnSpc>
            </a:pPr>
            <a:r>
              <a:rPr lang="en-GB" sz="2400" dirty="0">
                <a:solidFill>
                  <a:srgbClr val="1F1E20"/>
                </a:solidFill>
                <a:latin typeface="Helvetica Neue Light" panose="02000403000000020004" pitchFamily="2" charset="0"/>
                <a:ea typeface="Helvetica Neue Light" panose="02000403000000020004" pitchFamily="2" charset="0"/>
              </a:rPr>
              <a:t>The top part of the file is the HTML template and a router-link, read through this yourselves. This is where the flag icons from semantic UI are coming from too</a:t>
            </a:r>
          </a:p>
          <a:p>
            <a:pPr>
              <a:lnSpc>
                <a:spcPct val="150000"/>
              </a:lnSpc>
            </a:pPr>
            <a:endParaRPr lang="en-US" sz="2400"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3D38B511-A7E8-A630-2A6A-036C0D811B92}"/>
              </a:ext>
            </a:extLst>
          </p:cNvPr>
          <p:cNvPicPr>
            <a:picLocks noChangeAspect="1"/>
          </p:cNvPicPr>
          <p:nvPr/>
        </p:nvPicPr>
        <p:blipFill>
          <a:blip r:embed="rId2"/>
          <a:stretch>
            <a:fillRect/>
          </a:stretch>
        </p:blipFill>
        <p:spPr>
          <a:xfrm>
            <a:off x="886157" y="3639541"/>
            <a:ext cx="7772400" cy="1523463"/>
          </a:xfrm>
          <a:prstGeom prst="rect">
            <a:avLst/>
          </a:prstGeom>
        </p:spPr>
      </p:pic>
      <p:sp>
        <p:nvSpPr>
          <p:cNvPr id="10" name="TextBox 9">
            <a:extLst>
              <a:ext uri="{FF2B5EF4-FFF2-40B4-BE49-F238E27FC236}">
                <a16:creationId xmlns:a16="http://schemas.microsoft.com/office/drawing/2014/main" id="{BB23DAB1-7116-F8C7-6A27-806B46DD94D4}"/>
              </a:ext>
            </a:extLst>
          </p:cNvPr>
          <p:cNvSpPr txBox="1"/>
          <p:nvPr/>
        </p:nvSpPr>
        <p:spPr>
          <a:xfrm>
            <a:off x="852340" y="5301535"/>
            <a:ext cx="10318137" cy="1128514"/>
          </a:xfrm>
          <a:prstGeom prst="rect">
            <a:avLst/>
          </a:prstGeom>
          <a:noFill/>
        </p:spPr>
        <p:txBody>
          <a:bodyPr wrap="square">
            <a:spAutoFit/>
          </a:bodyPr>
          <a:lstStyle/>
          <a:p>
            <a:pPr>
              <a:lnSpc>
                <a:spcPct val="150000"/>
              </a:lnSpc>
            </a:pPr>
            <a:r>
              <a:rPr lang="en-GB" sz="2400" dirty="0">
                <a:solidFill>
                  <a:srgbClr val="1F1E20"/>
                </a:solidFill>
                <a:effectLst/>
                <a:latin typeface="Helvetica Neue Light" panose="02000403000000020004" pitchFamily="2" charset="0"/>
                <a:ea typeface="Helvetica Neue Light" panose="02000403000000020004" pitchFamily="2" charset="0"/>
              </a:rPr>
              <a:t>Also take note of the </a:t>
            </a:r>
            <a:r>
              <a:rPr lang="en-GB" sz="2400" dirty="0">
                <a:latin typeface="Helvetica Neue Light" panose="02000403000000020004" pitchFamily="2" charset="0"/>
                <a:ea typeface="Helvetica Neue Light" panose="02000403000000020004" pitchFamily="2" charset="0"/>
              </a:rPr>
              <a:t>scoped</a:t>
            </a:r>
            <a:r>
              <a:rPr lang="en-GB" sz="2400" dirty="0">
                <a:solidFill>
                  <a:srgbClr val="1F1E20"/>
                </a:solidFill>
                <a:effectLst/>
                <a:latin typeface="Helvetica Neue Light" panose="02000403000000020004" pitchFamily="2" charset="0"/>
                <a:ea typeface="Helvetica Neue Light" panose="02000403000000020004" pitchFamily="2" charset="0"/>
              </a:rPr>
              <a:t> attribute on the </a:t>
            </a:r>
            <a:r>
              <a:rPr lang="en-GB" sz="2400" dirty="0">
                <a:latin typeface="Helvetica Neue Light" panose="02000403000000020004" pitchFamily="2" charset="0"/>
                <a:ea typeface="Helvetica Neue Light" panose="02000403000000020004" pitchFamily="2" charset="0"/>
              </a:rPr>
              <a:t>&lt;style&gt;</a:t>
            </a:r>
            <a:r>
              <a:rPr lang="en-GB" sz="2400" dirty="0">
                <a:solidFill>
                  <a:srgbClr val="1F1E20"/>
                </a:solidFill>
                <a:effectLst/>
                <a:latin typeface="Helvetica Neue Light" panose="02000403000000020004" pitchFamily="2" charset="0"/>
                <a:ea typeface="Helvetica Neue Light" panose="02000403000000020004" pitchFamily="2" charset="0"/>
              </a:rPr>
              <a:t> tag at the bottom. This means that any styles declared here are applied to this component only.</a:t>
            </a:r>
            <a:endParaRPr lang="en-US"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406087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7E8929C-62E0-6638-B7C4-B8B32DE784CE}"/>
              </a:ext>
            </a:extLst>
          </p:cNvPr>
          <p:cNvSpPr txBox="1"/>
          <p:nvPr/>
        </p:nvSpPr>
        <p:spPr>
          <a:xfrm>
            <a:off x="395852" y="184171"/>
            <a:ext cx="11132533" cy="1313180"/>
          </a:xfrm>
          <a:prstGeom prst="rect">
            <a:avLst/>
          </a:prstGeom>
          <a:noFill/>
        </p:spPr>
        <p:txBody>
          <a:bodyPr wrap="square">
            <a:spAutoFit/>
          </a:bodyPr>
          <a:lstStyle/>
          <a:p>
            <a:pPr>
              <a:lnSpc>
                <a:spcPct val="150000"/>
              </a:lnSpc>
            </a:pPr>
            <a:r>
              <a:rPr lang="en-US" sz="3200"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Show.vue</a:t>
            </a:r>
            <a:r>
              <a:rPr lang="en-US" sz="3200"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pt2 </a:t>
            </a:r>
          </a:p>
          <a:p>
            <a:pPr>
              <a:lnSpc>
                <a:spcPct val="150000"/>
              </a:lnSpc>
            </a:pPr>
            <a:r>
              <a:rPr lang="en-GB" sz="2200" dirty="0">
                <a:solidFill>
                  <a:srgbClr val="C00000"/>
                </a:solidFill>
                <a:effectLst/>
                <a:latin typeface="Helvetica Neue Light" panose="02000403000000020004" pitchFamily="2" charset="0"/>
                <a:ea typeface="Helvetica Neue Light" panose="02000403000000020004" pitchFamily="2" charset="0"/>
              </a:rPr>
              <a:t>Between the empty script tags add the following code</a:t>
            </a:r>
            <a:r>
              <a:rPr lang="en-GB" sz="2200" dirty="0">
                <a:solidFill>
                  <a:srgbClr val="1F1E20"/>
                </a:solidFill>
                <a:effectLst/>
                <a:latin typeface="Helvetica Neue Light" panose="02000403000000020004" pitchFamily="2" charset="0"/>
                <a:ea typeface="Helvetica Neue Light" panose="02000403000000020004" pitchFamily="2" charset="0"/>
              </a:rPr>
              <a:t>, </a:t>
            </a:r>
            <a:r>
              <a:rPr lang="en-GB" sz="2200" dirty="0">
                <a:solidFill>
                  <a:srgbClr val="1F1E20"/>
                </a:solidFill>
                <a:latin typeface="Helvetica Neue Light" panose="02000403000000020004" pitchFamily="2" charset="0"/>
                <a:ea typeface="Helvetica Neue Light" panose="02000403000000020004" pitchFamily="2" charset="0"/>
              </a:rPr>
              <a:t>s</a:t>
            </a:r>
            <a:r>
              <a:rPr lang="en-GB" sz="2200" dirty="0">
                <a:solidFill>
                  <a:srgbClr val="1F1E20"/>
                </a:solidFill>
                <a:effectLst/>
                <a:latin typeface="Helvetica Neue Light" panose="02000403000000020004" pitchFamily="2" charset="0"/>
                <a:ea typeface="Helvetica Neue Light" panose="02000403000000020004" pitchFamily="2" charset="0"/>
              </a:rPr>
              <a:t>imilar to slide 33.</a:t>
            </a:r>
            <a:endParaRPr lang="en-GB" sz="2200" dirty="0">
              <a:solidFill>
                <a:srgbClr val="1F1E20"/>
              </a:solidFill>
              <a:latin typeface="Helvetica Neue Light" panose="02000403000000020004" pitchFamily="2" charset="0"/>
              <a:ea typeface="Helvetica Neue Light" panose="02000403000000020004" pitchFamily="2" charset="0"/>
            </a:endParaRPr>
          </a:p>
        </p:txBody>
      </p:sp>
      <p:sp>
        <p:nvSpPr>
          <p:cNvPr id="4" name="TextBox 3">
            <a:extLst>
              <a:ext uri="{FF2B5EF4-FFF2-40B4-BE49-F238E27FC236}">
                <a16:creationId xmlns:a16="http://schemas.microsoft.com/office/drawing/2014/main" id="{AE36EC61-5DB5-9FD9-31D7-727C93178F8C}"/>
              </a:ext>
            </a:extLst>
          </p:cNvPr>
          <p:cNvSpPr txBox="1"/>
          <p:nvPr/>
        </p:nvSpPr>
        <p:spPr>
          <a:xfrm>
            <a:off x="422860" y="1384433"/>
            <a:ext cx="4704725" cy="4089133"/>
          </a:xfrm>
          <a:prstGeom prst="rect">
            <a:avLst/>
          </a:prstGeom>
          <a:noFill/>
        </p:spPr>
        <p:txBody>
          <a:bodyPr wrap="square">
            <a:spAutoFit/>
          </a:bodyPr>
          <a:lstStyle/>
          <a:p>
            <a:pPr>
              <a:lnSpc>
                <a:spcPct val="150000"/>
              </a:lnSpc>
            </a:pPr>
            <a:r>
              <a:rPr lang="en-GB" sz="2200" dirty="0">
                <a:solidFill>
                  <a:srgbClr val="1F1E20"/>
                </a:solidFill>
                <a:effectLst/>
                <a:latin typeface="Helvetica Neue Light" panose="02000403000000020004" pitchFamily="2" charset="0"/>
                <a:ea typeface="Helvetica Neue Light" panose="02000403000000020004" pitchFamily="2" charset="0"/>
              </a:rPr>
              <a:t>When mounted, this component will use the same technique as before to get a single word from the database. It identifies the word in question by extracting its ID from the URL using </a:t>
            </a:r>
            <a:r>
              <a:rPr lang="en-GB" sz="2200" b="1" dirty="0">
                <a:solidFill>
                  <a:schemeClr val="accent6"/>
                </a:solidFill>
                <a:latin typeface="HELVETICA NEUE LIGHT" panose="02000403000000020004" pitchFamily="2" charset="0"/>
                <a:ea typeface="HELVETICA NEUE LIGHT" panose="02000403000000020004" pitchFamily="2" charset="0"/>
              </a:rPr>
              <a:t>this.$</a:t>
            </a:r>
            <a:r>
              <a:rPr lang="en-GB" sz="2200" b="1" dirty="0" err="1">
                <a:solidFill>
                  <a:schemeClr val="accent6"/>
                </a:solidFill>
                <a:latin typeface="HELVETICA NEUE LIGHT" panose="02000403000000020004" pitchFamily="2" charset="0"/>
                <a:ea typeface="HELVETICA NEUE LIGHT" panose="02000403000000020004" pitchFamily="2" charset="0"/>
              </a:rPr>
              <a:t>route.params.id</a:t>
            </a:r>
            <a:r>
              <a:rPr lang="en-GB" sz="2200" b="1" dirty="0">
                <a:solidFill>
                  <a:srgbClr val="1F1E20"/>
                </a:solidFill>
                <a:effectLst/>
                <a:latin typeface="Helvetica Neue Light" panose="02000403000000020004" pitchFamily="2" charset="0"/>
                <a:ea typeface="Helvetica Neue Light" panose="02000403000000020004" pitchFamily="2" charset="0"/>
              </a:rPr>
              <a:t>. </a:t>
            </a:r>
            <a:r>
              <a:rPr lang="en-GB" sz="2200" dirty="0">
                <a:solidFill>
                  <a:srgbClr val="1F1E20"/>
                </a:solidFill>
                <a:effectLst/>
                <a:latin typeface="Helvetica Neue Light" panose="02000403000000020004" pitchFamily="2" charset="0"/>
                <a:ea typeface="Helvetica Neue Light" panose="02000403000000020004" pitchFamily="2" charset="0"/>
              </a:rPr>
              <a:t>This is possible because of how we declared the route in </a:t>
            </a:r>
            <a:r>
              <a:rPr lang="en-GB" sz="2200" b="1" dirty="0" err="1">
                <a:solidFill>
                  <a:schemeClr val="accent6"/>
                </a:solidFill>
                <a:latin typeface="HELVETICA NEUE LIGHT" panose="02000403000000020004" pitchFamily="2" charset="0"/>
                <a:ea typeface="HELVETICA NEUE LIGHT" panose="02000403000000020004" pitchFamily="2" charset="0"/>
              </a:rPr>
              <a:t>src</a:t>
            </a:r>
            <a:r>
              <a:rPr lang="en-GB" sz="2200" b="1" dirty="0">
                <a:solidFill>
                  <a:schemeClr val="accent6"/>
                </a:solidFill>
                <a:latin typeface="HELVETICA NEUE LIGHT" panose="02000403000000020004" pitchFamily="2" charset="0"/>
                <a:ea typeface="HELVETICA NEUE LIGHT" panose="02000403000000020004" pitchFamily="2" charset="0"/>
              </a:rPr>
              <a:t>/</a:t>
            </a:r>
            <a:r>
              <a:rPr lang="en-GB" sz="2200" b="1" dirty="0" err="1">
                <a:solidFill>
                  <a:schemeClr val="accent6"/>
                </a:solidFill>
                <a:latin typeface="HELVETICA NEUE LIGHT" panose="02000403000000020004" pitchFamily="2" charset="0"/>
                <a:ea typeface="HELVETICA NEUE LIGHT" panose="02000403000000020004" pitchFamily="2" charset="0"/>
              </a:rPr>
              <a:t>router.js</a:t>
            </a:r>
            <a:r>
              <a:rPr lang="en-GB" sz="2200" b="1" dirty="0">
                <a:solidFill>
                  <a:schemeClr val="accent6"/>
                </a:solidFill>
                <a:effectLst/>
                <a:latin typeface="Helvetica Neue Light" panose="02000403000000020004" pitchFamily="2" charset="0"/>
                <a:ea typeface="Helvetica Neue Light" panose="02000403000000020004" pitchFamily="2" charset="0"/>
              </a:rPr>
              <a:t>. </a:t>
            </a:r>
            <a:endParaRPr lang="en-US" sz="2200" b="1" dirty="0">
              <a:latin typeface="Helvetica Neue Light" panose="02000403000000020004" pitchFamily="2" charset="0"/>
              <a:ea typeface="Helvetica Neue Light" panose="02000403000000020004" pitchFamily="2" charset="0"/>
            </a:endParaRPr>
          </a:p>
        </p:txBody>
      </p:sp>
      <p:sp>
        <p:nvSpPr>
          <p:cNvPr id="5" name="TextBox 4">
            <a:extLst>
              <a:ext uri="{FF2B5EF4-FFF2-40B4-BE49-F238E27FC236}">
                <a16:creationId xmlns:a16="http://schemas.microsoft.com/office/drawing/2014/main" id="{A64DC439-E946-E03D-9875-4C7AE2042795}"/>
              </a:ext>
            </a:extLst>
          </p:cNvPr>
          <p:cNvSpPr txBox="1"/>
          <p:nvPr/>
        </p:nvSpPr>
        <p:spPr>
          <a:xfrm>
            <a:off x="422860" y="5500052"/>
            <a:ext cx="10398252" cy="1042145"/>
          </a:xfrm>
          <a:prstGeom prst="rect">
            <a:avLst/>
          </a:prstGeom>
          <a:noFill/>
        </p:spPr>
        <p:txBody>
          <a:bodyPr wrap="square">
            <a:spAutoFit/>
          </a:bodyPr>
          <a:lstStyle/>
          <a:p>
            <a:pPr>
              <a:lnSpc>
                <a:spcPct val="150000"/>
              </a:lnSpc>
            </a:pPr>
            <a:r>
              <a:rPr lang="en-GB" sz="2200" dirty="0">
                <a:solidFill>
                  <a:srgbClr val="1F1E20"/>
                </a:solidFill>
                <a:effectLst/>
                <a:latin typeface="Helvetica Neue Light" panose="02000403000000020004" pitchFamily="2" charset="0"/>
                <a:ea typeface="Helvetica Neue Light" panose="02000403000000020004" pitchFamily="2" charset="0"/>
              </a:rPr>
              <a:t>Here we used </a:t>
            </a:r>
            <a:r>
              <a:rPr lang="en-GB" sz="2200" dirty="0">
                <a:latin typeface="Helvetica Neue Light" panose="02000403000000020004" pitchFamily="2" charset="0"/>
                <a:ea typeface="Helvetica Neue Light" panose="02000403000000020004" pitchFamily="2" charset="0"/>
              </a:rPr>
              <a:t>path: </a:t>
            </a:r>
            <a:r>
              <a:rPr lang="en-GB" sz="2200" b="1" dirty="0">
                <a:solidFill>
                  <a:schemeClr val="accent6"/>
                </a:solidFill>
                <a:latin typeface="Helvetica Neue Light" panose="02000403000000020004" pitchFamily="2" charset="0"/>
                <a:ea typeface="Helvetica Neue Light" panose="02000403000000020004" pitchFamily="2" charset="0"/>
              </a:rPr>
              <a:t>"/words/:id"</a:t>
            </a:r>
            <a:r>
              <a:rPr lang="en-GB" sz="2200" b="1" dirty="0">
                <a:solidFill>
                  <a:schemeClr val="accent6"/>
                </a:solidFill>
                <a:effectLst/>
                <a:latin typeface="Helvetica Neue Light" panose="02000403000000020004" pitchFamily="2" charset="0"/>
                <a:ea typeface="Helvetica Neue Light" panose="02000403000000020004" pitchFamily="2" charset="0"/>
              </a:rPr>
              <a:t> </a:t>
            </a:r>
            <a:r>
              <a:rPr lang="en-GB" sz="2200" dirty="0">
                <a:solidFill>
                  <a:srgbClr val="1F1E20"/>
                </a:solidFill>
                <a:effectLst/>
                <a:latin typeface="Helvetica Neue Light" panose="02000403000000020004" pitchFamily="2" charset="0"/>
                <a:ea typeface="Helvetica Neue Light" panose="02000403000000020004" pitchFamily="2" charset="0"/>
              </a:rPr>
              <a:t>which means that anything after</a:t>
            </a:r>
            <a:r>
              <a:rPr lang="en-GB" sz="2200" dirty="0">
                <a:solidFill>
                  <a:schemeClr val="accent6"/>
                </a:solidFill>
                <a:effectLst/>
                <a:latin typeface="Helvetica Neue Light" panose="02000403000000020004" pitchFamily="2" charset="0"/>
                <a:ea typeface="Helvetica Neue Light" panose="02000403000000020004" pitchFamily="2" charset="0"/>
              </a:rPr>
              <a:t> </a:t>
            </a:r>
            <a:r>
              <a:rPr lang="en-GB" sz="2200" b="1" dirty="0">
                <a:solidFill>
                  <a:schemeClr val="accent6"/>
                </a:solidFill>
                <a:latin typeface="HELVETICA NEUE LIGHT" panose="02000403000000020004" pitchFamily="2" charset="0"/>
                <a:ea typeface="HELVETICA NEUE LIGHT" panose="02000403000000020004" pitchFamily="2" charset="0"/>
              </a:rPr>
              <a:t>/words/</a:t>
            </a:r>
            <a:r>
              <a:rPr lang="en-GB" sz="2200" b="1" dirty="0">
                <a:solidFill>
                  <a:schemeClr val="accent6"/>
                </a:solidFill>
                <a:effectLst/>
                <a:latin typeface="Helvetica Neue Light" panose="02000403000000020004" pitchFamily="2" charset="0"/>
                <a:ea typeface="Helvetica Neue Light" panose="02000403000000020004" pitchFamily="2" charset="0"/>
              </a:rPr>
              <a:t> </a:t>
            </a:r>
            <a:r>
              <a:rPr lang="en-GB" sz="2200" dirty="0">
                <a:solidFill>
                  <a:srgbClr val="1F1E20"/>
                </a:solidFill>
                <a:effectLst/>
                <a:latin typeface="Helvetica Neue Light" panose="02000403000000020004" pitchFamily="2" charset="0"/>
                <a:ea typeface="Helvetica Neue Light" panose="02000403000000020004" pitchFamily="2" charset="0"/>
              </a:rPr>
              <a:t>should be available to us as </a:t>
            </a:r>
            <a:r>
              <a:rPr lang="en-GB" sz="2200" b="1" dirty="0">
                <a:solidFill>
                  <a:schemeClr val="accent6"/>
                </a:solidFill>
                <a:latin typeface="Helvetica Neue Light" panose="02000403000000020004" pitchFamily="2" charset="0"/>
                <a:ea typeface="Helvetica Neue Light" panose="02000403000000020004" pitchFamily="2" charset="0"/>
              </a:rPr>
              <a:t>$</a:t>
            </a:r>
            <a:r>
              <a:rPr lang="en-GB" sz="2200" b="1" dirty="0" err="1">
                <a:solidFill>
                  <a:schemeClr val="accent6"/>
                </a:solidFill>
                <a:latin typeface="Helvetica Neue Light" panose="02000403000000020004" pitchFamily="2" charset="0"/>
                <a:ea typeface="Helvetica Neue Light" panose="02000403000000020004" pitchFamily="2" charset="0"/>
              </a:rPr>
              <a:t>route.params.id</a:t>
            </a:r>
            <a:r>
              <a:rPr lang="en-GB" sz="2200" b="1" dirty="0">
                <a:solidFill>
                  <a:schemeClr val="accent6"/>
                </a:solidFill>
                <a:effectLst/>
                <a:latin typeface="Helvetica Neue Light" panose="02000403000000020004" pitchFamily="2" charset="0"/>
                <a:ea typeface="Helvetica Neue Light" panose="02000403000000020004" pitchFamily="2" charset="0"/>
              </a:rPr>
              <a:t>.</a:t>
            </a:r>
            <a:endParaRPr lang="en-US" sz="2200" b="1" dirty="0">
              <a:solidFill>
                <a:schemeClr val="accent6"/>
              </a:solidFill>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4B7884F9-BF16-BDB2-D172-88CB1A7B1BC3}"/>
              </a:ext>
            </a:extLst>
          </p:cNvPr>
          <p:cNvPicPr>
            <a:picLocks noChangeAspect="1"/>
          </p:cNvPicPr>
          <p:nvPr/>
        </p:nvPicPr>
        <p:blipFill>
          <a:blip r:embed="rId2"/>
          <a:stretch>
            <a:fillRect/>
          </a:stretch>
        </p:blipFill>
        <p:spPr>
          <a:xfrm>
            <a:off x="5154593" y="1523837"/>
            <a:ext cx="6772184" cy="3880690"/>
          </a:xfrm>
          <a:prstGeom prst="rect">
            <a:avLst/>
          </a:prstGeom>
        </p:spPr>
      </p:pic>
    </p:spTree>
    <p:extLst>
      <p:ext uri="{BB962C8B-B14F-4D97-AF65-F5344CB8AC3E}">
        <p14:creationId xmlns:p14="http://schemas.microsoft.com/office/powerpoint/2010/main" val="3638415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3CB70E-5A4F-F7AC-05C4-9E8621CA29E6}"/>
              </a:ext>
            </a:extLst>
          </p:cNvPr>
          <p:cNvPicPr>
            <a:picLocks noChangeAspect="1"/>
          </p:cNvPicPr>
          <p:nvPr/>
        </p:nvPicPr>
        <p:blipFill>
          <a:blip r:embed="rId2"/>
          <a:stretch>
            <a:fillRect/>
          </a:stretch>
        </p:blipFill>
        <p:spPr>
          <a:xfrm>
            <a:off x="1215439" y="912171"/>
            <a:ext cx="5489297" cy="1149103"/>
          </a:xfrm>
          <a:prstGeom prst="rect">
            <a:avLst/>
          </a:prstGeom>
          <a:ln>
            <a:solidFill>
              <a:schemeClr val="tx1">
                <a:lumMod val="65000"/>
                <a:lumOff val="35000"/>
              </a:schemeClr>
            </a:solidFill>
          </a:ln>
        </p:spPr>
      </p:pic>
      <p:pic>
        <p:nvPicPr>
          <p:cNvPr id="5" name="Picture 4">
            <a:extLst>
              <a:ext uri="{FF2B5EF4-FFF2-40B4-BE49-F238E27FC236}">
                <a16:creationId xmlns:a16="http://schemas.microsoft.com/office/drawing/2014/main" id="{0D8568F8-46B2-B38E-36BD-40C5543C72E0}"/>
              </a:ext>
            </a:extLst>
          </p:cNvPr>
          <p:cNvPicPr>
            <a:picLocks noChangeAspect="1"/>
          </p:cNvPicPr>
          <p:nvPr/>
        </p:nvPicPr>
        <p:blipFill>
          <a:blip r:embed="rId3"/>
          <a:stretch>
            <a:fillRect/>
          </a:stretch>
        </p:blipFill>
        <p:spPr>
          <a:xfrm>
            <a:off x="1194419" y="2177021"/>
            <a:ext cx="5489296" cy="2910750"/>
          </a:xfrm>
          <a:prstGeom prst="rect">
            <a:avLst/>
          </a:prstGeom>
          <a:ln>
            <a:solidFill>
              <a:schemeClr val="tx1">
                <a:lumMod val="65000"/>
                <a:lumOff val="35000"/>
              </a:schemeClr>
            </a:solidFill>
          </a:ln>
        </p:spPr>
      </p:pic>
      <p:cxnSp>
        <p:nvCxnSpPr>
          <p:cNvPr id="8" name="Straight Arrow Connector 7">
            <a:extLst>
              <a:ext uri="{FF2B5EF4-FFF2-40B4-BE49-F238E27FC236}">
                <a16:creationId xmlns:a16="http://schemas.microsoft.com/office/drawing/2014/main" id="{3C4B32F8-203E-8DD7-DBA3-B23B376472BB}"/>
              </a:ext>
            </a:extLst>
          </p:cNvPr>
          <p:cNvCxnSpPr>
            <a:cxnSpLocks/>
          </p:cNvCxnSpPr>
          <p:nvPr/>
        </p:nvCxnSpPr>
        <p:spPr>
          <a:xfrm flipH="1">
            <a:off x="3939067" y="1875098"/>
            <a:ext cx="1122745" cy="1006998"/>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5" name="Title 3">
            <a:extLst>
              <a:ext uri="{FF2B5EF4-FFF2-40B4-BE49-F238E27FC236}">
                <a16:creationId xmlns:a16="http://schemas.microsoft.com/office/drawing/2014/main" id="{335C0E40-D722-ACA5-992E-9148C320C07D}"/>
              </a:ext>
            </a:extLst>
          </p:cNvPr>
          <p:cNvSpPr txBox="1">
            <a:spLocks/>
          </p:cNvSpPr>
          <p:nvPr/>
        </p:nvSpPr>
        <p:spPr>
          <a:xfrm>
            <a:off x="1225952" y="380543"/>
            <a:ext cx="7806217" cy="531628"/>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Test in browser</a:t>
            </a:r>
          </a:p>
        </p:txBody>
      </p:sp>
      <p:sp>
        <p:nvSpPr>
          <p:cNvPr id="4" name="TextBox 3">
            <a:extLst>
              <a:ext uri="{FF2B5EF4-FFF2-40B4-BE49-F238E27FC236}">
                <a16:creationId xmlns:a16="http://schemas.microsoft.com/office/drawing/2014/main" id="{EAE3C060-8C40-1C8C-18B9-AA09AC71D948}"/>
              </a:ext>
            </a:extLst>
          </p:cNvPr>
          <p:cNvSpPr txBox="1"/>
          <p:nvPr/>
        </p:nvSpPr>
        <p:spPr>
          <a:xfrm>
            <a:off x="1103951" y="5578998"/>
            <a:ext cx="9553903" cy="887166"/>
          </a:xfrm>
          <a:prstGeom prst="rect">
            <a:avLst/>
          </a:prstGeom>
          <a:noFill/>
        </p:spPr>
        <p:txBody>
          <a:bodyPr wrap="square">
            <a:spAutoFit/>
          </a:bodyPr>
          <a:lstStyle/>
          <a:p>
            <a:pPr>
              <a:lnSpc>
                <a:spcPct val="150000"/>
              </a:lnSpc>
            </a:pPr>
            <a:r>
              <a:rPr lang="en-GB" sz="1800" dirty="0">
                <a:solidFill>
                  <a:srgbClr val="1F1E20"/>
                </a:solidFill>
                <a:latin typeface="Helvetica Neue Light" panose="02000403000000020004" pitchFamily="2" charset="0"/>
                <a:ea typeface="Helvetica Neue Light" panose="02000403000000020004" pitchFamily="2" charset="0"/>
              </a:rPr>
              <a:t>Back-end    </a:t>
            </a:r>
            <a:r>
              <a:rPr lang="en-GB" sz="18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cd </a:t>
            </a:r>
            <a:r>
              <a:rPr lang="en-GB" sz="1800" dirty="0" err="1">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uni</a:t>
            </a:r>
            <a:r>
              <a:rPr lang="en-GB" sz="18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/vocab/vocab-wk9-pt3/server </a:t>
            </a:r>
            <a:r>
              <a:rPr lang="en-GB" sz="1800" dirty="0">
                <a:solidFill>
                  <a:srgbClr val="1F1E20"/>
                </a:solidFill>
                <a:latin typeface="Helvetica Neue Light" panose="02000403000000020004" pitchFamily="2" charset="0"/>
                <a:ea typeface="Helvetica Neue Light" panose="02000403000000020004" pitchFamily="2" charset="0"/>
                <a:cs typeface="Courier New" panose="02070309020205020404" pitchFamily="49" charset="0"/>
              </a:rPr>
              <a:t>then</a:t>
            </a:r>
            <a:r>
              <a:rPr lang="en-GB" sz="18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 </a:t>
            </a:r>
            <a:r>
              <a:rPr lang="en-GB" sz="1800" dirty="0" err="1">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npm</a:t>
            </a:r>
            <a:r>
              <a:rPr lang="en-GB" sz="18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 run start</a:t>
            </a:r>
          </a:p>
          <a:p>
            <a:pPr>
              <a:lnSpc>
                <a:spcPct val="150000"/>
              </a:lnSpc>
            </a:pPr>
            <a:r>
              <a:rPr lang="en-GB" sz="1800" dirty="0">
                <a:solidFill>
                  <a:srgbClr val="1F1E20"/>
                </a:solidFill>
                <a:latin typeface="Helvetica Neue Light" panose="02000403000000020004" pitchFamily="2" charset="0"/>
                <a:ea typeface="Helvetica Neue Light" panose="02000403000000020004" pitchFamily="2" charset="0"/>
                <a:cs typeface="Courier New" panose="02070309020205020404" pitchFamily="49" charset="0"/>
              </a:rPr>
              <a:t>Front-end </a:t>
            </a:r>
            <a:r>
              <a:rPr lang="en-GB" sz="18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cd </a:t>
            </a:r>
            <a:r>
              <a:rPr lang="en-GB" sz="1800" dirty="0" err="1">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uni</a:t>
            </a:r>
            <a:r>
              <a:rPr lang="en-GB" sz="18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/vocab/vocab-wk9-pt3/front-end </a:t>
            </a:r>
            <a:r>
              <a:rPr lang="en-GB" sz="1800" dirty="0">
                <a:solidFill>
                  <a:srgbClr val="1F1E20"/>
                </a:solidFill>
                <a:latin typeface="Helvetica Neue Light" panose="02000403000000020004" pitchFamily="2" charset="0"/>
                <a:ea typeface="Helvetica Neue Light" panose="02000403000000020004" pitchFamily="2" charset="0"/>
                <a:cs typeface="Courier New" panose="02070309020205020404" pitchFamily="49" charset="0"/>
              </a:rPr>
              <a:t>then  </a:t>
            </a:r>
            <a:r>
              <a:rPr lang="en-GB" sz="1800" dirty="0" err="1">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npm</a:t>
            </a:r>
            <a:r>
              <a:rPr lang="en-GB" sz="1800" dirty="0">
                <a:solidFill>
                  <a:srgbClr val="1F1E20"/>
                </a:solidFill>
                <a:latin typeface="Courier New" panose="02070309020205020404" pitchFamily="49" charset="0"/>
                <a:ea typeface="Helvetica Neue Light" panose="02000403000000020004" pitchFamily="2" charset="0"/>
                <a:cs typeface="Courier New" panose="02070309020205020404" pitchFamily="49" charset="0"/>
              </a:rPr>
              <a:t> run serve</a:t>
            </a:r>
            <a:endParaRPr lang="en-US" sz="1800" dirty="0">
              <a:latin typeface="Courier New" panose="02070309020205020404" pitchFamily="49" charset="0"/>
              <a:ea typeface="Helvetica Neue Light" panose="02000403000000020004" pitchFamily="2" charset="0"/>
              <a:cs typeface="Courier New" panose="02070309020205020404" pitchFamily="49" charset="0"/>
            </a:endParaRPr>
          </a:p>
        </p:txBody>
      </p:sp>
    </p:spTree>
    <p:extLst>
      <p:ext uri="{BB962C8B-B14F-4D97-AF65-F5344CB8AC3E}">
        <p14:creationId xmlns:p14="http://schemas.microsoft.com/office/powerpoint/2010/main" val="2923881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1514475"/>
            <a:ext cx="12192000" cy="3829050"/>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Editing a word</a:t>
            </a:r>
          </a:p>
        </p:txBody>
      </p:sp>
    </p:spTree>
    <p:extLst>
      <p:ext uri="{BB962C8B-B14F-4D97-AF65-F5344CB8AC3E}">
        <p14:creationId xmlns:p14="http://schemas.microsoft.com/office/powerpoint/2010/main" val="31243413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1514475"/>
            <a:ext cx="12192000" cy="3829050"/>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src</a:t>
            </a: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/views/</a:t>
            </a: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Edit.vue</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28876291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3">
            <a:extLst>
              <a:ext uri="{FF2B5EF4-FFF2-40B4-BE49-F238E27FC236}">
                <a16:creationId xmlns:a16="http://schemas.microsoft.com/office/drawing/2014/main" id="{335C0E40-D722-ACA5-992E-9148C320C07D}"/>
              </a:ext>
            </a:extLst>
          </p:cNvPr>
          <p:cNvSpPr txBox="1">
            <a:spLocks/>
          </p:cNvSpPr>
          <p:nvPr/>
        </p:nvSpPr>
        <p:spPr>
          <a:xfrm>
            <a:off x="222652" y="291643"/>
            <a:ext cx="7806217" cy="531628"/>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Edit.vue</a:t>
            </a:r>
            <a:r>
              <a:rPr lang="en-US"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 full file</a:t>
            </a:r>
          </a:p>
        </p:txBody>
      </p:sp>
      <p:pic>
        <p:nvPicPr>
          <p:cNvPr id="3" name="Picture 2">
            <a:extLst>
              <a:ext uri="{FF2B5EF4-FFF2-40B4-BE49-F238E27FC236}">
                <a16:creationId xmlns:a16="http://schemas.microsoft.com/office/drawing/2014/main" id="{C0D4050A-1868-E4DE-83AD-F67F12C1D8D0}"/>
              </a:ext>
            </a:extLst>
          </p:cNvPr>
          <p:cNvPicPr>
            <a:picLocks noChangeAspect="1"/>
          </p:cNvPicPr>
          <p:nvPr/>
        </p:nvPicPr>
        <p:blipFill>
          <a:blip r:embed="rId2"/>
          <a:stretch>
            <a:fillRect/>
          </a:stretch>
        </p:blipFill>
        <p:spPr>
          <a:xfrm>
            <a:off x="0" y="839645"/>
            <a:ext cx="6413500" cy="6018355"/>
          </a:xfrm>
          <a:prstGeom prst="rect">
            <a:avLst/>
          </a:prstGeom>
        </p:spPr>
      </p:pic>
      <p:sp>
        <p:nvSpPr>
          <p:cNvPr id="4" name="TextBox 3">
            <a:extLst>
              <a:ext uri="{FF2B5EF4-FFF2-40B4-BE49-F238E27FC236}">
                <a16:creationId xmlns:a16="http://schemas.microsoft.com/office/drawing/2014/main" id="{C55A1793-4AF4-C0A7-03C0-CD0BCB428247}"/>
              </a:ext>
            </a:extLst>
          </p:cNvPr>
          <p:cNvSpPr txBox="1"/>
          <p:nvPr/>
        </p:nvSpPr>
        <p:spPr>
          <a:xfrm>
            <a:off x="6836360" y="823271"/>
            <a:ext cx="4704725" cy="5104795"/>
          </a:xfrm>
          <a:prstGeom prst="rect">
            <a:avLst/>
          </a:prstGeom>
          <a:noFill/>
        </p:spPr>
        <p:txBody>
          <a:bodyPr wrap="square">
            <a:spAutoFit/>
          </a:bodyPr>
          <a:lstStyle/>
          <a:p>
            <a:pPr>
              <a:lnSpc>
                <a:spcPct val="150000"/>
              </a:lnSpc>
            </a:pPr>
            <a:r>
              <a:rPr lang="en-GB" sz="2200" dirty="0">
                <a:solidFill>
                  <a:srgbClr val="1F1E20"/>
                </a:solidFill>
                <a:effectLst/>
                <a:latin typeface="Helvetica Neue Light" panose="02000403000000020004" pitchFamily="2" charset="0"/>
                <a:ea typeface="Helvetica Neue Light" panose="02000403000000020004" pitchFamily="2" charset="0"/>
              </a:rPr>
              <a:t>There’s something slightly different going on in this component. If you look within the &lt;template&gt; tag, you’ll notice that we’re including another component, </a:t>
            </a:r>
            <a:r>
              <a:rPr lang="en-GB" sz="2200" dirty="0" err="1">
                <a:solidFill>
                  <a:srgbClr val="1F1E20"/>
                </a:solidFill>
                <a:effectLst/>
                <a:latin typeface="Helvetica Neue Light" panose="02000403000000020004" pitchFamily="2" charset="0"/>
                <a:ea typeface="Helvetica Neue Light" panose="02000403000000020004" pitchFamily="2" charset="0"/>
              </a:rPr>
              <a:t>WordForm</a:t>
            </a:r>
            <a:r>
              <a:rPr lang="en-GB" sz="2200" dirty="0">
                <a:solidFill>
                  <a:srgbClr val="1F1E20"/>
                </a:solidFill>
                <a:effectLst/>
                <a:latin typeface="Helvetica Neue Light" panose="02000403000000020004" pitchFamily="2" charset="0"/>
                <a:ea typeface="Helvetica Neue Light" panose="02000403000000020004" pitchFamily="2" charset="0"/>
              </a:rPr>
              <a:t>, and passing it the value of </a:t>
            </a:r>
            <a:r>
              <a:rPr lang="en-GB" sz="2200" dirty="0" err="1">
                <a:solidFill>
                  <a:srgbClr val="1F1E20"/>
                </a:solidFill>
                <a:effectLst/>
                <a:latin typeface="Helvetica Neue Light" panose="02000403000000020004" pitchFamily="2" charset="0"/>
                <a:ea typeface="Helvetica Neue Light" panose="02000403000000020004" pitchFamily="2" charset="0"/>
              </a:rPr>
              <a:t>this.word</a:t>
            </a:r>
            <a:r>
              <a:rPr lang="en-GB" sz="2200" dirty="0">
                <a:solidFill>
                  <a:srgbClr val="1F1E20"/>
                </a:solidFill>
                <a:effectLst/>
                <a:latin typeface="Helvetica Neue Light" panose="02000403000000020004" pitchFamily="2" charset="0"/>
                <a:ea typeface="Helvetica Neue Light" panose="02000403000000020004" pitchFamily="2" charset="0"/>
              </a:rPr>
              <a:t> as a prop. The value of </a:t>
            </a:r>
            <a:r>
              <a:rPr lang="en-GB" sz="2200" dirty="0" err="1">
                <a:solidFill>
                  <a:srgbClr val="1F1E20"/>
                </a:solidFill>
                <a:effectLst/>
                <a:latin typeface="Helvetica Neue Light" panose="02000403000000020004" pitchFamily="2" charset="0"/>
                <a:ea typeface="Helvetica Neue Light" panose="02000403000000020004" pitchFamily="2" charset="0"/>
              </a:rPr>
              <a:t>this.word</a:t>
            </a:r>
            <a:r>
              <a:rPr lang="en-GB" sz="2200" dirty="0">
                <a:solidFill>
                  <a:srgbClr val="1F1E20"/>
                </a:solidFill>
                <a:effectLst/>
                <a:latin typeface="Helvetica Neue Light" panose="02000403000000020004" pitchFamily="2" charset="0"/>
                <a:ea typeface="Helvetica Neue Light" panose="02000403000000020004" pitchFamily="2" charset="0"/>
              </a:rPr>
              <a:t> is being retrieved within the mounted lifecycle hook, just as we’ve done in the other components. </a:t>
            </a:r>
            <a:endParaRPr lang="en-US" sz="2200" b="1"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245717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3">
            <a:extLst>
              <a:ext uri="{FF2B5EF4-FFF2-40B4-BE49-F238E27FC236}">
                <a16:creationId xmlns:a16="http://schemas.microsoft.com/office/drawing/2014/main" id="{335C0E40-D722-ACA5-992E-9148C320C07D}"/>
              </a:ext>
            </a:extLst>
          </p:cNvPr>
          <p:cNvSpPr txBox="1">
            <a:spLocks/>
          </p:cNvSpPr>
          <p:nvPr/>
        </p:nvSpPr>
        <p:spPr>
          <a:xfrm>
            <a:off x="919010" y="355143"/>
            <a:ext cx="7806217" cy="531628"/>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pc="60" dirty="0" err="1">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Edit.vue</a:t>
            </a:r>
            <a:r>
              <a:rPr lang="en-US" spc="60" dirty="0">
                <a:solidFill>
                  <a:schemeClr val="accent6"/>
                </a:solidFill>
                <a:latin typeface="American Typewriter" panose="02090604020004020304" pitchFamily="18" charset="77"/>
                <a:ea typeface="Helvetica Neue Thin" panose="020B0403020202020204" pitchFamily="34" charset="0"/>
                <a:cs typeface="Georgia Pro Cond Black" panose="020F0502020204030204" pitchFamily="34" charset="0"/>
              </a:rPr>
              <a:t>  - detail</a:t>
            </a:r>
          </a:p>
        </p:txBody>
      </p:sp>
      <p:pic>
        <p:nvPicPr>
          <p:cNvPr id="3" name="Picture 2">
            <a:extLst>
              <a:ext uri="{FF2B5EF4-FFF2-40B4-BE49-F238E27FC236}">
                <a16:creationId xmlns:a16="http://schemas.microsoft.com/office/drawing/2014/main" id="{C0D4050A-1868-E4DE-83AD-F67F12C1D8D0}"/>
              </a:ext>
            </a:extLst>
          </p:cNvPr>
          <p:cNvPicPr>
            <a:picLocks noChangeAspect="1"/>
          </p:cNvPicPr>
          <p:nvPr/>
        </p:nvPicPr>
        <p:blipFill rotWithShape="1">
          <a:blip r:embed="rId2"/>
          <a:srcRect t="51911" b="36718"/>
          <a:stretch/>
        </p:blipFill>
        <p:spPr>
          <a:xfrm>
            <a:off x="919009" y="2306163"/>
            <a:ext cx="10522573" cy="1122837"/>
          </a:xfrm>
          <a:prstGeom prst="rect">
            <a:avLst/>
          </a:prstGeom>
        </p:spPr>
      </p:pic>
      <p:sp>
        <p:nvSpPr>
          <p:cNvPr id="4" name="TextBox 3">
            <a:extLst>
              <a:ext uri="{FF2B5EF4-FFF2-40B4-BE49-F238E27FC236}">
                <a16:creationId xmlns:a16="http://schemas.microsoft.com/office/drawing/2014/main" id="{C55A1793-4AF4-C0A7-03C0-CD0BCB428247}"/>
              </a:ext>
            </a:extLst>
          </p:cNvPr>
          <p:cNvSpPr txBox="1"/>
          <p:nvPr/>
        </p:nvSpPr>
        <p:spPr>
          <a:xfrm>
            <a:off x="919010" y="886771"/>
            <a:ext cx="10523690" cy="1139992"/>
          </a:xfrm>
          <a:prstGeom prst="rect">
            <a:avLst/>
          </a:prstGeom>
          <a:noFill/>
        </p:spPr>
        <p:txBody>
          <a:bodyPr wrap="square">
            <a:spAutoFit/>
          </a:bodyPr>
          <a:lstStyle/>
          <a:p>
            <a:pPr>
              <a:lnSpc>
                <a:spcPct val="150000"/>
              </a:lnSpc>
            </a:pPr>
            <a:r>
              <a:rPr lang="en-GB" sz="2400" dirty="0">
                <a:solidFill>
                  <a:srgbClr val="1F1E20"/>
                </a:solidFill>
                <a:effectLst/>
                <a:latin typeface="Helvetica Neue Light" panose="02000403000000020004" pitchFamily="2" charset="0"/>
                <a:ea typeface="Helvetica Neue Light" panose="02000403000000020004" pitchFamily="2" charset="0"/>
              </a:rPr>
              <a:t>Also notice that we’re declaring the child component that the </a:t>
            </a:r>
            <a:r>
              <a:rPr lang="en-GB" sz="2400" dirty="0">
                <a:latin typeface="Helvetica Neue Light" panose="02000403000000020004" pitchFamily="2" charset="0"/>
                <a:ea typeface="Helvetica Neue Light" panose="02000403000000020004" pitchFamily="2" charset="0"/>
              </a:rPr>
              <a:t>Edit</a:t>
            </a:r>
            <a:r>
              <a:rPr lang="en-GB" sz="2400" dirty="0">
                <a:solidFill>
                  <a:srgbClr val="1F1E20"/>
                </a:solidFill>
                <a:effectLst/>
                <a:latin typeface="Helvetica Neue Light" panose="02000403000000020004" pitchFamily="2" charset="0"/>
                <a:ea typeface="Helvetica Neue Light" panose="02000403000000020004" pitchFamily="2" charset="0"/>
              </a:rPr>
              <a:t> component requires, like so:</a:t>
            </a:r>
            <a:endParaRPr lang="en-US" sz="2200" dirty="0">
              <a:latin typeface="Helvetica Neue Light" panose="02000403000000020004" pitchFamily="2" charset="0"/>
              <a:ea typeface="Helvetica Neue Light" panose="02000403000000020004" pitchFamily="2" charset="0"/>
            </a:endParaRPr>
          </a:p>
        </p:txBody>
      </p:sp>
      <p:sp>
        <p:nvSpPr>
          <p:cNvPr id="5" name="TextBox 4">
            <a:extLst>
              <a:ext uri="{FF2B5EF4-FFF2-40B4-BE49-F238E27FC236}">
                <a16:creationId xmlns:a16="http://schemas.microsoft.com/office/drawing/2014/main" id="{31064E8A-7854-9B32-9E1B-E52B6DE4A7C0}"/>
              </a:ext>
            </a:extLst>
          </p:cNvPr>
          <p:cNvSpPr txBox="1"/>
          <p:nvPr/>
        </p:nvSpPr>
        <p:spPr>
          <a:xfrm>
            <a:off x="821455" y="3812182"/>
            <a:ext cx="10295090" cy="1682512"/>
          </a:xfrm>
          <a:prstGeom prst="rect">
            <a:avLst/>
          </a:prstGeom>
          <a:noFill/>
        </p:spPr>
        <p:txBody>
          <a:bodyPr wrap="square">
            <a:spAutoFit/>
          </a:bodyPr>
          <a:lstStyle/>
          <a:p>
            <a:pPr>
              <a:lnSpc>
                <a:spcPct val="150000"/>
              </a:lnSpc>
            </a:pPr>
            <a:r>
              <a:rPr lang="en-GB" sz="2400" dirty="0">
                <a:solidFill>
                  <a:srgbClr val="1F1E20"/>
                </a:solidFill>
                <a:effectLst/>
                <a:latin typeface="Helvetica Neue Light" panose="02000403000000020004" pitchFamily="2" charset="0"/>
                <a:ea typeface="Helvetica Neue Light" panose="02000403000000020004" pitchFamily="2" charset="0"/>
              </a:rPr>
              <a:t>The reason is reusability. By structuring things this way, we’ll be able to use the same </a:t>
            </a:r>
            <a:r>
              <a:rPr lang="en-GB" sz="2400" dirty="0" err="1">
                <a:latin typeface="Helvetica Neue Light" panose="02000403000000020004" pitchFamily="2" charset="0"/>
                <a:ea typeface="Helvetica Neue Light" panose="02000403000000020004" pitchFamily="2" charset="0"/>
              </a:rPr>
              <a:t>WordForm</a:t>
            </a:r>
            <a:r>
              <a:rPr lang="en-GB" sz="2400" dirty="0">
                <a:solidFill>
                  <a:srgbClr val="1F1E20"/>
                </a:solidFill>
                <a:effectLst/>
                <a:latin typeface="Helvetica Neue Light" panose="02000403000000020004" pitchFamily="2" charset="0"/>
                <a:ea typeface="Helvetica Neue Light" panose="02000403000000020004" pitchFamily="2" charset="0"/>
              </a:rPr>
              <a:t> component in a little while when we come to implement the functionality to create a new word. </a:t>
            </a:r>
            <a:endParaRPr lang="en-US"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327611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1514475"/>
            <a:ext cx="12192000" cy="3829050"/>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54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src</a:t>
            </a: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/components/</a:t>
            </a:r>
            <a:r>
              <a:rPr lang="en-GB" sz="54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WordForm.vue</a:t>
            </a:r>
            <a:endPar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a:p>
            <a:pPr marL="0" indent="0" algn="ctr">
              <a:lnSpc>
                <a:spcPct val="150000"/>
              </a:lnSpc>
              <a:buNone/>
            </a:pP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Full file on Moodle </a:t>
            </a: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sym typeface="Wingdings" pitchFamily="2" charset="2"/>
              </a:rPr>
              <a:t></a:t>
            </a:r>
            <a:endPar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32224530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5A1793-4AF4-C0A7-03C0-CD0BCB428247}"/>
              </a:ext>
            </a:extLst>
          </p:cNvPr>
          <p:cNvSpPr txBox="1"/>
          <p:nvPr/>
        </p:nvSpPr>
        <p:spPr>
          <a:xfrm>
            <a:off x="279400" y="5295900"/>
            <a:ext cx="11633200" cy="1417439"/>
          </a:xfrm>
          <a:prstGeom prst="rect">
            <a:avLst/>
          </a:prstGeom>
          <a:noFill/>
        </p:spPr>
        <p:txBody>
          <a:bodyPr wrap="square">
            <a:spAutoFit/>
          </a:bodyPr>
          <a:lstStyle/>
          <a:p>
            <a:pPr>
              <a:lnSpc>
                <a:spcPct val="150000"/>
              </a:lnSpc>
            </a:pPr>
            <a:r>
              <a:rPr lang="en-GB" sz="2000" dirty="0">
                <a:solidFill>
                  <a:srgbClr val="1F1E20"/>
                </a:solidFill>
                <a:effectLst/>
                <a:latin typeface="Helvetica Neue Light" panose="02000403000000020004" pitchFamily="2" charset="0"/>
                <a:ea typeface="Helvetica Neue Light" panose="02000403000000020004" pitchFamily="2" charset="0"/>
              </a:rPr>
              <a:t>Then we have our two input fields, one for the English word and one for German. We’re using v-model to set up two-way data binding between the </a:t>
            </a:r>
            <a:r>
              <a:rPr lang="en-GB" sz="2000" dirty="0" err="1">
                <a:solidFill>
                  <a:srgbClr val="1F1E20"/>
                </a:solidFill>
                <a:effectLst/>
                <a:latin typeface="Helvetica Neue Light" panose="02000403000000020004" pitchFamily="2" charset="0"/>
                <a:ea typeface="Helvetica Neue Light" panose="02000403000000020004" pitchFamily="2" charset="0"/>
              </a:rPr>
              <a:t>english</a:t>
            </a:r>
            <a:r>
              <a:rPr lang="en-GB" sz="2000" dirty="0">
                <a:solidFill>
                  <a:srgbClr val="1F1E20"/>
                </a:solidFill>
                <a:effectLst/>
                <a:latin typeface="Helvetica Neue Light" panose="02000403000000020004" pitchFamily="2" charset="0"/>
                <a:ea typeface="Helvetica Neue Light" panose="02000403000000020004" pitchFamily="2" charset="0"/>
              </a:rPr>
              <a:t> and </a:t>
            </a:r>
            <a:r>
              <a:rPr lang="en-GB" sz="2000" dirty="0" err="1">
                <a:solidFill>
                  <a:srgbClr val="1F1E20"/>
                </a:solidFill>
                <a:effectLst/>
                <a:latin typeface="Helvetica Neue Light" panose="02000403000000020004" pitchFamily="2" charset="0"/>
                <a:ea typeface="Helvetica Neue Light" panose="02000403000000020004" pitchFamily="2" charset="0"/>
              </a:rPr>
              <a:t>german</a:t>
            </a:r>
            <a:r>
              <a:rPr lang="en-GB" sz="2000" dirty="0">
                <a:solidFill>
                  <a:srgbClr val="1F1E20"/>
                </a:solidFill>
                <a:effectLst/>
                <a:latin typeface="Helvetica Neue Light" panose="02000403000000020004" pitchFamily="2" charset="0"/>
                <a:ea typeface="Helvetica Neue Light" panose="02000403000000020004" pitchFamily="2" charset="0"/>
              </a:rPr>
              <a:t> properties of the prop we’re passed.. </a:t>
            </a:r>
            <a:r>
              <a:rPr lang="en-GB" sz="2000" dirty="0">
                <a:effectLst/>
                <a:latin typeface="Helvetica Neue Light" panose="02000403000000020004" pitchFamily="2" charset="0"/>
                <a:ea typeface="Helvetica Neue Light" panose="02000403000000020004" pitchFamily="2" charset="0"/>
              </a:rPr>
              <a:t>Props were covered in </a:t>
            </a:r>
            <a:r>
              <a:rPr lang="en-GB" sz="2000" dirty="0">
                <a:solidFill>
                  <a:schemeClr val="accent1"/>
                </a:solidFill>
                <a:effectLst/>
                <a:latin typeface="Helvetica Neue Light" panose="02000403000000020004" pitchFamily="2" charset="0"/>
                <a:ea typeface="Helvetica Neue Light" panose="02000403000000020004" pitchFamily="2" charset="0"/>
                <a:hlinkClick r:id="rId2">
                  <a:extLst>
                    <a:ext uri="{A12FA001-AC4F-418D-AE19-62706E023703}">
                      <ahyp:hlinkClr xmlns:ahyp="http://schemas.microsoft.com/office/drawing/2018/hyperlinkcolor" val="tx"/>
                    </a:ext>
                  </a:extLst>
                </a:hlinkClick>
              </a:rPr>
              <a:t>‘components’ - video 8 </a:t>
            </a:r>
            <a:r>
              <a:rPr lang="en-GB" sz="2000" dirty="0">
                <a:solidFill>
                  <a:schemeClr val="accent1"/>
                </a:solidFill>
                <a:effectLst/>
                <a:latin typeface="Helvetica Neue Light" panose="02000403000000020004" pitchFamily="2" charset="0"/>
                <a:ea typeface="Helvetica Neue Light" panose="02000403000000020004" pitchFamily="2" charset="0"/>
              </a:rPr>
              <a:t> </a:t>
            </a:r>
            <a:r>
              <a:rPr lang="en-GB" sz="2000" dirty="0">
                <a:effectLst/>
                <a:latin typeface="Helvetica Neue Light" panose="02000403000000020004" pitchFamily="2" charset="0"/>
                <a:ea typeface="Helvetica Neue Light" panose="02000403000000020004" pitchFamily="2" charset="0"/>
              </a:rPr>
              <a:t>of the weekly </a:t>
            </a:r>
            <a:r>
              <a:rPr lang="en-GB" sz="2000" dirty="0">
                <a:latin typeface="Helvetica Neue Light" panose="02000403000000020004" pitchFamily="2" charset="0"/>
                <a:ea typeface="Helvetica Neue Light" panose="02000403000000020004" pitchFamily="2" charset="0"/>
              </a:rPr>
              <a:t>V</a:t>
            </a:r>
            <a:r>
              <a:rPr lang="en-GB" sz="2000" dirty="0">
                <a:effectLst/>
                <a:latin typeface="Helvetica Neue Light" panose="02000403000000020004" pitchFamily="2" charset="0"/>
                <a:ea typeface="Helvetica Neue Light" panose="02000403000000020004" pitchFamily="2" charset="0"/>
              </a:rPr>
              <a:t>ue tasks</a:t>
            </a:r>
            <a:endParaRPr lang="en-US" sz="20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F9372F94-1757-83F4-0758-3E0C6955CF8A}"/>
              </a:ext>
            </a:extLst>
          </p:cNvPr>
          <p:cNvPicPr>
            <a:picLocks noChangeAspect="1"/>
          </p:cNvPicPr>
          <p:nvPr/>
        </p:nvPicPr>
        <p:blipFill>
          <a:blip r:embed="rId3"/>
          <a:stretch>
            <a:fillRect/>
          </a:stretch>
        </p:blipFill>
        <p:spPr>
          <a:xfrm>
            <a:off x="0" y="590451"/>
            <a:ext cx="7151090" cy="4519414"/>
          </a:xfrm>
          <a:prstGeom prst="rect">
            <a:avLst/>
          </a:prstGeom>
        </p:spPr>
      </p:pic>
      <p:sp>
        <p:nvSpPr>
          <p:cNvPr id="6" name="TextBox 5">
            <a:extLst>
              <a:ext uri="{FF2B5EF4-FFF2-40B4-BE49-F238E27FC236}">
                <a16:creationId xmlns:a16="http://schemas.microsoft.com/office/drawing/2014/main" id="{5AF1FB66-AA44-1D77-7117-58A9378F8B89}"/>
              </a:ext>
            </a:extLst>
          </p:cNvPr>
          <p:cNvSpPr txBox="1"/>
          <p:nvPr/>
        </p:nvSpPr>
        <p:spPr>
          <a:xfrm>
            <a:off x="7289800" y="590450"/>
            <a:ext cx="4749800" cy="4187428"/>
          </a:xfrm>
          <a:prstGeom prst="rect">
            <a:avLst/>
          </a:prstGeom>
          <a:noFill/>
        </p:spPr>
        <p:txBody>
          <a:bodyPr wrap="square">
            <a:spAutoFit/>
          </a:bodyPr>
          <a:lstStyle/>
          <a:p>
            <a:pPr algn="l">
              <a:lnSpc>
                <a:spcPct val="150000"/>
              </a:lnSpc>
            </a:pPr>
            <a:r>
              <a:rPr lang="en-GB" sz="2000" dirty="0">
                <a:latin typeface="Helvetica Neue Light" panose="02000403000000020004" pitchFamily="2" charset="0"/>
                <a:ea typeface="Helvetica Neue Light" panose="02000403000000020004" pitchFamily="2" charset="0"/>
              </a:rPr>
              <a:t>We have a form tag and we’ve bound the submit event to the </a:t>
            </a:r>
            <a:r>
              <a:rPr lang="en-GB" sz="2000" dirty="0" err="1">
                <a:latin typeface="Helvetica Neue Light" panose="02000403000000020004" pitchFamily="2" charset="0"/>
                <a:ea typeface="Helvetica Neue Light" panose="02000403000000020004" pitchFamily="2" charset="0"/>
              </a:rPr>
              <a:t>onSubmit</a:t>
            </a:r>
            <a:r>
              <a:rPr lang="en-GB" sz="2000" dirty="0">
                <a:latin typeface="Helvetica Neue Light" panose="02000403000000020004" pitchFamily="2" charset="0"/>
                <a:ea typeface="Helvetica Neue Light" panose="02000403000000020004" pitchFamily="2" charset="0"/>
              </a:rPr>
              <a:t> method we’ve defined in our methods object. We’re also using the </a:t>
            </a:r>
            <a:r>
              <a:rPr lang="en-GB" sz="2000" dirty="0">
                <a:latin typeface="Helvetica Neue Light" panose="02000403000000020004" pitchFamily="2" charset="0"/>
                <a:ea typeface="Helvetica Neue Light" panose="02000403000000020004" pitchFamily="2" charset="0"/>
                <a:hlinkClick r:id="rId4"/>
              </a:rPr>
              <a:t>prevent modifier </a:t>
            </a:r>
            <a:r>
              <a:rPr lang="en-GB" sz="2000" dirty="0">
                <a:latin typeface="Helvetica Neue Light" panose="02000403000000020004" pitchFamily="2" charset="0"/>
                <a:ea typeface="Helvetica Neue Light" panose="02000403000000020004" pitchFamily="2" charset="0"/>
              </a:rPr>
              <a:t>to prevent the browser submitting the form.</a:t>
            </a:r>
          </a:p>
          <a:p>
            <a:pPr algn="l">
              <a:lnSpc>
                <a:spcPct val="150000"/>
              </a:lnSpc>
            </a:pPr>
            <a:r>
              <a:rPr lang="en-GB" sz="2000" dirty="0">
                <a:latin typeface="Helvetica Neue Light" panose="02000403000000020004" pitchFamily="2" charset="0"/>
                <a:ea typeface="Helvetica Neue Light" panose="02000403000000020004" pitchFamily="2" charset="0"/>
              </a:rPr>
              <a:t>Next a &lt;p&gt; tag to display an error message if either of the input fields is empty. We use </a:t>
            </a:r>
            <a:r>
              <a:rPr lang="en-GB" sz="2000" dirty="0">
                <a:latin typeface="Helvetica Neue Light" panose="02000403000000020004" pitchFamily="2" charset="0"/>
                <a:ea typeface="Helvetica Neue Light" panose="02000403000000020004" pitchFamily="2" charset="0"/>
                <a:hlinkClick r:id="rId5"/>
              </a:rPr>
              <a:t>v-if</a:t>
            </a:r>
            <a:r>
              <a:rPr lang="en-GB" sz="2000" dirty="0">
                <a:latin typeface="Helvetica Neue Light" panose="02000403000000020004" pitchFamily="2" charset="0"/>
                <a:ea typeface="Helvetica Neue Light" panose="02000403000000020004" pitchFamily="2" charset="0"/>
              </a:rPr>
              <a:t> to only display this if the </a:t>
            </a:r>
            <a:r>
              <a:rPr lang="en-GB" sz="2000" b="1" dirty="0" err="1">
                <a:solidFill>
                  <a:schemeClr val="accent6"/>
                </a:solidFill>
                <a:latin typeface="Helvetica Neue Light" panose="02000403000000020004" pitchFamily="2" charset="0"/>
                <a:ea typeface="Helvetica Neue Light" panose="02000403000000020004" pitchFamily="2" charset="0"/>
              </a:rPr>
              <a:t>errorsPresent</a:t>
            </a:r>
            <a:r>
              <a:rPr lang="en-GB" sz="2000" dirty="0">
                <a:latin typeface="Helvetica Neue Light" panose="02000403000000020004" pitchFamily="2" charset="0"/>
                <a:ea typeface="Helvetica Neue Light" panose="02000403000000020004" pitchFamily="2" charset="0"/>
              </a:rPr>
              <a:t> property is true.</a:t>
            </a:r>
          </a:p>
        </p:txBody>
      </p:sp>
    </p:spTree>
    <p:extLst>
      <p:ext uri="{BB962C8B-B14F-4D97-AF65-F5344CB8AC3E}">
        <p14:creationId xmlns:p14="http://schemas.microsoft.com/office/powerpoint/2010/main" val="2448009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AF1FB66-AA44-1D77-7117-58A9378F8B89}"/>
              </a:ext>
            </a:extLst>
          </p:cNvPr>
          <p:cNvSpPr txBox="1"/>
          <p:nvPr/>
        </p:nvSpPr>
        <p:spPr>
          <a:xfrm>
            <a:off x="6845300" y="399950"/>
            <a:ext cx="5016499" cy="6120458"/>
          </a:xfrm>
          <a:prstGeom prst="rect">
            <a:avLst/>
          </a:prstGeom>
          <a:noFill/>
        </p:spPr>
        <p:txBody>
          <a:bodyPr wrap="square">
            <a:spAutoFit/>
          </a:bodyPr>
          <a:lstStyle/>
          <a:p>
            <a:pPr algn="l">
              <a:lnSpc>
                <a:spcPct val="150000"/>
              </a:lnSpc>
            </a:pPr>
            <a:r>
              <a:rPr lang="en-GB" sz="2200" dirty="0">
                <a:latin typeface="Helvetica Neue Light" panose="02000403000000020004" pitchFamily="2" charset="0"/>
                <a:ea typeface="Helvetica Neue Light" panose="02000403000000020004" pitchFamily="2" charset="0"/>
              </a:rPr>
              <a:t>In the &lt;script&gt; section, we then declare that the word prop is of type Object, and that it isn’t required (because we’ll also use this form to create a new word).</a:t>
            </a:r>
          </a:p>
          <a:p>
            <a:pPr algn="l">
              <a:lnSpc>
                <a:spcPct val="150000"/>
              </a:lnSpc>
            </a:pPr>
            <a:r>
              <a:rPr lang="en-GB" sz="2200" dirty="0">
                <a:latin typeface="Helvetica Neue Light" panose="02000403000000020004" pitchFamily="2" charset="0"/>
                <a:ea typeface="Helvetica Neue Light" panose="02000403000000020004" pitchFamily="2" charset="0"/>
              </a:rPr>
              <a:t>The data object declares the aforementioned </a:t>
            </a:r>
            <a:r>
              <a:rPr lang="en-GB" sz="2200" dirty="0" err="1">
                <a:latin typeface="Helvetica Neue Light" panose="02000403000000020004" pitchFamily="2" charset="0"/>
                <a:ea typeface="Helvetica Neue Light" panose="02000403000000020004" pitchFamily="2" charset="0"/>
              </a:rPr>
              <a:t>errorsPresent</a:t>
            </a:r>
            <a:r>
              <a:rPr lang="en-GB" sz="2200" dirty="0">
                <a:latin typeface="Helvetica Neue Light" panose="02000403000000020004" pitchFamily="2" charset="0"/>
                <a:ea typeface="Helvetica Neue Light" panose="02000403000000020004" pitchFamily="2" charset="0"/>
              </a:rPr>
              <a:t> property and our method object, the </a:t>
            </a:r>
            <a:r>
              <a:rPr lang="en-GB" sz="2200" dirty="0" err="1">
                <a:latin typeface="Helvetica Neue Light" panose="02000403000000020004" pitchFamily="2" charset="0"/>
                <a:ea typeface="Helvetica Neue Light" panose="02000403000000020004" pitchFamily="2" charset="0"/>
              </a:rPr>
              <a:t>onSubmit</a:t>
            </a:r>
            <a:r>
              <a:rPr lang="en-GB" sz="2200" dirty="0">
                <a:latin typeface="Helvetica Neue Light" panose="02000403000000020004" pitchFamily="2" charset="0"/>
                <a:ea typeface="Helvetica Neue Light" panose="02000403000000020004" pitchFamily="2" charset="0"/>
              </a:rPr>
              <a:t> method.</a:t>
            </a:r>
          </a:p>
          <a:p>
            <a:pPr algn="l">
              <a:lnSpc>
                <a:spcPct val="150000"/>
              </a:lnSpc>
            </a:pPr>
            <a:r>
              <a:rPr lang="en-GB" sz="2200" dirty="0">
                <a:latin typeface="Helvetica Neue Light" panose="02000403000000020004" pitchFamily="2" charset="0"/>
                <a:ea typeface="Helvetica Neue Light" panose="02000403000000020004" pitchFamily="2" charset="0"/>
              </a:rPr>
              <a:t>All we’re doing in this method is logging out the value of whatever has been entered into the inputs.</a:t>
            </a:r>
          </a:p>
        </p:txBody>
      </p:sp>
      <p:pic>
        <p:nvPicPr>
          <p:cNvPr id="7" name="Picture 6">
            <a:extLst>
              <a:ext uri="{FF2B5EF4-FFF2-40B4-BE49-F238E27FC236}">
                <a16:creationId xmlns:a16="http://schemas.microsoft.com/office/drawing/2014/main" id="{68963586-719B-C2E8-6DAD-542EE059CA0B}"/>
              </a:ext>
            </a:extLst>
          </p:cNvPr>
          <p:cNvPicPr>
            <a:picLocks noChangeAspect="1"/>
          </p:cNvPicPr>
          <p:nvPr/>
        </p:nvPicPr>
        <p:blipFill rotWithShape="1">
          <a:blip r:embed="rId2"/>
          <a:srcRect b="23333"/>
          <a:stretch/>
        </p:blipFill>
        <p:spPr>
          <a:xfrm>
            <a:off x="0" y="614908"/>
            <a:ext cx="6614129" cy="5905500"/>
          </a:xfrm>
          <a:prstGeom prst="rect">
            <a:avLst/>
          </a:prstGeom>
        </p:spPr>
      </p:pic>
    </p:spTree>
    <p:extLst>
      <p:ext uri="{BB962C8B-B14F-4D97-AF65-F5344CB8AC3E}">
        <p14:creationId xmlns:p14="http://schemas.microsoft.com/office/powerpoint/2010/main" val="234851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AF1FB66-AA44-1D77-7117-58A9378F8B89}"/>
              </a:ext>
            </a:extLst>
          </p:cNvPr>
          <p:cNvSpPr txBox="1"/>
          <p:nvPr/>
        </p:nvSpPr>
        <p:spPr>
          <a:xfrm>
            <a:off x="876300" y="6174604"/>
            <a:ext cx="10667999" cy="494110"/>
          </a:xfrm>
          <a:prstGeom prst="rect">
            <a:avLst/>
          </a:prstGeom>
          <a:noFill/>
        </p:spPr>
        <p:txBody>
          <a:bodyPr wrap="square">
            <a:spAutoFit/>
          </a:bodyPr>
          <a:lstStyle/>
          <a:p>
            <a:pPr algn="l">
              <a:lnSpc>
                <a:spcPct val="150000"/>
              </a:lnSpc>
            </a:pPr>
            <a:r>
              <a:rPr lang="en-GB" sz="2000" dirty="0">
                <a:latin typeface="Helvetica Neue Light" panose="02000403000000020004" pitchFamily="2" charset="0"/>
                <a:ea typeface="Helvetica Neue Light" panose="02000403000000020004" pitchFamily="2" charset="0"/>
              </a:rPr>
              <a:t>And when you click Submit, you should see the value of both input fields logged in the console.</a:t>
            </a:r>
          </a:p>
        </p:txBody>
      </p:sp>
      <p:pic>
        <p:nvPicPr>
          <p:cNvPr id="2" name="Picture 1">
            <a:extLst>
              <a:ext uri="{FF2B5EF4-FFF2-40B4-BE49-F238E27FC236}">
                <a16:creationId xmlns:a16="http://schemas.microsoft.com/office/drawing/2014/main" id="{0DEF2F45-FC1B-1770-33C0-C8451BCEB597}"/>
              </a:ext>
            </a:extLst>
          </p:cNvPr>
          <p:cNvPicPr>
            <a:picLocks noChangeAspect="1"/>
          </p:cNvPicPr>
          <p:nvPr/>
        </p:nvPicPr>
        <p:blipFill>
          <a:blip r:embed="rId2"/>
          <a:stretch>
            <a:fillRect/>
          </a:stretch>
        </p:blipFill>
        <p:spPr>
          <a:xfrm>
            <a:off x="990600" y="822714"/>
            <a:ext cx="8343900" cy="5212571"/>
          </a:xfrm>
          <a:prstGeom prst="rect">
            <a:avLst/>
          </a:prstGeom>
          <a:ln>
            <a:solidFill>
              <a:schemeClr val="tx1">
                <a:lumMod val="65000"/>
                <a:lumOff val="35000"/>
              </a:schemeClr>
            </a:solidFill>
          </a:ln>
        </p:spPr>
      </p:pic>
      <p:cxnSp>
        <p:nvCxnSpPr>
          <p:cNvPr id="4" name="Straight Arrow Connector 3">
            <a:extLst>
              <a:ext uri="{FF2B5EF4-FFF2-40B4-BE49-F238E27FC236}">
                <a16:creationId xmlns:a16="http://schemas.microsoft.com/office/drawing/2014/main" id="{2AE7A604-8372-F77D-4050-5047BE4627FA}"/>
              </a:ext>
            </a:extLst>
          </p:cNvPr>
          <p:cNvCxnSpPr>
            <a:cxnSpLocks/>
          </p:cNvCxnSpPr>
          <p:nvPr/>
        </p:nvCxnSpPr>
        <p:spPr>
          <a:xfrm flipH="1">
            <a:off x="4673600" y="822714"/>
            <a:ext cx="5600700" cy="2606285"/>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954FC60B-7BA4-56B6-7CB4-44DA1184F625}"/>
              </a:ext>
            </a:extLst>
          </p:cNvPr>
          <p:cNvSpPr txBox="1"/>
          <p:nvPr/>
        </p:nvSpPr>
        <p:spPr>
          <a:xfrm>
            <a:off x="876300" y="189285"/>
            <a:ext cx="10667999" cy="494110"/>
          </a:xfrm>
          <a:prstGeom prst="rect">
            <a:avLst/>
          </a:prstGeom>
          <a:noFill/>
        </p:spPr>
        <p:txBody>
          <a:bodyPr wrap="square">
            <a:spAutoFit/>
          </a:bodyPr>
          <a:lstStyle/>
          <a:p>
            <a:pPr algn="l">
              <a:lnSpc>
                <a:spcPct val="150000"/>
              </a:lnSpc>
            </a:pPr>
            <a:r>
              <a:rPr lang="en-GB" sz="2000" dirty="0">
                <a:latin typeface="Helvetica Neue Light" panose="02000403000000020004" pitchFamily="2" charset="0"/>
                <a:ea typeface="Helvetica Neue Light" panose="02000403000000020004" pitchFamily="2" charset="0"/>
              </a:rPr>
              <a:t>Now if you visit the Edit word view, you should see the correct word displayed in the fields. </a:t>
            </a:r>
          </a:p>
        </p:txBody>
      </p:sp>
      <p:cxnSp>
        <p:nvCxnSpPr>
          <p:cNvPr id="12" name="Straight Arrow Connector 11">
            <a:extLst>
              <a:ext uri="{FF2B5EF4-FFF2-40B4-BE49-F238E27FC236}">
                <a16:creationId xmlns:a16="http://schemas.microsoft.com/office/drawing/2014/main" id="{43AED625-BAAE-51A9-E635-E8FF4A5F8804}"/>
              </a:ext>
            </a:extLst>
          </p:cNvPr>
          <p:cNvCxnSpPr>
            <a:cxnSpLocks/>
          </p:cNvCxnSpPr>
          <p:nvPr/>
        </p:nvCxnSpPr>
        <p:spPr>
          <a:xfrm flipH="1" flipV="1">
            <a:off x="2247900" y="5575300"/>
            <a:ext cx="7759700" cy="69850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22373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54FC60B-7BA4-56B6-7CB4-44DA1184F625}"/>
              </a:ext>
            </a:extLst>
          </p:cNvPr>
          <p:cNvSpPr txBox="1"/>
          <p:nvPr/>
        </p:nvSpPr>
        <p:spPr>
          <a:xfrm>
            <a:off x="762000" y="0"/>
            <a:ext cx="10667999" cy="1000787"/>
          </a:xfrm>
          <a:prstGeom prst="rect">
            <a:avLst/>
          </a:prstGeom>
          <a:noFill/>
        </p:spPr>
        <p:txBody>
          <a:bodyPr wrap="square">
            <a:spAutoFit/>
          </a:bodyPr>
          <a:lstStyle/>
          <a:p>
            <a:pPr algn="l">
              <a:lnSpc>
                <a:spcPct val="150000"/>
              </a:lnSpc>
            </a:pPr>
            <a:r>
              <a:rPr lang="en-GB" sz="4400" dirty="0">
                <a:solidFill>
                  <a:schemeClr val="accent6"/>
                </a:solidFill>
                <a:latin typeface="American Typewriter" panose="02090604020004020304" pitchFamily="18" charset="77"/>
                <a:ea typeface="Helvetica Neue Light" panose="02000403000000020004" pitchFamily="2" charset="0"/>
                <a:cs typeface="Courier New" panose="02070309020205020404" pitchFamily="49" charset="0"/>
              </a:rPr>
              <a:t>Finally in </a:t>
            </a:r>
            <a:r>
              <a:rPr lang="en-GB" sz="4400" dirty="0" err="1">
                <a:solidFill>
                  <a:schemeClr val="accent6"/>
                </a:solidFill>
                <a:latin typeface="American Typewriter" panose="02090604020004020304" pitchFamily="18" charset="77"/>
                <a:ea typeface="Helvetica Neue Light" panose="02000403000000020004" pitchFamily="2" charset="0"/>
                <a:cs typeface="Courier New" panose="02070309020205020404" pitchFamily="49" charset="0"/>
              </a:rPr>
              <a:t>WordForm.vue</a:t>
            </a:r>
            <a:endParaRPr lang="en-GB" sz="4400" dirty="0">
              <a:solidFill>
                <a:schemeClr val="accent6"/>
              </a:solidFill>
              <a:latin typeface="American Typewriter" panose="02090604020004020304" pitchFamily="18" charset="77"/>
              <a:ea typeface="Helvetica Neue Light" panose="02000403000000020004" pitchFamily="2" charset="0"/>
              <a:cs typeface="Courier New" panose="02070309020205020404" pitchFamily="49" charset="0"/>
            </a:endParaRPr>
          </a:p>
        </p:txBody>
      </p:sp>
      <p:sp>
        <p:nvSpPr>
          <p:cNvPr id="5" name="TextBox 4">
            <a:extLst>
              <a:ext uri="{FF2B5EF4-FFF2-40B4-BE49-F238E27FC236}">
                <a16:creationId xmlns:a16="http://schemas.microsoft.com/office/drawing/2014/main" id="{DEDC9D74-51A3-20A9-4262-C700B544B84D}"/>
              </a:ext>
            </a:extLst>
          </p:cNvPr>
          <p:cNvSpPr txBox="1"/>
          <p:nvPr/>
        </p:nvSpPr>
        <p:spPr>
          <a:xfrm>
            <a:off x="762000" y="1000787"/>
            <a:ext cx="10667999" cy="955774"/>
          </a:xfrm>
          <a:prstGeom prst="rect">
            <a:avLst/>
          </a:prstGeom>
          <a:noFill/>
        </p:spPr>
        <p:txBody>
          <a:bodyPr wrap="square">
            <a:spAutoFit/>
          </a:bodyPr>
          <a:lstStyle/>
          <a:p>
            <a:pPr>
              <a:lnSpc>
                <a:spcPct val="150000"/>
              </a:lnSpc>
            </a:pPr>
            <a:r>
              <a:rPr lang="en-GB" sz="2000" dirty="0">
                <a:solidFill>
                  <a:srgbClr val="1F1E20"/>
                </a:solidFill>
                <a:effectLst/>
                <a:latin typeface="Helvetica Neue Light" panose="02000403000000020004" pitchFamily="2" charset="0"/>
                <a:ea typeface="Helvetica Neue Light" panose="02000403000000020004" pitchFamily="2" charset="0"/>
              </a:rPr>
              <a:t>Finally, we need to expand our </a:t>
            </a:r>
            <a:r>
              <a:rPr lang="en-GB" sz="2000" dirty="0" err="1">
                <a:latin typeface="Helvetica Neue Light" panose="02000403000000020004" pitchFamily="2" charset="0"/>
                <a:ea typeface="Helvetica Neue Light" panose="02000403000000020004" pitchFamily="2" charset="0"/>
              </a:rPr>
              <a:t>onSubmit</a:t>
            </a:r>
            <a:r>
              <a:rPr lang="en-GB" sz="2000" dirty="0">
                <a:solidFill>
                  <a:srgbClr val="1F1E20"/>
                </a:solidFill>
                <a:effectLst/>
                <a:latin typeface="Helvetica Neue Light" panose="02000403000000020004" pitchFamily="2" charset="0"/>
                <a:ea typeface="Helvetica Neue Light" panose="02000403000000020004" pitchFamily="2" charset="0"/>
              </a:rPr>
              <a:t> method to do something other than log the values of the inputs to the console. Alter it to this:</a:t>
            </a:r>
            <a:endParaRPr lang="en-US" sz="2000" dirty="0">
              <a:latin typeface="Helvetica Neue Light" panose="02000403000000020004" pitchFamily="2" charset="0"/>
              <a:ea typeface="Helvetica Neue Light" panose="02000403000000020004" pitchFamily="2" charset="0"/>
            </a:endParaRPr>
          </a:p>
        </p:txBody>
      </p:sp>
      <p:pic>
        <p:nvPicPr>
          <p:cNvPr id="7" name="Picture 6">
            <a:extLst>
              <a:ext uri="{FF2B5EF4-FFF2-40B4-BE49-F238E27FC236}">
                <a16:creationId xmlns:a16="http://schemas.microsoft.com/office/drawing/2014/main" id="{9E58CD1E-A8AB-3C8F-1EE2-CEA51B421C9A}"/>
              </a:ext>
            </a:extLst>
          </p:cNvPr>
          <p:cNvPicPr>
            <a:picLocks noChangeAspect="1"/>
          </p:cNvPicPr>
          <p:nvPr/>
        </p:nvPicPr>
        <p:blipFill>
          <a:blip r:embed="rId2"/>
          <a:stretch>
            <a:fillRect/>
          </a:stretch>
        </p:blipFill>
        <p:spPr>
          <a:xfrm>
            <a:off x="762000" y="2091779"/>
            <a:ext cx="8784922" cy="2607221"/>
          </a:xfrm>
          <a:prstGeom prst="rect">
            <a:avLst/>
          </a:prstGeom>
        </p:spPr>
      </p:pic>
      <p:sp>
        <p:nvSpPr>
          <p:cNvPr id="10" name="TextBox 9">
            <a:extLst>
              <a:ext uri="{FF2B5EF4-FFF2-40B4-BE49-F238E27FC236}">
                <a16:creationId xmlns:a16="http://schemas.microsoft.com/office/drawing/2014/main" id="{6CD74155-8E7F-E3C6-A6FA-B0E6B5C69C02}"/>
              </a:ext>
            </a:extLst>
          </p:cNvPr>
          <p:cNvSpPr txBox="1"/>
          <p:nvPr/>
        </p:nvSpPr>
        <p:spPr>
          <a:xfrm>
            <a:off x="762000" y="4834218"/>
            <a:ext cx="10782300" cy="1879104"/>
          </a:xfrm>
          <a:prstGeom prst="rect">
            <a:avLst/>
          </a:prstGeom>
          <a:noFill/>
        </p:spPr>
        <p:txBody>
          <a:bodyPr wrap="square">
            <a:spAutoFit/>
          </a:bodyPr>
          <a:lstStyle/>
          <a:p>
            <a:pPr>
              <a:lnSpc>
                <a:spcPct val="150000"/>
              </a:lnSpc>
            </a:pPr>
            <a:r>
              <a:rPr lang="en-GB" sz="2000" dirty="0">
                <a:solidFill>
                  <a:srgbClr val="1F1E20"/>
                </a:solidFill>
                <a:effectLst/>
                <a:latin typeface="Helvetica Neue Light" panose="02000403000000020004" pitchFamily="2" charset="0"/>
                <a:ea typeface="Helvetica Neue Light" panose="02000403000000020004" pitchFamily="2" charset="0"/>
              </a:rPr>
              <a:t>This checks that both fields have a value. If not, it flags the error, otherwise it emits an event </a:t>
            </a:r>
            <a:r>
              <a:rPr lang="en-GB" sz="2000" dirty="0" err="1">
                <a:latin typeface="Helvetica Neue Light" panose="02000403000000020004" pitchFamily="2" charset="0"/>
                <a:ea typeface="Helvetica Neue Light" panose="02000403000000020004" pitchFamily="2" charset="0"/>
              </a:rPr>
              <a:t>createOrUpdate</a:t>
            </a:r>
            <a:r>
              <a:rPr lang="en-GB" sz="2000" dirty="0">
                <a:solidFill>
                  <a:srgbClr val="1F1E20"/>
                </a:solidFill>
                <a:effectLst/>
                <a:latin typeface="Helvetica Neue Light" panose="02000403000000020004" pitchFamily="2" charset="0"/>
                <a:ea typeface="Helvetica Neue Light" panose="02000403000000020004" pitchFamily="2" charset="0"/>
              </a:rPr>
              <a:t> which we can listen for in the parent component (in this case, </a:t>
            </a:r>
            <a:r>
              <a:rPr lang="en-GB" sz="2000" dirty="0">
                <a:latin typeface="Helvetica Neue Light" panose="02000403000000020004" pitchFamily="2" charset="0"/>
                <a:ea typeface="Helvetica Neue Light" panose="02000403000000020004" pitchFamily="2" charset="0"/>
              </a:rPr>
              <a:t>Edit</a:t>
            </a:r>
            <a:r>
              <a:rPr lang="en-GB" sz="2000" dirty="0">
                <a:solidFill>
                  <a:srgbClr val="1F1E20"/>
                </a:solidFill>
                <a:effectLst/>
                <a:latin typeface="Helvetica Neue Light" panose="02000403000000020004" pitchFamily="2" charset="0"/>
                <a:ea typeface="Helvetica Neue Light" panose="02000403000000020004" pitchFamily="2" charset="0"/>
              </a:rPr>
              <a:t>). It’s called it </a:t>
            </a:r>
            <a:r>
              <a:rPr lang="en-GB" sz="2000" dirty="0" err="1">
                <a:latin typeface="Helvetica Neue Light" panose="02000403000000020004" pitchFamily="2" charset="0"/>
                <a:ea typeface="Helvetica Neue Light" panose="02000403000000020004" pitchFamily="2" charset="0"/>
              </a:rPr>
              <a:t>createOrUpdate</a:t>
            </a:r>
            <a:r>
              <a:rPr lang="en-GB" sz="2000" dirty="0">
                <a:solidFill>
                  <a:srgbClr val="1F1E20"/>
                </a:solidFill>
                <a:effectLst/>
                <a:latin typeface="Helvetica Neue Light" panose="02000403000000020004" pitchFamily="2" charset="0"/>
                <a:ea typeface="Helvetica Neue Light" panose="02000403000000020004" pitchFamily="2" charset="0"/>
              </a:rPr>
              <a:t>, as the corresponding functionality in the parent component will be doing one of these two things.</a:t>
            </a:r>
            <a:endParaRPr lang="en-US" sz="20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625556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54FC60B-7BA4-56B6-7CB4-44DA1184F625}"/>
              </a:ext>
            </a:extLst>
          </p:cNvPr>
          <p:cNvSpPr txBox="1"/>
          <p:nvPr/>
        </p:nvSpPr>
        <p:spPr>
          <a:xfrm>
            <a:off x="762000" y="0"/>
            <a:ext cx="10667999" cy="1000787"/>
          </a:xfrm>
          <a:prstGeom prst="rect">
            <a:avLst/>
          </a:prstGeom>
          <a:noFill/>
        </p:spPr>
        <p:txBody>
          <a:bodyPr wrap="square">
            <a:spAutoFit/>
          </a:bodyPr>
          <a:lstStyle/>
          <a:p>
            <a:pPr algn="l">
              <a:lnSpc>
                <a:spcPct val="150000"/>
              </a:lnSpc>
            </a:pPr>
            <a:r>
              <a:rPr lang="en-GB" sz="4400" dirty="0">
                <a:solidFill>
                  <a:schemeClr val="accent6"/>
                </a:solidFill>
                <a:latin typeface="American Typewriter" panose="02090604020004020304" pitchFamily="18" charset="77"/>
                <a:ea typeface="Helvetica Neue Light" panose="02000403000000020004" pitchFamily="2" charset="0"/>
                <a:cs typeface="Courier New" panose="02070309020205020404" pitchFamily="49" charset="0"/>
              </a:rPr>
              <a:t>Back in </a:t>
            </a:r>
            <a:r>
              <a:rPr lang="en-GB" sz="4400" dirty="0" err="1">
                <a:solidFill>
                  <a:schemeClr val="accent6"/>
                </a:solidFill>
                <a:latin typeface="American Typewriter" panose="02090604020004020304" pitchFamily="18" charset="77"/>
                <a:ea typeface="Helvetica Neue Light" panose="02000403000000020004" pitchFamily="2" charset="0"/>
                <a:cs typeface="Courier New" panose="02070309020205020404" pitchFamily="49" charset="0"/>
              </a:rPr>
              <a:t>Edit.vue</a:t>
            </a:r>
            <a:endParaRPr lang="en-GB" sz="4400" dirty="0">
              <a:solidFill>
                <a:schemeClr val="accent6"/>
              </a:solidFill>
              <a:latin typeface="American Typewriter" panose="02090604020004020304" pitchFamily="18" charset="77"/>
              <a:ea typeface="Helvetica Neue Light" panose="02000403000000020004" pitchFamily="2" charset="0"/>
              <a:cs typeface="Courier New" panose="02070309020205020404" pitchFamily="49" charset="0"/>
            </a:endParaRPr>
          </a:p>
        </p:txBody>
      </p:sp>
      <p:sp>
        <p:nvSpPr>
          <p:cNvPr id="5" name="TextBox 4">
            <a:extLst>
              <a:ext uri="{FF2B5EF4-FFF2-40B4-BE49-F238E27FC236}">
                <a16:creationId xmlns:a16="http://schemas.microsoft.com/office/drawing/2014/main" id="{DEDC9D74-51A3-20A9-4262-C700B544B84D}"/>
              </a:ext>
            </a:extLst>
          </p:cNvPr>
          <p:cNvSpPr txBox="1"/>
          <p:nvPr/>
        </p:nvSpPr>
        <p:spPr>
          <a:xfrm>
            <a:off x="762000" y="1000787"/>
            <a:ext cx="10667999" cy="494110"/>
          </a:xfrm>
          <a:prstGeom prst="rect">
            <a:avLst/>
          </a:prstGeom>
          <a:noFill/>
        </p:spPr>
        <p:txBody>
          <a:bodyPr wrap="square">
            <a:spAutoFit/>
          </a:bodyPr>
          <a:lstStyle/>
          <a:p>
            <a:pPr>
              <a:lnSpc>
                <a:spcPct val="150000"/>
              </a:lnSpc>
            </a:pPr>
            <a:r>
              <a:rPr lang="en-GB" sz="2000" dirty="0">
                <a:solidFill>
                  <a:srgbClr val="1F1E20"/>
                </a:solidFill>
                <a:effectLst/>
                <a:latin typeface="Helvetica Neue Light" panose="02000403000000020004" pitchFamily="2" charset="0"/>
                <a:ea typeface="Helvetica Neue Light" panose="02000403000000020004" pitchFamily="2" charset="0"/>
              </a:rPr>
              <a:t>change</a:t>
            </a:r>
            <a:endParaRPr lang="en-US" sz="20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A7B57CFD-5644-E43A-215C-8AC6A12248B1}"/>
              </a:ext>
            </a:extLst>
          </p:cNvPr>
          <p:cNvPicPr>
            <a:picLocks noChangeAspect="1"/>
          </p:cNvPicPr>
          <p:nvPr/>
        </p:nvPicPr>
        <p:blipFill>
          <a:blip r:embed="rId2"/>
          <a:stretch>
            <a:fillRect/>
          </a:stretch>
        </p:blipFill>
        <p:spPr>
          <a:xfrm>
            <a:off x="761999" y="1548985"/>
            <a:ext cx="8280400" cy="448522"/>
          </a:xfrm>
          <a:prstGeom prst="rect">
            <a:avLst/>
          </a:prstGeom>
        </p:spPr>
      </p:pic>
      <p:sp>
        <p:nvSpPr>
          <p:cNvPr id="3" name="TextBox 2">
            <a:extLst>
              <a:ext uri="{FF2B5EF4-FFF2-40B4-BE49-F238E27FC236}">
                <a16:creationId xmlns:a16="http://schemas.microsoft.com/office/drawing/2014/main" id="{D0BAF3A2-3E19-81A3-59F4-23887B89686A}"/>
              </a:ext>
            </a:extLst>
          </p:cNvPr>
          <p:cNvSpPr txBox="1"/>
          <p:nvPr/>
        </p:nvSpPr>
        <p:spPr>
          <a:xfrm>
            <a:off x="762000" y="1997507"/>
            <a:ext cx="10667999" cy="494110"/>
          </a:xfrm>
          <a:prstGeom prst="rect">
            <a:avLst/>
          </a:prstGeom>
          <a:noFill/>
        </p:spPr>
        <p:txBody>
          <a:bodyPr wrap="square">
            <a:spAutoFit/>
          </a:bodyPr>
          <a:lstStyle/>
          <a:p>
            <a:pPr>
              <a:lnSpc>
                <a:spcPct val="150000"/>
              </a:lnSpc>
            </a:pPr>
            <a:r>
              <a:rPr lang="en-GB" sz="2000" dirty="0">
                <a:solidFill>
                  <a:srgbClr val="1F1E20"/>
                </a:solidFill>
                <a:effectLst/>
                <a:latin typeface="Helvetica Neue Light" panose="02000403000000020004" pitchFamily="2" charset="0"/>
                <a:ea typeface="Helvetica Neue Light" panose="02000403000000020004" pitchFamily="2" charset="0"/>
              </a:rPr>
              <a:t>to</a:t>
            </a:r>
            <a:endParaRPr lang="en-US" sz="2000" dirty="0">
              <a:latin typeface="Helvetica Neue Light" panose="02000403000000020004" pitchFamily="2" charset="0"/>
              <a:ea typeface="Helvetica Neue Light" panose="02000403000000020004" pitchFamily="2" charset="0"/>
            </a:endParaRPr>
          </a:p>
        </p:txBody>
      </p:sp>
      <p:pic>
        <p:nvPicPr>
          <p:cNvPr id="4" name="Picture 3">
            <a:extLst>
              <a:ext uri="{FF2B5EF4-FFF2-40B4-BE49-F238E27FC236}">
                <a16:creationId xmlns:a16="http://schemas.microsoft.com/office/drawing/2014/main" id="{B1C5548B-5C36-4B0F-6890-88C79FC78770}"/>
              </a:ext>
            </a:extLst>
          </p:cNvPr>
          <p:cNvPicPr>
            <a:picLocks noChangeAspect="1"/>
          </p:cNvPicPr>
          <p:nvPr/>
        </p:nvPicPr>
        <p:blipFill>
          <a:blip r:embed="rId3"/>
          <a:stretch>
            <a:fillRect/>
          </a:stretch>
        </p:blipFill>
        <p:spPr>
          <a:xfrm>
            <a:off x="788831" y="2562920"/>
            <a:ext cx="10641168" cy="362134"/>
          </a:xfrm>
          <a:prstGeom prst="rect">
            <a:avLst/>
          </a:prstGeom>
        </p:spPr>
      </p:pic>
      <p:pic>
        <p:nvPicPr>
          <p:cNvPr id="6" name="Picture 5">
            <a:extLst>
              <a:ext uri="{FF2B5EF4-FFF2-40B4-BE49-F238E27FC236}">
                <a16:creationId xmlns:a16="http://schemas.microsoft.com/office/drawing/2014/main" id="{412E7B34-166B-BB12-EA20-86150DFF1AD9}"/>
              </a:ext>
            </a:extLst>
          </p:cNvPr>
          <p:cNvPicPr>
            <a:picLocks noChangeAspect="1"/>
          </p:cNvPicPr>
          <p:nvPr/>
        </p:nvPicPr>
        <p:blipFill>
          <a:blip r:embed="rId4"/>
          <a:stretch>
            <a:fillRect/>
          </a:stretch>
        </p:blipFill>
        <p:spPr>
          <a:xfrm>
            <a:off x="788831" y="3628766"/>
            <a:ext cx="6737898" cy="2860933"/>
          </a:xfrm>
          <a:prstGeom prst="rect">
            <a:avLst/>
          </a:prstGeom>
        </p:spPr>
      </p:pic>
      <p:sp>
        <p:nvSpPr>
          <p:cNvPr id="8" name="TextBox 7">
            <a:extLst>
              <a:ext uri="{FF2B5EF4-FFF2-40B4-BE49-F238E27FC236}">
                <a16:creationId xmlns:a16="http://schemas.microsoft.com/office/drawing/2014/main" id="{E4E9BC8C-39B4-2F89-DA52-251E30C7A7E6}"/>
              </a:ext>
            </a:extLst>
          </p:cNvPr>
          <p:cNvSpPr txBox="1"/>
          <p:nvPr/>
        </p:nvSpPr>
        <p:spPr>
          <a:xfrm>
            <a:off x="788831" y="2994227"/>
            <a:ext cx="10667999" cy="503728"/>
          </a:xfrm>
          <a:prstGeom prst="rect">
            <a:avLst/>
          </a:prstGeom>
          <a:noFill/>
        </p:spPr>
        <p:txBody>
          <a:bodyPr wrap="square">
            <a:spAutoFit/>
          </a:bodyPr>
          <a:lstStyle/>
          <a:p>
            <a:pPr>
              <a:lnSpc>
                <a:spcPct val="150000"/>
              </a:lnSpc>
            </a:pPr>
            <a:r>
              <a:rPr lang="en-GB" sz="2000" dirty="0">
                <a:solidFill>
                  <a:srgbClr val="1F1E20"/>
                </a:solidFill>
                <a:effectLst/>
                <a:latin typeface="Helvetica Neue Light" panose="02000403000000020004" pitchFamily="2" charset="0"/>
                <a:ea typeface="Helvetica Neue Light" panose="02000403000000020004" pitchFamily="2" charset="0"/>
              </a:rPr>
              <a:t>And implement the update functionality in the </a:t>
            </a:r>
            <a:r>
              <a:rPr lang="en-GB" sz="2000" dirty="0">
                <a:latin typeface="Helvetica Neue Light" panose="02000403000000020004" pitchFamily="2" charset="0"/>
                <a:ea typeface="Helvetica Neue Light" panose="02000403000000020004" pitchFamily="2" charset="0"/>
              </a:rPr>
              <a:t>methods</a:t>
            </a:r>
            <a:r>
              <a:rPr lang="en-GB" sz="2000" dirty="0">
                <a:solidFill>
                  <a:srgbClr val="1F1E20"/>
                </a:solidFill>
                <a:effectLst/>
                <a:latin typeface="Helvetica Neue Light" panose="02000403000000020004" pitchFamily="2" charset="0"/>
                <a:ea typeface="Helvetica Neue Light" panose="02000403000000020004" pitchFamily="2" charset="0"/>
              </a:rPr>
              <a:t> object:</a:t>
            </a:r>
            <a:endParaRPr lang="en-US" sz="20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777278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54FC60B-7BA4-56B6-7CB4-44DA1184F625}"/>
              </a:ext>
            </a:extLst>
          </p:cNvPr>
          <p:cNvSpPr txBox="1"/>
          <p:nvPr/>
        </p:nvSpPr>
        <p:spPr>
          <a:xfrm>
            <a:off x="762000" y="0"/>
            <a:ext cx="10667999" cy="1000787"/>
          </a:xfrm>
          <a:prstGeom prst="rect">
            <a:avLst/>
          </a:prstGeom>
          <a:noFill/>
        </p:spPr>
        <p:txBody>
          <a:bodyPr wrap="square">
            <a:spAutoFit/>
          </a:bodyPr>
          <a:lstStyle/>
          <a:p>
            <a:pPr algn="l">
              <a:lnSpc>
                <a:spcPct val="150000"/>
              </a:lnSpc>
            </a:pPr>
            <a:r>
              <a:rPr lang="en-GB" sz="4400" dirty="0">
                <a:solidFill>
                  <a:schemeClr val="accent6"/>
                </a:solidFill>
                <a:latin typeface="American Typewriter" panose="02090604020004020304" pitchFamily="18" charset="77"/>
                <a:ea typeface="Helvetica Neue Light" panose="02000403000000020004" pitchFamily="2" charset="0"/>
                <a:cs typeface="Courier New" panose="02070309020205020404" pitchFamily="49" charset="0"/>
              </a:rPr>
              <a:t>Final touch – </a:t>
            </a:r>
            <a:r>
              <a:rPr lang="en-GB" sz="4400" dirty="0" err="1">
                <a:solidFill>
                  <a:schemeClr val="accent6"/>
                </a:solidFill>
                <a:latin typeface="American Typewriter" panose="02090604020004020304" pitchFamily="18" charset="77"/>
                <a:ea typeface="Helvetica Neue Light" panose="02000403000000020004" pitchFamily="2" charset="0"/>
                <a:cs typeface="Courier New" panose="02070309020205020404" pitchFamily="49" charset="0"/>
              </a:rPr>
              <a:t>Words.vue</a:t>
            </a:r>
            <a:endParaRPr lang="en-GB" sz="4400" dirty="0">
              <a:solidFill>
                <a:schemeClr val="accent6"/>
              </a:solidFill>
              <a:latin typeface="American Typewriter" panose="02090604020004020304" pitchFamily="18" charset="77"/>
              <a:ea typeface="Helvetica Neue Light" panose="02000403000000020004" pitchFamily="2" charset="0"/>
              <a:cs typeface="Courier New" panose="02070309020205020404" pitchFamily="49" charset="0"/>
            </a:endParaRPr>
          </a:p>
        </p:txBody>
      </p:sp>
      <p:sp>
        <p:nvSpPr>
          <p:cNvPr id="5" name="TextBox 4">
            <a:extLst>
              <a:ext uri="{FF2B5EF4-FFF2-40B4-BE49-F238E27FC236}">
                <a16:creationId xmlns:a16="http://schemas.microsoft.com/office/drawing/2014/main" id="{DEDC9D74-51A3-20A9-4262-C700B544B84D}"/>
              </a:ext>
            </a:extLst>
          </p:cNvPr>
          <p:cNvSpPr txBox="1"/>
          <p:nvPr/>
        </p:nvSpPr>
        <p:spPr>
          <a:xfrm>
            <a:off x="762000" y="1000787"/>
            <a:ext cx="10667999" cy="494110"/>
          </a:xfrm>
          <a:prstGeom prst="rect">
            <a:avLst/>
          </a:prstGeom>
          <a:noFill/>
        </p:spPr>
        <p:txBody>
          <a:bodyPr wrap="square">
            <a:spAutoFit/>
          </a:bodyPr>
          <a:lstStyle/>
          <a:p>
            <a:pPr>
              <a:lnSpc>
                <a:spcPct val="150000"/>
              </a:lnSpc>
            </a:pPr>
            <a:r>
              <a:rPr lang="en-GB" sz="2000" dirty="0">
                <a:solidFill>
                  <a:srgbClr val="1F1E20"/>
                </a:solidFill>
                <a:effectLst/>
                <a:latin typeface="Helvetica Neue Light" panose="02000403000000020004" pitchFamily="2" charset="0"/>
                <a:ea typeface="Helvetica Neue Light" panose="02000403000000020004" pitchFamily="2" charset="0"/>
              </a:rPr>
              <a:t>change</a:t>
            </a:r>
            <a:endParaRPr lang="en-US" sz="2000" dirty="0">
              <a:latin typeface="Helvetica Neue Light" panose="02000403000000020004" pitchFamily="2" charset="0"/>
              <a:ea typeface="Helvetica Neue Light" panose="02000403000000020004" pitchFamily="2" charset="0"/>
            </a:endParaRPr>
          </a:p>
        </p:txBody>
      </p:sp>
      <p:sp>
        <p:nvSpPr>
          <p:cNvPr id="3" name="TextBox 2">
            <a:extLst>
              <a:ext uri="{FF2B5EF4-FFF2-40B4-BE49-F238E27FC236}">
                <a16:creationId xmlns:a16="http://schemas.microsoft.com/office/drawing/2014/main" id="{D0BAF3A2-3E19-81A3-59F4-23887B89686A}"/>
              </a:ext>
            </a:extLst>
          </p:cNvPr>
          <p:cNvSpPr txBox="1"/>
          <p:nvPr/>
        </p:nvSpPr>
        <p:spPr>
          <a:xfrm>
            <a:off x="762000" y="1997507"/>
            <a:ext cx="10667999" cy="494110"/>
          </a:xfrm>
          <a:prstGeom prst="rect">
            <a:avLst/>
          </a:prstGeom>
          <a:noFill/>
        </p:spPr>
        <p:txBody>
          <a:bodyPr wrap="square">
            <a:spAutoFit/>
          </a:bodyPr>
          <a:lstStyle/>
          <a:p>
            <a:pPr>
              <a:lnSpc>
                <a:spcPct val="150000"/>
              </a:lnSpc>
            </a:pPr>
            <a:r>
              <a:rPr lang="en-GB" sz="2000" dirty="0">
                <a:solidFill>
                  <a:srgbClr val="1F1E20"/>
                </a:solidFill>
                <a:effectLst/>
                <a:latin typeface="Helvetica Neue Light" panose="02000403000000020004" pitchFamily="2" charset="0"/>
                <a:ea typeface="Helvetica Neue Light" panose="02000403000000020004" pitchFamily="2" charset="0"/>
              </a:rPr>
              <a:t>to</a:t>
            </a:r>
            <a:endParaRPr lang="en-US" sz="2000" dirty="0">
              <a:latin typeface="Helvetica Neue Light" panose="02000403000000020004" pitchFamily="2" charset="0"/>
              <a:ea typeface="Helvetica Neue Light" panose="02000403000000020004" pitchFamily="2" charset="0"/>
            </a:endParaRPr>
          </a:p>
        </p:txBody>
      </p:sp>
      <p:pic>
        <p:nvPicPr>
          <p:cNvPr id="7" name="Picture 6">
            <a:extLst>
              <a:ext uri="{FF2B5EF4-FFF2-40B4-BE49-F238E27FC236}">
                <a16:creationId xmlns:a16="http://schemas.microsoft.com/office/drawing/2014/main" id="{A2775712-A306-EBD9-11B0-B132FABC2F7F}"/>
              </a:ext>
            </a:extLst>
          </p:cNvPr>
          <p:cNvPicPr>
            <a:picLocks noChangeAspect="1"/>
          </p:cNvPicPr>
          <p:nvPr/>
        </p:nvPicPr>
        <p:blipFill>
          <a:blip r:embed="rId2"/>
          <a:stretch>
            <a:fillRect/>
          </a:stretch>
        </p:blipFill>
        <p:spPr>
          <a:xfrm>
            <a:off x="762000" y="1583303"/>
            <a:ext cx="9081784" cy="414203"/>
          </a:xfrm>
          <a:prstGeom prst="rect">
            <a:avLst/>
          </a:prstGeom>
        </p:spPr>
      </p:pic>
      <p:pic>
        <p:nvPicPr>
          <p:cNvPr id="10" name="Picture 9">
            <a:extLst>
              <a:ext uri="{FF2B5EF4-FFF2-40B4-BE49-F238E27FC236}">
                <a16:creationId xmlns:a16="http://schemas.microsoft.com/office/drawing/2014/main" id="{392C4242-5859-2779-F50F-893CA4B0C416}"/>
              </a:ext>
            </a:extLst>
          </p:cNvPr>
          <p:cNvPicPr>
            <a:picLocks noChangeAspect="1"/>
          </p:cNvPicPr>
          <p:nvPr/>
        </p:nvPicPr>
        <p:blipFill>
          <a:blip r:embed="rId3"/>
          <a:stretch>
            <a:fillRect/>
          </a:stretch>
        </p:blipFill>
        <p:spPr>
          <a:xfrm>
            <a:off x="761999" y="2632722"/>
            <a:ext cx="11180169" cy="593078"/>
          </a:xfrm>
          <a:prstGeom prst="rect">
            <a:avLst/>
          </a:prstGeom>
        </p:spPr>
      </p:pic>
      <p:pic>
        <p:nvPicPr>
          <p:cNvPr id="11" name="Picture 10">
            <a:extLst>
              <a:ext uri="{FF2B5EF4-FFF2-40B4-BE49-F238E27FC236}">
                <a16:creationId xmlns:a16="http://schemas.microsoft.com/office/drawing/2014/main" id="{CF152297-6533-896C-ECBF-E8EA3982F70B}"/>
              </a:ext>
            </a:extLst>
          </p:cNvPr>
          <p:cNvPicPr>
            <a:picLocks noChangeAspect="1"/>
          </p:cNvPicPr>
          <p:nvPr/>
        </p:nvPicPr>
        <p:blipFill>
          <a:blip r:embed="rId4"/>
          <a:stretch>
            <a:fillRect/>
          </a:stretch>
        </p:blipFill>
        <p:spPr>
          <a:xfrm>
            <a:off x="761999" y="3861016"/>
            <a:ext cx="7772400" cy="1452785"/>
          </a:xfrm>
          <a:prstGeom prst="rect">
            <a:avLst/>
          </a:prstGeom>
          <a:ln>
            <a:solidFill>
              <a:schemeClr val="tx1">
                <a:lumMod val="50000"/>
                <a:lumOff val="50000"/>
              </a:schemeClr>
            </a:solidFill>
          </a:ln>
        </p:spPr>
      </p:pic>
      <p:cxnSp>
        <p:nvCxnSpPr>
          <p:cNvPr id="13" name="Straight Arrow Connector 12">
            <a:extLst>
              <a:ext uri="{FF2B5EF4-FFF2-40B4-BE49-F238E27FC236}">
                <a16:creationId xmlns:a16="http://schemas.microsoft.com/office/drawing/2014/main" id="{F8A97870-A87D-7B0D-5C65-6A218D86F273}"/>
              </a:ext>
            </a:extLst>
          </p:cNvPr>
          <p:cNvCxnSpPr>
            <a:cxnSpLocks/>
          </p:cNvCxnSpPr>
          <p:nvPr/>
        </p:nvCxnSpPr>
        <p:spPr>
          <a:xfrm flipH="1">
            <a:off x="7150100" y="3286088"/>
            <a:ext cx="2184400" cy="114985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8876946-42FE-0CDB-56ED-630DCB7755CB}"/>
              </a:ext>
            </a:extLst>
          </p:cNvPr>
          <p:cNvSpPr txBox="1"/>
          <p:nvPr/>
        </p:nvSpPr>
        <p:spPr>
          <a:xfrm>
            <a:off x="761999" y="5664523"/>
            <a:ext cx="10667999" cy="835613"/>
          </a:xfrm>
          <a:prstGeom prst="rect">
            <a:avLst/>
          </a:prstGeom>
          <a:noFill/>
        </p:spPr>
        <p:txBody>
          <a:bodyPr wrap="square">
            <a:spAutoFit/>
          </a:bodyPr>
          <a:lstStyle/>
          <a:p>
            <a:pPr algn="l">
              <a:lnSpc>
                <a:spcPct val="150000"/>
              </a:lnSpc>
            </a:pPr>
            <a:r>
              <a:rPr lang="en-GB" sz="3600" dirty="0">
                <a:solidFill>
                  <a:srgbClr val="C00000"/>
                </a:solidFill>
                <a:latin typeface="American Typewriter" panose="02090604020004020304" pitchFamily="18" charset="77"/>
                <a:ea typeface="Helvetica Neue Light" panose="02000403000000020004" pitchFamily="2" charset="0"/>
                <a:cs typeface="Courier New" panose="02070309020205020404" pitchFamily="49" charset="0"/>
              </a:rPr>
              <a:t>Test the show and edit part of your system</a:t>
            </a:r>
          </a:p>
        </p:txBody>
      </p:sp>
    </p:spTree>
    <p:extLst>
      <p:ext uri="{BB962C8B-B14F-4D97-AF65-F5344CB8AC3E}">
        <p14:creationId xmlns:p14="http://schemas.microsoft.com/office/powerpoint/2010/main" val="1671321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136523"/>
            <a:ext cx="12192000" cy="2730501"/>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Absolutely, positively, definitely</a:t>
            </a:r>
          </a:p>
          <a:p>
            <a:pPr marL="0" indent="0" algn="ctr">
              <a:lnSpc>
                <a:spcPct val="150000"/>
              </a:lnSpc>
              <a:buNone/>
            </a:pP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enough for now</a:t>
            </a:r>
          </a:p>
        </p:txBody>
      </p:sp>
      <p:pic>
        <p:nvPicPr>
          <p:cNvPr id="4098" name="Picture 2" descr="Sad Boy Meets World GIF">
            <a:extLst>
              <a:ext uri="{FF2B5EF4-FFF2-40B4-BE49-F238E27FC236}">
                <a16:creationId xmlns:a16="http://schemas.microsoft.com/office/drawing/2014/main" id="{DE9E18F1-BFB9-3F70-DD31-3D18807A3A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9699" y="3209924"/>
            <a:ext cx="7509247" cy="3228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8941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gs>
            <a:gs pos="41000">
              <a:schemeClr val="accent6"/>
            </a:gs>
            <a:gs pos="100000">
              <a:schemeClr val="accent6"/>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47136"/>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40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p>
        </p:txBody>
      </p:sp>
    </p:spTree>
    <p:extLst>
      <p:ext uri="{BB962C8B-B14F-4D97-AF65-F5344CB8AC3E}">
        <p14:creationId xmlns:p14="http://schemas.microsoft.com/office/powerpoint/2010/main" val="868276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15273</TotalTime>
  <Words>2062</Words>
  <Application>Microsoft Macintosh PowerPoint</Application>
  <PresentationFormat>Widescreen</PresentationFormat>
  <Paragraphs>163</Paragraphs>
  <Slides>57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American Typewriter</vt:lpstr>
      <vt:lpstr>Arial</vt:lpstr>
      <vt:lpstr>Calibri</vt:lpstr>
      <vt:lpstr>Calibri Light</vt:lpstr>
      <vt:lpstr>Courier New</vt:lpstr>
      <vt:lpstr>HELVETICA NEUE LIGHT</vt:lpstr>
      <vt:lpstr>HELVETICA NEUE LIGHT</vt:lpstr>
      <vt:lpstr>Helvetica Neue Thin</vt:lpstr>
      <vt:lpstr>Office Theme</vt:lpstr>
      <vt:lpstr>COMP 1842</vt:lpstr>
      <vt:lpstr>Recap</vt:lpstr>
      <vt:lpstr>Introduction</vt:lpstr>
      <vt:lpstr>Basic set up</vt:lpstr>
      <vt:lpstr>Basic set up pt 2</vt:lpstr>
      <vt:lpstr>Basic set up pt 3</vt:lpstr>
      <vt:lpstr>Basic set up pt 4</vt:lpstr>
      <vt:lpstr>Install Vue router</vt:lpstr>
      <vt:lpstr>Test front end server</vt:lpstr>
      <vt:lpstr>Check in browser</vt:lpstr>
      <vt:lpstr>Control C stop the server</vt:lpstr>
      <vt:lpstr>Finish structure</vt:lpstr>
      <vt:lpstr>Front end dependencies</vt:lpstr>
      <vt:lpstr>PowerPoint Presentation</vt:lpstr>
      <vt:lpstr>Creating the Routes</vt:lpstr>
      <vt:lpstr>router.js pt1</vt:lpstr>
      <vt:lpstr>router.js pt2</vt:lpstr>
      <vt:lpstr>Vue router – further reading</vt:lpstr>
      <vt:lpstr>PowerPoint Presentation</vt:lpstr>
      <vt:lpstr>main.js – full code </vt:lpstr>
      <vt:lpstr>PowerPoint Presentation</vt:lpstr>
      <vt:lpstr>The template part</vt:lpstr>
      <vt:lpstr>Script and css part</vt:lpstr>
      <vt:lpstr>Test the front end</vt:lpstr>
      <vt:lpstr>YAY - coffee Beak</vt:lpstr>
      <vt:lpstr>PowerPoint Presentation</vt:lpstr>
      <vt:lpstr>PowerPoint Presentation</vt:lpstr>
      <vt:lpstr>helpers.js full code</vt:lpstr>
      <vt:lpstr>PowerPoint Presentation</vt:lpstr>
      <vt:lpstr>PowerPoint Presentation</vt:lpstr>
      <vt:lpstr>PowerPoint Presentation</vt:lpstr>
      <vt:lpstr>PowerPoint Presentation</vt:lpstr>
      <vt:lpstr>Words.vue pt1 – write this code</vt:lpstr>
      <vt:lpstr>PowerPoint Presentation</vt:lpstr>
      <vt:lpstr>PowerPoint Presentation</vt:lpstr>
      <vt:lpstr>PowerPoint Presentation</vt:lpstr>
      <vt:lpstr>If you have got this far give yourself 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1321</dc:title>
  <dc:creator>Matthew Prichard</dc:creator>
  <cp:lastModifiedBy>Matthew Prichard</cp:lastModifiedBy>
  <cp:revision>148</cp:revision>
  <dcterms:created xsi:type="dcterms:W3CDTF">2020-06-28T01:46:05Z</dcterms:created>
  <dcterms:modified xsi:type="dcterms:W3CDTF">2025-03-25T14:30:20Z</dcterms:modified>
</cp:coreProperties>
</file>