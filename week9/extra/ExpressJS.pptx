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3"/>
    <p:sldId id="274" r:id="rId4"/>
    <p:sldId id="260" r:id="rId5"/>
    <p:sldId id="275" r:id="rId6"/>
    <p:sldId id="276" r:id="rId7"/>
    <p:sldId id="269" r:id="rId8"/>
    <p:sldId id="277" r:id="rId9"/>
    <p:sldId id="301" r:id="rId10"/>
    <p:sldId id="283" r:id="rId11"/>
    <p:sldId id="286" r:id="rId12"/>
    <p:sldId id="284" r:id="rId13"/>
    <p:sldId id="309" r:id="rId14"/>
    <p:sldId id="292" r:id="rId15"/>
    <p:sldId id="294" r:id="rId16"/>
    <p:sldId id="296" r:id="rId17"/>
    <p:sldId id="295" r:id="rId18"/>
    <p:sldId id="307" r:id="rId19"/>
    <p:sldId id="297" r:id="rId20"/>
    <p:sldId id="298" r:id="rId21"/>
    <p:sldId id="299" r:id="rId22"/>
    <p:sldId id="262" r:id="rId23"/>
    <p:sldId id="302" r:id="rId24"/>
    <p:sldId id="304" r:id="rId25"/>
    <p:sldId id="305" r:id="rId26"/>
    <p:sldId id="306" r:id="rId27"/>
    <p:sldId id="310" r:id="rId28"/>
    <p:sldId id="308" r:id="rId29"/>
    <p:sldId id="303" r:id="rId30"/>
    <p:sldId id="300"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574B"/>
    <a:srgbClr val="D3473F"/>
    <a:srgbClr val="FF5B5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1348"/>
    <p:restoredTop sz="86395"/>
  </p:normalViewPr>
  <p:slideViewPr>
    <p:cSldViewPr snapToGrid="0" snapToObjects="1">
      <p:cViewPr varScale="1">
        <p:scale>
          <a:sx n="109" d="100"/>
          <a:sy n="109" d="100"/>
        </p:scale>
        <p:origin x="216" y="600"/>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6-28T01:47:14.141"/>
    </inkml:context>
    <inkml:brush xml:id="br0">
      <inkml:brushProperty name="width" value="0.05" units="cm"/>
      <inkml:brushProperty name="height" value="0.05" units="cm"/>
      <inkml:brushProperty name="color" value="#E71224"/>
    </inkml:brush>
  </inkml:definitions>
  <inkml:trace contextRef="#ctx0" brushRef="#br0">1 10 24575,'0'-6'0,"0"2"0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6-28T01:47:15.093"/>
    </inkml:context>
    <inkml:brush xml:id="br0">
      <inkml:brushProperty name="width" value="0.05" units="cm"/>
      <inkml:brushProperty name="height" value="0.05" units="cm"/>
      <inkml:brushProperty name="color" value="#E71224"/>
    </inkml:brush>
  </inkml:definitions>
  <inkml:trace contextRef="#ctx0" brushRef="#br0">1 1 24575,'5'5'0,"-1"-1"0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6-28T01:47:20.298"/>
    </inkml:context>
    <inkml:brush xml:id="br0">
      <inkml:brushProperty name="width" value="0.05" units="cm"/>
      <inkml:brushProperty name="height" value="0.05" units="cm"/>
      <inkml:brushProperty name="color" value="#E71224"/>
    </inkml:brush>
  </inkml:definitions>
  <inkml:trace contextRef="#ctx0" brushRef="#br0">1 10 24575,'0'-5'0,"0"1"0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6-28T01:47:26.089"/>
    </inkml:context>
    <inkml:brush xml:id="br0">
      <inkml:brushProperty name="width" value="0.05" units="cm"/>
      <inkml:brushProperty name="height" value="0.05" units="cm"/>
      <inkml:brushProperty name="color" value="#E71224"/>
    </inkml:brush>
  </inkml:definitions>
  <inkml:trace contextRef="#ctx0" brushRef="#br0">1 0 24575,'0'0'0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6-28T01:47:28.710"/>
    </inkml:context>
    <inkml:brush xml:id="br0">
      <inkml:brushProperty name="width" value="0.05" units="cm"/>
      <inkml:brushProperty name="height" value="0.05" units="cm"/>
      <inkml:brushProperty name="color" value="#E71224"/>
    </inkml:brush>
  </inkml:definitions>
  <inkml:trace contextRef="#ctx0" brushRef="#br0">0 1 24575,'5'0'0,"-1"0"0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FF539-EFFE-4545-8560-8B85D420C599}"/>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4A27E099-A4CF-C148-8D5A-DC7DCE6EA01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5614F13F-321A-6C44-A529-3C63949C72C6}"/>
              </a:ext>
            </a:extLst>
          </p:cNvPr>
          <p:cNvSpPr>
            <a:spLocks noGrp="1"/>
          </p:cNvSpPr>
          <p:nvPr>
            <p:ph type="dt" sz="half" idx="10"/>
          </p:nvPr>
        </p:nvSpPr>
        <p:spPr/>
        <p:txBody>
          <a:bodyPr/>
          <a:lstStyle/>
          <a:p>
            <a:fld id="{BDE38E33-E634-164E-9160-E9D257145221}" type="datetimeFigureOut">
              <a:rPr lang="en-US" smtClean="0"/>
              <a:t>3/18/24</a:t>
            </a:fld>
            <a:endParaRPr lang="en-US"/>
          </a:p>
        </p:txBody>
      </p:sp>
      <p:sp>
        <p:nvSpPr>
          <p:cNvPr id="5" name="Footer Placeholder 4">
            <a:extLst>
              <a:ext uri="{FF2B5EF4-FFF2-40B4-BE49-F238E27FC236}">
                <a16:creationId xmlns:a16="http://schemas.microsoft.com/office/drawing/2014/main" id="{97777D4B-E972-3F48-8AB6-BC30D35A46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F37F83-FC1F-964D-9D14-71EC1C06AE71}"/>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2637986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88E1E-8C7B-BF49-ADDF-0DBF11C19E5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6196981E-8F9B-D64C-9D10-A1DF590341E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6020193-341C-E347-A42A-A1A21E43FF77}"/>
              </a:ext>
            </a:extLst>
          </p:cNvPr>
          <p:cNvSpPr>
            <a:spLocks noGrp="1"/>
          </p:cNvSpPr>
          <p:nvPr>
            <p:ph type="dt" sz="half" idx="10"/>
          </p:nvPr>
        </p:nvSpPr>
        <p:spPr/>
        <p:txBody>
          <a:bodyPr/>
          <a:lstStyle/>
          <a:p>
            <a:fld id="{BDE38E33-E634-164E-9160-E9D257145221}" type="datetimeFigureOut">
              <a:rPr lang="en-US" smtClean="0"/>
              <a:t>3/18/24</a:t>
            </a:fld>
            <a:endParaRPr lang="en-US"/>
          </a:p>
        </p:txBody>
      </p:sp>
      <p:sp>
        <p:nvSpPr>
          <p:cNvPr id="5" name="Footer Placeholder 4">
            <a:extLst>
              <a:ext uri="{FF2B5EF4-FFF2-40B4-BE49-F238E27FC236}">
                <a16:creationId xmlns:a16="http://schemas.microsoft.com/office/drawing/2014/main" id="{2B618F1D-D2AE-3E45-9684-41082CDD0F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C77C00-9FE2-D644-877F-E440C7FDB266}"/>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11264474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9FB7A-866B-8144-B7A1-B3D2CE8B4D35}"/>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BEA9333F-7620-324C-821F-9AD4629D80B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841DDB4-466A-D142-8FFA-437B8B3B2108}"/>
              </a:ext>
            </a:extLst>
          </p:cNvPr>
          <p:cNvSpPr>
            <a:spLocks noGrp="1"/>
          </p:cNvSpPr>
          <p:nvPr>
            <p:ph type="dt" sz="half" idx="10"/>
          </p:nvPr>
        </p:nvSpPr>
        <p:spPr/>
        <p:txBody>
          <a:bodyPr/>
          <a:lstStyle/>
          <a:p>
            <a:fld id="{BDE38E33-E634-164E-9160-E9D257145221}" type="datetimeFigureOut">
              <a:rPr lang="en-US" smtClean="0"/>
              <a:t>3/18/24</a:t>
            </a:fld>
            <a:endParaRPr lang="en-US"/>
          </a:p>
        </p:txBody>
      </p:sp>
      <p:sp>
        <p:nvSpPr>
          <p:cNvPr id="5" name="Footer Placeholder 4">
            <a:extLst>
              <a:ext uri="{FF2B5EF4-FFF2-40B4-BE49-F238E27FC236}">
                <a16:creationId xmlns:a16="http://schemas.microsoft.com/office/drawing/2014/main" id="{0E5B42E0-284F-5746-B82C-C36E036E5B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EC5C72-09E6-E047-BEF5-956CDC65F70E}"/>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632786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B2E35-2AE7-6F47-B4DA-83DE0DF4746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F6FCAD58-35EE-E345-9223-93C0D708CAEB}"/>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564EF8E7-11C7-6E44-9C23-E6F8B255FA0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B1588C67-D211-A347-94D3-2566B042CEAC}"/>
              </a:ext>
            </a:extLst>
          </p:cNvPr>
          <p:cNvSpPr>
            <a:spLocks noGrp="1"/>
          </p:cNvSpPr>
          <p:nvPr>
            <p:ph type="dt" sz="half" idx="10"/>
          </p:nvPr>
        </p:nvSpPr>
        <p:spPr/>
        <p:txBody>
          <a:bodyPr/>
          <a:lstStyle/>
          <a:p>
            <a:fld id="{BDE38E33-E634-164E-9160-E9D257145221}" type="datetimeFigureOut">
              <a:rPr lang="en-US" smtClean="0"/>
              <a:t>3/18/24</a:t>
            </a:fld>
            <a:endParaRPr lang="en-US"/>
          </a:p>
        </p:txBody>
      </p:sp>
      <p:sp>
        <p:nvSpPr>
          <p:cNvPr id="6" name="Footer Placeholder 5">
            <a:extLst>
              <a:ext uri="{FF2B5EF4-FFF2-40B4-BE49-F238E27FC236}">
                <a16:creationId xmlns:a16="http://schemas.microsoft.com/office/drawing/2014/main" id="{BF3FAA6E-E7CE-1B4F-A78D-8055C20FF5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6079D9-12B3-A149-9192-6D6EE5E58F8C}"/>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16961091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17B05-85DB-5A4D-931F-231EBBA11290}"/>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76F10373-280F-CA46-BE02-633860BE99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50A25CD-D56D-9749-8FA7-012A6FFB1AD3}"/>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B1940AEA-A232-8E45-B81D-24868FB2C46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22DB3D5C-B45E-294F-899C-37B8ABB44525}"/>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7F43D68E-FDF7-C045-8CAA-189B56B2E697}"/>
              </a:ext>
            </a:extLst>
          </p:cNvPr>
          <p:cNvSpPr>
            <a:spLocks noGrp="1"/>
          </p:cNvSpPr>
          <p:nvPr>
            <p:ph type="dt" sz="half" idx="10"/>
          </p:nvPr>
        </p:nvSpPr>
        <p:spPr/>
        <p:txBody>
          <a:bodyPr/>
          <a:lstStyle/>
          <a:p>
            <a:fld id="{BDE38E33-E634-164E-9160-E9D257145221}" type="datetimeFigureOut">
              <a:rPr lang="en-US" smtClean="0"/>
              <a:t>3/18/24</a:t>
            </a:fld>
            <a:endParaRPr lang="en-US"/>
          </a:p>
        </p:txBody>
      </p:sp>
      <p:sp>
        <p:nvSpPr>
          <p:cNvPr id="8" name="Footer Placeholder 7">
            <a:extLst>
              <a:ext uri="{FF2B5EF4-FFF2-40B4-BE49-F238E27FC236}">
                <a16:creationId xmlns:a16="http://schemas.microsoft.com/office/drawing/2014/main" id="{7C413D46-B78B-B34E-A26D-1E905B740BF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D8BDADF-5108-CD45-9618-15BBE06090DB}"/>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9949294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59E0C-142B-1A4D-89C5-B127E3184B4D}"/>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98F2823E-3DFF-BC40-A52F-4043983FB2DD}"/>
              </a:ext>
            </a:extLst>
          </p:cNvPr>
          <p:cNvSpPr>
            <a:spLocks noGrp="1"/>
          </p:cNvSpPr>
          <p:nvPr>
            <p:ph type="dt" sz="half" idx="10"/>
          </p:nvPr>
        </p:nvSpPr>
        <p:spPr/>
        <p:txBody>
          <a:bodyPr/>
          <a:lstStyle/>
          <a:p>
            <a:fld id="{BDE38E33-E634-164E-9160-E9D257145221}" type="datetimeFigureOut">
              <a:rPr lang="en-US" smtClean="0"/>
              <a:t>3/18/24</a:t>
            </a:fld>
            <a:endParaRPr lang="en-US"/>
          </a:p>
        </p:txBody>
      </p:sp>
      <p:sp>
        <p:nvSpPr>
          <p:cNvPr id="4" name="Footer Placeholder 3">
            <a:extLst>
              <a:ext uri="{FF2B5EF4-FFF2-40B4-BE49-F238E27FC236}">
                <a16:creationId xmlns:a16="http://schemas.microsoft.com/office/drawing/2014/main" id="{124D8986-40E4-9C4C-9000-D7F27294F60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36A2C31-69A8-2541-8800-BF6093390D32}"/>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28051451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6E6F4BA-B7C3-0B40-A517-3063895B03DF}"/>
              </a:ext>
            </a:extLst>
          </p:cNvPr>
          <p:cNvSpPr>
            <a:spLocks noGrp="1"/>
          </p:cNvSpPr>
          <p:nvPr>
            <p:ph type="dt" sz="half" idx="10"/>
          </p:nvPr>
        </p:nvSpPr>
        <p:spPr/>
        <p:txBody>
          <a:bodyPr/>
          <a:lstStyle/>
          <a:p>
            <a:fld id="{BDE38E33-E634-164E-9160-E9D257145221}" type="datetimeFigureOut">
              <a:rPr lang="en-US" smtClean="0"/>
              <a:t>3/18/24</a:t>
            </a:fld>
            <a:endParaRPr lang="en-US"/>
          </a:p>
        </p:txBody>
      </p:sp>
      <p:sp>
        <p:nvSpPr>
          <p:cNvPr id="3" name="Footer Placeholder 2">
            <a:extLst>
              <a:ext uri="{FF2B5EF4-FFF2-40B4-BE49-F238E27FC236}">
                <a16:creationId xmlns:a16="http://schemas.microsoft.com/office/drawing/2014/main" id="{4797E2D8-25FE-5D4E-AA84-54C5D96B6FD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73C8086-56AB-5846-9B21-24E9FACF9EE6}"/>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35648536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5128B-CB7D-4949-BDCD-CEA57AD6536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C4C22BEB-180F-2C4F-AD00-7398A27FFD6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8D449D24-1922-914E-8AE1-EDB93293A8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6CC72B2-DD18-5848-8941-A617E3E7920F}"/>
              </a:ext>
            </a:extLst>
          </p:cNvPr>
          <p:cNvSpPr>
            <a:spLocks noGrp="1"/>
          </p:cNvSpPr>
          <p:nvPr>
            <p:ph type="dt" sz="half" idx="10"/>
          </p:nvPr>
        </p:nvSpPr>
        <p:spPr/>
        <p:txBody>
          <a:bodyPr/>
          <a:lstStyle/>
          <a:p>
            <a:fld id="{BDE38E33-E634-164E-9160-E9D257145221}" type="datetimeFigureOut">
              <a:rPr lang="en-US" smtClean="0"/>
              <a:t>3/18/24</a:t>
            </a:fld>
            <a:endParaRPr lang="en-US"/>
          </a:p>
        </p:txBody>
      </p:sp>
      <p:sp>
        <p:nvSpPr>
          <p:cNvPr id="6" name="Footer Placeholder 5">
            <a:extLst>
              <a:ext uri="{FF2B5EF4-FFF2-40B4-BE49-F238E27FC236}">
                <a16:creationId xmlns:a16="http://schemas.microsoft.com/office/drawing/2014/main" id="{688227D4-8A18-8847-B7F4-B294D0E2127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541A7C-E471-BB41-A5AE-D7F2A5EF5242}"/>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30120608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8BA7A-65F6-804A-9941-BCE8970B95F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CA38F054-1226-C841-8344-D63DBC0215B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C11DC94-414C-3F41-B393-D969AAC6A3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DDE8132-7D31-F647-A931-5987A506D35F}"/>
              </a:ext>
            </a:extLst>
          </p:cNvPr>
          <p:cNvSpPr>
            <a:spLocks noGrp="1"/>
          </p:cNvSpPr>
          <p:nvPr>
            <p:ph type="dt" sz="half" idx="10"/>
          </p:nvPr>
        </p:nvSpPr>
        <p:spPr/>
        <p:txBody>
          <a:bodyPr/>
          <a:lstStyle/>
          <a:p>
            <a:fld id="{BDE38E33-E634-164E-9160-E9D257145221}" type="datetimeFigureOut">
              <a:rPr lang="en-US" smtClean="0"/>
              <a:t>3/18/24</a:t>
            </a:fld>
            <a:endParaRPr lang="en-US"/>
          </a:p>
        </p:txBody>
      </p:sp>
      <p:sp>
        <p:nvSpPr>
          <p:cNvPr id="6" name="Footer Placeholder 5">
            <a:extLst>
              <a:ext uri="{FF2B5EF4-FFF2-40B4-BE49-F238E27FC236}">
                <a16:creationId xmlns:a16="http://schemas.microsoft.com/office/drawing/2014/main" id="{59DF137E-B2CD-DD4D-BF38-E08630C9F6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EF7E92-EA36-7B48-A10F-1F43EE78FE1D}"/>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33845614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E4E04-9F9F-AB48-88B1-E1883CD33176}"/>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2657EA1-F037-8B4E-9A3A-2DE41A3DEF8A}"/>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8DB8C3C-2D4F-BE41-8BC7-084B83BEFA84}"/>
              </a:ext>
            </a:extLst>
          </p:cNvPr>
          <p:cNvSpPr>
            <a:spLocks noGrp="1"/>
          </p:cNvSpPr>
          <p:nvPr>
            <p:ph type="dt" sz="half" idx="10"/>
          </p:nvPr>
        </p:nvSpPr>
        <p:spPr/>
        <p:txBody>
          <a:bodyPr/>
          <a:lstStyle/>
          <a:p>
            <a:fld id="{BDE38E33-E634-164E-9160-E9D257145221}" type="datetimeFigureOut">
              <a:rPr lang="en-US" smtClean="0"/>
              <a:t>3/18/24</a:t>
            </a:fld>
            <a:endParaRPr lang="en-US"/>
          </a:p>
        </p:txBody>
      </p:sp>
      <p:sp>
        <p:nvSpPr>
          <p:cNvPr id="5" name="Footer Placeholder 4">
            <a:extLst>
              <a:ext uri="{FF2B5EF4-FFF2-40B4-BE49-F238E27FC236}">
                <a16:creationId xmlns:a16="http://schemas.microsoft.com/office/drawing/2014/main" id="{D612D0DE-14FE-1D40-BE53-A452852B6E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71D8C1-DBB4-6047-9F3A-27574BE70FD2}"/>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31818959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A564D8-A2EB-6040-A321-450F2B3B531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FE19CC6-DE46-8941-A1E0-A043207418B2}"/>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84B8749-56EB-B24A-9291-4EBB8B556CFA}"/>
              </a:ext>
            </a:extLst>
          </p:cNvPr>
          <p:cNvSpPr>
            <a:spLocks noGrp="1"/>
          </p:cNvSpPr>
          <p:nvPr>
            <p:ph type="dt" sz="half" idx="10"/>
          </p:nvPr>
        </p:nvSpPr>
        <p:spPr/>
        <p:txBody>
          <a:bodyPr/>
          <a:lstStyle/>
          <a:p>
            <a:fld id="{BDE38E33-E634-164E-9160-E9D257145221}" type="datetimeFigureOut">
              <a:rPr lang="en-US" smtClean="0"/>
              <a:t>3/18/24</a:t>
            </a:fld>
            <a:endParaRPr lang="en-US"/>
          </a:p>
        </p:txBody>
      </p:sp>
      <p:sp>
        <p:nvSpPr>
          <p:cNvPr id="5" name="Footer Placeholder 4">
            <a:extLst>
              <a:ext uri="{FF2B5EF4-FFF2-40B4-BE49-F238E27FC236}">
                <a16:creationId xmlns:a16="http://schemas.microsoft.com/office/drawing/2014/main" id="{527ABE29-13B7-C144-9FE6-C43F1BC65D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E9BD64-DA0B-7445-BB80-5A502968ADB6}"/>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6893196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AA0518A-80A7-B946-A2C0-357FF80B483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66F8D-B95D-3748-A8C1-B613B61AC5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801E4AA-0008-E746-A8C3-917D9ECC1F4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E38E33-E634-164E-9160-E9D257145221}" type="datetimeFigureOut">
              <a:rPr lang="en-US" smtClean="0"/>
              <a:t>3/18/24</a:t>
            </a:fld>
            <a:endParaRPr lang="en-US"/>
          </a:p>
        </p:txBody>
      </p:sp>
      <p:sp>
        <p:nvSpPr>
          <p:cNvPr id="5" name="Footer Placeholder 4">
            <a:extLst>
              <a:ext uri="{FF2B5EF4-FFF2-40B4-BE49-F238E27FC236}">
                <a16:creationId xmlns:a16="http://schemas.microsoft.com/office/drawing/2014/main" id="{32A644B1-065E-4C4F-8DD6-AB21405884D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471CFFB-C884-9249-B66F-52213D90498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8301A9-E266-4A4D-81C0-23C5428F31B4}" type="slidenum">
              <a:rPr lang="en-US" smtClean="0"/>
              <a:t>‹#›</a:t>
            </a:fld>
            <a:endParaRPr lang="en-US"/>
          </a:p>
        </p:txBody>
      </p:sp>
    </p:spTree>
    <p:extLst>
      <p:ext uri="{BB962C8B-B14F-4D97-AF65-F5344CB8AC3E}">
        <p14:creationId xmlns:p14="http://schemas.microsoft.com/office/powerpoint/2010/main" val="18321462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customXml" Target="../ink/ink4.xml"/><Relationship Id="rId2" Type="http://schemas.openxmlformats.org/officeDocument/2006/relationships/customXml" Target="../ink/ink1.xml"/><Relationship Id="rId1" Type="http://schemas.openxmlformats.org/officeDocument/2006/relationships/slideLayout" Target="../slideLayouts/slideLayout1.xml"/><Relationship Id="rId6" Type="http://schemas.openxmlformats.org/officeDocument/2006/relationships/customXml" Target="../ink/ink3.xml"/><Relationship Id="rId5" Type="http://schemas.openxmlformats.org/officeDocument/2006/relationships/image" Target="../media/image2.png"/><Relationship Id="rId10" Type="http://schemas.openxmlformats.org/officeDocument/2006/relationships/image" Target="../media/image4.png"/><Relationship Id="rId4" Type="http://schemas.openxmlformats.org/officeDocument/2006/relationships/customXml" Target="../ink/ink2.xml"/><Relationship Id="rId9" Type="http://schemas.openxmlformats.org/officeDocument/2006/relationships/customXml" Target="../ink/ink5.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expressjs.com/"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en.wikipedia.org/wiki/Hypertext_Transfer_Protocol#Request_methods" TargetMode="Externa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www.scaler.com/topics/nodejs/middleware-in-nodejs/" TargetMode="External"/><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nodejs.org/api/globals.html#globals_global" TargetMode="External"/><Relationship Id="rId2" Type="http://schemas.openxmlformats.org/officeDocument/2006/relationships/hyperlink" Target="https://codesource.io/how-to-use-cors-in-expressjs/" TargetMode="Externa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5.xml.rels><?xml version="1.0" encoding="UTF-8" standalone="yes"?>
<Relationships xmlns="http://schemas.openxmlformats.org/package/2006/relationships"><Relationship Id="rId3" Type="http://schemas.openxmlformats.org/officeDocument/2006/relationships/hyperlink" Target="https://stackoverflow.com/questions/55692084/what-is-the-difference-between-nodes-bodyparser-and-expresss-urlencoded-middle" TargetMode="External"/><Relationship Id="rId2" Type="http://schemas.openxmlformats.org/officeDocument/2006/relationships/hyperlink" Target="https://technoteshelp.com/express-what-is-process-env-port-in-node-js/" TargetMode="Externa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expressjs.com/en/4x/api.html#app"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s://developer.mozilla.org/en-US/docs/Glossary/Parse"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www.theknowledgeacademy.com/blog/express-js-vs-node-js/" TargetMode="External"/><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mfikri.com/en/blog/express-tutorial-beginners" TargetMode="External"/><Relationship Id="rId2" Type="http://schemas.openxmlformats.org/officeDocument/2006/relationships/hyperlink" Target="https://www.tutorialsteacher.com/nodejs/expressjs-web-application" TargetMode="External"/><Relationship Id="rId1" Type="http://schemas.openxmlformats.org/officeDocument/2006/relationships/slideLayout" Target="../slideLayouts/slideLayout2.xml"/><Relationship Id="rId6" Type="http://schemas.openxmlformats.org/officeDocument/2006/relationships/hyperlink" Target="https://expressjs.com/" TargetMode="External"/><Relationship Id="rId5" Type="http://schemas.openxmlformats.org/officeDocument/2006/relationships/hyperlink" Target="https://www.theknowledgeacademy.com/blog/express-js-vs-node-js/" TargetMode="External"/><Relationship Id="rId4" Type="http://schemas.openxmlformats.org/officeDocument/2006/relationships/hyperlink" Target="https://expressjs.com/en/starter/hello-world.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574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C8B91-A0EF-6441-AC27-9667FD447C0F}"/>
              </a:ext>
            </a:extLst>
          </p:cNvPr>
          <p:cNvSpPr>
            <a:spLocks noGrp="1"/>
          </p:cNvSpPr>
          <p:nvPr>
            <p:ph type="ctrTitle"/>
          </p:nvPr>
        </p:nvSpPr>
        <p:spPr>
          <a:xfrm>
            <a:off x="0" y="1604375"/>
            <a:ext cx="12192000" cy="2472633"/>
          </a:xfrm>
          <a:ln>
            <a:noFill/>
          </a:ln>
          <a:effectLst>
            <a:outerShdw blurRad="165100" dist="101600" dir="5400000" algn="t" rotWithShape="0">
              <a:prstClr val="black">
                <a:alpha val="40000"/>
              </a:prstClr>
            </a:outerShdw>
          </a:effectLst>
        </p:spPr>
        <p:txBody>
          <a:bodyPr>
            <a:noAutofit/>
          </a:bodyPr>
          <a:lstStyle/>
          <a:p>
            <a:r>
              <a:rPr lang="en-US" sz="1500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rPr>
              <a:t>COMP 1842</a:t>
            </a:r>
          </a:p>
        </p:txBody>
      </p:sp>
      <p:sp>
        <p:nvSpPr>
          <p:cNvPr id="3" name="Subtitle 2">
            <a:extLst>
              <a:ext uri="{FF2B5EF4-FFF2-40B4-BE49-F238E27FC236}">
                <a16:creationId xmlns:a16="http://schemas.microsoft.com/office/drawing/2014/main" id="{7CC15634-394B-C140-BAEF-ABAB8B4926C9}"/>
              </a:ext>
            </a:extLst>
          </p:cNvPr>
          <p:cNvSpPr>
            <a:spLocks noGrp="1"/>
          </p:cNvSpPr>
          <p:nvPr>
            <p:ph type="subTitle" idx="1"/>
          </p:nvPr>
        </p:nvSpPr>
        <p:spPr>
          <a:xfrm>
            <a:off x="0" y="4640041"/>
            <a:ext cx="12192000" cy="1244392"/>
          </a:xfrm>
        </p:spPr>
        <p:txBody>
          <a:bodyPr>
            <a:normAutofit fontScale="92500" lnSpcReduction="10000"/>
          </a:bodyPr>
          <a:lstStyle/>
          <a:p>
            <a:r>
              <a:rPr lang="en-US" dirty="0">
                <a:solidFill>
                  <a:schemeClr val="bg1"/>
                </a:solidFill>
                <a:latin typeface="Helvetica Neue Thin" panose="020B0403020202020204" pitchFamily="34" charset="0"/>
                <a:ea typeface="Helvetica Neue Thin" panose="020B0403020202020204" pitchFamily="34" charset="0"/>
              </a:rPr>
              <a:t>Week11 – </a:t>
            </a:r>
            <a:r>
              <a:rPr lang="en-US" dirty="0" err="1">
                <a:solidFill>
                  <a:schemeClr val="bg1"/>
                </a:solidFill>
                <a:latin typeface="Helvetica Neue Thin" panose="020B0403020202020204" pitchFamily="34" charset="0"/>
                <a:ea typeface="Helvetica Neue Thin" panose="020B0403020202020204" pitchFamily="34" charset="0"/>
              </a:rPr>
              <a:t>ExpressJS</a:t>
            </a:r>
            <a:r>
              <a:rPr lang="en-US" dirty="0">
                <a:solidFill>
                  <a:schemeClr val="bg1"/>
                </a:solidFill>
                <a:latin typeface="Helvetica Neue Thin" panose="020B0403020202020204" pitchFamily="34" charset="0"/>
                <a:ea typeface="Helvetica Neue Thin" panose="020B0403020202020204" pitchFamily="34" charset="0"/>
              </a:rPr>
              <a:t> - The E</a:t>
            </a:r>
          </a:p>
          <a:p>
            <a:endParaRPr lang="en-US" dirty="0">
              <a:solidFill>
                <a:schemeClr val="bg1"/>
              </a:solidFill>
              <a:latin typeface="Helvetica Neue Thin" panose="020B0403020202020204" pitchFamily="34" charset="0"/>
              <a:ea typeface="Helvetica Neue Thin" panose="020B0403020202020204" pitchFamily="34" charset="0"/>
            </a:endParaRPr>
          </a:p>
          <a:p>
            <a:r>
              <a:rPr lang="en-US" dirty="0">
                <a:solidFill>
                  <a:schemeClr val="bg1"/>
                </a:solidFill>
                <a:latin typeface="Helvetica Neue Thin" panose="020B0403020202020204" pitchFamily="34" charset="0"/>
                <a:ea typeface="Helvetica Neue Thin" panose="020B0403020202020204" pitchFamily="34" charset="0"/>
              </a:rPr>
              <a:t>Matt Prichard</a:t>
            </a:r>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DD7C0677-BBE1-414B-814E-FB526796BABE}"/>
                  </a:ext>
                </a:extLst>
              </p14:cNvPr>
              <p14:cNvContentPartPr/>
              <p14:nvPr/>
            </p14:nvContentPartPr>
            <p14:xfrm>
              <a:off x="8651014" y="2840692"/>
              <a:ext cx="360" cy="3600"/>
            </p14:xfrm>
          </p:contentPart>
        </mc:Choice>
        <mc:Fallback xmlns="">
          <p:pic>
            <p:nvPicPr>
              <p:cNvPr id="5" name="Ink 4">
                <a:extLst>
                  <a:ext uri="{FF2B5EF4-FFF2-40B4-BE49-F238E27FC236}">
                    <a16:creationId xmlns:a16="http://schemas.microsoft.com/office/drawing/2014/main" id="{DD7C0677-BBE1-414B-814E-FB526796BABE}"/>
                  </a:ext>
                </a:extLst>
              </p:cNvPr>
              <p:cNvPicPr/>
              <p:nvPr/>
            </p:nvPicPr>
            <p:blipFill>
              <a:blip r:embed="rId3"/>
              <a:stretch>
                <a:fillRect/>
              </a:stretch>
            </p:blipFill>
            <p:spPr>
              <a:xfrm>
                <a:off x="8642374" y="2831692"/>
                <a:ext cx="1800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2850E275-2940-D64F-8F9D-8FEA90F263CD}"/>
                  </a:ext>
                </a:extLst>
              </p14:cNvPr>
              <p14:cNvContentPartPr/>
              <p14:nvPr/>
            </p14:nvContentPartPr>
            <p14:xfrm>
              <a:off x="7568494" y="1355692"/>
              <a:ext cx="3600" cy="3600"/>
            </p14:xfrm>
          </p:contentPart>
        </mc:Choice>
        <mc:Fallback xmlns="">
          <p:pic>
            <p:nvPicPr>
              <p:cNvPr id="6" name="Ink 5">
                <a:extLst>
                  <a:ext uri="{FF2B5EF4-FFF2-40B4-BE49-F238E27FC236}">
                    <a16:creationId xmlns:a16="http://schemas.microsoft.com/office/drawing/2014/main" id="{2850E275-2940-D64F-8F9D-8FEA90F263CD}"/>
                  </a:ext>
                </a:extLst>
              </p:cNvPr>
              <p:cNvPicPr/>
              <p:nvPr/>
            </p:nvPicPr>
            <p:blipFill>
              <a:blip r:embed="rId5"/>
              <a:stretch>
                <a:fillRect/>
              </a:stretch>
            </p:blipFill>
            <p:spPr>
              <a:xfrm>
                <a:off x="7559854" y="1347052"/>
                <a:ext cx="2124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3C9CF2D3-71F9-664F-83A1-4ACBF7039607}"/>
                  </a:ext>
                </a:extLst>
              </p14:cNvPr>
              <p14:cNvContentPartPr/>
              <p14:nvPr/>
            </p14:nvContentPartPr>
            <p14:xfrm>
              <a:off x="5078734" y="3049852"/>
              <a:ext cx="360" cy="3600"/>
            </p14:xfrm>
          </p:contentPart>
        </mc:Choice>
        <mc:Fallback xmlns="">
          <p:pic>
            <p:nvPicPr>
              <p:cNvPr id="7" name="Ink 6">
                <a:extLst>
                  <a:ext uri="{FF2B5EF4-FFF2-40B4-BE49-F238E27FC236}">
                    <a16:creationId xmlns:a16="http://schemas.microsoft.com/office/drawing/2014/main" id="{3C9CF2D3-71F9-664F-83A1-4ACBF7039607}"/>
                  </a:ext>
                </a:extLst>
              </p:cNvPr>
              <p:cNvPicPr/>
              <p:nvPr/>
            </p:nvPicPr>
            <p:blipFill>
              <a:blip r:embed="rId3"/>
              <a:stretch>
                <a:fillRect/>
              </a:stretch>
            </p:blipFill>
            <p:spPr>
              <a:xfrm>
                <a:off x="5070094" y="3041212"/>
                <a:ext cx="1800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8FDACCB0-A54B-354A-A3EC-60B7525CDF0A}"/>
                  </a:ext>
                </a:extLst>
              </p14:cNvPr>
              <p14:cNvContentPartPr/>
              <p14:nvPr/>
            </p14:nvContentPartPr>
            <p14:xfrm>
              <a:off x="5525854" y="1776532"/>
              <a:ext cx="360" cy="360"/>
            </p14:xfrm>
          </p:contentPart>
        </mc:Choice>
        <mc:Fallback xmlns="">
          <p:pic>
            <p:nvPicPr>
              <p:cNvPr id="8" name="Ink 7">
                <a:extLst>
                  <a:ext uri="{FF2B5EF4-FFF2-40B4-BE49-F238E27FC236}">
                    <a16:creationId xmlns:a16="http://schemas.microsoft.com/office/drawing/2014/main" id="{8FDACCB0-A54B-354A-A3EC-60B7525CDF0A}"/>
                  </a:ext>
                </a:extLst>
              </p:cNvPr>
              <p:cNvPicPr/>
              <p:nvPr/>
            </p:nvPicPr>
            <p:blipFill>
              <a:blip r:embed="rId8"/>
              <a:stretch>
                <a:fillRect/>
              </a:stretch>
            </p:blipFill>
            <p:spPr>
              <a:xfrm>
                <a:off x="5517214" y="1767532"/>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id="{6465448C-44AF-1340-8608-65DF607A0667}"/>
                  </a:ext>
                </a:extLst>
              </p14:cNvPr>
              <p14:cNvContentPartPr/>
              <p14:nvPr/>
            </p14:nvContentPartPr>
            <p14:xfrm>
              <a:off x="768814" y="1290172"/>
              <a:ext cx="3600" cy="360"/>
            </p14:xfrm>
          </p:contentPart>
        </mc:Choice>
        <mc:Fallback xmlns="">
          <p:pic>
            <p:nvPicPr>
              <p:cNvPr id="9" name="Ink 8">
                <a:extLst>
                  <a:ext uri="{FF2B5EF4-FFF2-40B4-BE49-F238E27FC236}">
                    <a16:creationId xmlns:a16="http://schemas.microsoft.com/office/drawing/2014/main" id="{6465448C-44AF-1340-8608-65DF607A0667}"/>
                  </a:ext>
                </a:extLst>
              </p:cNvPr>
              <p:cNvPicPr/>
              <p:nvPr/>
            </p:nvPicPr>
            <p:blipFill>
              <a:blip r:embed="rId10"/>
              <a:stretch>
                <a:fillRect/>
              </a:stretch>
            </p:blipFill>
            <p:spPr>
              <a:xfrm>
                <a:off x="759814" y="1281532"/>
                <a:ext cx="21240" cy="18000"/>
              </a:xfrm>
              <a:prstGeom prst="rect">
                <a:avLst/>
              </a:prstGeom>
            </p:spPr>
          </p:pic>
        </mc:Fallback>
      </mc:AlternateContent>
    </p:spTree>
    <p:extLst>
      <p:ext uri="{BB962C8B-B14F-4D97-AF65-F5344CB8AC3E}">
        <p14:creationId xmlns:p14="http://schemas.microsoft.com/office/powerpoint/2010/main" val="1634206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imple JSON API using Express">
            <a:extLst>
              <a:ext uri="{FF2B5EF4-FFF2-40B4-BE49-F238E27FC236}">
                <a16:creationId xmlns:a16="http://schemas.microsoft.com/office/drawing/2014/main" id="{98AE7E37-621A-9144-B7AB-749FB63284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82701" y="2174670"/>
            <a:ext cx="5662828" cy="2937592"/>
          </a:xfrm>
          <a:prstGeom prst="rect">
            <a:avLst/>
          </a:prstGeom>
          <a:noFill/>
          <a:ln>
            <a:solidFill>
              <a:schemeClr val="bg1">
                <a:lumMod val="65000"/>
              </a:schemeClr>
            </a:solidFill>
          </a:ln>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Introduction</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825625"/>
            <a:ext cx="5690972" cy="4351338"/>
          </a:xfrm>
        </p:spPr>
        <p:txBody>
          <a:bodyPr>
            <a:normAutofit/>
          </a:bodyPr>
          <a:lstStyle/>
          <a:p>
            <a:pPr marL="0" indent="0">
              <a:lnSpc>
                <a:spcPct val="150000"/>
              </a:lnSpc>
              <a:buNone/>
            </a:pPr>
            <a:r>
              <a:rPr lang="en-GB" spc="50" dirty="0">
                <a:solidFill>
                  <a:schemeClr val="tx1">
                    <a:lumMod val="85000"/>
                    <a:lumOff val="15000"/>
                  </a:schemeClr>
                </a:solidFill>
                <a:latin typeface="Helvetica Neue Light" panose="02000403000000020004" pitchFamily="2" charset="0"/>
                <a:ea typeface="Helvetica Neue Light" panose="02000403000000020004" pitchFamily="2" charset="0"/>
              </a:rPr>
              <a:t>What is it?</a:t>
            </a:r>
          </a:p>
          <a:p>
            <a:pPr marL="0" indent="0">
              <a:lnSpc>
                <a:spcPct val="150000"/>
              </a:lnSpc>
              <a:buNone/>
            </a:pPr>
            <a:r>
              <a:rPr lang="en-GB" spc="50" dirty="0">
                <a:solidFill>
                  <a:schemeClr val="tx1">
                    <a:lumMod val="85000"/>
                    <a:lumOff val="15000"/>
                  </a:schemeClr>
                </a:solidFill>
                <a:latin typeface="Helvetica Neue Light" panose="02000403000000020004" pitchFamily="2" charset="0"/>
                <a:ea typeface="Helvetica Neue Light" panose="02000403000000020004" pitchFamily="2" charset="0"/>
              </a:rPr>
              <a:t>What's is for </a:t>
            </a:r>
          </a:p>
          <a:p>
            <a:pPr marL="0" indent="0">
              <a:lnSpc>
                <a:spcPct val="150000"/>
              </a:lnSpc>
              <a:buNone/>
            </a:pPr>
            <a:r>
              <a:rPr lang="en-GB" spc="50" dirty="0">
                <a:solidFill>
                  <a:schemeClr val="tx1">
                    <a:lumMod val="85000"/>
                    <a:lumOff val="15000"/>
                  </a:schemeClr>
                </a:solidFill>
                <a:latin typeface="Helvetica Neue Light" panose="02000403000000020004" pitchFamily="2" charset="0"/>
                <a:ea typeface="Helvetica Neue Light" panose="02000403000000020004" pitchFamily="2" charset="0"/>
              </a:rPr>
              <a:t>How does it fit in the stack</a:t>
            </a:r>
          </a:p>
          <a:p>
            <a:pPr marL="0" indent="0">
              <a:lnSpc>
                <a:spcPct val="150000"/>
              </a:lnSpc>
              <a:buNone/>
            </a:pPr>
            <a:r>
              <a:rPr lang="en-GB" spc="50" dirty="0">
                <a:solidFill>
                  <a:schemeClr val="tx1">
                    <a:lumMod val="85000"/>
                    <a:lumOff val="15000"/>
                  </a:schemeClr>
                </a:solidFill>
                <a:latin typeface="Helvetica Neue Light" panose="02000403000000020004" pitchFamily="2" charset="0"/>
                <a:ea typeface="Helvetica Neue Light" panose="02000403000000020004" pitchFamily="2" charset="0"/>
              </a:rPr>
              <a:t>Basic examples</a:t>
            </a:r>
          </a:p>
        </p:txBody>
      </p:sp>
    </p:spTree>
    <p:extLst>
      <p:ext uri="{BB962C8B-B14F-4D97-AF65-F5344CB8AC3E}">
        <p14:creationId xmlns:p14="http://schemas.microsoft.com/office/powerpoint/2010/main" val="3591369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MEVN stack</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p:txBody>
          <a:bodyPr>
            <a:normAutofit/>
          </a:bodyPr>
          <a:lstStyle/>
          <a:p>
            <a:pPr marL="0" indent="0" fontAlgn="base">
              <a:lnSpc>
                <a:spcPct val="150000"/>
              </a:lnSpc>
              <a:buNone/>
            </a:pPr>
            <a:r>
              <a:rPr lang="en-GB" sz="3600" b="1" dirty="0">
                <a:solidFill>
                  <a:srgbClr val="FF0000"/>
                </a:solidFill>
                <a:latin typeface="HELVETICA NEUE LIGHT" panose="02000403000000020004" pitchFamily="2" charset="0"/>
                <a:ea typeface="HELVETICA NEUE LIGHT" panose="02000403000000020004" pitchFamily="2" charset="0"/>
              </a:rPr>
              <a:t>M</a:t>
            </a:r>
            <a:r>
              <a:rPr lang="en-GB" sz="3600" dirty="0">
                <a:latin typeface="Helvetica Neue Light" panose="02000403000000020004" pitchFamily="2" charset="0"/>
                <a:ea typeface="Helvetica Neue Light" panose="02000403000000020004" pitchFamily="2" charset="0"/>
              </a:rPr>
              <a:t>ongoDB (Database) – week 6</a:t>
            </a:r>
          </a:p>
          <a:p>
            <a:pPr marL="0" indent="0" fontAlgn="base">
              <a:lnSpc>
                <a:spcPct val="150000"/>
              </a:lnSpc>
              <a:buNone/>
            </a:pPr>
            <a:r>
              <a:rPr lang="en-GB" sz="3600" b="1" dirty="0" err="1">
                <a:solidFill>
                  <a:srgbClr val="FF0000"/>
                </a:solidFill>
                <a:latin typeface="HELVETICA NEUE LIGHT" panose="02000403000000020004" pitchFamily="2" charset="0"/>
                <a:ea typeface="HELVETICA NEUE LIGHT" panose="02000403000000020004" pitchFamily="2" charset="0"/>
              </a:rPr>
              <a:t>E</a:t>
            </a:r>
            <a:r>
              <a:rPr lang="en-GB" sz="3600" dirty="0" err="1">
                <a:latin typeface="Helvetica Neue Light" panose="02000403000000020004" pitchFamily="2" charset="0"/>
                <a:ea typeface="Helvetica Neue Light" panose="02000403000000020004" pitchFamily="2" charset="0"/>
              </a:rPr>
              <a:t>xpressJS</a:t>
            </a:r>
            <a:r>
              <a:rPr lang="en-GB" sz="3600" dirty="0">
                <a:latin typeface="Helvetica Neue Light" panose="02000403000000020004" pitchFamily="2" charset="0"/>
                <a:ea typeface="Helvetica Neue Light" panose="02000403000000020004" pitchFamily="2" charset="0"/>
              </a:rPr>
              <a:t> (Web Framework) – week 10</a:t>
            </a:r>
          </a:p>
          <a:p>
            <a:pPr marL="0" indent="0" fontAlgn="base">
              <a:lnSpc>
                <a:spcPct val="150000"/>
              </a:lnSpc>
              <a:buNone/>
            </a:pPr>
            <a:r>
              <a:rPr lang="en-GB" sz="3600" b="1" dirty="0" err="1">
                <a:solidFill>
                  <a:srgbClr val="FF0000"/>
                </a:solidFill>
                <a:latin typeface="HELVETICA NEUE LIGHT" panose="02000403000000020004" pitchFamily="2" charset="0"/>
                <a:ea typeface="HELVETICA NEUE LIGHT" panose="02000403000000020004" pitchFamily="2" charset="0"/>
              </a:rPr>
              <a:t>V</a:t>
            </a:r>
            <a:r>
              <a:rPr lang="en-GB" sz="3600" dirty="0" err="1">
                <a:latin typeface="Helvetica Neue Light" panose="02000403000000020004" pitchFamily="2" charset="0"/>
                <a:ea typeface="Helvetica Neue Light" panose="02000403000000020004" pitchFamily="2" charset="0"/>
              </a:rPr>
              <a:t>ueJS</a:t>
            </a:r>
            <a:r>
              <a:rPr lang="en-GB" sz="3600" dirty="0">
                <a:latin typeface="Helvetica Neue Light" panose="02000403000000020004" pitchFamily="2" charset="0"/>
                <a:ea typeface="Helvetica Neue Light" panose="02000403000000020004" pitchFamily="2" charset="0"/>
              </a:rPr>
              <a:t> (Front-end Framework) – weeks 2-4</a:t>
            </a:r>
          </a:p>
          <a:p>
            <a:pPr marL="0" indent="0" fontAlgn="base">
              <a:lnSpc>
                <a:spcPct val="150000"/>
              </a:lnSpc>
              <a:buNone/>
            </a:pPr>
            <a:r>
              <a:rPr lang="en-GB" sz="3600" b="1" dirty="0">
                <a:solidFill>
                  <a:srgbClr val="FF0000"/>
                </a:solidFill>
                <a:latin typeface="Helvetica Neue Light" panose="02000403000000020004" pitchFamily="2" charset="0"/>
                <a:ea typeface="Helvetica Neue Light" panose="02000403000000020004" pitchFamily="2" charset="0"/>
              </a:rPr>
              <a:t>N</a:t>
            </a:r>
            <a:r>
              <a:rPr lang="en-GB" sz="3600" dirty="0">
                <a:latin typeface="Helvetica Neue Light" panose="02000403000000020004" pitchFamily="2" charset="0"/>
                <a:ea typeface="Helvetica Neue Light" panose="02000403000000020004" pitchFamily="2" charset="0"/>
              </a:rPr>
              <a:t>odeJS (Application Server) – week 8</a:t>
            </a:r>
          </a:p>
          <a:p>
            <a:pPr marL="0" indent="0">
              <a:lnSpc>
                <a:spcPct val="150000"/>
              </a:lnSpc>
              <a:buNone/>
            </a:pPr>
            <a:endParaRPr lang="en-GB" dirty="0">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2322016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What is Express?</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p:txBody>
          <a:bodyPr>
            <a:normAutofit fontScale="92500"/>
          </a:bodyPr>
          <a:lstStyle/>
          <a:p>
            <a:pPr marL="0" indent="0">
              <a:lnSpc>
                <a:spcPct val="150000"/>
              </a:lnSpc>
              <a:buNone/>
            </a:pPr>
            <a:r>
              <a:rPr lang="en-GB" sz="2400" dirty="0">
                <a:latin typeface="Helvetica Neue Light" panose="02000403000000020004" pitchFamily="2" charset="0"/>
                <a:ea typeface="Helvetica Neue Light" panose="02000403000000020004" pitchFamily="2" charset="0"/>
              </a:rPr>
              <a:t>Express is a fast, </a:t>
            </a:r>
            <a:r>
              <a:rPr lang="en-GB" sz="2400" dirty="0">
                <a:solidFill>
                  <a:srgbClr val="FF0000"/>
                </a:solidFill>
                <a:latin typeface="Helvetica Neue Light" panose="02000403000000020004" pitchFamily="2" charset="0"/>
                <a:ea typeface="Helvetica Neue Light" panose="02000403000000020004" pitchFamily="2" charset="0"/>
              </a:rPr>
              <a:t>unopinionated</a:t>
            </a:r>
            <a:r>
              <a:rPr lang="en-GB" sz="2400" dirty="0">
                <a:latin typeface="Helvetica Neue Light" panose="02000403000000020004" pitchFamily="2" charset="0"/>
                <a:ea typeface="Helvetica Neue Light" panose="02000403000000020004" pitchFamily="2" charset="0"/>
              </a:rPr>
              <a:t>, minimalist web framework for Node.js.</a:t>
            </a:r>
          </a:p>
          <a:p>
            <a:pPr marL="0" indent="0">
              <a:lnSpc>
                <a:spcPct val="150000"/>
              </a:lnSpc>
              <a:buNone/>
            </a:pPr>
            <a:r>
              <a:rPr lang="en-GB" sz="2400" dirty="0">
                <a:latin typeface="Helvetica Neue Light" panose="02000403000000020004" pitchFamily="2" charset="0"/>
                <a:ea typeface="Helvetica Neue Light" panose="02000403000000020004" pitchFamily="2" charset="0"/>
              </a:rPr>
              <a:t>Express is a "server-side" or "backend" framework that is very reliable in building APIs (Application Programming Interface).</a:t>
            </a:r>
          </a:p>
          <a:p>
            <a:pPr marL="0" indent="0">
              <a:lnSpc>
                <a:spcPct val="150000"/>
              </a:lnSpc>
              <a:buNone/>
            </a:pPr>
            <a:r>
              <a:rPr lang="en-GB" sz="2400" dirty="0">
                <a:latin typeface="Helvetica Neue Light" panose="02000403000000020004" pitchFamily="2" charset="0"/>
                <a:ea typeface="Helvetica Neue Light" panose="02000403000000020004" pitchFamily="2" charset="0"/>
                <a:hlinkClick r:id="rId2"/>
              </a:rPr>
              <a:t>https://expressjs.com/</a:t>
            </a:r>
            <a:endParaRPr lang="en-GB" sz="2400" dirty="0">
              <a:latin typeface="Helvetica Neue Light" panose="02000403000000020004" pitchFamily="2" charset="0"/>
              <a:ea typeface="Helvetica Neue Light" panose="02000403000000020004" pitchFamily="2" charset="0"/>
            </a:endParaRPr>
          </a:p>
          <a:p>
            <a:pPr marL="0" indent="0">
              <a:lnSpc>
                <a:spcPct val="150000"/>
              </a:lnSpc>
              <a:buNone/>
            </a:pPr>
            <a:endParaRPr lang="en-GB" sz="2400" dirty="0">
              <a:latin typeface="Helvetica Neue Light" panose="02000403000000020004" pitchFamily="2" charset="0"/>
              <a:ea typeface="Helvetica Neue Light" panose="02000403000000020004" pitchFamily="2" charset="0"/>
            </a:endParaRPr>
          </a:p>
          <a:p>
            <a:pPr marL="0" indent="0">
              <a:lnSpc>
                <a:spcPct val="150000"/>
              </a:lnSpc>
              <a:buNone/>
            </a:pPr>
            <a:r>
              <a:rPr lang="en-GB" sz="2400" dirty="0">
                <a:latin typeface="Helvetica Neue Light" panose="02000403000000020004" pitchFamily="2" charset="0"/>
                <a:ea typeface="Helvetica Neue Light" panose="02000403000000020004" pitchFamily="2" charset="0"/>
              </a:rPr>
              <a:t>The Express philosophy is to provide small, robust tooling for HTTP servers, making it a great solution for single page applications, web sites, hybrids, or public HTTP APIs.</a:t>
            </a:r>
          </a:p>
        </p:txBody>
      </p:sp>
    </p:spTree>
    <p:extLst>
      <p:ext uri="{BB962C8B-B14F-4D97-AF65-F5344CB8AC3E}">
        <p14:creationId xmlns:p14="http://schemas.microsoft.com/office/powerpoint/2010/main" val="2881972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Unopinionated? </a:t>
            </a:r>
            <a:r>
              <a:rPr lang="en-US" sz="3200" spc="6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like Matt </a:t>
            </a:r>
            <a:r>
              <a:rPr lang="en-US" sz="3200" spc="6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sym typeface="Wingdings" pitchFamily="2" charset="2"/>
              </a:rPr>
              <a:t></a:t>
            </a:r>
            <a:endParaRPr lang="en-US" sz="32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endParaRP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607911"/>
            <a:ext cx="10515600" cy="4667250"/>
          </a:xfrm>
        </p:spPr>
        <p:txBody>
          <a:bodyPr>
            <a:noAutofit/>
          </a:bodyPr>
          <a:lstStyle/>
          <a:p>
            <a:pPr>
              <a:lnSpc>
                <a:spcPct val="150000"/>
              </a:lnSpc>
            </a:pPr>
            <a:r>
              <a:rPr lang="en-GB" sz="2400" dirty="0">
                <a:latin typeface="Helvetica Neue Light" panose="02000403000000020004" pitchFamily="2" charset="0"/>
                <a:ea typeface="Helvetica Neue Light" panose="02000403000000020004" pitchFamily="2" charset="0"/>
              </a:rPr>
              <a:t>If a framework is opinionated, it lock or guides you into their way of doing things. Opinionated software means that there is basically one way (the right way™) to do things and trying to do it differently will be difficult and frustrating.</a:t>
            </a:r>
          </a:p>
          <a:p>
            <a:pPr>
              <a:lnSpc>
                <a:spcPct val="150000"/>
              </a:lnSpc>
            </a:pPr>
            <a:r>
              <a:rPr lang="en-GB" sz="2400" dirty="0">
                <a:latin typeface="Helvetica Neue Light" panose="02000403000000020004" pitchFamily="2" charset="0"/>
                <a:ea typeface="Helvetica Neue Light" panose="02000403000000020004" pitchFamily="2" charset="0"/>
              </a:rPr>
              <a:t>On the other hand, doing things the right way™ can make it very easy to develop with the software as the number of decisions that you have to make is reduced and the ability of the software designers to concentrate on making the software work is increased. Ruby on Rails is an example.</a:t>
            </a:r>
          </a:p>
        </p:txBody>
      </p:sp>
    </p:spTree>
    <p:extLst>
      <p:ext uri="{BB962C8B-B14F-4D97-AF65-F5344CB8AC3E}">
        <p14:creationId xmlns:p14="http://schemas.microsoft.com/office/powerpoint/2010/main" val="3855120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Unopinionated </a:t>
            </a:r>
            <a:r>
              <a:rPr lang="en-US" sz="6000" spc="60" dirty="0" err="1">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cont</a:t>
            </a:r>
            <a:endParaRPr lang="en-US" sz="32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endParaRP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690688"/>
            <a:ext cx="10515600" cy="4667250"/>
          </a:xfrm>
        </p:spPr>
        <p:txBody>
          <a:bodyPr>
            <a:noAutofit/>
          </a:bodyPr>
          <a:lstStyle/>
          <a:p>
            <a:pPr>
              <a:lnSpc>
                <a:spcPct val="150000"/>
              </a:lnSpc>
            </a:pPr>
            <a:r>
              <a:rPr lang="en-GB" sz="2200" dirty="0">
                <a:latin typeface="Helvetica Neue Light" panose="02000403000000020004" pitchFamily="2" charset="0"/>
                <a:ea typeface="Helvetica Neue Light" panose="02000403000000020004" pitchFamily="2" charset="0"/>
              </a:rPr>
              <a:t>Unopinionated software, on the other hand, leaves lots of flexibility to the user (developer). It doesn't proscribe one method of solving a problem, but provides flexible tools that can be used to solve the problem in many ways. The downside of this can be that because the tools are so flexible, it may be relatively hard to develop any solution.</a:t>
            </a:r>
          </a:p>
          <a:p>
            <a:pPr>
              <a:lnSpc>
                <a:spcPct val="150000"/>
              </a:lnSpc>
            </a:pPr>
            <a:r>
              <a:rPr lang="en-GB" sz="2200" dirty="0">
                <a:latin typeface="Helvetica Neue Light" panose="02000403000000020004" pitchFamily="2" charset="0"/>
                <a:ea typeface="Helvetica Neue Light" panose="02000403000000020004" pitchFamily="2" charset="0"/>
              </a:rPr>
              <a:t>PERL/PHP  for example allows the developer and trusts the developer to make the right decisions and puts more control in their hands. </a:t>
            </a:r>
          </a:p>
          <a:p>
            <a:pPr>
              <a:lnSpc>
                <a:spcPct val="150000"/>
              </a:lnSpc>
            </a:pPr>
            <a:r>
              <a:rPr lang="en-GB" sz="2200" dirty="0">
                <a:latin typeface="Helvetica Neue Light" panose="02000403000000020004" pitchFamily="2" charset="0"/>
                <a:ea typeface="Helvetica Neue Light" panose="02000403000000020004" pitchFamily="2" charset="0"/>
              </a:rPr>
              <a:t>Vue is considered more opinionated than React with many issues having a clear answer in the docs.</a:t>
            </a:r>
          </a:p>
        </p:txBody>
      </p:sp>
    </p:spTree>
    <p:extLst>
      <p:ext uri="{BB962C8B-B14F-4D97-AF65-F5344CB8AC3E}">
        <p14:creationId xmlns:p14="http://schemas.microsoft.com/office/powerpoint/2010/main" val="34606547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GB" sz="5400" dirty="0">
                <a:solidFill>
                  <a:srgbClr val="D3473F"/>
                </a:solidFill>
                <a:latin typeface="American Typewriter" panose="02090604020004020304" pitchFamily="18" charset="77"/>
              </a:rPr>
              <a:t>Installation</a:t>
            </a:r>
          </a:p>
        </p:txBody>
      </p:sp>
      <p:sp>
        <p:nvSpPr>
          <p:cNvPr id="6" name="Content Placeholder 5">
            <a:extLst>
              <a:ext uri="{FF2B5EF4-FFF2-40B4-BE49-F238E27FC236}">
                <a16:creationId xmlns:a16="http://schemas.microsoft.com/office/drawing/2014/main" id="{A153ADA8-0141-A042-8F21-6E1E9963016B}"/>
              </a:ext>
            </a:extLst>
          </p:cNvPr>
          <p:cNvSpPr>
            <a:spLocks noGrp="1"/>
          </p:cNvSpPr>
          <p:nvPr>
            <p:ph idx="1"/>
          </p:nvPr>
        </p:nvSpPr>
        <p:spPr>
          <a:xfrm>
            <a:off x="838200" y="1351454"/>
            <a:ext cx="10515600" cy="1188546"/>
          </a:xfrm>
        </p:spPr>
        <p:txBody>
          <a:bodyPr>
            <a:normAutofit/>
          </a:bodyPr>
          <a:lstStyle/>
          <a:p>
            <a:pPr marL="0" indent="0">
              <a:lnSpc>
                <a:spcPct val="150000"/>
              </a:lnSpc>
              <a:buNone/>
            </a:pPr>
            <a:r>
              <a:rPr lang="en-GB" sz="2400" dirty="0">
                <a:latin typeface="Helvetica Neue Light" panose="02000403000000020004" pitchFamily="2" charset="0"/>
                <a:ea typeface="Helvetica Neue Light" panose="02000403000000020004" pitchFamily="2" charset="0"/>
              </a:rPr>
              <a:t>We installed it last week in our server folder</a:t>
            </a:r>
          </a:p>
          <a:p>
            <a:pPr marL="0" indent="0">
              <a:buNone/>
            </a:pPr>
            <a:endParaRPr lang="en-US" dirty="0"/>
          </a:p>
        </p:txBody>
      </p:sp>
      <p:pic>
        <p:nvPicPr>
          <p:cNvPr id="2" name="Picture 1">
            <a:extLst>
              <a:ext uri="{FF2B5EF4-FFF2-40B4-BE49-F238E27FC236}">
                <a16:creationId xmlns:a16="http://schemas.microsoft.com/office/drawing/2014/main" id="{95C7120E-DDF9-1C96-4D30-4EC94D03C324}"/>
              </a:ext>
            </a:extLst>
          </p:cNvPr>
          <p:cNvPicPr>
            <a:picLocks noChangeAspect="1"/>
          </p:cNvPicPr>
          <p:nvPr/>
        </p:nvPicPr>
        <p:blipFill>
          <a:blip r:embed="rId2"/>
          <a:stretch>
            <a:fillRect/>
          </a:stretch>
        </p:blipFill>
        <p:spPr>
          <a:xfrm>
            <a:off x="838200" y="2305538"/>
            <a:ext cx="9942032" cy="2246923"/>
          </a:xfrm>
          <a:prstGeom prst="rect">
            <a:avLst/>
          </a:prstGeom>
          <a:ln>
            <a:solidFill>
              <a:schemeClr val="tx1">
                <a:lumMod val="75000"/>
                <a:lumOff val="25000"/>
              </a:schemeClr>
            </a:solidFill>
          </a:ln>
        </p:spPr>
      </p:pic>
    </p:spTree>
    <p:extLst>
      <p:ext uri="{BB962C8B-B14F-4D97-AF65-F5344CB8AC3E}">
        <p14:creationId xmlns:p14="http://schemas.microsoft.com/office/powerpoint/2010/main" val="1719898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05DF66C-F58B-EFB5-E5A9-AD6E734B6E14}"/>
              </a:ext>
            </a:extLst>
          </p:cNvPr>
          <p:cNvPicPr>
            <a:picLocks noChangeAspect="1"/>
          </p:cNvPicPr>
          <p:nvPr/>
        </p:nvPicPr>
        <p:blipFill>
          <a:blip r:embed="rId2"/>
          <a:stretch>
            <a:fillRect/>
          </a:stretch>
        </p:blipFill>
        <p:spPr>
          <a:xfrm>
            <a:off x="878383" y="1516806"/>
            <a:ext cx="6434669" cy="3491681"/>
          </a:xfrm>
          <a:prstGeom prst="rect">
            <a:avLst/>
          </a:prstGeom>
        </p:spPr>
      </p:pic>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191243"/>
            <a:ext cx="10515600" cy="1325563"/>
          </a:xfrm>
        </p:spPr>
        <p:txBody>
          <a:bodyPr>
            <a:normAutofit/>
          </a:bodyPr>
          <a:lstStyle/>
          <a:p>
            <a:r>
              <a:rPr lang="en-US" sz="48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Beginning of week 8 – crud </a:t>
            </a:r>
            <a:r>
              <a:rPr lang="en-US" sz="4800" spc="60" dirty="0" err="1">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pt</a:t>
            </a:r>
            <a:r>
              <a:rPr lang="en-US" sz="48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 1</a:t>
            </a:r>
          </a:p>
        </p:txBody>
      </p:sp>
      <p:sp>
        <p:nvSpPr>
          <p:cNvPr id="5" name="Content Placeholder 5">
            <a:extLst>
              <a:ext uri="{FF2B5EF4-FFF2-40B4-BE49-F238E27FC236}">
                <a16:creationId xmlns:a16="http://schemas.microsoft.com/office/drawing/2014/main" id="{5D3555E2-D3A3-FE41-A620-FDEFD3985BB8}"/>
              </a:ext>
            </a:extLst>
          </p:cNvPr>
          <p:cNvSpPr txBox="1">
            <a:spLocks/>
          </p:cNvSpPr>
          <p:nvPr/>
        </p:nvSpPr>
        <p:spPr>
          <a:xfrm>
            <a:off x="7582396" y="1516806"/>
            <a:ext cx="4428399" cy="5141311"/>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60000"/>
              </a:lnSpc>
              <a:buFont typeface="Arial" panose="020B0604020202020204" pitchFamily="34" charset="0"/>
              <a:buNone/>
            </a:pPr>
            <a:r>
              <a:rPr lang="en-US" sz="2600" dirty="0">
                <a:latin typeface="Helvetica Neue Light" panose="02000403000000020004" pitchFamily="2" charset="0"/>
                <a:ea typeface="Helvetica Neue Light" panose="02000403000000020004" pitchFamily="2" charset="0"/>
              </a:rPr>
              <a:t>Import the library</a:t>
            </a:r>
          </a:p>
          <a:p>
            <a:pPr marL="0" indent="0">
              <a:lnSpc>
                <a:spcPct val="160000"/>
              </a:lnSpc>
              <a:buFont typeface="Arial" panose="020B0604020202020204" pitchFamily="34" charset="0"/>
              <a:buNone/>
            </a:pPr>
            <a:r>
              <a:rPr lang="en-US" sz="2600" dirty="0">
                <a:latin typeface="Helvetica Neue Light" panose="02000403000000020004" pitchFamily="2" charset="0"/>
                <a:ea typeface="Helvetica Neue Light" panose="02000403000000020004" pitchFamily="2" charset="0"/>
              </a:rPr>
              <a:t>Set the port</a:t>
            </a:r>
          </a:p>
          <a:p>
            <a:pPr marL="0" indent="0">
              <a:lnSpc>
                <a:spcPct val="160000"/>
              </a:lnSpc>
              <a:buNone/>
            </a:pPr>
            <a:r>
              <a:rPr lang="en-US" sz="2600" dirty="0">
                <a:latin typeface="Helvetica Neue Light" panose="02000403000000020004" pitchFamily="2" charset="0"/>
                <a:ea typeface="Helvetica Neue Light" panose="02000403000000020004" pitchFamily="2" charset="0"/>
              </a:rPr>
              <a:t>Creates an Express application. The express( ) function is a top-level function exported by the express module.</a:t>
            </a:r>
          </a:p>
          <a:p>
            <a:pPr marL="0" indent="0">
              <a:lnSpc>
                <a:spcPct val="160000"/>
              </a:lnSpc>
              <a:buNone/>
            </a:pPr>
            <a:r>
              <a:rPr lang="en-US" sz="2600" dirty="0">
                <a:latin typeface="Helvetica Neue Light" panose="02000403000000020004" pitchFamily="2" charset="0"/>
                <a:ea typeface="Helvetica Neue Light" panose="02000403000000020004" pitchFamily="2" charset="0"/>
              </a:rPr>
              <a:t>Binds and listens for connections on the specified host and port. This method is identical to Node’s </a:t>
            </a:r>
            <a:r>
              <a:rPr lang="en-US" sz="2600" dirty="0" err="1">
                <a:latin typeface="Helvetica Neue Light" panose="02000403000000020004" pitchFamily="2" charset="0"/>
                <a:ea typeface="Helvetica Neue Light" panose="02000403000000020004" pitchFamily="2" charset="0"/>
              </a:rPr>
              <a:t>http.Server.listen</a:t>
            </a:r>
            <a:r>
              <a:rPr lang="en-US" sz="2600" dirty="0">
                <a:latin typeface="Helvetica Neue Light" panose="02000403000000020004" pitchFamily="2" charset="0"/>
                <a:ea typeface="Helvetica Neue Light" panose="02000403000000020004" pitchFamily="2" charset="0"/>
              </a:rPr>
              <a:t>(). –week 8 node server - slide 23</a:t>
            </a:r>
          </a:p>
          <a:p>
            <a:pPr marL="0" indent="0">
              <a:lnSpc>
                <a:spcPct val="100000"/>
              </a:lnSpc>
              <a:buNone/>
            </a:pPr>
            <a:br>
              <a:rPr lang="en-US" sz="2400" dirty="0">
                <a:latin typeface="Helvetica Neue Light" panose="02000403000000020004" pitchFamily="2" charset="0"/>
                <a:ea typeface="Helvetica Neue Light" panose="02000403000000020004" pitchFamily="2" charset="0"/>
              </a:rPr>
            </a:br>
            <a:endParaRPr lang="en-US" sz="2400" dirty="0">
              <a:latin typeface="Helvetica Neue Light" panose="02000403000000020004" pitchFamily="2" charset="0"/>
              <a:ea typeface="Helvetica Neue Light" panose="02000403000000020004" pitchFamily="2" charset="0"/>
            </a:endParaRPr>
          </a:p>
        </p:txBody>
      </p:sp>
      <p:cxnSp>
        <p:nvCxnSpPr>
          <p:cNvPr id="7" name="Straight Arrow Connector 6">
            <a:extLst>
              <a:ext uri="{FF2B5EF4-FFF2-40B4-BE49-F238E27FC236}">
                <a16:creationId xmlns:a16="http://schemas.microsoft.com/office/drawing/2014/main" id="{9A63D68B-C794-8546-AB00-A12AEFE364B5}"/>
              </a:ext>
            </a:extLst>
          </p:cNvPr>
          <p:cNvCxnSpPr>
            <a:cxnSpLocks/>
          </p:cNvCxnSpPr>
          <p:nvPr/>
        </p:nvCxnSpPr>
        <p:spPr>
          <a:xfrm flipH="1" flipV="1">
            <a:off x="5576127" y="1707147"/>
            <a:ext cx="2006270" cy="97902"/>
          </a:xfrm>
          <a:prstGeom prst="straightConnector1">
            <a:avLst/>
          </a:prstGeom>
          <a:ln w="22225">
            <a:solidFill>
              <a:srgbClr val="FF574B"/>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ACDD76A0-851D-BEC8-FC6A-C6EC077D163B}"/>
              </a:ext>
            </a:extLst>
          </p:cNvPr>
          <p:cNvCxnSpPr>
            <a:cxnSpLocks/>
          </p:cNvCxnSpPr>
          <p:nvPr/>
        </p:nvCxnSpPr>
        <p:spPr>
          <a:xfrm flipH="1" flipV="1">
            <a:off x="5576127" y="2097054"/>
            <a:ext cx="2006270" cy="97902"/>
          </a:xfrm>
          <a:prstGeom prst="straightConnector1">
            <a:avLst/>
          </a:prstGeom>
          <a:ln w="22225">
            <a:solidFill>
              <a:srgbClr val="FF574B"/>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306044A5-AD01-7CFB-EE79-A943D909724F}"/>
              </a:ext>
            </a:extLst>
          </p:cNvPr>
          <p:cNvCxnSpPr>
            <a:cxnSpLocks/>
          </p:cNvCxnSpPr>
          <p:nvPr/>
        </p:nvCxnSpPr>
        <p:spPr>
          <a:xfrm flipH="1" flipV="1">
            <a:off x="3823855" y="2351314"/>
            <a:ext cx="3623870" cy="469352"/>
          </a:xfrm>
          <a:prstGeom prst="straightConnector1">
            <a:avLst/>
          </a:prstGeom>
          <a:ln w="22225">
            <a:solidFill>
              <a:srgbClr val="FF574B"/>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16699208-4EAE-E3B8-5652-EBA8259A3BAD}"/>
              </a:ext>
            </a:extLst>
          </p:cNvPr>
          <p:cNvCxnSpPr>
            <a:cxnSpLocks/>
          </p:cNvCxnSpPr>
          <p:nvPr/>
        </p:nvCxnSpPr>
        <p:spPr>
          <a:xfrm flipH="1" flipV="1">
            <a:off x="3287487" y="2940064"/>
            <a:ext cx="4160236" cy="1097271"/>
          </a:xfrm>
          <a:prstGeom prst="straightConnector1">
            <a:avLst/>
          </a:prstGeom>
          <a:ln w="22225">
            <a:solidFill>
              <a:srgbClr val="FF574B"/>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84614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05DF66C-F58B-EFB5-E5A9-AD6E734B6E14}"/>
              </a:ext>
            </a:extLst>
          </p:cNvPr>
          <p:cNvPicPr>
            <a:picLocks noChangeAspect="1"/>
          </p:cNvPicPr>
          <p:nvPr/>
        </p:nvPicPr>
        <p:blipFill>
          <a:blip r:embed="rId2"/>
          <a:stretch>
            <a:fillRect/>
          </a:stretch>
        </p:blipFill>
        <p:spPr>
          <a:xfrm>
            <a:off x="878383" y="1516806"/>
            <a:ext cx="6434669" cy="3491681"/>
          </a:xfrm>
          <a:prstGeom prst="rect">
            <a:avLst/>
          </a:prstGeom>
        </p:spPr>
      </p:pic>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191243"/>
            <a:ext cx="10515600" cy="1325563"/>
          </a:xfrm>
        </p:spPr>
        <p:txBody>
          <a:bodyPr>
            <a:normAutofit/>
          </a:bodyPr>
          <a:lstStyle/>
          <a:p>
            <a:r>
              <a:rPr lang="en-US" sz="48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Beginning of last week</a:t>
            </a:r>
          </a:p>
        </p:txBody>
      </p:sp>
      <p:sp>
        <p:nvSpPr>
          <p:cNvPr id="5" name="Content Placeholder 5">
            <a:extLst>
              <a:ext uri="{FF2B5EF4-FFF2-40B4-BE49-F238E27FC236}">
                <a16:creationId xmlns:a16="http://schemas.microsoft.com/office/drawing/2014/main" id="{5D3555E2-D3A3-FE41-A620-FDEFD3985BB8}"/>
              </a:ext>
            </a:extLst>
          </p:cNvPr>
          <p:cNvSpPr txBox="1">
            <a:spLocks/>
          </p:cNvSpPr>
          <p:nvPr/>
        </p:nvSpPr>
        <p:spPr>
          <a:xfrm>
            <a:off x="826925" y="5341194"/>
            <a:ext cx="6474852" cy="12026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70000"/>
              </a:lnSpc>
              <a:buFont typeface="Arial" panose="020B0604020202020204" pitchFamily="34" charset="0"/>
              <a:buNone/>
            </a:pPr>
            <a:endParaRPr lang="en-US" sz="2400" dirty="0">
              <a:latin typeface="Helvetica Neue Light" panose="02000403000000020004" pitchFamily="2" charset="0"/>
              <a:ea typeface="Helvetica Neue Light" panose="02000403000000020004" pitchFamily="2" charset="0"/>
            </a:endParaRPr>
          </a:p>
        </p:txBody>
      </p:sp>
      <p:sp>
        <p:nvSpPr>
          <p:cNvPr id="3" name="Content Placeholder 5">
            <a:extLst>
              <a:ext uri="{FF2B5EF4-FFF2-40B4-BE49-F238E27FC236}">
                <a16:creationId xmlns:a16="http://schemas.microsoft.com/office/drawing/2014/main" id="{D9EB895B-2D19-EB34-9C0C-74EDE8459B77}"/>
              </a:ext>
            </a:extLst>
          </p:cNvPr>
          <p:cNvSpPr txBox="1">
            <a:spLocks/>
          </p:cNvSpPr>
          <p:nvPr/>
        </p:nvSpPr>
        <p:spPr>
          <a:xfrm>
            <a:off x="7653826" y="1402905"/>
            <a:ext cx="4514396" cy="514093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en-US" sz="2000" dirty="0">
                <a:latin typeface="Helvetica Neue Light" panose="02000403000000020004" pitchFamily="2" charset="0"/>
                <a:ea typeface="Helvetica Neue Light" panose="02000403000000020004" pitchFamily="2" charset="0"/>
              </a:rPr>
              <a:t>Routes HTTP GET requests to the specified path with the specified callback functions.</a:t>
            </a:r>
          </a:p>
          <a:p>
            <a:pPr marL="0" indent="0">
              <a:lnSpc>
                <a:spcPct val="150000"/>
              </a:lnSpc>
              <a:buNone/>
            </a:pPr>
            <a:r>
              <a:rPr lang="en-US" sz="2000" dirty="0">
                <a:latin typeface="Helvetica Neue Light" panose="02000403000000020004" pitchFamily="2" charset="0"/>
                <a:ea typeface="Helvetica Neue Light" panose="02000403000000020004" pitchFamily="2" charset="0"/>
              </a:rPr>
              <a:t>The</a:t>
            </a:r>
            <a:r>
              <a:rPr lang="en-US" sz="2000" b="1" dirty="0">
                <a:latin typeface="Helvetica Neue Light" panose="02000403000000020004" pitchFamily="2" charset="0"/>
                <a:ea typeface="Helvetica Neue Light" panose="02000403000000020004" pitchFamily="2" charset="0"/>
              </a:rPr>
              <a:t> req </a:t>
            </a:r>
            <a:r>
              <a:rPr lang="en-US" sz="2000" dirty="0">
                <a:latin typeface="Helvetica Neue Light" panose="02000403000000020004" pitchFamily="2" charset="0"/>
                <a:ea typeface="Helvetica Neue Light" panose="02000403000000020004" pitchFamily="2" charset="0"/>
              </a:rPr>
              <a:t>object represents the HTTP request and has properties for the request query string, parameters, body, HTTP headers, and so on.</a:t>
            </a:r>
          </a:p>
          <a:p>
            <a:pPr marL="0" indent="0">
              <a:lnSpc>
                <a:spcPct val="150000"/>
              </a:lnSpc>
              <a:buNone/>
            </a:pPr>
            <a:r>
              <a:rPr lang="en-US" sz="2000" dirty="0">
                <a:latin typeface="Helvetica Neue Light" panose="02000403000000020004" pitchFamily="2" charset="0"/>
                <a:ea typeface="Helvetica Neue Light" panose="02000403000000020004" pitchFamily="2" charset="0"/>
              </a:rPr>
              <a:t>The</a:t>
            </a:r>
            <a:r>
              <a:rPr lang="en-US" sz="2000" b="1" dirty="0">
                <a:latin typeface="Helvetica Neue Light" panose="02000403000000020004" pitchFamily="2" charset="0"/>
                <a:ea typeface="Helvetica Neue Light" panose="02000403000000020004" pitchFamily="2" charset="0"/>
              </a:rPr>
              <a:t> res </a:t>
            </a:r>
            <a:r>
              <a:rPr lang="en-US" sz="2000" dirty="0">
                <a:latin typeface="Helvetica Neue Light" panose="02000403000000020004" pitchFamily="2" charset="0"/>
                <a:ea typeface="Helvetica Neue Light" panose="02000403000000020004" pitchFamily="2" charset="0"/>
              </a:rPr>
              <a:t>object represents the HTTP response that an Express app sends when it gets an HTTP request.</a:t>
            </a:r>
            <a:endParaRPr lang="en-US" sz="1400" dirty="0">
              <a:latin typeface="Helvetica Neue Light" panose="02000403000000020004" pitchFamily="2" charset="0"/>
              <a:ea typeface="Helvetica Neue Light" panose="02000403000000020004" pitchFamily="2" charset="0"/>
            </a:endParaRPr>
          </a:p>
          <a:p>
            <a:pPr marL="0" indent="0">
              <a:lnSpc>
                <a:spcPct val="150000"/>
              </a:lnSpc>
              <a:buNone/>
            </a:pPr>
            <a:endParaRPr lang="en-US" sz="2000" dirty="0">
              <a:latin typeface="Helvetica Neue Light" panose="02000403000000020004" pitchFamily="2" charset="0"/>
              <a:ea typeface="Helvetica Neue Light" panose="02000403000000020004" pitchFamily="2" charset="0"/>
            </a:endParaRPr>
          </a:p>
        </p:txBody>
      </p:sp>
      <p:cxnSp>
        <p:nvCxnSpPr>
          <p:cNvPr id="6" name="Straight Arrow Connector 5">
            <a:extLst>
              <a:ext uri="{FF2B5EF4-FFF2-40B4-BE49-F238E27FC236}">
                <a16:creationId xmlns:a16="http://schemas.microsoft.com/office/drawing/2014/main" id="{926EB58E-5B1B-E3BB-F0D7-B39522B4F4A0}"/>
              </a:ext>
            </a:extLst>
          </p:cNvPr>
          <p:cNvCxnSpPr>
            <a:cxnSpLocks/>
          </p:cNvCxnSpPr>
          <p:nvPr/>
        </p:nvCxnSpPr>
        <p:spPr>
          <a:xfrm flipH="1" flipV="1">
            <a:off x="3535663" y="3715997"/>
            <a:ext cx="4236916" cy="1445180"/>
          </a:xfrm>
          <a:prstGeom prst="straightConnector1">
            <a:avLst/>
          </a:prstGeom>
          <a:ln w="22225">
            <a:solidFill>
              <a:srgbClr val="FF574B"/>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0BEA5EF3-9602-D244-CA39-3ED912777F4F}"/>
              </a:ext>
            </a:extLst>
          </p:cNvPr>
          <p:cNvCxnSpPr>
            <a:cxnSpLocks/>
          </p:cNvCxnSpPr>
          <p:nvPr/>
        </p:nvCxnSpPr>
        <p:spPr>
          <a:xfrm flipH="1">
            <a:off x="2339439" y="1721922"/>
            <a:ext cx="5153891" cy="1536004"/>
          </a:xfrm>
          <a:prstGeom prst="straightConnector1">
            <a:avLst/>
          </a:prstGeom>
          <a:ln w="22225">
            <a:solidFill>
              <a:srgbClr val="FF574B"/>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F99C52B8-D341-8389-13FE-111C75F7DF3A}"/>
              </a:ext>
            </a:extLst>
          </p:cNvPr>
          <p:cNvCxnSpPr>
            <a:cxnSpLocks/>
          </p:cNvCxnSpPr>
          <p:nvPr/>
        </p:nvCxnSpPr>
        <p:spPr>
          <a:xfrm flipH="1">
            <a:off x="3135086" y="3262646"/>
            <a:ext cx="4518740" cy="166354"/>
          </a:xfrm>
          <a:prstGeom prst="straightConnector1">
            <a:avLst/>
          </a:prstGeom>
          <a:ln w="22225">
            <a:solidFill>
              <a:srgbClr val="FF574B"/>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030958D5-951A-1FF5-7280-D1B9D9CB77F3}"/>
              </a:ext>
            </a:extLst>
          </p:cNvPr>
          <p:cNvSpPr txBox="1"/>
          <p:nvPr/>
        </p:nvSpPr>
        <p:spPr>
          <a:xfrm>
            <a:off x="826925" y="5565249"/>
            <a:ext cx="6133604" cy="574516"/>
          </a:xfrm>
          <a:prstGeom prst="rect">
            <a:avLst/>
          </a:prstGeom>
          <a:noFill/>
        </p:spPr>
        <p:txBody>
          <a:bodyPr wrap="square">
            <a:spAutoFit/>
          </a:bodyPr>
          <a:lstStyle/>
          <a:p>
            <a:pPr algn="l">
              <a:lnSpc>
                <a:spcPct val="150000"/>
              </a:lnSpc>
            </a:pPr>
            <a:r>
              <a:rPr lang="en-GB" sz="2400" dirty="0" err="1">
                <a:effectLst/>
                <a:latin typeface="Helvetica Neue Light" panose="02000403000000020004" pitchFamily="2" charset="0"/>
                <a:ea typeface="Helvetica Neue Light" panose="02000403000000020004" pitchFamily="2" charset="0"/>
              </a:rPr>
              <a:t>res.send</a:t>
            </a:r>
            <a:r>
              <a:rPr lang="en-GB" sz="2400" dirty="0">
                <a:effectLst/>
                <a:latin typeface="Helvetica Neue Light" panose="02000403000000020004" pitchFamily="2" charset="0"/>
                <a:ea typeface="Helvetica Neue Light" panose="02000403000000020004" pitchFamily="2" charset="0"/>
              </a:rPr>
              <a:t>([body]) Sends the HTTP response.</a:t>
            </a:r>
          </a:p>
        </p:txBody>
      </p:sp>
      <p:cxnSp>
        <p:nvCxnSpPr>
          <p:cNvPr id="30" name="Straight Arrow Connector 29">
            <a:extLst>
              <a:ext uri="{FF2B5EF4-FFF2-40B4-BE49-F238E27FC236}">
                <a16:creationId xmlns:a16="http://schemas.microsoft.com/office/drawing/2014/main" id="{511B1E67-8D3C-53DB-86E1-648233BBDC42}"/>
              </a:ext>
            </a:extLst>
          </p:cNvPr>
          <p:cNvCxnSpPr>
            <a:cxnSpLocks/>
          </p:cNvCxnSpPr>
          <p:nvPr/>
        </p:nvCxnSpPr>
        <p:spPr>
          <a:xfrm flipH="1" flipV="1">
            <a:off x="1923803" y="4120738"/>
            <a:ext cx="106878" cy="1507453"/>
          </a:xfrm>
          <a:prstGeom prst="straightConnector1">
            <a:avLst/>
          </a:prstGeom>
          <a:ln w="22225">
            <a:solidFill>
              <a:srgbClr val="FF574B"/>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47607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Basic routing</a:t>
            </a:r>
          </a:p>
        </p:txBody>
      </p:sp>
      <p:sp>
        <p:nvSpPr>
          <p:cNvPr id="6" name="Content Placeholder 5">
            <a:extLst>
              <a:ext uri="{FF2B5EF4-FFF2-40B4-BE49-F238E27FC236}">
                <a16:creationId xmlns:a16="http://schemas.microsoft.com/office/drawing/2014/main" id="{A153ADA8-0141-A042-8F21-6E1E9963016B}"/>
              </a:ext>
            </a:extLst>
          </p:cNvPr>
          <p:cNvSpPr>
            <a:spLocks noGrp="1"/>
          </p:cNvSpPr>
          <p:nvPr>
            <p:ph idx="1"/>
          </p:nvPr>
        </p:nvSpPr>
        <p:spPr>
          <a:xfrm>
            <a:off x="838200" y="1537189"/>
            <a:ext cx="10515600" cy="4689992"/>
          </a:xfrm>
        </p:spPr>
        <p:txBody>
          <a:bodyPr>
            <a:normAutofit/>
          </a:bodyPr>
          <a:lstStyle/>
          <a:p>
            <a:pPr>
              <a:lnSpc>
                <a:spcPct val="150000"/>
              </a:lnSpc>
            </a:pPr>
            <a:r>
              <a:rPr lang="en-GB" sz="2400" dirty="0">
                <a:latin typeface="Helvetica Neue Light" panose="02000403000000020004" pitchFamily="2" charset="0"/>
                <a:ea typeface="Helvetica Neue Light" panose="02000403000000020004" pitchFamily="2" charset="0"/>
              </a:rPr>
              <a:t>Routing refers to determining how an application responds to a client request to a particular endpoint, which is a URI (or path) and a specific HTTP request method (GET, POST, PUT and DELETE ).</a:t>
            </a:r>
          </a:p>
          <a:p>
            <a:pPr>
              <a:lnSpc>
                <a:spcPct val="150000"/>
              </a:lnSpc>
            </a:pPr>
            <a:r>
              <a:rPr lang="en-GB" sz="2400" dirty="0">
                <a:latin typeface="Helvetica Neue Light" panose="02000403000000020004" pitchFamily="2" charset="0"/>
                <a:ea typeface="Helvetica Neue Light" panose="02000403000000020004" pitchFamily="2" charset="0"/>
              </a:rPr>
              <a:t>Each route can have one or more handler functions, which are executed when the route is matched.</a:t>
            </a:r>
          </a:p>
          <a:p>
            <a:pPr>
              <a:lnSpc>
                <a:spcPct val="150000"/>
              </a:lnSpc>
            </a:pPr>
            <a:r>
              <a:rPr lang="en-GB" sz="2400" dirty="0">
                <a:latin typeface="Helvetica Neue Light" panose="02000403000000020004" pitchFamily="2" charset="0"/>
                <a:ea typeface="Helvetica Neue Light" panose="02000403000000020004" pitchFamily="2" charset="0"/>
              </a:rPr>
              <a:t>Route definition takes the following structure:</a:t>
            </a:r>
          </a:p>
          <a:p>
            <a:pPr>
              <a:lnSpc>
                <a:spcPct val="150000"/>
              </a:lnSpc>
            </a:pPr>
            <a:r>
              <a:rPr lang="en-GB" sz="2400" dirty="0">
                <a:latin typeface="Helvetica Neue Light" panose="02000403000000020004" pitchFamily="2" charset="0"/>
                <a:ea typeface="Helvetica Neue Light" panose="02000403000000020004" pitchFamily="2" charset="0"/>
              </a:rPr>
              <a:t>app. </a:t>
            </a:r>
            <a:r>
              <a:rPr lang="en-GB" sz="2400" dirty="0">
                <a:solidFill>
                  <a:srgbClr val="FF0000"/>
                </a:solidFill>
                <a:latin typeface="Helvetica Neue Light" panose="02000403000000020004" pitchFamily="2" charset="0"/>
                <a:ea typeface="Helvetica Neue Light" panose="02000403000000020004" pitchFamily="2" charset="0"/>
              </a:rPr>
              <a:t>METHOD</a:t>
            </a:r>
            <a:r>
              <a:rPr lang="en-GB" sz="2400" dirty="0">
                <a:latin typeface="Helvetica Neue Light" panose="02000403000000020004" pitchFamily="2" charset="0"/>
                <a:ea typeface="Helvetica Neue Light" panose="02000403000000020004" pitchFamily="2" charset="0"/>
              </a:rPr>
              <a:t> (PATH, HANDLER)</a:t>
            </a:r>
            <a:endParaRPr lang="en-US" sz="2400" dirty="0">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36237303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Basic routing…</a:t>
            </a:r>
            <a:r>
              <a:rPr lang="en-US" sz="6000" spc="60" dirty="0" err="1">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cont</a:t>
            </a:r>
            <a:endPar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endParaRPr>
          </a:p>
        </p:txBody>
      </p:sp>
      <p:sp>
        <p:nvSpPr>
          <p:cNvPr id="6" name="Content Placeholder 5">
            <a:extLst>
              <a:ext uri="{FF2B5EF4-FFF2-40B4-BE49-F238E27FC236}">
                <a16:creationId xmlns:a16="http://schemas.microsoft.com/office/drawing/2014/main" id="{A153ADA8-0141-A042-8F21-6E1E9963016B}"/>
              </a:ext>
            </a:extLst>
          </p:cNvPr>
          <p:cNvSpPr>
            <a:spLocks noGrp="1"/>
          </p:cNvSpPr>
          <p:nvPr>
            <p:ph idx="1"/>
          </p:nvPr>
        </p:nvSpPr>
        <p:spPr>
          <a:xfrm>
            <a:off x="838200" y="1537189"/>
            <a:ext cx="10515600" cy="4689992"/>
          </a:xfrm>
        </p:spPr>
        <p:txBody>
          <a:bodyPr>
            <a:normAutofit/>
          </a:bodyPr>
          <a:lstStyle/>
          <a:p>
            <a:pPr marL="0" indent="0">
              <a:lnSpc>
                <a:spcPct val="150000"/>
              </a:lnSpc>
              <a:buNone/>
            </a:pPr>
            <a:r>
              <a:rPr lang="en-GB" sz="2400" b="1" dirty="0">
                <a:latin typeface="Helvetica Neue Light" panose="02000403000000020004" pitchFamily="2" charset="0"/>
                <a:ea typeface="Helvetica Neue Light" panose="02000403000000020004" pitchFamily="2" charset="0"/>
              </a:rPr>
              <a:t>app</a:t>
            </a:r>
            <a:r>
              <a:rPr lang="en-GB" sz="2400" dirty="0">
                <a:latin typeface="Helvetica Neue Light" panose="02000403000000020004" pitchFamily="2" charset="0"/>
                <a:ea typeface="Helvetica Neue Light" panose="02000403000000020004" pitchFamily="2" charset="0"/>
              </a:rPr>
              <a:t> is an instance of express.</a:t>
            </a:r>
          </a:p>
          <a:p>
            <a:pPr marL="0" indent="0">
              <a:lnSpc>
                <a:spcPct val="150000"/>
              </a:lnSpc>
              <a:buNone/>
            </a:pPr>
            <a:r>
              <a:rPr lang="en-GB" sz="2400" b="1" dirty="0">
                <a:latin typeface="Helvetica Neue Light" panose="02000403000000020004" pitchFamily="2" charset="0"/>
                <a:ea typeface="Helvetica Neue Light" panose="02000403000000020004" pitchFamily="2" charset="0"/>
              </a:rPr>
              <a:t>METHOD</a:t>
            </a:r>
            <a:r>
              <a:rPr lang="en-GB" sz="2400" dirty="0">
                <a:latin typeface="Helvetica Neue Light" panose="02000403000000020004" pitchFamily="2" charset="0"/>
                <a:ea typeface="Helvetica Neue Light" panose="02000403000000020004" pitchFamily="2" charset="0"/>
              </a:rPr>
              <a:t> is an </a:t>
            </a:r>
            <a:r>
              <a:rPr lang="en-GB" sz="2400" dirty="0">
                <a:latin typeface="Helvetica Neue Light" panose="02000403000000020004" pitchFamily="2" charset="0"/>
                <a:ea typeface="Helvetica Neue Light" panose="02000403000000020004" pitchFamily="2" charset="0"/>
                <a:hlinkClick r:id="rId2"/>
              </a:rPr>
              <a:t>HTTP request method</a:t>
            </a:r>
            <a:r>
              <a:rPr lang="en-GB" sz="2400" dirty="0">
                <a:latin typeface="Helvetica Neue Light" panose="02000403000000020004" pitchFamily="2" charset="0"/>
                <a:ea typeface="Helvetica Neue Light" panose="02000403000000020004" pitchFamily="2" charset="0"/>
              </a:rPr>
              <a:t>, in lowercase.</a:t>
            </a:r>
          </a:p>
          <a:p>
            <a:pPr marL="0" indent="0">
              <a:lnSpc>
                <a:spcPct val="150000"/>
              </a:lnSpc>
              <a:buNone/>
            </a:pPr>
            <a:r>
              <a:rPr lang="en-GB" sz="2400" b="1" dirty="0">
                <a:latin typeface="Helvetica Neue Light" panose="02000403000000020004" pitchFamily="2" charset="0"/>
                <a:ea typeface="Helvetica Neue Light" panose="02000403000000020004" pitchFamily="2" charset="0"/>
              </a:rPr>
              <a:t>PATH</a:t>
            </a:r>
            <a:r>
              <a:rPr lang="en-GB" sz="2400" dirty="0">
                <a:latin typeface="Helvetica Neue Light" panose="02000403000000020004" pitchFamily="2" charset="0"/>
                <a:ea typeface="Helvetica Neue Light" panose="02000403000000020004" pitchFamily="2" charset="0"/>
              </a:rPr>
              <a:t> is a path on the server.</a:t>
            </a:r>
          </a:p>
          <a:p>
            <a:pPr marL="0" indent="0">
              <a:lnSpc>
                <a:spcPct val="150000"/>
              </a:lnSpc>
              <a:buNone/>
            </a:pPr>
            <a:r>
              <a:rPr lang="en-GB" sz="2400" b="1" dirty="0">
                <a:latin typeface="Helvetica Neue Light" panose="02000403000000020004" pitchFamily="2" charset="0"/>
                <a:ea typeface="Helvetica Neue Light" panose="02000403000000020004" pitchFamily="2" charset="0"/>
              </a:rPr>
              <a:t>HANDLER</a:t>
            </a:r>
            <a:r>
              <a:rPr lang="en-GB" sz="2400" dirty="0">
                <a:latin typeface="Helvetica Neue Light" panose="02000403000000020004" pitchFamily="2" charset="0"/>
                <a:ea typeface="Helvetica Neue Light" panose="02000403000000020004" pitchFamily="2" charset="0"/>
              </a:rPr>
              <a:t> is the function executed when the route is matched.</a:t>
            </a:r>
          </a:p>
          <a:p>
            <a:pPr marL="0" indent="0">
              <a:buNone/>
            </a:pPr>
            <a:br>
              <a:rPr lang="en-GB" dirty="0"/>
            </a:br>
            <a:endParaRPr lang="en-GB" dirty="0"/>
          </a:p>
        </p:txBody>
      </p:sp>
      <p:pic>
        <p:nvPicPr>
          <p:cNvPr id="3" name="Picture 2">
            <a:extLst>
              <a:ext uri="{FF2B5EF4-FFF2-40B4-BE49-F238E27FC236}">
                <a16:creationId xmlns:a16="http://schemas.microsoft.com/office/drawing/2014/main" id="{FB9F6B86-31EE-BC4B-AC07-718F29EB5BE0}"/>
              </a:ext>
            </a:extLst>
          </p:cNvPr>
          <p:cNvPicPr>
            <a:picLocks noChangeAspect="1"/>
          </p:cNvPicPr>
          <p:nvPr/>
        </p:nvPicPr>
        <p:blipFill>
          <a:blip r:embed="rId3"/>
          <a:stretch>
            <a:fillRect/>
          </a:stretch>
        </p:blipFill>
        <p:spPr>
          <a:xfrm>
            <a:off x="930797" y="4306989"/>
            <a:ext cx="7494237" cy="1710641"/>
          </a:xfrm>
          <a:prstGeom prst="rect">
            <a:avLst/>
          </a:prstGeom>
        </p:spPr>
      </p:pic>
      <p:pic>
        <p:nvPicPr>
          <p:cNvPr id="5" name="Picture 4">
            <a:extLst>
              <a:ext uri="{FF2B5EF4-FFF2-40B4-BE49-F238E27FC236}">
                <a16:creationId xmlns:a16="http://schemas.microsoft.com/office/drawing/2014/main" id="{AE90F3D6-2AF9-2649-8B4D-BC94B0826954}"/>
              </a:ext>
            </a:extLst>
          </p:cNvPr>
          <p:cNvPicPr>
            <a:picLocks noChangeAspect="1"/>
          </p:cNvPicPr>
          <p:nvPr/>
        </p:nvPicPr>
        <p:blipFill>
          <a:blip r:embed="rId4"/>
          <a:stretch>
            <a:fillRect/>
          </a:stretch>
        </p:blipFill>
        <p:spPr>
          <a:xfrm>
            <a:off x="6383121" y="4956984"/>
            <a:ext cx="5620677" cy="1710641"/>
          </a:xfrm>
          <a:prstGeom prst="rect">
            <a:avLst/>
          </a:prstGeom>
          <a:ln>
            <a:solidFill>
              <a:schemeClr val="bg1"/>
            </a:solidFill>
          </a:ln>
        </p:spPr>
      </p:pic>
    </p:spTree>
    <p:extLst>
      <p:ext uri="{BB962C8B-B14F-4D97-AF65-F5344CB8AC3E}">
        <p14:creationId xmlns:p14="http://schemas.microsoft.com/office/powerpoint/2010/main" val="1786991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8A3E2C95-9AB0-CB4D-96FA-C4A8AFB7E148}"/>
              </a:ext>
            </a:extLst>
          </p:cNvPr>
          <p:cNvPicPr>
            <a:picLocks noChangeAspect="1"/>
          </p:cNvPicPr>
          <p:nvPr/>
        </p:nvPicPr>
        <p:blipFill>
          <a:blip r:embed="rId2"/>
          <a:stretch>
            <a:fillRect/>
          </a:stretch>
        </p:blipFill>
        <p:spPr>
          <a:xfrm>
            <a:off x="515635" y="283016"/>
            <a:ext cx="7799736" cy="2219768"/>
          </a:xfrm>
          <a:prstGeom prst="rect">
            <a:avLst/>
          </a:prstGeom>
        </p:spPr>
      </p:pic>
      <p:pic>
        <p:nvPicPr>
          <p:cNvPr id="12" name="Picture 11">
            <a:extLst>
              <a:ext uri="{FF2B5EF4-FFF2-40B4-BE49-F238E27FC236}">
                <a16:creationId xmlns:a16="http://schemas.microsoft.com/office/drawing/2014/main" id="{9988D9E5-5CD5-504A-8AFE-52840E1D0492}"/>
              </a:ext>
            </a:extLst>
          </p:cNvPr>
          <p:cNvPicPr>
            <a:picLocks noChangeAspect="1"/>
          </p:cNvPicPr>
          <p:nvPr/>
        </p:nvPicPr>
        <p:blipFill>
          <a:blip r:embed="rId3"/>
          <a:stretch>
            <a:fillRect/>
          </a:stretch>
        </p:blipFill>
        <p:spPr>
          <a:xfrm>
            <a:off x="489145" y="2596948"/>
            <a:ext cx="7799736" cy="1893931"/>
          </a:xfrm>
          <a:prstGeom prst="rect">
            <a:avLst/>
          </a:prstGeom>
        </p:spPr>
      </p:pic>
      <p:pic>
        <p:nvPicPr>
          <p:cNvPr id="13" name="Picture 12">
            <a:extLst>
              <a:ext uri="{FF2B5EF4-FFF2-40B4-BE49-F238E27FC236}">
                <a16:creationId xmlns:a16="http://schemas.microsoft.com/office/drawing/2014/main" id="{8289A9D5-3421-7F49-B938-1AEF8DF22AD1}"/>
              </a:ext>
            </a:extLst>
          </p:cNvPr>
          <p:cNvPicPr>
            <a:picLocks noChangeAspect="1"/>
          </p:cNvPicPr>
          <p:nvPr/>
        </p:nvPicPr>
        <p:blipFill>
          <a:blip r:embed="rId4"/>
          <a:stretch>
            <a:fillRect/>
          </a:stretch>
        </p:blipFill>
        <p:spPr>
          <a:xfrm>
            <a:off x="489145" y="4585043"/>
            <a:ext cx="7787244" cy="1792608"/>
          </a:xfrm>
          <a:prstGeom prst="rect">
            <a:avLst/>
          </a:prstGeom>
        </p:spPr>
      </p:pic>
    </p:spTree>
    <p:extLst>
      <p:ext uri="{BB962C8B-B14F-4D97-AF65-F5344CB8AC3E}">
        <p14:creationId xmlns:p14="http://schemas.microsoft.com/office/powerpoint/2010/main" val="5741761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FD57D9D-D069-17D4-42C2-2B7A580FB58A}"/>
              </a:ext>
            </a:extLst>
          </p:cNvPr>
          <p:cNvPicPr>
            <a:picLocks noChangeAspect="1"/>
          </p:cNvPicPr>
          <p:nvPr/>
        </p:nvPicPr>
        <p:blipFill>
          <a:blip r:embed="rId2"/>
          <a:stretch>
            <a:fillRect/>
          </a:stretch>
        </p:blipFill>
        <p:spPr>
          <a:xfrm>
            <a:off x="1074127" y="1099038"/>
            <a:ext cx="9150352" cy="1343758"/>
          </a:xfrm>
          <a:prstGeom prst="rect">
            <a:avLst/>
          </a:prstGeom>
        </p:spPr>
      </p:pic>
      <p:pic>
        <p:nvPicPr>
          <p:cNvPr id="4" name="Picture 3">
            <a:extLst>
              <a:ext uri="{FF2B5EF4-FFF2-40B4-BE49-F238E27FC236}">
                <a16:creationId xmlns:a16="http://schemas.microsoft.com/office/drawing/2014/main" id="{153F6C15-3C72-0EFC-8507-29B8C2EA662D}"/>
              </a:ext>
            </a:extLst>
          </p:cNvPr>
          <p:cNvPicPr>
            <a:picLocks noChangeAspect="1"/>
          </p:cNvPicPr>
          <p:nvPr/>
        </p:nvPicPr>
        <p:blipFill>
          <a:blip r:embed="rId3"/>
          <a:stretch>
            <a:fillRect/>
          </a:stretch>
        </p:blipFill>
        <p:spPr>
          <a:xfrm>
            <a:off x="1074127" y="3663462"/>
            <a:ext cx="6261100" cy="2095500"/>
          </a:xfrm>
          <a:prstGeom prst="rect">
            <a:avLst/>
          </a:prstGeom>
        </p:spPr>
      </p:pic>
    </p:spTree>
    <p:extLst>
      <p:ext uri="{BB962C8B-B14F-4D97-AF65-F5344CB8AC3E}">
        <p14:creationId xmlns:p14="http://schemas.microsoft.com/office/powerpoint/2010/main" val="33840417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36880"/>
            <a:ext cx="10515600" cy="1325563"/>
          </a:xfrm>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a basic express app</a:t>
            </a:r>
          </a:p>
        </p:txBody>
      </p:sp>
      <p:pic>
        <p:nvPicPr>
          <p:cNvPr id="5" name="Picture 4">
            <a:extLst>
              <a:ext uri="{FF2B5EF4-FFF2-40B4-BE49-F238E27FC236}">
                <a16:creationId xmlns:a16="http://schemas.microsoft.com/office/drawing/2014/main" id="{4B585FCA-E4B2-AC48-8B41-9D4FE1677BAD}"/>
              </a:ext>
            </a:extLst>
          </p:cNvPr>
          <p:cNvPicPr>
            <a:picLocks noChangeAspect="1"/>
          </p:cNvPicPr>
          <p:nvPr/>
        </p:nvPicPr>
        <p:blipFill>
          <a:blip r:embed="rId2"/>
          <a:stretch>
            <a:fillRect/>
          </a:stretch>
        </p:blipFill>
        <p:spPr>
          <a:xfrm>
            <a:off x="933937" y="1125441"/>
            <a:ext cx="6666831" cy="5039187"/>
          </a:xfrm>
          <a:prstGeom prst="rect">
            <a:avLst/>
          </a:prstGeom>
        </p:spPr>
      </p:pic>
    </p:spTree>
    <p:extLst>
      <p:ext uri="{BB962C8B-B14F-4D97-AF65-F5344CB8AC3E}">
        <p14:creationId xmlns:p14="http://schemas.microsoft.com/office/powerpoint/2010/main" val="5884706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The express app – detail 1</a:t>
            </a:r>
          </a:p>
        </p:txBody>
      </p:sp>
      <p:pic>
        <p:nvPicPr>
          <p:cNvPr id="5" name="Picture 4">
            <a:extLst>
              <a:ext uri="{FF2B5EF4-FFF2-40B4-BE49-F238E27FC236}">
                <a16:creationId xmlns:a16="http://schemas.microsoft.com/office/drawing/2014/main" id="{4B585FCA-E4B2-AC48-8B41-9D4FE1677BAD}"/>
              </a:ext>
            </a:extLst>
          </p:cNvPr>
          <p:cNvPicPr>
            <a:picLocks noChangeAspect="1"/>
          </p:cNvPicPr>
          <p:nvPr/>
        </p:nvPicPr>
        <p:blipFill rotWithShape="1">
          <a:blip r:embed="rId2"/>
          <a:srcRect b="73695"/>
          <a:stretch/>
        </p:blipFill>
        <p:spPr>
          <a:xfrm>
            <a:off x="954302" y="1503686"/>
            <a:ext cx="8028248" cy="1596254"/>
          </a:xfrm>
          <a:prstGeom prst="rect">
            <a:avLst/>
          </a:prstGeom>
        </p:spPr>
      </p:pic>
      <p:sp>
        <p:nvSpPr>
          <p:cNvPr id="6" name="Content Placeholder 5">
            <a:extLst>
              <a:ext uri="{FF2B5EF4-FFF2-40B4-BE49-F238E27FC236}">
                <a16:creationId xmlns:a16="http://schemas.microsoft.com/office/drawing/2014/main" id="{D84FD62D-3D70-4048-814D-9138B23C9ED7}"/>
              </a:ext>
            </a:extLst>
          </p:cNvPr>
          <p:cNvSpPr txBox="1">
            <a:spLocks/>
          </p:cNvSpPr>
          <p:nvPr/>
        </p:nvSpPr>
        <p:spPr>
          <a:xfrm>
            <a:off x="954302" y="3275922"/>
            <a:ext cx="10515600" cy="3216953"/>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60000"/>
              </a:lnSpc>
              <a:buNone/>
            </a:pPr>
            <a:r>
              <a:rPr lang="en-GB" dirty="0">
                <a:solidFill>
                  <a:schemeClr val="tx1">
                    <a:lumMod val="95000"/>
                    <a:lumOff val="5000"/>
                  </a:schemeClr>
                </a:solidFill>
                <a:latin typeface="Helvetica Neue Light" panose="02000403000000020004" pitchFamily="2" charset="0"/>
                <a:ea typeface="Helvetica Neue Light" panose="02000403000000020004" pitchFamily="2" charset="0"/>
                <a:cs typeface="Helvetica Neue Medium" panose="02000503000000020004" pitchFamily="2" charset="0"/>
              </a:rPr>
              <a:t>1  - include or ‘require” the Express module</a:t>
            </a:r>
          </a:p>
          <a:p>
            <a:pPr marL="0" indent="0">
              <a:lnSpc>
                <a:spcPct val="160000"/>
              </a:lnSpc>
              <a:buNone/>
            </a:pPr>
            <a:r>
              <a:rPr lang="en-GB" dirty="0">
                <a:solidFill>
                  <a:schemeClr val="tx1">
                    <a:lumMod val="95000"/>
                    <a:lumOff val="5000"/>
                  </a:schemeClr>
                </a:solidFill>
                <a:latin typeface="Helvetica Neue Light" panose="02000403000000020004" pitchFamily="2" charset="0"/>
                <a:ea typeface="Helvetica Neue Light" panose="02000403000000020004" pitchFamily="2" charset="0"/>
                <a:cs typeface="Helvetica Neue Medium" panose="02000503000000020004" pitchFamily="2" charset="0"/>
              </a:rPr>
              <a:t>2  - </a:t>
            </a:r>
            <a:r>
              <a:rPr lang="en-GB" dirty="0">
                <a:latin typeface="Helvetica Neue Light" panose="02000403000000020004" pitchFamily="2" charset="0"/>
                <a:ea typeface="Helvetica Neue Light" panose="02000403000000020004" pitchFamily="2" charset="0"/>
              </a:rPr>
              <a:t>Calls the express function "express()" and puts new Express application inside the app variable (to start a new Express application). It's something like you are creating an object of a class. Where "express()" is just like class and app is it's newly created object.</a:t>
            </a:r>
          </a:p>
        </p:txBody>
      </p:sp>
    </p:spTree>
    <p:extLst>
      <p:ext uri="{BB962C8B-B14F-4D97-AF65-F5344CB8AC3E}">
        <p14:creationId xmlns:p14="http://schemas.microsoft.com/office/powerpoint/2010/main" val="13586755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365126"/>
            <a:ext cx="10515600" cy="907006"/>
          </a:xfrm>
        </p:spPr>
        <p:txBody>
          <a:bodyPr>
            <a:normAutofit/>
          </a:bodyPr>
          <a:lstStyle/>
          <a:p>
            <a:r>
              <a:rPr lang="en-US"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detail 2</a:t>
            </a:r>
          </a:p>
        </p:txBody>
      </p:sp>
      <p:pic>
        <p:nvPicPr>
          <p:cNvPr id="5" name="Picture 4">
            <a:extLst>
              <a:ext uri="{FF2B5EF4-FFF2-40B4-BE49-F238E27FC236}">
                <a16:creationId xmlns:a16="http://schemas.microsoft.com/office/drawing/2014/main" id="{4B585FCA-E4B2-AC48-8B41-9D4FE1677BAD}"/>
              </a:ext>
            </a:extLst>
          </p:cNvPr>
          <p:cNvPicPr>
            <a:picLocks noChangeAspect="1"/>
          </p:cNvPicPr>
          <p:nvPr/>
        </p:nvPicPr>
        <p:blipFill rotWithShape="1">
          <a:blip r:embed="rId2"/>
          <a:srcRect t="24780" b="60273"/>
          <a:stretch/>
        </p:blipFill>
        <p:spPr>
          <a:xfrm>
            <a:off x="942579" y="1166624"/>
            <a:ext cx="9930658" cy="1121933"/>
          </a:xfrm>
          <a:prstGeom prst="rect">
            <a:avLst/>
          </a:prstGeom>
        </p:spPr>
      </p:pic>
      <p:sp>
        <p:nvSpPr>
          <p:cNvPr id="6" name="Content Placeholder 5">
            <a:extLst>
              <a:ext uri="{FF2B5EF4-FFF2-40B4-BE49-F238E27FC236}">
                <a16:creationId xmlns:a16="http://schemas.microsoft.com/office/drawing/2014/main" id="{D84FD62D-3D70-4048-814D-9138B23C9ED7}"/>
              </a:ext>
            </a:extLst>
          </p:cNvPr>
          <p:cNvSpPr txBox="1">
            <a:spLocks/>
          </p:cNvSpPr>
          <p:nvPr/>
        </p:nvSpPr>
        <p:spPr>
          <a:xfrm>
            <a:off x="942579" y="2394065"/>
            <a:ext cx="10515600" cy="42835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60000"/>
              </a:lnSpc>
              <a:buNone/>
            </a:pPr>
            <a:r>
              <a:rPr lang="en-GB" sz="2400" dirty="0">
                <a:solidFill>
                  <a:schemeClr val="tx1">
                    <a:lumMod val="95000"/>
                    <a:lumOff val="5000"/>
                  </a:schemeClr>
                </a:solidFill>
                <a:latin typeface="Helvetica Neue Light" panose="02000403000000020004" pitchFamily="2" charset="0"/>
                <a:ea typeface="Helvetica Neue Light" panose="02000403000000020004" pitchFamily="2" charset="0"/>
                <a:cs typeface="Helvetica Neue Medium" panose="02000503000000020004" pitchFamily="2" charset="0"/>
              </a:rPr>
              <a:t>3 - </a:t>
            </a:r>
            <a:r>
              <a:rPr lang="en-GB" sz="2400" dirty="0" err="1">
                <a:latin typeface="Helvetica Neue Light" panose="02000403000000020004" pitchFamily="2" charset="0"/>
                <a:ea typeface="Helvetica Neue Light" panose="02000403000000020004" pitchFamily="2" charset="0"/>
              </a:rPr>
              <a:t>express.json</a:t>
            </a:r>
            <a:r>
              <a:rPr lang="en-GB" sz="2400" dirty="0">
                <a:latin typeface="Helvetica Neue Light" panose="02000403000000020004" pitchFamily="2" charset="0"/>
                <a:ea typeface="Helvetica Neue Light" panose="02000403000000020004" pitchFamily="2" charset="0"/>
              </a:rPr>
              <a:t>() is a built in middleware function in Express starting from v4.16.0. It parses incoming JSON requests and puts the parsed data in </a:t>
            </a:r>
            <a:r>
              <a:rPr lang="en-GB" sz="2400" dirty="0" err="1">
                <a:latin typeface="Helvetica Neue Light" panose="02000403000000020004" pitchFamily="2" charset="0"/>
                <a:ea typeface="Helvetica Neue Light" panose="02000403000000020004" pitchFamily="2" charset="0"/>
              </a:rPr>
              <a:t>req.body</a:t>
            </a:r>
            <a:r>
              <a:rPr lang="en-GB" sz="2400" dirty="0">
                <a:latin typeface="Helvetica Neue Light" panose="02000403000000020004" pitchFamily="2" charset="0"/>
                <a:ea typeface="Helvetica Neue Light" panose="02000403000000020004" pitchFamily="2" charset="0"/>
              </a:rPr>
              <a:t>.</a:t>
            </a:r>
          </a:p>
          <a:p>
            <a:pPr marL="0" indent="0">
              <a:lnSpc>
                <a:spcPct val="150000"/>
              </a:lnSpc>
              <a:buNone/>
            </a:pPr>
            <a:r>
              <a:rPr lang="en-GB" sz="2400" dirty="0">
                <a:solidFill>
                  <a:schemeClr val="tx1">
                    <a:lumMod val="95000"/>
                    <a:lumOff val="5000"/>
                  </a:schemeClr>
                </a:solidFill>
                <a:latin typeface="Helvetica Neue Light" panose="02000403000000020004" pitchFamily="2" charset="0"/>
                <a:ea typeface="Helvetica Neue Light" panose="02000403000000020004" pitchFamily="2" charset="0"/>
                <a:cs typeface="Helvetica Neue Medium" panose="02000503000000020004" pitchFamily="2" charset="0"/>
              </a:rPr>
              <a:t>4 - </a:t>
            </a:r>
            <a:r>
              <a:rPr lang="en-GB" sz="2400" dirty="0" err="1">
                <a:latin typeface="Helvetica Neue Light" panose="02000403000000020004" pitchFamily="2" charset="0"/>
                <a:ea typeface="Helvetica Neue Light" panose="02000403000000020004" pitchFamily="2" charset="0"/>
              </a:rPr>
              <a:t>express.urlencoded</a:t>
            </a:r>
            <a:r>
              <a:rPr lang="en-GB" sz="2400" dirty="0">
                <a:latin typeface="Helvetica Neue Light" panose="02000403000000020004" pitchFamily="2" charset="0"/>
                <a:ea typeface="Helvetica Neue Light" panose="02000403000000020004" pitchFamily="2" charset="0"/>
              </a:rPr>
              <a:t>() is a method inbuilt in express to recognize the incoming Request Object as strings or arrays. This method is called as a middleware in your application using the code:</a:t>
            </a:r>
          </a:p>
          <a:p>
            <a:pPr marL="457200" indent="-457200">
              <a:lnSpc>
                <a:spcPct val="150000"/>
              </a:lnSpc>
              <a:buAutoNum type="arabicPlain" startAt="5"/>
            </a:pPr>
            <a:r>
              <a:rPr lang="en-GB" sz="2400" dirty="0">
                <a:latin typeface="Helvetica Neue Light" panose="02000403000000020004" pitchFamily="2" charset="0"/>
                <a:ea typeface="Helvetica Neue Light" panose="02000403000000020004" pitchFamily="2" charset="0"/>
              </a:rPr>
              <a:t>Needed for post and put requests</a:t>
            </a:r>
          </a:p>
        </p:txBody>
      </p:sp>
    </p:spTree>
    <p:extLst>
      <p:ext uri="{BB962C8B-B14F-4D97-AF65-F5344CB8AC3E}">
        <p14:creationId xmlns:p14="http://schemas.microsoft.com/office/powerpoint/2010/main" val="2343066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365126"/>
            <a:ext cx="10515600" cy="907006"/>
          </a:xfrm>
        </p:spPr>
        <p:txBody>
          <a:bodyPr>
            <a:normAutofit/>
          </a:bodyPr>
          <a:lstStyle/>
          <a:p>
            <a:r>
              <a:rPr lang="en-US"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What is Middleware in </a:t>
            </a:r>
            <a:r>
              <a:rPr lang="en-US" spc="60" dirty="0" err="1">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Node.JS</a:t>
            </a:r>
            <a:r>
              <a:rPr lang="en-US"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a:t>
            </a:r>
          </a:p>
        </p:txBody>
      </p:sp>
      <p:sp>
        <p:nvSpPr>
          <p:cNvPr id="6" name="Content Placeholder 5">
            <a:extLst>
              <a:ext uri="{FF2B5EF4-FFF2-40B4-BE49-F238E27FC236}">
                <a16:creationId xmlns:a16="http://schemas.microsoft.com/office/drawing/2014/main" id="{D84FD62D-3D70-4048-814D-9138B23C9ED7}"/>
              </a:ext>
            </a:extLst>
          </p:cNvPr>
          <p:cNvSpPr txBox="1">
            <a:spLocks/>
          </p:cNvSpPr>
          <p:nvPr/>
        </p:nvSpPr>
        <p:spPr>
          <a:xfrm>
            <a:off x="838200" y="1071918"/>
            <a:ext cx="10515600" cy="264130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lnSpc>
                <a:spcPct val="150000"/>
              </a:lnSpc>
              <a:buNone/>
            </a:pPr>
            <a:r>
              <a:rPr lang="en-GB" sz="2200" dirty="0">
                <a:latin typeface="Helvetica Neue Light" panose="02000403000000020004" pitchFamily="2" charset="0"/>
                <a:ea typeface="Helvetica Neue Light" panose="02000403000000020004" pitchFamily="2" charset="0"/>
              </a:rPr>
              <a:t>Middleware is nothing but a function that has access to response objects, request objects, and the next middleware function. It exists in between the request and response cycles of </a:t>
            </a:r>
            <a:r>
              <a:rPr lang="en-GB" sz="2200" dirty="0" err="1">
                <a:latin typeface="Helvetica Neue Light" panose="02000403000000020004" pitchFamily="2" charset="0"/>
                <a:ea typeface="Helvetica Neue Light" panose="02000403000000020004" pitchFamily="2" charset="0"/>
              </a:rPr>
              <a:t>Node.JS</a:t>
            </a:r>
            <a:r>
              <a:rPr lang="en-GB" sz="2200" dirty="0">
                <a:latin typeface="Helvetica Neue Light" panose="02000403000000020004" pitchFamily="2" charset="0"/>
                <a:ea typeface="Helvetica Neue Light" panose="02000403000000020004" pitchFamily="2" charset="0"/>
              </a:rPr>
              <a:t> execution. Generally, the request object is referred to by the variable ‘</a:t>
            </a:r>
            <a:r>
              <a:rPr lang="en-GB" sz="2200" dirty="0" err="1">
                <a:latin typeface="Helvetica Neue Light" panose="02000403000000020004" pitchFamily="2" charset="0"/>
                <a:ea typeface="Helvetica Neue Light" panose="02000403000000020004" pitchFamily="2" charset="0"/>
              </a:rPr>
              <a:t>req</a:t>
            </a:r>
            <a:r>
              <a:rPr lang="en-GB" sz="2200" dirty="0">
                <a:latin typeface="Helvetica Neue Light" panose="02000403000000020004" pitchFamily="2" charset="0"/>
                <a:ea typeface="Helvetica Neue Light" panose="02000403000000020004" pitchFamily="2" charset="0"/>
              </a:rPr>
              <a:t>', whereas the response object is referred to by the variable ‘res’..</a:t>
            </a:r>
            <a:endParaRPr lang="en-GB" sz="2200" dirty="0"/>
          </a:p>
        </p:txBody>
      </p:sp>
      <p:pic>
        <p:nvPicPr>
          <p:cNvPr id="1026" name="Picture 2" descr="Middleware in Node.JS">
            <a:extLst>
              <a:ext uri="{FF2B5EF4-FFF2-40B4-BE49-F238E27FC236}">
                <a16:creationId xmlns:a16="http://schemas.microsoft.com/office/drawing/2014/main" id="{9C4464C4-317B-C673-1718-1F33BEFA81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44132" y="3429000"/>
            <a:ext cx="8762974" cy="2626367"/>
          </a:xfrm>
          <a:prstGeom prst="rect">
            <a:avLst/>
          </a:prstGeom>
          <a:noFill/>
          <a:ln>
            <a:solidFill>
              <a:schemeClr val="bg1">
                <a:lumMod val="50000"/>
              </a:schemeClr>
            </a:solidFill>
          </a:ln>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D65647E-CA60-0B3E-41ED-9060C48F161C}"/>
              </a:ext>
            </a:extLst>
          </p:cNvPr>
          <p:cNvSpPr txBox="1"/>
          <p:nvPr/>
        </p:nvSpPr>
        <p:spPr>
          <a:xfrm>
            <a:off x="1744132" y="6154320"/>
            <a:ext cx="8297334" cy="677108"/>
          </a:xfrm>
          <a:prstGeom prst="rect">
            <a:avLst/>
          </a:prstGeom>
          <a:noFill/>
        </p:spPr>
        <p:txBody>
          <a:bodyPr wrap="square">
            <a:spAutoFit/>
          </a:bodyPr>
          <a:lstStyle/>
          <a:p>
            <a:pPr algn="ctr"/>
            <a:r>
              <a:rPr lang="en-US" sz="2000" dirty="0">
                <a:latin typeface="Helvetica Neue Light" panose="02000403000000020004" pitchFamily="2" charset="0"/>
                <a:ea typeface="Helvetica Neue Light" panose="02000403000000020004" pitchFamily="2" charset="0"/>
                <a:hlinkClick r:id="rId3"/>
              </a:rPr>
              <a:t>https://www.scaler.com/topics/nodejs/middleware-in-nodejs/</a:t>
            </a:r>
            <a:endParaRPr lang="en-US" sz="2000" dirty="0">
              <a:latin typeface="Helvetica Neue Light" panose="02000403000000020004" pitchFamily="2" charset="0"/>
              <a:ea typeface="Helvetica Neue Light" panose="02000403000000020004" pitchFamily="2" charset="0"/>
            </a:endParaRPr>
          </a:p>
          <a:p>
            <a:endParaRPr lang="en-US" dirty="0"/>
          </a:p>
        </p:txBody>
      </p:sp>
    </p:spTree>
    <p:extLst>
      <p:ext uri="{BB962C8B-B14F-4D97-AF65-F5344CB8AC3E}">
        <p14:creationId xmlns:p14="http://schemas.microsoft.com/office/powerpoint/2010/main" val="3758286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365126"/>
            <a:ext cx="10515600" cy="907006"/>
          </a:xfrm>
        </p:spPr>
        <p:txBody>
          <a:bodyPr>
            <a:normAutofit/>
          </a:bodyPr>
          <a:lstStyle/>
          <a:p>
            <a:r>
              <a:rPr lang="en-US"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detail 2 cont..</a:t>
            </a:r>
          </a:p>
        </p:txBody>
      </p:sp>
      <p:sp>
        <p:nvSpPr>
          <p:cNvPr id="6" name="Content Placeholder 5">
            <a:extLst>
              <a:ext uri="{FF2B5EF4-FFF2-40B4-BE49-F238E27FC236}">
                <a16:creationId xmlns:a16="http://schemas.microsoft.com/office/drawing/2014/main" id="{D84FD62D-3D70-4048-814D-9138B23C9ED7}"/>
              </a:ext>
            </a:extLst>
          </p:cNvPr>
          <p:cNvSpPr txBox="1">
            <a:spLocks/>
          </p:cNvSpPr>
          <p:nvPr/>
        </p:nvSpPr>
        <p:spPr>
          <a:xfrm>
            <a:off x="838200" y="1287224"/>
            <a:ext cx="10515600" cy="520564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base">
              <a:lnSpc>
                <a:spcPct val="150000"/>
              </a:lnSpc>
            </a:pPr>
            <a:r>
              <a:rPr lang="en-GB" sz="2400" dirty="0">
                <a:latin typeface="Helvetica Neue Light" panose="02000403000000020004" pitchFamily="2" charset="0"/>
                <a:ea typeface="Helvetica Neue Light" panose="02000403000000020004" pitchFamily="2" charset="0"/>
              </a:rPr>
              <a:t>You NEED </a:t>
            </a:r>
            <a:r>
              <a:rPr lang="en-GB" sz="2400" dirty="0" err="1">
                <a:latin typeface="Helvetica Neue Light" panose="02000403000000020004" pitchFamily="2" charset="0"/>
                <a:ea typeface="Helvetica Neue Light" panose="02000403000000020004" pitchFamily="2" charset="0"/>
              </a:rPr>
              <a:t>express.json</a:t>
            </a:r>
            <a:r>
              <a:rPr lang="en-GB" sz="2400" dirty="0">
                <a:latin typeface="Helvetica Neue Light" panose="02000403000000020004" pitchFamily="2" charset="0"/>
                <a:ea typeface="Helvetica Neue Light" panose="02000403000000020004" pitchFamily="2" charset="0"/>
              </a:rPr>
              <a:t>() and </a:t>
            </a:r>
            <a:r>
              <a:rPr lang="en-GB" sz="2400" dirty="0" err="1">
                <a:latin typeface="Helvetica Neue Light" panose="02000403000000020004" pitchFamily="2" charset="0"/>
                <a:ea typeface="Helvetica Neue Light" panose="02000403000000020004" pitchFamily="2" charset="0"/>
              </a:rPr>
              <a:t>express.urlencoded</a:t>
            </a:r>
            <a:r>
              <a:rPr lang="en-GB" sz="2400" dirty="0">
                <a:latin typeface="Helvetica Neue Light" panose="02000403000000020004" pitchFamily="2" charset="0"/>
                <a:ea typeface="Helvetica Neue Light" panose="02000403000000020004" pitchFamily="2" charset="0"/>
              </a:rPr>
              <a:t>() for POST and PUT requests, because in both these requests you are sending data (in the form of some data object) to the server and you are asking the server to accept or store that data (object), which is enclosed in the body (i.e. </a:t>
            </a:r>
            <a:r>
              <a:rPr lang="en-GB" sz="2400" dirty="0" err="1">
                <a:latin typeface="Helvetica Neue Light" panose="02000403000000020004" pitchFamily="2" charset="0"/>
                <a:ea typeface="Helvetica Neue Light" panose="02000403000000020004" pitchFamily="2" charset="0"/>
              </a:rPr>
              <a:t>req.body</a:t>
            </a:r>
            <a:r>
              <a:rPr lang="en-GB" sz="2400" dirty="0">
                <a:latin typeface="Helvetica Neue Light" panose="02000403000000020004" pitchFamily="2" charset="0"/>
                <a:ea typeface="Helvetica Neue Light" panose="02000403000000020004" pitchFamily="2" charset="0"/>
              </a:rPr>
              <a:t>) of that (POST or PUT) Request.</a:t>
            </a:r>
          </a:p>
          <a:p>
            <a:pPr fontAlgn="base">
              <a:lnSpc>
                <a:spcPct val="150000"/>
              </a:lnSpc>
            </a:pPr>
            <a:r>
              <a:rPr lang="en-GB" sz="2400" dirty="0">
                <a:latin typeface="Helvetica Neue Light" panose="02000403000000020004" pitchFamily="2" charset="0"/>
                <a:ea typeface="Helvetica Neue Light" panose="02000403000000020004" pitchFamily="2" charset="0"/>
              </a:rPr>
              <a:t>In our CRUD app we are using </a:t>
            </a:r>
            <a:r>
              <a:rPr lang="en-GB" sz="2400" dirty="0" err="1">
                <a:latin typeface="Helvetica Neue Light" panose="02000403000000020004" pitchFamily="2" charset="0"/>
                <a:ea typeface="Helvetica Neue Light" panose="02000403000000020004" pitchFamily="2" charset="0"/>
              </a:rPr>
              <a:t>bodyParser</a:t>
            </a:r>
            <a:r>
              <a:rPr lang="en-GB" sz="2400" dirty="0">
                <a:latin typeface="Helvetica Neue Light" panose="02000403000000020004" pitchFamily="2" charset="0"/>
                <a:ea typeface="Helvetica Neue Light" panose="02000403000000020004" pitchFamily="2" charset="0"/>
              </a:rPr>
              <a:t> to do the same thing, but this deprecated depending on which version of Express is installed ( gets complicated)</a:t>
            </a:r>
          </a:p>
          <a:p>
            <a:pPr fontAlgn="base"/>
            <a:endParaRPr lang="en-GB" sz="2200" dirty="0"/>
          </a:p>
        </p:txBody>
      </p:sp>
    </p:spTree>
    <p:extLst>
      <p:ext uri="{BB962C8B-B14F-4D97-AF65-F5344CB8AC3E}">
        <p14:creationId xmlns:p14="http://schemas.microsoft.com/office/powerpoint/2010/main" val="31796143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365126"/>
            <a:ext cx="10515600" cy="907006"/>
          </a:xfrm>
        </p:spPr>
        <p:txBody>
          <a:bodyPr>
            <a:normAutofit/>
          </a:bodyPr>
          <a:lstStyle/>
          <a:p>
            <a:r>
              <a:rPr lang="en-US"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detail 3</a:t>
            </a:r>
          </a:p>
        </p:txBody>
      </p:sp>
      <p:pic>
        <p:nvPicPr>
          <p:cNvPr id="5" name="Picture 4">
            <a:extLst>
              <a:ext uri="{FF2B5EF4-FFF2-40B4-BE49-F238E27FC236}">
                <a16:creationId xmlns:a16="http://schemas.microsoft.com/office/drawing/2014/main" id="{4B585FCA-E4B2-AC48-8B41-9D4FE1677BAD}"/>
              </a:ext>
            </a:extLst>
          </p:cNvPr>
          <p:cNvPicPr>
            <a:picLocks noChangeAspect="1"/>
          </p:cNvPicPr>
          <p:nvPr/>
        </p:nvPicPr>
        <p:blipFill rotWithShape="1">
          <a:blip r:embed="rId2"/>
          <a:srcRect l="112" t="38512" r="-112" b="41889"/>
          <a:stretch/>
        </p:blipFill>
        <p:spPr>
          <a:xfrm>
            <a:off x="849284" y="1272132"/>
            <a:ext cx="9930658" cy="1471068"/>
          </a:xfrm>
          <a:prstGeom prst="rect">
            <a:avLst/>
          </a:prstGeom>
        </p:spPr>
      </p:pic>
      <p:sp>
        <p:nvSpPr>
          <p:cNvPr id="6" name="Content Placeholder 5">
            <a:extLst>
              <a:ext uri="{FF2B5EF4-FFF2-40B4-BE49-F238E27FC236}">
                <a16:creationId xmlns:a16="http://schemas.microsoft.com/office/drawing/2014/main" id="{D84FD62D-3D70-4048-814D-9138B23C9ED7}"/>
              </a:ext>
            </a:extLst>
          </p:cNvPr>
          <p:cNvSpPr txBox="1">
            <a:spLocks/>
          </p:cNvSpPr>
          <p:nvPr/>
        </p:nvSpPr>
        <p:spPr>
          <a:xfrm>
            <a:off x="838200" y="2776451"/>
            <a:ext cx="10515600" cy="107575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60000"/>
              </a:lnSpc>
              <a:buNone/>
            </a:pPr>
            <a:r>
              <a:rPr lang="en-GB" sz="2400" dirty="0">
                <a:latin typeface="Helvetica Neue Light" panose="02000403000000020004" pitchFamily="2" charset="0"/>
                <a:ea typeface="Helvetica Neue Light" panose="02000403000000020004" pitchFamily="2" charset="0"/>
              </a:rPr>
              <a:t>In Express you  handle a GET request with the get ( ) method:</a:t>
            </a:r>
          </a:p>
        </p:txBody>
      </p:sp>
      <p:pic>
        <p:nvPicPr>
          <p:cNvPr id="2" name="Picture 1">
            <a:extLst>
              <a:ext uri="{FF2B5EF4-FFF2-40B4-BE49-F238E27FC236}">
                <a16:creationId xmlns:a16="http://schemas.microsoft.com/office/drawing/2014/main" id="{4CD34AC2-553B-2243-AA78-01E232A4BFF9}"/>
              </a:ext>
            </a:extLst>
          </p:cNvPr>
          <p:cNvPicPr>
            <a:picLocks noChangeAspect="1"/>
          </p:cNvPicPr>
          <p:nvPr/>
        </p:nvPicPr>
        <p:blipFill>
          <a:blip r:embed="rId3"/>
          <a:stretch>
            <a:fillRect/>
          </a:stretch>
        </p:blipFill>
        <p:spPr>
          <a:xfrm>
            <a:off x="849284" y="3484795"/>
            <a:ext cx="4598324" cy="738417"/>
          </a:xfrm>
          <a:prstGeom prst="rect">
            <a:avLst/>
          </a:prstGeom>
        </p:spPr>
      </p:pic>
      <p:sp>
        <p:nvSpPr>
          <p:cNvPr id="7" name="Content Placeholder 5">
            <a:extLst>
              <a:ext uri="{FF2B5EF4-FFF2-40B4-BE49-F238E27FC236}">
                <a16:creationId xmlns:a16="http://schemas.microsoft.com/office/drawing/2014/main" id="{B565CC8F-2DD3-464B-8FF4-5D42C6607189}"/>
              </a:ext>
            </a:extLst>
          </p:cNvPr>
          <p:cNvSpPr txBox="1">
            <a:spLocks/>
          </p:cNvSpPr>
          <p:nvPr/>
        </p:nvSpPr>
        <p:spPr>
          <a:xfrm>
            <a:off x="838200" y="4265350"/>
            <a:ext cx="10904913" cy="213005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60000"/>
              </a:lnSpc>
              <a:buNone/>
            </a:pPr>
            <a:r>
              <a:rPr lang="en-GB" sz="2400" b="1" dirty="0">
                <a:latin typeface="HELVETICA NEUE LIGHT" panose="02000403000000020004" pitchFamily="2" charset="0"/>
                <a:ea typeface="HELVETICA NEUE LIGHT" panose="02000403000000020004" pitchFamily="2" charset="0"/>
              </a:rPr>
              <a:t>endpoint</a:t>
            </a:r>
            <a:r>
              <a:rPr lang="en-GB" sz="2400" dirty="0">
                <a:latin typeface="Helvetica Neue Light" panose="02000403000000020004" pitchFamily="2" charset="0"/>
                <a:ea typeface="Helvetica Neue Light" panose="02000403000000020004" pitchFamily="2" charset="0"/>
              </a:rPr>
              <a:t> is the requested endpoint. It’s the value that comes after your domain name. </a:t>
            </a:r>
            <a:r>
              <a:rPr lang="en-GB" sz="2400" b="1" dirty="0" err="1">
                <a:latin typeface="Helvetica Neue Light" panose="02000403000000020004" pitchFamily="2" charset="0"/>
                <a:ea typeface="Helvetica Neue Light" panose="02000403000000020004" pitchFamily="2" charset="0"/>
              </a:rPr>
              <a:t>callback</a:t>
            </a:r>
            <a:r>
              <a:rPr lang="en-GB" sz="2400" b="1" dirty="0">
                <a:latin typeface="HELVETICA NEUE LIGHT" panose="02000403000000020004" pitchFamily="2" charset="0"/>
                <a:ea typeface="HELVETICA NEUE LIGHT" panose="02000403000000020004" pitchFamily="2" charset="0"/>
              </a:rPr>
              <a:t> </a:t>
            </a:r>
            <a:r>
              <a:rPr lang="en-GB" sz="2400" dirty="0">
                <a:latin typeface="Helvetica Neue Light" panose="02000403000000020004" pitchFamily="2" charset="0"/>
                <a:ea typeface="Helvetica Neue Light" panose="02000403000000020004" pitchFamily="2" charset="0"/>
              </a:rPr>
              <a:t>tells the server what to do when the requested endpoint matches the endpoint stated. It takes two arguments: A </a:t>
            </a:r>
            <a:r>
              <a:rPr lang="en-GB" sz="2400" b="1" dirty="0">
                <a:latin typeface="HELVETICA NEUE LIGHT" panose="02000403000000020004" pitchFamily="2" charset="0"/>
                <a:ea typeface="HELVETICA NEUE LIGHT" panose="02000403000000020004" pitchFamily="2" charset="0"/>
              </a:rPr>
              <a:t>request</a:t>
            </a:r>
            <a:r>
              <a:rPr lang="en-GB" sz="2400" dirty="0">
                <a:latin typeface="Helvetica Neue Light" panose="02000403000000020004" pitchFamily="2" charset="0"/>
                <a:ea typeface="Helvetica Neue Light" panose="02000403000000020004" pitchFamily="2" charset="0"/>
              </a:rPr>
              <a:t> object and a</a:t>
            </a:r>
            <a:r>
              <a:rPr lang="en-GB" sz="2400" b="1" dirty="0">
                <a:latin typeface="HELVETICA NEUE LIGHT" panose="02000403000000020004" pitchFamily="2" charset="0"/>
                <a:ea typeface="HELVETICA NEUE LIGHT" panose="02000403000000020004" pitchFamily="2" charset="0"/>
              </a:rPr>
              <a:t> response </a:t>
            </a:r>
            <a:r>
              <a:rPr lang="en-GB" sz="2400" dirty="0">
                <a:latin typeface="Helvetica Neue Light" panose="02000403000000020004" pitchFamily="2" charset="0"/>
                <a:ea typeface="Helvetica Neue Light" panose="02000403000000020004" pitchFamily="2" charset="0"/>
              </a:rPr>
              <a:t>object.</a:t>
            </a:r>
          </a:p>
        </p:txBody>
      </p:sp>
    </p:spTree>
    <p:extLst>
      <p:ext uri="{BB962C8B-B14F-4D97-AF65-F5344CB8AC3E}">
        <p14:creationId xmlns:p14="http://schemas.microsoft.com/office/powerpoint/2010/main" val="37241537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365126"/>
            <a:ext cx="10515600" cy="907006"/>
          </a:xfrm>
        </p:spPr>
        <p:txBody>
          <a:bodyPr>
            <a:normAutofit/>
          </a:bodyPr>
          <a:lstStyle/>
          <a:p>
            <a:r>
              <a:rPr lang="en-US"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detail 4</a:t>
            </a:r>
          </a:p>
        </p:txBody>
      </p:sp>
      <p:pic>
        <p:nvPicPr>
          <p:cNvPr id="5" name="Picture 4">
            <a:extLst>
              <a:ext uri="{FF2B5EF4-FFF2-40B4-BE49-F238E27FC236}">
                <a16:creationId xmlns:a16="http://schemas.microsoft.com/office/drawing/2014/main" id="{4B585FCA-E4B2-AC48-8B41-9D4FE1677BAD}"/>
              </a:ext>
            </a:extLst>
          </p:cNvPr>
          <p:cNvPicPr>
            <a:picLocks noChangeAspect="1"/>
          </p:cNvPicPr>
          <p:nvPr/>
        </p:nvPicPr>
        <p:blipFill rotWithShape="1">
          <a:blip r:embed="rId2"/>
          <a:srcRect l="112" t="58890" r="-112" b="19662"/>
          <a:stretch/>
        </p:blipFill>
        <p:spPr>
          <a:xfrm>
            <a:off x="789450" y="1490340"/>
            <a:ext cx="10613099" cy="1720451"/>
          </a:xfrm>
          <a:prstGeom prst="rect">
            <a:avLst/>
          </a:prstGeom>
        </p:spPr>
      </p:pic>
      <p:sp>
        <p:nvSpPr>
          <p:cNvPr id="6" name="Content Placeholder 5">
            <a:extLst>
              <a:ext uri="{FF2B5EF4-FFF2-40B4-BE49-F238E27FC236}">
                <a16:creationId xmlns:a16="http://schemas.microsoft.com/office/drawing/2014/main" id="{D84FD62D-3D70-4048-814D-9138B23C9ED7}"/>
              </a:ext>
            </a:extLst>
          </p:cNvPr>
          <p:cNvSpPr txBox="1">
            <a:spLocks/>
          </p:cNvSpPr>
          <p:nvPr/>
        </p:nvSpPr>
        <p:spPr>
          <a:xfrm>
            <a:off x="740701" y="3429000"/>
            <a:ext cx="10721681" cy="302267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GB" sz="2400" dirty="0">
                <a:latin typeface="Helvetica Neue Light" panose="02000403000000020004" pitchFamily="2" charset="0"/>
                <a:ea typeface="Helvetica Neue Light" panose="02000403000000020004" pitchFamily="2" charset="0"/>
              </a:rPr>
              <a:t>In the above block, POST data can be accessed using </a:t>
            </a:r>
            <a:r>
              <a:rPr lang="en-GB" sz="2400" dirty="0" err="1">
                <a:latin typeface="Helvetica Neue Light" panose="02000403000000020004" pitchFamily="2" charset="0"/>
                <a:ea typeface="Helvetica Neue Light" panose="02000403000000020004" pitchFamily="2" charset="0"/>
              </a:rPr>
              <a:t>req.body</a:t>
            </a:r>
            <a:r>
              <a:rPr lang="en-GB" sz="2400" dirty="0">
                <a:latin typeface="Helvetica Neue Light" panose="02000403000000020004" pitchFamily="2" charset="0"/>
                <a:ea typeface="Helvetica Neue Light" panose="02000403000000020004" pitchFamily="2" charset="0"/>
              </a:rPr>
              <a:t>. The </a:t>
            </a:r>
            <a:r>
              <a:rPr lang="en-GB" sz="2400" dirty="0" err="1">
                <a:latin typeface="Helvetica Neue Light" panose="02000403000000020004" pitchFamily="2" charset="0"/>
                <a:ea typeface="Helvetica Neue Light" panose="02000403000000020004" pitchFamily="2" charset="0"/>
              </a:rPr>
              <a:t>req.body</a:t>
            </a:r>
            <a:r>
              <a:rPr lang="en-GB" sz="2400" dirty="0">
                <a:latin typeface="Helvetica Neue Light" panose="02000403000000020004" pitchFamily="2" charset="0"/>
                <a:ea typeface="Helvetica Neue Light" panose="02000403000000020004" pitchFamily="2" charset="0"/>
              </a:rPr>
              <a:t> is an object that includes properties for each submitted form.</a:t>
            </a:r>
          </a:p>
          <a:p>
            <a:pPr marL="0" indent="0">
              <a:lnSpc>
                <a:spcPct val="150000"/>
              </a:lnSpc>
              <a:buNone/>
            </a:pPr>
            <a:r>
              <a:rPr lang="en-GB" sz="2400" dirty="0" err="1">
                <a:latin typeface="Helvetica Neue Light" panose="02000403000000020004" pitchFamily="2" charset="0"/>
                <a:ea typeface="Helvetica Neue Light" panose="02000403000000020004" pitchFamily="2" charset="0"/>
              </a:rPr>
              <a:t>Index.html</a:t>
            </a:r>
            <a:r>
              <a:rPr lang="en-GB" sz="2400" dirty="0">
                <a:latin typeface="Helvetica Neue Light" panose="02000403000000020004" pitchFamily="2" charset="0"/>
                <a:ea typeface="Helvetica Neue Light" panose="02000403000000020004" pitchFamily="2" charset="0"/>
              </a:rPr>
              <a:t> contains </a:t>
            </a:r>
            <a:r>
              <a:rPr lang="en-GB" sz="2400" dirty="0" err="1">
                <a:latin typeface="Helvetica Neue Light" panose="02000403000000020004" pitchFamily="2" charset="0"/>
                <a:ea typeface="Helvetica Neue Light" panose="02000403000000020004" pitchFamily="2" charset="0"/>
              </a:rPr>
              <a:t>firstName</a:t>
            </a:r>
            <a:r>
              <a:rPr lang="en-GB" sz="2400" dirty="0">
                <a:latin typeface="Helvetica Neue Light" panose="02000403000000020004" pitchFamily="2" charset="0"/>
                <a:ea typeface="Helvetica Neue Light" panose="02000403000000020004" pitchFamily="2" charset="0"/>
              </a:rPr>
              <a:t> and </a:t>
            </a:r>
            <a:r>
              <a:rPr lang="en-GB" sz="2400" dirty="0" err="1">
                <a:latin typeface="Helvetica Neue Light" panose="02000403000000020004" pitchFamily="2" charset="0"/>
                <a:ea typeface="Helvetica Neue Light" panose="02000403000000020004" pitchFamily="2" charset="0"/>
              </a:rPr>
              <a:t>lastName</a:t>
            </a:r>
            <a:r>
              <a:rPr lang="en-GB" sz="2400" dirty="0">
                <a:latin typeface="Helvetica Neue Light" panose="02000403000000020004" pitchFamily="2" charset="0"/>
                <a:ea typeface="Helvetica Neue Light" panose="02000403000000020004" pitchFamily="2" charset="0"/>
              </a:rPr>
              <a:t> input types, so you can access it using </a:t>
            </a:r>
            <a:r>
              <a:rPr lang="en-GB" sz="2400" dirty="0" err="1">
                <a:latin typeface="Helvetica Neue Light" panose="02000403000000020004" pitchFamily="2" charset="0"/>
                <a:ea typeface="Helvetica Neue Light" panose="02000403000000020004" pitchFamily="2" charset="0"/>
              </a:rPr>
              <a:t>req.body.firstName</a:t>
            </a:r>
            <a:r>
              <a:rPr lang="en-GB" sz="2400" dirty="0">
                <a:latin typeface="Helvetica Neue Light" panose="02000403000000020004" pitchFamily="2" charset="0"/>
                <a:ea typeface="Helvetica Neue Light" panose="02000403000000020004" pitchFamily="2" charset="0"/>
              </a:rPr>
              <a:t> and </a:t>
            </a:r>
            <a:r>
              <a:rPr lang="en-GB" sz="2400" dirty="0" err="1">
                <a:latin typeface="Helvetica Neue Light" panose="02000403000000020004" pitchFamily="2" charset="0"/>
                <a:ea typeface="Helvetica Neue Light" panose="02000403000000020004" pitchFamily="2" charset="0"/>
              </a:rPr>
              <a:t>req.body.lastName</a:t>
            </a:r>
            <a:r>
              <a:rPr lang="en-GB" sz="2400" dirty="0">
                <a:latin typeface="Helvetica Neue Light" panose="02000403000000020004" pitchFamily="2" charset="0"/>
                <a:ea typeface="Helvetica Neue Light" panose="02000403000000020004" pitchFamily="2" charset="0"/>
              </a:rPr>
              <a:t>.</a:t>
            </a:r>
          </a:p>
        </p:txBody>
      </p:sp>
    </p:spTree>
    <p:extLst>
      <p:ext uri="{BB962C8B-B14F-4D97-AF65-F5344CB8AC3E}">
        <p14:creationId xmlns:p14="http://schemas.microsoft.com/office/powerpoint/2010/main" val="3333059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365126"/>
            <a:ext cx="10515600" cy="907006"/>
          </a:xfrm>
        </p:spPr>
        <p:txBody>
          <a:bodyPr>
            <a:normAutofit/>
          </a:bodyPr>
          <a:lstStyle/>
          <a:p>
            <a:r>
              <a:rPr lang="en-US"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detail 5</a:t>
            </a:r>
          </a:p>
        </p:txBody>
      </p:sp>
      <p:pic>
        <p:nvPicPr>
          <p:cNvPr id="5" name="Picture 4">
            <a:extLst>
              <a:ext uri="{FF2B5EF4-FFF2-40B4-BE49-F238E27FC236}">
                <a16:creationId xmlns:a16="http://schemas.microsoft.com/office/drawing/2014/main" id="{4B585FCA-E4B2-AC48-8B41-9D4FE1677BAD}"/>
              </a:ext>
            </a:extLst>
          </p:cNvPr>
          <p:cNvPicPr>
            <a:picLocks noChangeAspect="1"/>
          </p:cNvPicPr>
          <p:nvPr/>
        </p:nvPicPr>
        <p:blipFill rotWithShape="1">
          <a:blip r:embed="rId2"/>
          <a:srcRect t="81067" b="-2515"/>
          <a:stretch/>
        </p:blipFill>
        <p:spPr>
          <a:xfrm>
            <a:off x="849283" y="1557923"/>
            <a:ext cx="10613099" cy="1720451"/>
          </a:xfrm>
          <a:prstGeom prst="rect">
            <a:avLst/>
          </a:prstGeom>
        </p:spPr>
      </p:pic>
      <p:sp>
        <p:nvSpPr>
          <p:cNvPr id="6" name="Content Placeholder 5">
            <a:extLst>
              <a:ext uri="{FF2B5EF4-FFF2-40B4-BE49-F238E27FC236}">
                <a16:creationId xmlns:a16="http://schemas.microsoft.com/office/drawing/2014/main" id="{D84FD62D-3D70-4048-814D-9138B23C9ED7}"/>
              </a:ext>
            </a:extLst>
          </p:cNvPr>
          <p:cNvSpPr txBox="1">
            <a:spLocks/>
          </p:cNvSpPr>
          <p:nvPr/>
        </p:nvSpPr>
        <p:spPr>
          <a:xfrm>
            <a:off x="849283" y="3278374"/>
            <a:ext cx="10721681" cy="302267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GB" dirty="0">
                <a:latin typeface="Helvetica Neue Light" panose="02000403000000020004" pitchFamily="2" charset="0"/>
                <a:ea typeface="Helvetica Neue Light" panose="02000403000000020004" pitchFamily="2" charset="0"/>
              </a:rPr>
              <a:t>The </a:t>
            </a:r>
            <a:r>
              <a:rPr lang="en-GB" dirty="0" err="1">
                <a:latin typeface="Helvetica Neue Light" panose="02000403000000020004" pitchFamily="2" charset="0"/>
                <a:ea typeface="Helvetica Neue Light" panose="02000403000000020004" pitchFamily="2" charset="0"/>
              </a:rPr>
              <a:t>app.listen</a:t>
            </a:r>
            <a:r>
              <a:rPr lang="en-GB" dirty="0">
                <a:latin typeface="Helvetica Neue Light" panose="02000403000000020004" pitchFamily="2" charset="0"/>
                <a:ea typeface="Helvetica Neue Light" panose="02000403000000020004" pitchFamily="2" charset="0"/>
              </a:rPr>
              <a:t>() function creates the Node.js web server at the specified host and port. It is identical to Node's </a:t>
            </a:r>
            <a:r>
              <a:rPr lang="en-GB" dirty="0" err="1">
                <a:latin typeface="Helvetica Neue Light" panose="02000403000000020004" pitchFamily="2" charset="0"/>
                <a:ea typeface="Helvetica Neue Light" panose="02000403000000020004" pitchFamily="2" charset="0"/>
              </a:rPr>
              <a:t>http.Server.listen</a:t>
            </a:r>
            <a:r>
              <a:rPr lang="en-GB" dirty="0">
                <a:latin typeface="Helvetica Neue Light" panose="02000403000000020004" pitchFamily="2" charset="0"/>
                <a:ea typeface="Helvetica Neue Light" panose="02000403000000020004" pitchFamily="2" charset="0"/>
              </a:rPr>
              <a:t>() method.</a:t>
            </a:r>
            <a:endParaRPr lang="en-GB" sz="2400" dirty="0">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2323840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F5B50">
                <a:alpha val="83137"/>
              </a:srgbClr>
            </a:gs>
            <a:gs pos="41000">
              <a:srgbClr val="FF574B">
                <a:lumMod val="87000"/>
                <a:lumOff val="13000"/>
              </a:srgbClr>
            </a:gs>
            <a:gs pos="100000">
              <a:srgbClr val="FF574B"/>
            </a:gs>
          </a:gsLst>
          <a:path path="circle">
            <a:fillToRect l="100000" b="100000"/>
          </a:path>
          <a:tileRect t="-100000" r="-100000"/>
        </a:gra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0" y="2486034"/>
            <a:ext cx="12192000" cy="1885931"/>
          </a:xfrm>
          <a:effectLst>
            <a:outerShdw blurRad="266700" dist="127000" dir="13500000" algn="br" rotWithShape="0">
              <a:prstClr val="black">
                <a:alpha val="40000"/>
              </a:prstClr>
            </a:outerShdw>
          </a:effectLst>
        </p:spPr>
        <p:txBody>
          <a:bodyPr anchor="ctr">
            <a:noAutofit/>
          </a:bodyPr>
          <a:lstStyle/>
          <a:p>
            <a:pPr marL="0" indent="0" algn="ctr">
              <a:lnSpc>
                <a:spcPct val="150000"/>
              </a:lnSpc>
              <a:buNone/>
            </a:pPr>
            <a:r>
              <a:rPr lang="en-GB" sz="5400" spc="70" dirty="0" err="1">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rPr>
              <a:t>server.js</a:t>
            </a:r>
            <a:r>
              <a:rPr lang="en-GB" sz="5400" spc="7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rPr>
              <a:t> from last week</a:t>
            </a:r>
          </a:p>
        </p:txBody>
      </p:sp>
    </p:spTree>
    <p:extLst>
      <p:ext uri="{BB962C8B-B14F-4D97-AF65-F5344CB8AC3E}">
        <p14:creationId xmlns:p14="http://schemas.microsoft.com/office/powerpoint/2010/main" val="3844783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1C73E60-42B1-C117-E259-A9EA55586F0A}"/>
              </a:ext>
            </a:extLst>
          </p:cNvPr>
          <p:cNvPicPr>
            <a:picLocks noChangeAspect="1"/>
          </p:cNvPicPr>
          <p:nvPr/>
        </p:nvPicPr>
        <p:blipFill>
          <a:blip r:embed="rId2"/>
          <a:stretch>
            <a:fillRect/>
          </a:stretch>
        </p:blipFill>
        <p:spPr>
          <a:xfrm>
            <a:off x="776152" y="951172"/>
            <a:ext cx="7585168" cy="5625474"/>
          </a:xfrm>
          <a:prstGeom prst="rect">
            <a:avLst/>
          </a:prstGeom>
        </p:spPr>
      </p:pic>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623752" y="141433"/>
            <a:ext cx="10515600" cy="907006"/>
          </a:xfrm>
        </p:spPr>
        <p:txBody>
          <a:bodyPr>
            <a:normAutofit/>
          </a:bodyPr>
          <a:lstStyle/>
          <a:p>
            <a:r>
              <a:rPr lang="en-US"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Our backend server from last week</a:t>
            </a:r>
          </a:p>
        </p:txBody>
      </p:sp>
    </p:spTree>
    <p:extLst>
      <p:ext uri="{BB962C8B-B14F-4D97-AF65-F5344CB8AC3E}">
        <p14:creationId xmlns:p14="http://schemas.microsoft.com/office/powerpoint/2010/main" val="10567308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365126"/>
            <a:ext cx="10515600" cy="907006"/>
          </a:xfrm>
        </p:spPr>
        <p:txBody>
          <a:bodyPr>
            <a:normAutofit/>
          </a:bodyPr>
          <a:lstStyle/>
          <a:p>
            <a:r>
              <a:rPr lang="en-US"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Our backend server detail 1</a:t>
            </a:r>
          </a:p>
        </p:txBody>
      </p:sp>
      <p:sp>
        <p:nvSpPr>
          <p:cNvPr id="6" name="Content Placeholder 5">
            <a:extLst>
              <a:ext uri="{FF2B5EF4-FFF2-40B4-BE49-F238E27FC236}">
                <a16:creationId xmlns:a16="http://schemas.microsoft.com/office/drawing/2014/main" id="{D84FD62D-3D70-4048-814D-9138B23C9ED7}"/>
              </a:ext>
            </a:extLst>
          </p:cNvPr>
          <p:cNvSpPr txBox="1">
            <a:spLocks/>
          </p:cNvSpPr>
          <p:nvPr/>
        </p:nvSpPr>
        <p:spPr>
          <a:xfrm>
            <a:off x="849282" y="3357486"/>
            <a:ext cx="10913422" cy="315942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50000"/>
              </a:lnSpc>
              <a:buFont typeface="+mj-lt"/>
              <a:buAutoNum type="arabicPeriod"/>
            </a:pPr>
            <a:r>
              <a:rPr lang="en-GB" sz="2400" dirty="0">
                <a:latin typeface="Helvetica Neue Light" panose="02000403000000020004" pitchFamily="2" charset="0"/>
                <a:ea typeface="Helvetica Neue Light" panose="02000403000000020004" pitchFamily="2" charset="0"/>
              </a:rPr>
              <a:t>Import 4 libraries, express, </a:t>
            </a:r>
            <a:r>
              <a:rPr lang="en-GB" sz="2400" dirty="0">
                <a:latin typeface="Helvetica Neue Light" panose="02000403000000020004" pitchFamily="2" charset="0"/>
                <a:ea typeface="Helvetica Neue Light" panose="02000403000000020004" pitchFamily="2" charset="0"/>
                <a:hlinkClick r:id="rId2"/>
              </a:rPr>
              <a:t>cors</a:t>
            </a:r>
            <a:r>
              <a:rPr lang="en-GB" sz="2400" dirty="0">
                <a:latin typeface="Helvetica Neue Light" panose="02000403000000020004" pitchFamily="2" charset="0"/>
                <a:ea typeface="Helvetica Neue Light" panose="02000403000000020004" pitchFamily="2" charset="0"/>
              </a:rPr>
              <a:t>, mongoose and body-parser</a:t>
            </a:r>
            <a:endParaRPr lang="en-GB" sz="1600" dirty="0">
              <a:latin typeface="Helvetica Neue Light" panose="02000403000000020004" pitchFamily="2" charset="0"/>
              <a:ea typeface="Helvetica Neue Light" panose="02000403000000020004" pitchFamily="2" charset="0"/>
            </a:endParaRPr>
          </a:p>
          <a:p>
            <a:pPr marL="457200" indent="-457200">
              <a:lnSpc>
                <a:spcPct val="150000"/>
              </a:lnSpc>
              <a:buFont typeface="+mj-lt"/>
              <a:buAutoNum type="arabicPeriod"/>
            </a:pPr>
            <a:r>
              <a:rPr lang="en-GB" sz="2400" dirty="0">
                <a:latin typeface="Helvetica Neue Light" panose="02000403000000020004" pitchFamily="2" charset="0"/>
                <a:ea typeface="Helvetica Neue Light" panose="02000403000000020004" pitchFamily="2" charset="0"/>
              </a:rPr>
              <a:t>Include our </a:t>
            </a:r>
            <a:r>
              <a:rPr lang="en-GB" sz="2400" dirty="0" err="1">
                <a:latin typeface="Helvetica Neue Light" panose="02000403000000020004" pitchFamily="2" charset="0"/>
                <a:ea typeface="Helvetica Neue Light" panose="02000403000000020004" pitchFamily="2" charset="0"/>
              </a:rPr>
              <a:t>vocabModle</a:t>
            </a:r>
            <a:r>
              <a:rPr lang="en-GB" sz="2400" dirty="0">
                <a:latin typeface="Helvetica Neue Light" panose="02000403000000020004" pitchFamily="2" charset="0"/>
                <a:ea typeface="Helvetica Neue Light" panose="02000403000000020004" pitchFamily="2" charset="0"/>
              </a:rPr>
              <a:t> and declare it as global. </a:t>
            </a:r>
            <a:r>
              <a:rPr lang="en-GB" sz="2400" dirty="0">
                <a:solidFill>
                  <a:srgbClr val="000000"/>
                </a:solidFill>
                <a:effectLst/>
                <a:latin typeface="Helvetica Neue Light" panose="02000403000000020004" pitchFamily="2" charset="0"/>
                <a:ea typeface="Helvetica Neue Light" panose="02000403000000020004" pitchFamily="2" charset="0"/>
              </a:rPr>
              <a:t>To create a true global variable in Node.js, that is shared between multiple files, you should use the </a:t>
            </a:r>
            <a:r>
              <a:rPr lang="en-GB" sz="2400" u="none" strike="noStrike" dirty="0">
                <a:solidFill>
                  <a:srgbClr val="208E96"/>
                </a:solidFill>
                <a:effectLst/>
                <a:latin typeface="Helvetica Neue Light" panose="02000403000000020004" pitchFamily="2" charset="0"/>
                <a:ea typeface="Helvetica Neue Light" panose="02000403000000020004" pitchFamily="2" charset="0"/>
                <a:hlinkClick r:id="rId3"/>
              </a:rPr>
              <a:t>global</a:t>
            </a:r>
            <a:r>
              <a:rPr lang="en-GB" sz="2400" u="none" strike="noStrike" dirty="0">
                <a:solidFill>
                  <a:srgbClr val="208E96"/>
                </a:solidFill>
                <a:effectLst/>
                <a:latin typeface="Helvetica Neue Light" panose="02000403000000020004" pitchFamily="2" charset="0"/>
                <a:ea typeface="Helvetica Neue Light" panose="02000403000000020004" pitchFamily="2" charset="0"/>
              </a:rPr>
              <a:t> </a:t>
            </a:r>
            <a:r>
              <a:rPr lang="en-GB" sz="2400" u="none" strike="noStrike" dirty="0">
                <a:effectLst/>
                <a:latin typeface="Helvetica Neue Light" panose="02000403000000020004" pitchFamily="2" charset="0"/>
                <a:ea typeface="Helvetica Neue Light" panose="02000403000000020004" pitchFamily="2" charset="0"/>
              </a:rPr>
              <a:t>object.</a:t>
            </a:r>
          </a:p>
          <a:p>
            <a:pPr marL="457200" indent="-457200">
              <a:lnSpc>
                <a:spcPct val="150000"/>
              </a:lnSpc>
              <a:buFont typeface="+mj-lt"/>
              <a:buAutoNum type="arabicPeriod"/>
            </a:pPr>
            <a:r>
              <a:rPr lang="en-GB" sz="2400" dirty="0">
                <a:latin typeface="Helvetica Neue Light" panose="02000403000000020004" pitchFamily="2" charset="0"/>
                <a:ea typeface="Helvetica Neue Light" panose="02000403000000020004" pitchFamily="2" charset="0"/>
              </a:rPr>
              <a:t>Include our </a:t>
            </a:r>
            <a:r>
              <a:rPr lang="en-GB" sz="2400" dirty="0" err="1">
                <a:latin typeface="Helvetica Neue Light" panose="02000403000000020004" pitchFamily="2" charset="0"/>
                <a:ea typeface="Helvetica Neue Light" panose="02000403000000020004" pitchFamily="2" charset="0"/>
              </a:rPr>
              <a:t>vocabRoutes</a:t>
            </a:r>
            <a:endParaRPr lang="en-GB" sz="2400" dirty="0">
              <a:latin typeface="Helvetica Neue Light" panose="02000403000000020004" pitchFamily="2" charset="0"/>
              <a:ea typeface="Helvetica Neue Light" panose="02000403000000020004" pitchFamily="2" charset="0"/>
            </a:endParaRPr>
          </a:p>
          <a:p>
            <a:pPr marL="0" indent="0">
              <a:lnSpc>
                <a:spcPct val="150000"/>
              </a:lnSpc>
              <a:buNone/>
            </a:pPr>
            <a:endParaRPr lang="en-GB" sz="2000" dirty="0">
              <a:latin typeface="Helvetica Neue Light" panose="02000403000000020004" pitchFamily="2" charset="0"/>
              <a:ea typeface="Helvetica Neue Light" panose="02000403000000020004" pitchFamily="2" charset="0"/>
            </a:endParaRPr>
          </a:p>
        </p:txBody>
      </p:sp>
      <p:pic>
        <p:nvPicPr>
          <p:cNvPr id="2" name="Picture 1">
            <a:extLst>
              <a:ext uri="{FF2B5EF4-FFF2-40B4-BE49-F238E27FC236}">
                <a16:creationId xmlns:a16="http://schemas.microsoft.com/office/drawing/2014/main" id="{466F7A1F-C191-339C-583E-379BC20AA4A5}"/>
              </a:ext>
            </a:extLst>
          </p:cNvPr>
          <p:cNvPicPr>
            <a:picLocks noChangeAspect="1"/>
          </p:cNvPicPr>
          <p:nvPr/>
        </p:nvPicPr>
        <p:blipFill rotWithShape="1">
          <a:blip r:embed="rId4"/>
          <a:srcRect b="71085"/>
          <a:stretch/>
        </p:blipFill>
        <p:spPr>
          <a:xfrm>
            <a:off x="908957" y="1272132"/>
            <a:ext cx="9310718" cy="2064313"/>
          </a:xfrm>
          <a:prstGeom prst="rect">
            <a:avLst/>
          </a:prstGeom>
        </p:spPr>
      </p:pic>
    </p:spTree>
    <p:extLst>
      <p:ext uri="{BB962C8B-B14F-4D97-AF65-F5344CB8AC3E}">
        <p14:creationId xmlns:p14="http://schemas.microsoft.com/office/powerpoint/2010/main" val="38345462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169334"/>
            <a:ext cx="10515600" cy="907006"/>
          </a:xfrm>
        </p:spPr>
        <p:txBody>
          <a:bodyPr>
            <a:normAutofit/>
          </a:bodyPr>
          <a:lstStyle/>
          <a:p>
            <a:r>
              <a:rPr lang="en-US"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Our backend server detail 2</a:t>
            </a:r>
          </a:p>
        </p:txBody>
      </p:sp>
      <p:sp>
        <p:nvSpPr>
          <p:cNvPr id="6" name="Content Placeholder 5">
            <a:extLst>
              <a:ext uri="{FF2B5EF4-FFF2-40B4-BE49-F238E27FC236}">
                <a16:creationId xmlns:a16="http://schemas.microsoft.com/office/drawing/2014/main" id="{D84FD62D-3D70-4048-814D-9138B23C9ED7}"/>
              </a:ext>
            </a:extLst>
          </p:cNvPr>
          <p:cNvSpPr txBox="1">
            <a:spLocks/>
          </p:cNvSpPr>
          <p:nvPr/>
        </p:nvSpPr>
        <p:spPr>
          <a:xfrm>
            <a:off x="838200" y="3622182"/>
            <a:ext cx="10913422" cy="282972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GB" sz="2400" dirty="0">
                <a:latin typeface="Helvetica Neue Light" panose="02000403000000020004" pitchFamily="2" charset="0"/>
                <a:ea typeface="Helvetica Neue Light" panose="02000403000000020004" pitchFamily="2" charset="0"/>
              </a:rPr>
              <a:t>9/11 - Connect to our database, set the </a:t>
            </a:r>
            <a:r>
              <a:rPr lang="en-GB" sz="2400" dirty="0">
                <a:latin typeface="Helvetica Neue Light" panose="02000403000000020004" pitchFamily="2" charset="0"/>
                <a:ea typeface="Helvetica Neue Light" panose="02000403000000020004" pitchFamily="2" charset="0"/>
                <a:hlinkClick r:id="rId2"/>
              </a:rPr>
              <a:t>port to 3000</a:t>
            </a:r>
            <a:endParaRPr lang="en-GB" sz="2400" dirty="0">
              <a:latin typeface="Helvetica Neue Light" panose="02000403000000020004" pitchFamily="2" charset="0"/>
              <a:ea typeface="Helvetica Neue Light" panose="02000403000000020004" pitchFamily="2" charset="0"/>
            </a:endParaRPr>
          </a:p>
          <a:p>
            <a:pPr marL="0" indent="0">
              <a:lnSpc>
                <a:spcPct val="150000"/>
              </a:lnSpc>
              <a:buNone/>
            </a:pPr>
            <a:r>
              <a:rPr lang="en-GB" sz="2400" dirty="0">
                <a:latin typeface="Helvetica Neue Light" panose="02000403000000020004" pitchFamily="2" charset="0"/>
                <a:ea typeface="Helvetica Neue Light" panose="02000403000000020004" pitchFamily="2" charset="0"/>
              </a:rPr>
              <a:t>12/13 - Create our Express app. Use </a:t>
            </a:r>
            <a:r>
              <a:rPr lang="en-GB" sz="2400" dirty="0" err="1">
                <a:latin typeface="Helvetica Neue Light" panose="02000403000000020004" pitchFamily="2" charset="0"/>
                <a:ea typeface="Helvetica Neue Light" panose="02000403000000020004" pitchFamily="2" charset="0"/>
              </a:rPr>
              <a:t>cors</a:t>
            </a:r>
            <a:r>
              <a:rPr lang="en-GB" sz="2400" dirty="0">
                <a:latin typeface="Helvetica Neue Light" panose="02000403000000020004" pitchFamily="2" charset="0"/>
                <a:ea typeface="Helvetica Neue Light" panose="02000403000000020004" pitchFamily="2" charset="0"/>
              </a:rPr>
              <a:t>.</a:t>
            </a:r>
          </a:p>
          <a:p>
            <a:pPr marL="0" indent="0">
              <a:lnSpc>
                <a:spcPct val="150000"/>
              </a:lnSpc>
              <a:buNone/>
            </a:pPr>
            <a:r>
              <a:rPr lang="en-GB" sz="2400" dirty="0">
                <a:latin typeface="Helvetica Neue Light" panose="02000403000000020004" pitchFamily="2" charset="0"/>
                <a:ea typeface="Helvetica Neue Light" panose="02000403000000020004" pitchFamily="2" charset="0"/>
              </a:rPr>
              <a:t>14/15 - Use </a:t>
            </a:r>
            <a:r>
              <a:rPr lang="en-GB" sz="2400" dirty="0" err="1">
                <a:latin typeface="Helvetica Neue Light" panose="02000403000000020004" pitchFamily="2" charset="0"/>
                <a:ea typeface="Helvetica Neue Light" panose="02000403000000020004" pitchFamily="2" charset="0"/>
              </a:rPr>
              <a:t>bodyParser</a:t>
            </a:r>
            <a:r>
              <a:rPr lang="en-GB" sz="2400" dirty="0">
                <a:latin typeface="Helvetica Neue Light" panose="02000403000000020004" pitchFamily="2" charset="0"/>
                <a:ea typeface="Helvetica Neue Light" panose="02000403000000020004" pitchFamily="2" charset="0"/>
              </a:rPr>
              <a:t> (seems to be deprecated in Express v4.16 and over, no harm in using it though.) </a:t>
            </a:r>
            <a:r>
              <a:rPr lang="en-GB" sz="2400" dirty="0">
                <a:latin typeface="Helvetica Neue Light" panose="02000403000000020004" pitchFamily="2" charset="0"/>
                <a:ea typeface="Helvetica Neue Light" panose="02000403000000020004" pitchFamily="2" charset="0"/>
                <a:hlinkClick r:id="rId3"/>
              </a:rPr>
              <a:t>https://stackoverflow.com/questions/55692084/what-is-the-difference-between-nodes-bodyparser-and-expresss-urlencoded-middle</a:t>
            </a:r>
            <a:endParaRPr lang="en-GB" sz="2400" dirty="0">
              <a:latin typeface="Helvetica Neue Light" panose="02000403000000020004" pitchFamily="2" charset="0"/>
              <a:ea typeface="Helvetica Neue Light" panose="02000403000000020004" pitchFamily="2" charset="0"/>
            </a:endParaRPr>
          </a:p>
          <a:p>
            <a:pPr marL="0" indent="0">
              <a:lnSpc>
                <a:spcPct val="150000"/>
              </a:lnSpc>
              <a:buNone/>
            </a:pPr>
            <a:endParaRPr lang="en-GB" sz="2400" dirty="0">
              <a:latin typeface="Helvetica Neue Light" panose="02000403000000020004" pitchFamily="2" charset="0"/>
              <a:ea typeface="Helvetica Neue Light" panose="02000403000000020004" pitchFamily="2" charset="0"/>
            </a:endParaRPr>
          </a:p>
          <a:p>
            <a:pPr marL="0" indent="0">
              <a:lnSpc>
                <a:spcPct val="150000"/>
              </a:lnSpc>
              <a:buNone/>
            </a:pPr>
            <a:endParaRPr lang="en-GB" sz="2000" dirty="0">
              <a:latin typeface="Helvetica Neue Light" panose="02000403000000020004" pitchFamily="2" charset="0"/>
              <a:ea typeface="Helvetica Neue Light" panose="02000403000000020004" pitchFamily="2" charset="0"/>
            </a:endParaRPr>
          </a:p>
        </p:txBody>
      </p:sp>
      <p:pic>
        <p:nvPicPr>
          <p:cNvPr id="5" name="Picture 4">
            <a:extLst>
              <a:ext uri="{FF2B5EF4-FFF2-40B4-BE49-F238E27FC236}">
                <a16:creationId xmlns:a16="http://schemas.microsoft.com/office/drawing/2014/main" id="{9216592B-DFD0-8915-778F-0A32F80C50FB}"/>
              </a:ext>
            </a:extLst>
          </p:cNvPr>
          <p:cNvPicPr>
            <a:picLocks noChangeAspect="1"/>
          </p:cNvPicPr>
          <p:nvPr/>
        </p:nvPicPr>
        <p:blipFill rotWithShape="1">
          <a:blip r:embed="rId4"/>
          <a:srcRect t="30738" b="32154"/>
          <a:stretch/>
        </p:blipFill>
        <p:spPr>
          <a:xfrm>
            <a:off x="838200" y="930728"/>
            <a:ext cx="9779634" cy="2691454"/>
          </a:xfrm>
          <a:prstGeom prst="rect">
            <a:avLst/>
          </a:prstGeom>
        </p:spPr>
      </p:pic>
    </p:spTree>
    <p:extLst>
      <p:ext uri="{BB962C8B-B14F-4D97-AF65-F5344CB8AC3E}">
        <p14:creationId xmlns:p14="http://schemas.microsoft.com/office/powerpoint/2010/main" val="35383251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169334"/>
            <a:ext cx="10515600" cy="907006"/>
          </a:xfrm>
        </p:spPr>
        <p:txBody>
          <a:bodyPr>
            <a:normAutofit/>
          </a:bodyPr>
          <a:lstStyle/>
          <a:p>
            <a:r>
              <a:rPr lang="en-US"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Our backend server detail 3</a:t>
            </a:r>
          </a:p>
        </p:txBody>
      </p:sp>
      <p:sp>
        <p:nvSpPr>
          <p:cNvPr id="6" name="Content Placeholder 5">
            <a:extLst>
              <a:ext uri="{FF2B5EF4-FFF2-40B4-BE49-F238E27FC236}">
                <a16:creationId xmlns:a16="http://schemas.microsoft.com/office/drawing/2014/main" id="{D84FD62D-3D70-4048-814D-9138B23C9ED7}"/>
              </a:ext>
            </a:extLst>
          </p:cNvPr>
          <p:cNvSpPr txBox="1">
            <a:spLocks/>
          </p:cNvSpPr>
          <p:nvPr/>
        </p:nvSpPr>
        <p:spPr>
          <a:xfrm>
            <a:off x="838200" y="3622182"/>
            <a:ext cx="10913422" cy="282972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GB" sz="2400" dirty="0">
                <a:latin typeface="Helvetica Neue Light" panose="02000403000000020004" pitchFamily="2" charset="0"/>
                <a:ea typeface="Helvetica Neue Light" panose="02000403000000020004" pitchFamily="2" charset="0"/>
              </a:rPr>
              <a:t>17 – tell the Express app to use the routes we defined in </a:t>
            </a:r>
            <a:r>
              <a:rPr lang="en-GB" sz="2400" dirty="0" err="1">
                <a:latin typeface="Helvetica Neue Light" panose="02000403000000020004" pitchFamily="2" charset="0"/>
                <a:ea typeface="Helvetica Neue Light" panose="02000403000000020004" pitchFamily="2" charset="0"/>
              </a:rPr>
              <a:t>vocabRoutes.js</a:t>
            </a:r>
            <a:endParaRPr lang="en-GB" sz="2400" dirty="0">
              <a:latin typeface="Helvetica Neue Light" panose="02000403000000020004" pitchFamily="2" charset="0"/>
              <a:ea typeface="Helvetica Neue Light" panose="02000403000000020004" pitchFamily="2" charset="0"/>
            </a:endParaRPr>
          </a:p>
          <a:p>
            <a:pPr marL="0" indent="0">
              <a:lnSpc>
                <a:spcPct val="150000"/>
              </a:lnSpc>
              <a:buNone/>
            </a:pPr>
            <a:r>
              <a:rPr lang="en-GB" sz="2400" dirty="0">
                <a:latin typeface="Helvetica Neue Light" panose="02000403000000020004" pitchFamily="2" charset="0"/>
                <a:ea typeface="Helvetica Neue Light" panose="02000403000000020004" pitchFamily="2" charset="0"/>
              </a:rPr>
              <a:t>18 - </a:t>
            </a:r>
            <a:r>
              <a:rPr lang="en-US" sz="2400" dirty="0">
                <a:latin typeface="Helvetica Neue Light" panose="02000403000000020004" pitchFamily="2" charset="0"/>
                <a:ea typeface="Helvetica Neue Light" panose="02000403000000020004" pitchFamily="2" charset="0"/>
              </a:rPr>
              <a:t>listen for connections on the specified host and port.</a:t>
            </a:r>
          </a:p>
          <a:p>
            <a:pPr marL="0" indent="0">
              <a:lnSpc>
                <a:spcPct val="150000"/>
              </a:lnSpc>
              <a:buNone/>
            </a:pPr>
            <a:r>
              <a:rPr lang="en-US" sz="2400" dirty="0">
                <a:latin typeface="Helvetica Neue Light" panose="02000403000000020004" pitchFamily="2" charset="0"/>
                <a:ea typeface="Helvetica Neue Light" panose="02000403000000020004" pitchFamily="2" charset="0"/>
              </a:rPr>
              <a:t>19/21 – dealing with 404 responses</a:t>
            </a:r>
          </a:p>
          <a:p>
            <a:pPr marL="0" indent="0">
              <a:lnSpc>
                <a:spcPct val="150000"/>
              </a:lnSpc>
              <a:buNone/>
            </a:pPr>
            <a:r>
              <a:rPr lang="en-GB" sz="2400" dirty="0">
                <a:latin typeface="Helvetica Neue Light" panose="02000403000000020004" pitchFamily="2" charset="0"/>
                <a:ea typeface="Helvetica Neue Light" panose="02000403000000020004" pitchFamily="2" charset="0"/>
                <a:hlinkClick r:id="rId2"/>
              </a:rPr>
              <a:t>https://expressjs.com/en/4x/api.html - app</a:t>
            </a:r>
            <a:r>
              <a:rPr lang="en-GB" sz="2400" dirty="0">
                <a:latin typeface="Helvetica Neue Light" panose="02000403000000020004" pitchFamily="2" charset="0"/>
                <a:ea typeface="Helvetica Neue Light" panose="02000403000000020004" pitchFamily="2" charset="0"/>
              </a:rPr>
              <a:t> - list of Express methods</a:t>
            </a:r>
          </a:p>
          <a:p>
            <a:pPr marL="0" indent="0">
              <a:lnSpc>
                <a:spcPct val="150000"/>
              </a:lnSpc>
              <a:buNone/>
            </a:pPr>
            <a:endParaRPr lang="en-GB" sz="2000" dirty="0">
              <a:latin typeface="Helvetica Neue Light" panose="02000403000000020004" pitchFamily="2" charset="0"/>
              <a:ea typeface="Helvetica Neue Light" panose="02000403000000020004" pitchFamily="2" charset="0"/>
            </a:endParaRPr>
          </a:p>
        </p:txBody>
      </p:sp>
      <p:pic>
        <p:nvPicPr>
          <p:cNvPr id="3" name="Picture 2">
            <a:extLst>
              <a:ext uri="{FF2B5EF4-FFF2-40B4-BE49-F238E27FC236}">
                <a16:creationId xmlns:a16="http://schemas.microsoft.com/office/drawing/2014/main" id="{61DEA26C-4DBC-E403-C2DF-E68C7789D6B8}"/>
              </a:ext>
            </a:extLst>
          </p:cNvPr>
          <p:cNvPicPr>
            <a:picLocks noChangeAspect="1"/>
          </p:cNvPicPr>
          <p:nvPr/>
        </p:nvPicPr>
        <p:blipFill rotWithShape="1">
          <a:blip r:embed="rId3"/>
          <a:srcRect t="70396"/>
          <a:stretch/>
        </p:blipFill>
        <p:spPr>
          <a:xfrm>
            <a:off x="952500" y="1076340"/>
            <a:ext cx="10715334" cy="2352660"/>
          </a:xfrm>
          <a:prstGeom prst="rect">
            <a:avLst/>
          </a:prstGeom>
        </p:spPr>
      </p:pic>
    </p:spTree>
    <p:extLst>
      <p:ext uri="{BB962C8B-B14F-4D97-AF65-F5344CB8AC3E}">
        <p14:creationId xmlns:p14="http://schemas.microsoft.com/office/powerpoint/2010/main" val="7194300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720970" y="392072"/>
            <a:ext cx="10515600" cy="907006"/>
          </a:xfrm>
        </p:spPr>
        <p:txBody>
          <a:bodyPr>
            <a:normAutofit/>
          </a:bodyPr>
          <a:lstStyle/>
          <a:p>
            <a:pPr algn="ctr"/>
            <a:r>
              <a:rPr lang="en-US"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PARSE</a:t>
            </a:r>
          </a:p>
        </p:txBody>
      </p:sp>
      <p:sp>
        <p:nvSpPr>
          <p:cNvPr id="6" name="Content Placeholder 5">
            <a:extLst>
              <a:ext uri="{FF2B5EF4-FFF2-40B4-BE49-F238E27FC236}">
                <a16:creationId xmlns:a16="http://schemas.microsoft.com/office/drawing/2014/main" id="{D84FD62D-3D70-4048-814D-9138B23C9ED7}"/>
              </a:ext>
            </a:extLst>
          </p:cNvPr>
          <p:cNvSpPr txBox="1">
            <a:spLocks/>
          </p:cNvSpPr>
          <p:nvPr/>
        </p:nvSpPr>
        <p:spPr>
          <a:xfrm>
            <a:off x="861646" y="1299078"/>
            <a:ext cx="10913422" cy="539479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GB" sz="2200" dirty="0">
                <a:latin typeface="Helvetica Neue Light" panose="02000403000000020004" pitchFamily="2" charset="0"/>
                <a:ea typeface="Helvetica Neue Light" panose="02000403000000020004" pitchFamily="2" charset="0"/>
              </a:rPr>
              <a:t>To parse is to break up a sentence or group of words into separate components, including the definition of each part’s function or form. </a:t>
            </a:r>
          </a:p>
          <a:p>
            <a:pPr>
              <a:lnSpc>
                <a:spcPct val="150000"/>
              </a:lnSpc>
            </a:pPr>
            <a:r>
              <a:rPr lang="en-GB" sz="2200" dirty="0">
                <a:latin typeface="Helvetica Neue Light" panose="02000403000000020004" pitchFamily="2" charset="0"/>
                <a:ea typeface="Helvetica Neue Light" panose="02000403000000020004" pitchFamily="2" charset="0"/>
              </a:rPr>
              <a:t>Or….</a:t>
            </a:r>
            <a:r>
              <a:rPr lang="en-GB" sz="2200" dirty="0" err="1">
                <a:latin typeface="Helvetica Neue Light" panose="02000403000000020004" pitchFamily="2" charset="0"/>
                <a:ea typeface="Helvetica Neue Light" panose="02000403000000020004" pitchFamily="2" charset="0"/>
              </a:rPr>
              <a:t>analyzing</a:t>
            </a:r>
            <a:r>
              <a:rPr lang="en-GB" sz="2200" dirty="0">
                <a:latin typeface="Helvetica Neue Light" panose="02000403000000020004" pitchFamily="2" charset="0"/>
                <a:ea typeface="Helvetica Neue Light" panose="02000403000000020004" pitchFamily="2" charset="0"/>
              </a:rPr>
              <a:t> and converting a program into an internal format that a runtime environment can actually run, for example the JavaScript engine inside browsers.</a:t>
            </a:r>
          </a:p>
          <a:p>
            <a:pPr>
              <a:lnSpc>
                <a:spcPct val="150000"/>
              </a:lnSpc>
            </a:pPr>
            <a:r>
              <a:rPr lang="en-GB" sz="2200" dirty="0">
                <a:latin typeface="Helvetica Neue Light" panose="02000403000000020004" pitchFamily="2" charset="0"/>
                <a:ea typeface="Helvetica Neue Light" panose="02000403000000020004" pitchFamily="2" charset="0"/>
              </a:rPr>
              <a:t>Parsing is used in all high-level programming languages. Languages like C++ and Java are parsed by their respective compilers before being transformed into executable machine code. Scripting languages, like PHP and Perl, are parsed by a web server, allowing the correct HTML to be sent to a browser.</a:t>
            </a:r>
          </a:p>
          <a:p>
            <a:pPr>
              <a:lnSpc>
                <a:spcPct val="150000"/>
              </a:lnSpc>
            </a:pPr>
            <a:r>
              <a:rPr lang="en-GB" sz="2000" dirty="0">
                <a:latin typeface="Helvetica Neue Light" panose="02000403000000020004" pitchFamily="2" charset="0"/>
                <a:ea typeface="Helvetica Neue Light" panose="02000403000000020004" pitchFamily="2" charset="0"/>
                <a:hlinkClick r:id="rId2"/>
              </a:rPr>
              <a:t>https://developer.mozilla.org/en-US/docs/Glossary/Parse</a:t>
            </a:r>
            <a:endParaRPr lang="en-GB" sz="2000" dirty="0">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41605240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782515" y="298329"/>
            <a:ext cx="10515600" cy="907006"/>
          </a:xfrm>
        </p:spPr>
        <p:txBody>
          <a:bodyPr>
            <a:normAutofit fontScale="90000"/>
          </a:bodyPr>
          <a:lstStyle/>
          <a:p>
            <a:pPr algn="l"/>
            <a:r>
              <a:rPr lang="en-GB" dirty="0">
                <a:solidFill>
                  <a:schemeClr val="accent2"/>
                </a:solidFill>
                <a:effectLst/>
                <a:highlight>
                  <a:srgbClr val="FFFFFF"/>
                </a:highlight>
                <a:latin typeface="American Typewriter" panose="02090604020004020304" pitchFamily="18" charset="77"/>
              </a:rPr>
              <a:t>Express </a:t>
            </a:r>
            <a:r>
              <a:rPr lang="en-GB" dirty="0" err="1">
                <a:solidFill>
                  <a:schemeClr val="accent2"/>
                </a:solidFill>
                <a:effectLst/>
                <a:highlight>
                  <a:srgbClr val="FFFFFF"/>
                </a:highlight>
                <a:latin typeface="American Typewriter" panose="02090604020004020304" pitchFamily="18" charset="77"/>
              </a:rPr>
              <a:t>js</a:t>
            </a:r>
            <a:r>
              <a:rPr lang="en-GB" dirty="0">
                <a:solidFill>
                  <a:schemeClr val="accent2"/>
                </a:solidFill>
                <a:effectLst/>
                <a:highlight>
                  <a:srgbClr val="FFFFFF"/>
                </a:highlight>
                <a:latin typeface="American Typewriter" panose="02090604020004020304" pitchFamily="18" charset="77"/>
              </a:rPr>
              <a:t> vs Node </a:t>
            </a:r>
            <a:r>
              <a:rPr lang="en-GB" dirty="0" err="1">
                <a:solidFill>
                  <a:schemeClr val="accent2"/>
                </a:solidFill>
                <a:effectLst/>
                <a:highlight>
                  <a:srgbClr val="FFFFFF"/>
                </a:highlight>
                <a:latin typeface="American Typewriter" panose="02090604020004020304" pitchFamily="18" charset="77"/>
              </a:rPr>
              <a:t>js</a:t>
            </a:r>
            <a:r>
              <a:rPr lang="en-GB" dirty="0">
                <a:solidFill>
                  <a:schemeClr val="accent2"/>
                </a:solidFill>
                <a:highlight>
                  <a:srgbClr val="FFFFFF"/>
                </a:highlight>
                <a:latin typeface="American Typewriter" panose="02090604020004020304" pitchFamily="18" charset="77"/>
              </a:rPr>
              <a:t> – </a:t>
            </a:r>
            <a:r>
              <a:rPr lang="en-GB" sz="4000" dirty="0">
                <a:solidFill>
                  <a:srgbClr val="C00000"/>
                </a:solidFill>
                <a:highlight>
                  <a:srgbClr val="FFFFFF"/>
                </a:highlight>
                <a:latin typeface="American Typewriter" panose="02090604020004020304" pitchFamily="18" charset="77"/>
              </a:rPr>
              <a:t>read in own time !!</a:t>
            </a:r>
            <a:endParaRPr lang="en-GB" sz="4000" dirty="0">
              <a:solidFill>
                <a:srgbClr val="C00000"/>
              </a:solidFill>
              <a:effectLst/>
              <a:highlight>
                <a:srgbClr val="FFFFFF"/>
              </a:highlight>
              <a:latin typeface="American Typewriter" panose="02090604020004020304" pitchFamily="18" charset="77"/>
            </a:endParaRPr>
          </a:p>
        </p:txBody>
      </p:sp>
      <p:pic>
        <p:nvPicPr>
          <p:cNvPr id="3" name="Picture 2">
            <a:extLst>
              <a:ext uri="{FF2B5EF4-FFF2-40B4-BE49-F238E27FC236}">
                <a16:creationId xmlns:a16="http://schemas.microsoft.com/office/drawing/2014/main" id="{78B1C05D-300B-9F9A-00E6-4A08DE37EC22}"/>
              </a:ext>
            </a:extLst>
          </p:cNvPr>
          <p:cNvPicPr>
            <a:picLocks noChangeAspect="1"/>
          </p:cNvPicPr>
          <p:nvPr/>
        </p:nvPicPr>
        <p:blipFill>
          <a:blip r:embed="rId2"/>
          <a:stretch>
            <a:fillRect/>
          </a:stretch>
        </p:blipFill>
        <p:spPr>
          <a:xfrm>
            <a:off x="838200" y="1097541"/>
            <a:ext cx="9325375" cy="4775721"/>
          </a:xfrm>
          <a:prstGeom prst="rect">
            <a:avLst/>
          </a:prstGeom>
          <a:ln>
            <a:solidFill>
              <a:schemeClr val="bg1">
                <a:lumMod val="50000"/>
              </a:schemeClr>
            </a:solidFill>
          </a:ln>
        </p:spPr>
      </p:pic>
      <p:sp>
        <p:nvSpPr>
          <p:cNvPr id="7" name="TextBox 6">
            <a:extLst>
              <a:ext uri="{FF2B5EF4-FFF2-40B4-BE49-F238E27FC236}">
                <a16:creationId xmlns:a16="http://schemas.microsoft.com/office/drawing/2014/main" id="{F8419C9B-6D31-8755-21F5-510C4BF7DDC4}"/>
              </a:ext>
            </a:extLst>
          </p:cNvPr>
          <p:cNvSpPr txBox="1"/>
          <p:nvPr/>
        </p:nvSpPr>
        <p:spPr>
          <a:xfrm>
            <a:off x="838200" y="6190339"/>
            <a:ext cx="8686800" cy="369332"/>
          </a:xfrm>
          <a:prstGeom prst="rect">
            <a:avLst/>
          </a:prstGeom>
          <a:noFill/>
        </p:spPr>
        <p:txBody>
          <a:bodyPr wrap="square">
            <a:spAutoFit/>
          </a:bodyPr>
          <a:lstStyle/>
          <a:p>
            <a:r>
              <a:rPr lang="en-US" dirty="0">
                <a:hlinkClick r:id="rId3"/>
              </a:rPr>
              <a:t>https://www.theknowledgeacademy.com/blog/express-js-vs-node-js/</a:t>
            </a:r>
            <a:endParaRPr lang="en-US" dirty="0"/>
          </a:p>
        </p:txBody>
      </p:sp>
    </p:spTree>
    <p:extLst>
      <p:ext uri="{BB962C8B-B14F-4D97-AF65-F5344CB8AC3E}">
        <p14:creationId xmlns:p14="http://schemas.microsoft.com/office/powerpoint/2010/main" val="3275023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F5B50">
                <a:alpha val="83137"/>
              </a:srgbClr>
            </a:gs>
            <a:gs pos="41000">
              <a:srgbClr val="FF574B">
                <a:lumMod val="87000"/>
                <a:lumOff val="13000"/>
              </a:srgbClr>
            </a:gs>
            <a:gs pos="100000">
              <a:srgbClr val="FF574B"/>
            </a:gs>
          </a:gsLst>
          <a:path path="circle">
            <a:fillToRect l="100000" b="100000"/>
          </a:path>
          <a:tileRect t="-100000" r="-100000"/>
        </a:gra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0" y="-247136"/>
            <a:ext cx="12192000" cy="5152767"/>
          </a:xfrm>
          <a:effectLst>
            <a:outerShdw blurRad="266700" dist="127000" dir="13500000" algn="br" rotWithShape="0">
              <a:prstClr val="black">
                <a:alpha val="40000"/>
              </a:prstClr>
            </a:outerShdw>
          </a:effectLst>
        </p:spPr>
        <p:txBody>
          <a:bodyPr anchor="ctr">
            <a:noAutofit/>
          </a:bodyPr>
          <a:lstStyle/>
          <a:p>
            <a:pPr marL="0" indent="0" algn="ctr">
              <a:lnSpc>
                <a:spcPct val="150000"/>
              </a:lnSpc>
              <a:buNone/>
            </a:pPr>
            <a:r>
              <a:rPr lang="en-GB" sz="40000" spc="7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rPr>
              <a:t>?</a:t>
            </a:r>
          </a:p>
        </p:txBody>
      </p:sp>
    </p:spTree>
    <p:extLst>
      <p:ext uri="{BB962C8B-B14F-4D97-AF65-F5344CB8AC3E}">
        <p14:creationId xmlns:p14="http://schemas.microsoft.com/office/powerpoint/2010/main" val="19780225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F5B50">
                <a:alpha val="83137"/>
              </a:srgbClr>
            </a:gs>
            <a:gs pos="41000">
              <a:srgbClr val="FF574B">
                <a:lumMod val="87000"/>
                <a:lumOff val="13000"/>
              </a:srgbClr>
            </a:gs>
            <a:gs pos="100000">
              <a:srgbClr val="FF574B"/>
            </a:gs>
          </a:gsLst>
          <a:path path="circle">
            <a:fillToRect l="100000" b="100000"/>
          </a:path>
          <a:tileRect t="-100000" r="-100000"/>
        </a:gra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914400" y="581890"/>
            <a:ext cx="3158836" cy="982024"/>
          </a:xfrm>
          <a:effectLst>
            <a:outerShdw blurRad="266700" dist="127000" dir="13500000" algn="br" rotWithShape="0">
              <a:prstClr val="black">
                <a:alpha val="40000"/>
              </a:prstClr>
            </a:outerShdw>
          </a:effectLst>
        </p:spPr>
        <p:txBody>
          <a:bodyPr anchor="ctr">
            <a:noAutofit/>
          </a:bodyPr>
          <a:lstStyle/>
          <a:p>
            <a:pPr marL="0" indent="0">
              <a:lnSpc>
                <a:spcPct val="150000"/>
              </a:lnSpc>
              <a:buNone/>
            </a:pPr>
            <a:r>
              <a:rPr lang="en-GB" sz="4400" b="1" spc="7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rPr>
              <a:t>Sources</a:t>
            </a:r>
          </a:p>
        </p:txBody>
      </p:sp>
      <p:sp>
        <p:nvSpPr>
          <p:cNvPr id="4" name="TextBox 3">
            <a:extLst>
              <a:ext uri="{FF2B5EF4-FFF2-40B4-BE49-F238E27FC236}">
                <a16:creationId xmlns:a16="http://schemas.microsoft.com/office/drawing/2014/main" id="{31E62CEB-8278-4D4B-BA41-1146F08AD3DC}"/>
              </a:ext>
            </a:extLst>
          </p:cNvPr>
          <p:cNvSpPr txBox="1"/>
          <p:nvPr/>
        </p:nvSpPr>
        <p:spPr>
          <a:xfrm>
            <a:off x="914400" y="2039887"/>
            <a:ext cx="10673862" cy="3970318"/>
          </a:xfrm>
          <a:prstGeom prst="rect">
            <a:avLst/>
          </a:prstGeom>
          <a:noFill/>
        </p:spPr>
        <p:txBody>
          <a:bodyPr wrap="square">
            <a:spAutoFit/>
          </a:bodyPr>
          <a:lstStyle/>
          <a:p>
            <a:r>
              <a:rPr lang="en-US" sz="2800" dirty="0">
                <a:solidFill>
                  <a:schemeClr val="bg1"/>
                </a:solidFill>
                <a:hlinkClick r:id="rId2">
                  <a:extLst>
                    <a:ext uri="{A12FA001-AC4F-418D-AE19-62706E023703}">
                      <ahyp:hlinkClr xmlns:ahyp="http://schemas.microsoft.com/office/drawing/2018/hyperlinkcolor" val="tx"/>
                    </a:ext>
                  </a:extLst>
                </a:hlinkClick>
              </a:rPr>
              <a:t>https://www.tutorialsteacher.com/nodejs/expressjs-web-application</a:t>
            </a:r>
            <a:endParaRPr lang="en-US" sz="2800" dirty="0">
              <a:solidFill>
                <a:schemeClr val="bg1"/>
              </a:solidFill>
            </a:endParaRPr>
          </a:p>
          <a:p>
            <a:endParaRPr lang="en-US" sz="2800" dirty="0">
              <a:solidFill>
                <a:schemeClr val="bg1"/>
              </a:solidFill>
            </a:endParaRPr>
          </a:p>
          <a:p>
            <a:r>
              <a:rPr lang="en-US" sz="2800" dirty="0">
                <a:solidFill>
                  <a:schemeClr val="bg1"/>
                </a:solidFill>
                <a:hlinkClick r:id="rId3">
                  <a:extLst>
                    <a:ext uri="{A12FA001-AC4F-418D-AE19-62706E023703}">
                      <ahyp:hlinkClr xmlns:ahyp="http://schemas.microsoft.com/office/drawing/2018/hyperlinkcolor" val="tx"/>
                    </a:ext>
                  </a:extLst>
                </a:hlinkClick>
              </a:rPr>
              <a:t>https://mfikri.com/en/blog/express-tutorial-beginners</a:t>
            </a:r>
            <a:endParaRPr lang="en-US" sz="2800" dirty="0">
              <a:solidFill>
                <a:schemeClr val="bg1"/>
              </a:solidFill>
            </a:endParaRPr>
          </a:p>
          <a:p>
            <a:endParaRPr lang="en-US" sz="2800" dirty="0">
              <a:solidFill>
                <a:schemeClr val="bg1"/>
              </a:solidFill>
            </a:endParaRPr>
          </a:p>
          <a:p>
            <a:r>
              <a:rPr lang="en-US" sz="2800" dirty="0">
                <a:solidFill>
                  <a:schemeClr val="bg1"/>
                </a:solidFill>
                <a:hlinkClick r:id="rId4">
                  <a:extLst>
                    <a:ext uri="{A12FA001-AC4F-418D-AE19-62706E023703}">
                      <ahyp:hlinkClr xmlns:ahyp="http://schemas.microsoft.com/office/drawing/2018/hyperlinkcolor" val="tx"/>
                    </a:ext>
                  </a:extLst>
                </a:hlinkClick>
              </a:rPr>
              <a:t>https://expressjs.com/en/starter/hello-world.html</a:t>
            </a:r>
            <a:endParaRPr lang="en-US" sz="2800" dirty="0">
              <a:solidFill>
                <a:schemeClr val="bg1"/>
              </a:solidFill>
            </a:endParaRPr>
          </a:p>
          <a:p>
            <a:endParaRPr lang="en-US" sz="2800" dirty="0">
              <a:solidFill>
                <a:schemeClr val="bg1"/>
              </a:solidFill>
            </a:endParaRPr>
          </a:p>
          <a:p>
            <a:r>
              <a:rPr lang="en-US" sz="2800" dirty="0">
                <a:solidFill>
                  <a:schemeClr val="bg1"/>
                </a:solidFill>
                <a:hlinkClick r:id="rId5">
                  <a:extLst>
                    <a:ext uri="{A12FA001-AC4F-418D-AE19-62706E023703}">
                      <ahyp:hlinkClr xmlns:ahyp="http://schemas.microsoft.com/office/drawing/2018/hyperlinkcolor" val="tx"/>
                    </a:ext>
                  </a:extLst>
                </a:hlinkClick>
              </a:rPr>
              <a:t>https://www.theknowledgeacademy.com/blog/express-js-vs-node-js/</a:t>
            </a:r>
            <a:endParaRPr lang="en-US" sz="2800" dirty="0">
              <a:solidFill>
                <a:schemeClr val="bg1"/>
              </a:solidFill>
            </a:endParaRPr>
          </a:p>
          <a:p>
            <a:endParaRPr lang="en-US" sz="2800" dirty="0">
              <a:solidFill>
                <a:schemeClr val="bg1"/>
              </a:solidFill>
            </a:endParaRPr>
          </a:p>
          <a:p>
            <a:r>
              <a:rPr lang="en-US" sz="2800" dirty="0">
                <a:solidFill>
                  <a:schemeClr val="bg1"/>
                </a:solidFill>
                <a:hlinkClick r:id="rId6">
                  <a:extLst>
                    <a:ext uri="{A12FA001-AC4F-418D-AE19-62706E023703}">
                      <ahyp:hlinkClr xmlns:ahyp="http://schemas.microsoft.com/office/drawing/2018/hyperlinkcolor" val="tx"/>
                    </a:ext>
                  </a:extLst>
                </a:hlinkClick>
              </a:rPr>
              <a:t>https://expressjs.com/</a:t>
            </a:r>
            <a:endParaRPr lang="en-US" sz="2800" dirty="0">
              <a:solidFill>
                <a:schemeClr val="bg1"/>
              </a:solidFill>
            </a:endParaRPr>
          </a:p>
        </p:txBody>
      </p:sp>
    </p:spTree>
    <p:extLst>
      <p:ext uri="{BB962C8B-B14F-4D97-AF65-F5344CB8AC3E}">
        <p14:creationId xmlns:p14="http://schemas.microsoft.com/office/powerpoint/2010/main" val="5617322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6922</TotalTime>
  <Words>1524</Words>
  <Application>Microsoft Macintosh PowerPoint</Application>
  <PresentationFormat>Widescreen</PresentationFormat>
  <Paragraphs>106</Paragraphs>
  <Slides>30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30</vt:i4>
      </vt:variant>
    </vt:vector>
  </HeadingPairs>
  <TitlesOfParts>
    <vt:vector size="38" baseType="lpstr">
      <vt:lpstr>American Typewriter</vt:lpstr>
      <vt:lpstr>Arial</vt:lpstr>
      <vt:lpstr>Calibri</vt:lpstr>
      <vt:lpstr>Calibri Light</vt:lpstr>
      <vt:lpstr>HELVETICA NEUE LIGHT</vt:lpstr>
      <vt:lpstr>HELVETICA NEUE LIGHT</vt:lpstr>
      <vt:lpstr>Helvetica Neue Thin</vt:lpstr>
      <vt:lpstr>Office Theme</vt:lpstr>
      <vt:lpstr>COMP 1842</vt:lpstr>
      <vt:lpstr>Introduction</vt:lpstr>
      <vt:lpstr>MEVN stack</vt:lpstr>
      <vt:lpstr>What is Express?</vt:lpstr>
      <vt:lpstr>Unopinionated? like Matt </vt:lpstr>
      <vt:lpstr>Unopinionated cont</vt:lpstr>
      <vt:lpstr>Installation</vt:lpstr>
      <vt:lpstr>Beginning of week 8 – crud pt 1</vt:lpstr>
      <vt:lpstr>Beginning of last week</vt:lpstr>
      <vt:lpstr>Basic routing</vt:lpstr>
      <vt:lpstr>Basic routing…cont</vt:lpstr>
      <vt:lpstr>PowerPoint Presentation</vt:lpstr>
      <vt:lpstr>PowerPoint Presentation</vt:lpstr>
      <vt:lpstr>a basic express app</vt:lpstr>
      <vt:lpstr>The express app – detail 1</vt:lpstr>
      <vt:lpstr>detail 2</vt:lpstr>
      <vt:lpstr>What is Middleware in Node.JS?</vt:lpstr>
      <vt:lpstr>detail 2 cont..</vt:lpstr>
      <vt:lpstr>detail 3</vt:lpstr>
      <vt:lpstr>detail 4</vt:lpstr>
      <vt:lpstr>detail 5</vt:lpstr>
      <vt:lpstr>PowerPoint Presentation</vt:lpstr>
      <vt:lpstr>Our backend server from last week</vt:lpstr>
      <vt:lpstr>Our backend server detail 1</vt:lpstr>
      <vt:lpstr>Our backend server detail 2</vt:lpstr>
      <vt:lpstr>Our backend server detail 3</vt:lpstr>
      <vt:lpstr>PARSE</vt:lpstr>
      <vt:lpstr>Express js vs Node js – read in own time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 1321</dc:title>
  <dc:creator>Matthew Prichard</dc:creator>
  <cp:lastModifiedBy>Matthew Prichard</cp:lastModifiedBy>
  <cp:revision>85</cp:revision>
  <dcterms:created xsi:type="dcterms:W3CDTF">2020-06-28T01:46:05Z</dcterms:created>
  <dcterms:modified xsi:type="dcterms:W3CDTF">2024-03-18T17:08:29Z</dcterms:modified>
</cp:coreProperties>
</file>