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1" r:id="rId3"/>
    <p:sldId id="452" r:id="rId4"/>
    <p:sldId id="258" r:id="rId5"/>
    <p:sldId id="444" r:id="rId6"/>
    <p:sldId id="454" r:id="rId7"/>
    <p:sldId id="455" r:id="rId8"/>
    <p:sldId id="456" r:id="rId9"/>
    <p:sldId id="457" r:id="rId10"/>
    <p:sldId id="458" r:id="rId11"/>
    <p:sldId id="459" r:id="rId12"/>
    <p:sldId id="460" r:id="rId13"/>
    <p:sldId id="461" r:id="rId14"/>
    <p:sldId id="453" r:id="rId15"/>
    <p:sldId id="445" r:id="rId16"/>
    <p:sldId id="462" r:id="rId17"/>
    <p:sldId id="446" r:id="rId18"/>
    <p:sldId id="463" r:id="rId19"/>
    <p:sldId id="464" r:id="rId20"/>
    <p:sldId id="465" r:id="rId21"/>
    <p:sldId id="466" r:id="rId22"/>
    <p:sldId id="467" r:id="rId23"/>
    <p:sldId id="468" r:id="rId24"/>
    <p:sldId id="36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74B"/>
    <a:srgbClr val="FF5B50"/>
    <a:srgbClr val="D347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453"/>
    <p:restoredTop sz="86395"/>
  </p:normalViewPr>
  <p:slideViewPr>
    <p:cSldViewPr snapToGrid="0" snapToObjects="1">
      <p:cViewPr varScale="1">
        <p:scale>
          <a:sx n="122" d="100"/>
          <a:sy n="122" d="100"/>
        </p:scale>
        <p:origin x="224" y="4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14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24575,'0'-6'0,"0"2"0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15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24575,'5'5'0,"-1"-1"0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20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24575,'0'-5'0,"0"1"0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26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28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24575,'5'0'0,"-1"0"0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FF539-EFFE-4545-8560-8B85D420C5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27E099-A4CF-C148-8D5A-DC7DCE6EA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4F13F-321A-6C44-A529-3C63949C7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77D4B-E972-3F48-8AB6-BC30D35A4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37F83-FC1F-964D-9D14-71EC1C06A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8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88E1E-8C7B-BF49-ADDF-0DBF11C19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6981E-8F9B-D64C-9D10-A1DF59034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20193-341C-E347-A42A-A1A21E43F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18F1D-D2AE-3E45-9684-41082CDD0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77C00-9FE2-D644-877F-E440C7FDB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47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9FB7A-866B-8144-B7A1-B3D2CE8B4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9333F-7620-324C-821F-9AD4629D8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1DDB4-466A-D142-8FFA-437B8B3B2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B42E0-284F-5746-B82C-C36E036E5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C5C72-09E6-E047-BEF5-956CDC65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786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B2E35-2AE7-6F47-B4DA-83DE0DF47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CAD58-35EE-E345-9223-93C0D708CA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EF8E7-11C7-6E44-9C23-E6F8B255F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88C67-D211-A347-94D3-2566B042C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3/14/25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FAA6E-E7CE-1B4F-A78D-8055C20FF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6079D9-12B3-A149-9192-6D6EE5E58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109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17B05-85DB-5A4D-931F-231EBBA11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10373-280F-CA46-BE02-633860BE9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0A25CD-D56D-9749-8FA7-012A6FFB1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940AEA-A232-8E45-B81D-24868FB2C4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DB3D5C-B45E-294F-899C-37B8ABB445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43D68E-FDF7-C045-8CAA-189B56B2E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3/14/25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413D46-B78B-B34E-A26D-1E905B740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8BDADF-5108-CD45-9618-15BBE0609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929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59E0C-142B-1A4D-89C5-B127E3184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F2823E-3DFF-BC40-A52F-4043983FB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3/14/25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D8986-40E4-9C4C-9000-D7F27294F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A2C31-69A8-2541-8800-BF6093390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145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E6F4BA-B7C3-0B40-A517-3063895B0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3/14/25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97E2D8-25FE-5D4E-AA84-54C5D96B6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C8086-56AB-5846-9B21-24E9FACF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5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5128B-CB7D-4949-BDCD-CEA57AD65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22BEB-180F-2C4F-AD00-7398A27FF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49D24-1922-914E-8AE1-EDB93293A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C72B2-DD18-5848-8941-A617E3E79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3/14/25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227D4-8A18-8847-B7F4-B294D0E21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41A7C-E471-BB41-A5AE-D7F2A5EF5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60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8BA7A-65F6-804A-9941-BCE8970B9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38F054-1226-C841-8344-D63DBC0215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11DC94-414C-3F41-B393-D969AAC6A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E8132-7D31-F647-A931-5987A506D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3/14/25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F137E-B2CD-DD4D-BF38-E08630C9F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F7E92-EA36-7B48-A10F-1F43EE78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561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E4E04-9F9F-AB48-88B1-E1883CD33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657EA1-F037-8B4E-9A3A-2DE41A3DE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B8C3C-2D4F-BE41-8BC7-084B83BEF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2D0DE-14FE-1D40-BE53-A452852B6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1D8C1-DBB4-6047-9F3A-27574BE70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89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A564D8-A2EB-6040-A321-450F2B3B5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E19CC6-DE46-8941-A1E0-A04320741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B8749-56EB-B24A-9291-4EBB8B556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ABE29-13B7-C144-9FE6-C43F1BC65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9BD64-DA0B-7445-BB80-5A502968A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19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A0518A-80A7-B946-A2C0-357FF80B4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66F8D-B95D-3748-A8C1-B613B61AC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1E4AA-0008-E746-A8C3-917D9ECC1F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38E33-E634-164E-9160-E9D257145221}" type="datetimeFigureOut">
              <a:rPr lang="en-US" smtClean="0"/>
              <a:t>3/14/25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644B1-065E-4C4F-8DD6-AB2140588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1CFFB-C884-9249-B66F-52213D904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146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customXml" Target="../ink/ink4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customXml" Target="../ink/ink2.xml"/><Relationship Id="rId9" Type="http://schemas.openxmlformats.org/officeDocument/2006/relationships/customXml" Target="../ink/ink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C8B91-A0EF-6441-AC27-9667FD447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375"/>
            <a:ext cx="12192000" cy="2472633"/>
          </a:xfrm>
          <a:ln>
            <a:noFill/>
          </a:ln>
          <a:effectLst>
            <a:outerShdw blurRad="165100" dist="1016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sz="1500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COMP 1842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C15634-394B-C140-BAEF-ABAB8B492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60538"/>
            <a:ext cx="12192000" cy="1872271"/>
          </a:xfrm>
        </p:spPr>
        <p:txBody>
          <a:bodyPr>
            <a:normAutofit lnSpcReduction="10000"/>
          </a:bodyPr>
          <a:lstStyle/>
          <a:p>
            <a:r>
              <a:rPr lang="en-US" sz="300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Coursework CRUD system part 4</a:t>
            </a:r>
          </a:p>
          <a:p>
            <a:r>
              <a:rPr lang="en-US" sz="300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Add and Delete</a:t>
            </a:r>
          </a:p>
          <a:p>
            <a:endParaRPr lang="en-US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Matt Prichard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D7C0677-BBE1-414B-814E-FB526796BABE}"/>
                  </a:ext>
                </a:extLst>
              </p14:cNvPr>
              <p14:cNvContentPartPr/>
              <p14:nvPr/>
            </p14:nvContentPartPr>
            <p14:xfrm>
              <a:off x="8651014" y="2840692"/>
              <a:ext cx="360" cy="3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D7C0677-BBE1-414B-814E-FB526796BA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42374" y="2831692"/>
                <a:ext cx="180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850E275-2940-D64F-8F9D-8FEA90F263CD}"/>
                  </a:ext>
                </a:extLst>
              </p14:cNvPr>
              <p14:cNvContentPartPr/>
              <p14:nvPr/>
            </p14:nvContentPartPr>
            <p14:xfrm>
              <a:off x="7568494" y="1355692"/>
              <a:ext cx="3600" cy="3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850E275-2940-D64F-8F9D-8FEA90F263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59854" y="1347052"/>
                <a:ext cx="212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C9CF2D3-71F9-664F-83A1-4ACBF7039607}"/>
                  </a:ext>
                </a:extLst>
              </p14:cNvPr>
              <p14:cNvContentPartPr/>
              <p14:nvPr/>
            </p14:nvContentPartPr>
            <p14:xfrm>
              <a:off x="5078734" y="3049852"/>
              <a:ext cx="360" cy="3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C9CF2D3-71F9-664F-83A1-4ACBF70396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70094" y="3041212"/>
                <a:ext cx="180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FDACCB0-A54B-354A-A3EC-60B7525CDF0A}"/>
                  </a:ext>
                </a:extLst>
              </p14:cNvPr>
              <p14:cNvContentPartPr/>
              <p14:nvPr/>
            </p14:nvContentPartPr>
            <p14:xfrm>
              <a:off x="5525854" y="1776532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FDACCB0-A54B-354A-A3EC-60B7525CDF0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17214" y="176753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465448C-44AF-1340-8608-65DF607A0667}"/>
                  </a:ext>
                </a:extLst>
              </p14:cNvPr>
              <p14:cNvContentPartPr/>
              <p14:nvPr/>
            </p14:nvContentPartPr>
            <p14:xfrm>
              <a:off x="768814" y="1290172"/>
              <a:ext cx="360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465448C-44AF-1340-8608-65DF607A066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9814" y="1281532"/>
                <a:ext cx="2124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4206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9853"/>
          </a:xfrm>
        </p:spPr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Recap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8602"/>
            <a:ext cx="10515600" cy="154975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Last week we built the front and added read all, read one and edit functionality.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EFB17F-E230-C06B-D8B6-537DF3C0DF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485"/>
          <a:stretch/>
        </p:blipFill>
        <p:spPr>
          <a:xfrm>
            <a:off x="6524787" y="2836861"/>
            <a:ext cx="5092092" cy="145278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BE231D-B6C2-D0A0-3740-C26B67A558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7495"/>
          <a:stretch/>
        </p:blipFill>
        <p:spPr>
          <a:xfrm>
            <a:off x="838200" y="2836861"/>
            <a:ext cx="5443387" cy="2465570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544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259BC4A-D6C3-191B-4F12-2831E5693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52" y="3429000"/>
            <a:ext cx="10684559" cy="2851971"/>
          </a:xfrm>
          <a:prstGeom prst="rect">
            <a:avLst/>
          </a:prstGeom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54EECD6A-C3FC-06B0-CA71-25346476EA2D}"/>
              </a:ext>
            </a:extLst>
          </p:cNvPr>
          <p:cNvSpPr txBox="1">
            <a:spLocks/>
          </p:cNvSpPr>
          <p:nvPr/>
        </p:nvSpPr>
        <p:spPr>
          <a:xfrm>
            <a:off x="380852" y="265814"/>
            <a:ext cx="7806217" cy="531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Recap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7F8E30-0E29-E676-2610-66877EB14951}"/>
              </a:ext>
            </a:extLst>
          </p:cNvPr>
          <p:cNvSpPr txBox="1"/>
          <p:nvPr/>
        </p:nvSpPr>
        <p:spPr>
          <a:xfrm>
            <a:off x="380852" y="871173"/>
            <a:ext cx="11081124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We needed 2 instances of the terminal open at once. One for the back end on port 3000 and one for the front-end port 8080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1F1E2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Back-end    </a:t>
            </a:r>
            <a:r>
              <a:rPr lang="en-GB" sz="2400" dirty="0">
                <a:solidFill>
                  <a:srgbClr val="1F1E20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cd vocab-builder/server </a:t>
            </a:r>
            <a:r>
              <a:rPr lang="en-GB" sz="2400" dirty="0">
                <a:solidFill>
                  <a:srgbClr val="1F1E2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then</a:t>
            </a:r>
            <a:r>
              <a:rPr lang="en-GB" sz="2400" dirty="0">
                <a:solidFill>
                  <a:srgbClr val="1F1E20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GB" sz="2400" dirty="0" err="1">
                <a:solidFill>
                  <a:srgbClr val="1F1E20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npm</a:t>
            </a:r>
            <a:r>
              <a:rPr lang="en-GB" sz="2400" dirty="0">
                <a:solidFill>
                  <a:srgbClr val="1F1E20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run start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1F1E2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Front-end    </a:t>
            </a:r>
            <a:r>
              <a:rPr lang="en-GB" sz="2400" dirty="0">
                <a:solidFill>
                  <a:srgbClr val="1F1E20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cd vocab-builder/front-end </a:t>
            </a:r>
            <a:r>
              <a:rPr lang="en-GB" sz="2400" dirty="0">
                <a:solidFill>
                  <a:srgbClr val="1F1E2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ourier New" panose="02070309020205020404" pitchFamily="49" charset="0"/>
              </a:rPr>
              <a:t>then  </a:t>
            </a:r>
            <a:r>
              <a:rPr lang="en-GB" sz="2400" dirty="0" err="1">
                <a:solidFill>
                  <a:srgbClr val="1F1E20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npm</a:t>
            </a:r>
            <a:r>
              <a:rPr lang="en-GB" sz="2400" dirty="0">
                <a:solidFill>
                  <a:srgbClr val="1F1E20"/>
                </a:solidFill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run serve</a:t>
            </a:r>
            <a:endParaRPr lang="en-US" sz="2400" dirty="0">
              <a:latin typeface="Courier New" panose="02070309020205020404" pitchFamily="49" charset="0"/>
              <a:ea typeface="Helvetica Neue Light" panose="02000403000000020004" pitchFamily="2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67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This week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8358"/>
            <a:ext cx="10515600" cy="3832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Use </a:t>
            </a:r>
            <a:r>
              <a:rPr lang="en-GB" spc="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vue</a:t>
            </a: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-flash-message to display info to the user</a:t>
            </a:r>
          </a:p>
          <a:p>
            <a:pPr>
              <a:lnSpc>
                <a:spcPct val="150000"/>
              </a:lnSpc>
            </a:pP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Add new words</a:t>
            </a:r>
          </a:p>
          <a:p>
            <a:pPr>
              <a:lnSpc>
                <a:spcPct val="150000"/>
              </a:lnSpc>
            </a:pP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Delete words</a:t>
            </a:r>
          </a:p>
        </p:txBody>
      </p:sp>
    </p:spTree>
    <p:extLst>
      <p:ext uri="{BB962C8B-B14F-4D97-AF65-F5344CB8AC3E}">
        <p14:creationId xmlns:p14="http://schemas.microsoft.com/office/powerpoint/2010/main" val="359136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/>
            </a:gs>
            <a:gs pos="41000">
              <a:schemeClr val="accent6"/>
            </a:gs>
            <a:gs pos="100000">
              <a:schemeClr val="accent6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14475"/>
            <a:ext cx="12192000" cy="3829050"/>
          </a:xfrm>
          <a:effectLst>
            <a:outerShdw blurRad="266700" dist="127000" dir="13500000" algn="b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GB" sz="5400" spc="7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Adding Flash Messages</a:t>
            </a:r>
          </a:p>
        </p:txBody>
      </p:sp>
    </p:spTree>
    <p:extLst>
      <p:ext uri="{BB962C8B-B14F-4D97-AF65-F5344CB8AC3E}">
        <p14:creationId xmlns:p14="http://schemas.microsoft.com/office/powerpoint/2010/main" val="3222453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In place of alerts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8358"/>
            <a:ext cx="10832024" cy="383251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 Let’s use flash messages instead. These are nicely styled, configurable messages which won’t block the execution of JavaScript in the browser.</a:t>
            </a:r>
          </a:p>
          <a:p>
            <a:pPr>
              <a:lnSpc>
                <a:spcPct val="150000"/>
              </a:lnSpc>
            </a:pP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The first thing we’ll need to do is to tell our app to use them. To this end, go to </a:t>
            </a:r>
            <a:r>
              <a:rPr lang="en-GB" b="1" spc="50" dirty="0" err="1">
                <a:solidFill>
                  <a:schemeClr val="accent6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src</a:t>
            </a:r>
            <a:r>
              <a:rPr lang="en-GB" b="1" spc="50" dirty="0">
                <a:solidFill>
                  <a:schemeClr val="accent6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/helpers/</a:t>
            </a:r>
            <a:r>
              <a:rPr lang="en-GB" b="1" spc="50" dirty="0" err="1">
                <a:solidFill>
                  <a:schemeClr val="accent6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helpers.js</a:t>
            </a:r>
            <a:r>
              <a:rPr lang="en-GB" b="1" spc="50" dirty="0">
                <a:solidFill>
                  <a:schemeClr val="accent6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 </a:t>
            </a: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and make sure the top of the file reads like the following slide</a:t>
            </a:r>
          </a:p>
          <a:p>
            <a:pPr marL="0" indent="0">
              <a:lnSpc>
                <a:spcPct val="150000"/>
              </a:lnSpc>
              <a:buNone/>
            </a:pPr>
            <a:endParaRPr lang="en-GB" spc="5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88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9118" y="365125"/>
            <a:ext cx="3294681" cy="1325563"/>
          </a:xfrm>
        </p:spPr>
        <p:txBody>
          <a:bodyPr>
            <a:normAutofit fontScale="90000"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In place of alerts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3A89DF-3160-AB8E-10FD-D9A95C899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3526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72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 err="1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helpers.js</a:t>
            </a:r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  -  lines 1-19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2745"/>
            <a:ext cx="10832024" cy="498013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We start by importing Vue and </a:t>
            </a:r>
            <a:r>
              <a:rPr lang="en-GB" spc="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VueFlashMessages</a:t>
            </a: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and some CSS</a:t>
            </a:r>
          </a:p>
          <a:p>
            <a:pPr>
              <a:lnSpc>
                <a:spcPct val="150000"/>
              </a:lnSpc>
            </a:pP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We then tell Vue to use the </a:t>
            </a:r>
            <a:r>
              <a:rPr lang="en-GB" spc="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VueFlashMessages</a:t>
            </a: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plugin and pass it a couple of options. Such as timeout in milliseconds.</a:t>
            </a:r>
          </a:p>
          <a:p>
            <a:pPr>
              <a:lnSpc>
                <a:spcPct val="150000"/>
              </a:lnSpc>
            </a:pP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Finally, we create a new instance of Vue (line 13) as we also want to use the flash messages from within the helper file.</a:t>
            </a:r>
          </a:p>
          <a:p>
            <a:pPr>
              <a:lnSpc>
                <a:spcPct val="150000"/>
              </a:lnSpc>
            </a:pP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You can see this happening within our </a:t>
            </a:r>
            <a:r>
              <a:rPr lang="en-GB" spc="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handleError</a:t>
            </a: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 function in the call to </a:t>
            </a:r>
            <a:r>
              <a:rPr lang="en-GB" spc="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vm.flash</a:t>
            </a: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() line 18.</a:t>
            </a:r>
          </a:p>
        </p:txBody>
      </p:sp>
    </p:spTree>
    <p:extLst>
      <p:ext uri="{BB962C8B-B14F-4D97-AF65-F5344CB8AC3E}">
        <p14:creationId xmlns:p14="http://schemas.microsoft.com/office/powerpoint/2010/main" val="3623479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307" y="187182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spc="60" dirty="0" err="1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App.vue</a:t>
            </a:r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-  add line 20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307" y="1352264"/>
            <a:ext cx="11261876" cy="163341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So that we can actually display the messages, add a </a:t>
            </a:r>
            <a:r>
              <a:rPr lang="en-GB" spc="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FlashMessage</a:t>
            </a: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component to </a:t>
            </a:r>
            <a:r>
              <a:rPr lang="en-GB" spc="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src</a:t>
            </a: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/</a:t>
            </a:r>
            <a:r>
              <a:rPr lang="en-GB" spc="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App.vue</a:t>
            </a: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7AD4B4-98DB-999E-714E-DD60714F0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07" y="3149556"/>
            <a:ext cx="10634110" cy="200240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3D4FBF6-C6C2-7061-533F-2BCD41951633}"/>
              </a:ext>
            </a:extLst>
          </p:cNvPr>
          <p:cNvCxnSpPr>
            <a:cxnSpLocks/>
          </p:cNvCxnSpPr>
          <p:nvPr/>
        </p:nvCxnSpPr>
        <p:spPr>
          <a:xfrm flipH="1">
            <a:off x="9422969" y="2045776"/>
            <a:ext cx="867905" cy="182655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585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307" y="187182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Test 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AB90C1-A2D2-D50A-FC89-E57872909F13}"/>
              </a:ext>
            </a:extLst>
          </p:cNvPr>
          <p:cNvSpPr txBox="1"/>
          <p:nvPr/>
        </p:nvSpPr>
        <p:spPr>
          <a:xfrm>
            <a:off x="896093" y="1357762"/>
            <a:ext cx="10852690" cy="2236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To test out whether it’s working, try changing the value of the </a:t>
            </a:r>
            <a:r>
              <a:rPr lang="en-GB" sz="2400" b="1" dirty="0" err="1">
                <a:solidFill>
                  <a:schemeClr val="accent6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baseURL</a:t>
            </a:r>
            <a:r>
              <a:rPr lang="en-GB" sz="2400" b="1" dirty="0">
                <a:solidFill>
                  <a:schemeClr val="accent6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 </a:t>
            </a: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variable</a:t>
            </a:r>
            <a:r>
              <a:rPr lang="en-GB" sz="2400" b="1" dirty="0">
                <a:solidFill>
                  <a:schemeClr val="accent6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in</a:t>
            </a:r>
            <a:r>
              <a:rPr lang="en-GB" sz="2400" b="1" dirty="0">
                <a:solidFill>
                  <a:schemeClr val="accent6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 </a:t>
            </a:r>
            <a:r>
              <a:rPr lang="en-GB" sz="2400" b="1" dirty="0" err="1">
                <a:solidFill>
                  <a:schemeClr val="accent6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src</a:t>
            </a:r>
            <a:r>
              <a:rPr lang="en-GB" sz="2400" b="1" dirty="0">
                <a:solidFill>
                  <a:schemeClr val="accent6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/helpers/</a:t>
            </a:r>
            <a:r>
              <a:rPr lang="en-GB" sz="2400" b="1" dirty="0" err="1">
                <a:solidFill>
                  <a:schemeClr val="accent6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helpers.js</a:t>
            </a:r>
            <a:r>
              <a:rPr lang="en-GB" sz="2400" b="1" dirty="0">
                <a:solidFill>
                  <a:schemeClr val="accent6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 </a:t>
            </a: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to something non-existent. If all has gone according to plan, you should see a nicely formatted error message on the right hand of the screen when you reload the page</a:t>
            </a:r>
            <a:endParaRPr lang="en-US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FF0353-38FD-C5D3-5347-37FB69388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093" y="3948176"/>
            <a:ext cx="9286505" cy="244010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23D65F9-7328-1894-E817-BFCA564A6E07}"/>
              </a:ext>
            </a:extLst>
          </p:cNvPr>
          <p:cNvCxnSpPr>
            <a:cxnSpLocks/>
          </p:cNvCxnSpPr>
          <p:nvPr/>
        </p:nvCxnSpPr>
        <p:spPr>
          <a:xfrm flipH="1">
            <a:off x="9267986" y="3175665"/>
            <a:ext cx="728421" cy="171955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9897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307" y="187182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Finally…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AB90C1-A2D2-D50A-FC89-E57872909F13}"/>
              </a:ext>
            </a:extLst>
          </p:cNvPr>
          <p:cNvSpPr txBox="1"/>
          <p:nvPr/>
        </p:nvSpPr>
        <p:spPr>
          <a:xfrm>
            <a:off x="896093" y="1357762"/>
            <a:ext cx="10852690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1F1E2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</a:t>
            </a: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o make a flash message appear when a word was successfully edited, go back to </a:t>
            </a:r>
            <a:r>
              <a:rPr lang="en-GB" sz="2400" dirty="0" err="1">
                <a:solidFill>
                  <a:srgbClr val="1F1E2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Edit.vue</a:t>
            </a:r>
            <a:r>
              <a:rPr lang="en-GB" sz="2400" dirty="0">
                <a:solidFill>
                  <a:srgbClr val="1F1E2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and change line 28 from:</a:t>
            </a:r>
            <a:endParaRPr lang="en-US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FADB32-55B9-8B0E-585D-47A9066B5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850" y="2683325"/>
            <a:ext cx="9525000" cy="11937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9CB5D3-6B36-749D-E76E-1A9D54D62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93" y="4871511"/>
            <a:ext cx="9888086" cy="15674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5D09FD-C4B4-8CD2-0F63-CC3D82680143}"/>
              </a:ext>
            </a:extLst>
          </p:cNvPr>
          <p:cNvSpPr txBox="1"/>
          <p:nvPr/>
        </p:nvSpPr>
        <p:spPr>
          <a:xfrm>
            <a:off x="896093" y="4016572"/>
            <a:ext cx="10852690" cy="574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1F1E2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</a:t>
            </a: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o</a:t>
            </a:r>
            <a:endParaRPr lang="en-US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277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307" y="187182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Test edit a word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E3483B-12C1-3714-9CB5-B3DD74326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07" y="2217729"/>
            <a:ext cx="10094624" cy="181557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AF4A3D7-7655-F7B7-FE2C-52F29750B21C}"/>
              </a:ext>
            </a:extLst>
          </p:cNvPr>
          <p:cNvCxnSpPr>
            <a:cxnSpLocks/>
          </p:cNvCxnSpPr>
          <p:nvPr/>
        </p:nvCxnSpPr>
        <p:spPr>
          <a:xfrm>
            <a:off x="6556040" y="1222879"/>
            <a:ext cx="2138509" cy="125685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9713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/>
            </a:gs>
            <a:gs pos="41000">
              <a:schemeClr val="accent6"/>
            </a:gs>
            <a:gs pos="100000">
              <a:schemeClr val="accent6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14475"/>
            <a:ext cx="12192000" cy="3829050"/>
          </a:xfrm>
          <a:effectLst>
            <a:outerShdw blurRad="266700" dist="127000" dir="13500000" algn="b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GB" sz="5400" spc="7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Creating a new word</a:t>
            </a:r>
          </a:p>
        </p:txBody>
      </p:sp>
    </p:spTree>
    <p:extLst>
      <p:ext uri="{BB962C8B-B14F-4D97-AF65-F5344CB8AC3E}">
        <p14:creationId xmlns:p14="http://schemas.microsoft.com/office/powerpoint/2010/main" val="3557776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/>
            </a:gs>
            <a:gs pos="41000">
              <a:schemeClr val="accent6"/>
            </a:gs>
            <a:gs pos="100000">
              <a:schemeClr val="accent6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14475"/>
            <a:ext cx="12192000" cy="3829050"/>
          </a:xfrm>
          <a:effectLst>
            <a:outerShdw blurRad="266700" dist="127000" dir="13500000" algn="b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GB" sz="5400" spc="70" dirty="0" err="1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src</a:t>
            </a:r>
            <a:r>
              <a:rPr lang="en-GB" sz="5400" spc="7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/views/</a:t>
            </a:r>
            <a:r>
              <a:rPr lang="en-GB" sz="5400" spc="70" dirty="0" err="1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New.vue</a:t>
            </a:r>
            <a:endParaRPr lang="en-GB" sz="5400" spc="70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986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AF1FB66-AA44-1D77-7117-58A9378F8B89}"/>
              </a:ext>
            </a:extLst>
          </p:cNvPr>
          <p:cNvSpPr txBox="1"/>
          <p:nvPr/>
        </p:nvSpPr>
        <p:spPr>
          <a:xfrm>
            <a:off x="7452101" y="0"/>
            <a:ext cx="3949485" cy="835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3600" dirty="0" err="1">
                <a:solidFill>
                  <a:schemeClr val="accent6"/>
                </a:solidFill>
                <a:latin typeface="American Typewriter" panose="02090604020004020304" pitchFamily="18" charset="77"/>
                <a:ea typeface="Helvetica Neue Light" panose="02000403000000020004" pitchFamily="2" charset="0"/>
              </a:rPr>
              <a:t>New.vue</a:t>
            </a:r>
            <a:r>
              <a:rPr lang="en-GB" sz="360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Light" panose="02000403000000020004" pitchFamily="2" charset="0"/>
              </a:rPr>
              <a:t> - full file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E3949-A528-9512-8FB7-2DAB52AB0AC3}"/>
              </a:ext>
            </a:extLst>
          </p:cNvPr>
          <p:cNvSpPr txBox="1"/>
          <p:nvPr/>
        </p:nvSpPr>
        <p:spPr>
          <a:xfrm>
            <a:off x="7487833" y="835613"/>
            <a:ext cx="4554349" cy="5612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2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Copy this code.</a:t>
            </a:r>
          </a:p>
          <a:p>
            <a:pPr>
              <a:lnSpc>
                <a:spcPct val="150000"/>
              </a:lnSpc>
            </a:pPr>
            <a:r>
              <a:rPr lang="en-GB" sz="22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This should hopefully look familiar as it’s quite similar to the Edit component. It also uses the </a:t>
            </a:r>
            <a:r>
              <a:rPr lang="en-GB" sz="22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WordForm</a:t>
            </a:r>
            <a:r>
              <a:rPr lang="en-GB" sz="22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child component. And, like the Edit component, it also listens for the </a:t>
            </a:r>
            <a:r>
              <a:rPr lang="en-GB" sz="22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createOrUpdate</a:t>
            </a:r>
            <a:r>
              <a:rPr lang="en-GB" sz="22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event. When it receives this event, it creates a new word with the given input and redirects to the newly created word.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05E4F1-DDF1-E338-9375-EDB563D7B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172" y="0"/>
            <a:ext cx="75450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009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/>
            </a:gs>
            <a:gs pos="41000">
              <a:schemeClr val="accent6"/>
            </a:gs>
            <a:gs pos="100000">
              <a:schemeClr val="accent6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14475"/>
            <a:ext cx="12192000" cy="3829050"/>
          </a:xfrm>
          <a:effectLst>
            <a:outerShdw blurRad="266700" dist="127000" dir="13500000" algn="b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GB" sz="5400" spc="7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Update </a:t>
            </a:r>
            <a:r>
              <a:rPr lang="en-GB" sz="5400" spc="70" dirty="0" err="1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WordForm.vue</a:t>
            </a:r>
            <a:endParaRPr lang="en-GB" sz="5400" spc="70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103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AF1FB66-AA44-1D77-7117-58A9378F8B89}"/>
              </a:ext>
            </a:extLst>
          </p:cNvPr>
          <p:cNvSpPr txBox="1"/>
          <p:nvPr/>
        </p:nvSpPr>
        <p:spPr>
          <a:xfrm>
            <a:off x="469431" y="229469"/>
            <a:ext cx="11169796" cy="1693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Before we can add words, however, there are a couple of changes that need to be made to the </a:t>
            </a:r>
            <a:r>
              <a:rPr lang="en-GB" sz="2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WordForm</a:t>
            </a: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 component. Head back to </a:t>
            </a:r>
            <a:r>
              <a:rPr lang="en-GB" sz="2400" dirty="0" err="1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WordForm.vue</a:t>
            </a: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and expand the </a:t>
            </a:r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props</a:t>
            </a: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 object like so:</a:t>
            </a:r>
            <a:endParaRPr lang="en-GB" sz="22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2E6F76F9-184D-6B8D-BE43-368A707B0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31" y="2036115"/>
            <a:ext cx="5156454" cy="40105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1CDBC8-3D13-C443-3DB4-9D1DEBB1E30B}"/>
              </a:ext>
            </a:extLst>
          </p:cNvPr>
          <p:cNvSpPr txBox="1"/>
          <p:nvPr/>
        </p:nvSpPr>
        <p:spPr>
          <a:xfrm>
            <a:off x="469431" y="6166866"/>
            <a:ext cx="95114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Here, we’re initializing both values as empty strings.</a:t>
            </a:r>
            <a:endParaRPr lang="en-US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511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285" y="102152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Test adding a word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DA4D2C-85C0-572C-AA31-CE6A98A83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83" y="1923660"/>
            <a:ext cx="6023449" cy="173166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23F2C1-5D7B-E4C0-AA1E-7AAFD5AD8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85" y="4004629"/>
            <a:ext cx="6023451" cy="173166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B2FD57-3482-3263-9706-E059253AC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115" y="1923660"/>
            <a:ext cx="4925816" cy="381263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8552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/>
            </a:gs>
            <a:gs pos="41000">
              <a:schemeClr val="accent6"/>
            </a:gs>
            <a:gs pos="100000">
              <a:schemeClr val="accent6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63749"/>
            <a:ext cx="12192000" cy="2730501"/>
          </a:xfrm>
          <a:effectLst>
            <a:outerShdw blurRad="266700" dist="127000" dir="13500000" algn="b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GB" sz="5400" spc="7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Deleting a word – last part </a:t>
            </a:r>
            <a:r>
              <a:rPr lang="en-GB" sz="5400" spc="7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  <a:sym typeface="Wingdings" pitchFamily="2" charset="2"/>
              </a:rPr>
              <a:t></a:t>
            </a:r>
            <a:endParaRPr lang="en-GB" sz="5400" spc="70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513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AF1FB66-AA44-1D77-7117-58A9378F8B89}"/>
              </a:ext>
            </a:extLst>
          </p:cNvPr>
          <p:cNvSpPr txBox="1"/>
          <p:nvPr/>
        </p:nvSpPr>
        <p:spPr>
          <a:xfrm>
            <a:off x="380742" y="272958"/>
            <a:ext cx="11169796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We won’t need a separate component to delete a word, as there’s no view involved. The action takes place in views/</a:t>
            </a:r>
            <a:r>
              <a:rPr lang="en-GB" sz="2400" dirty="0" err="1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Words.vue</a:t>
            </a:r>
            <a:endParaRPr lang="en-GB" sz="2400" dirty="0">
              <a:solidFill>
                <a:srgbClr val="1F1E20"/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algn="l">
              <a:lnSpc>
                <a:spcPct val="150000"/>
              </a:lnSpc>
            </a:pPr>
            <a:r>
              <a:rPr lang="en-GB" sz="2400" dirty="0">
                <a:solidFill>
                  <a:srgbClr val="1F1E2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Change line 19 from:</a:t>
            </a:r>
            <a:endParaRPr lang="en-GB" sz="22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1CDBC8-3D13-C443-3DB4-9D1DEBB1E30B}"/>
              </a:ext>
            </a:extLst>
          </p:cNvPr>
          <p:cNvSpPr txBox="1"/>
          <p:nvPr/>
        </p:nvSpPr>
        <p:spPr>
          <a:xfrm>
            <a:off x="380742" y="3860234"/>
            <a:ext cx="10388340" cy="843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To:19 and 20 below, this will prevent the browser’s default action, then call the </a:t>
            </a:r>
            <a:r>
              <a:rPr lang="en-GB" sz="2400" dirty="0" err="1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onDestroy</a:t>
            </a: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 method.</a:t>
            </a:r>
            <a:endParaRPr lang="en-US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778A4F-A347-E277-7BB0-3A101F242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42" y="2206614"/>
            <a:ext cx="10969406" cy="11700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2141E2-4B1F-1B8B-4069-D34FB632A9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3" t="-8654" r="6821" b="15659"/>
          <a:stretch/>
        </p:blipFill>
        <p:spPr>
          <a:xfrm>
            <a:off x="380742" y="4902531"/>
            <a:ext cx="11400950" cy="90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36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AF1FB66-AA44-1D77-7117-58A9378F8B89}"/>
              </a:ext>
            </a:extLst>
          </p:cNvPr>
          <p:cNvSpPr txBox="1"/>
          <p:nvPr/>
        </p:nvSpPr>
        <p:spPr>
          <a:xfrm>
            <a:off x="469431" y="229469"/>
            <a:ext cx="11169796" cy="574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Next add this method to the script in </a:t>
            </a:r>
            <a:r>
              <a:rPr lang="en-GB" sz="2400" dirty="0" err="1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Words.vue</a:t>
            </a: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endParaRPr lang="en-GB" sz="22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6126802D-6BCA-BB2A-2744-3C8A41C24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31" y="953040"/>
            <a:ext cx="9697457" cy="38180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A3D482-70D4-ACF9-3A5E-E7187D234481}"/>
              </a:ext>
            </a:extLst>
          </p:cNvPr>
          <p:cNvSpPr txBox="1"/>
          <p:nvPr/>
        </p:nvSpPr>
        <p:spPr>
          <a:xfrm>
            <a:off x="469431" y="4981630"/>
            <a:ext cx="10766840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To make sure the user really intended to delete a word, we use a dialogue to ask them to confirm the delete. If the user clicks OK, a request is sent to the API to delete the word</a:t>
            </a:r>
            <a:endParaRPr lang="en-US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020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AF1FB66-AA44-1D77-7117-58A9378F8B89}"/>
              </a:ext>
            </a:extLst>
          </p:cNvPr>
          <p:cNvSpPr txBox="1"/>
          <p:nvPr/>
        </p:nvSpPr>
        <p:spPr>
          <a:xfrm>
            <a:off x="469431" y="3173924"/>
            <a:ext cx="11169796" cy="1139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We then flash a message to let them know that the delete was successful before removing the word from the list of words in the </a:t>
            </a:r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data</a:t>
            </a:r>
            <a:r>
              <a:rPr lang="en-GB" sz="2400" dirty="0">
                <a:solidFill>
                  <a:srgbClr val="1F1E20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 object. </a:t>
            </a:r>
            <a:endParaRPr lang="en-GB" sz="22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1917C3-1E8C-8E6A-60DF-6383EF11C5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789" b="12393"/>
          <a:stretch/>
        </p:blipFill>
        <p:spPr>
          <a:xfrm>
            <a:off x="469431" y="229469"/>
            <a:ext cx="6622942" cy="288461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C68363-B4D6-2532-620C-E4E48FBC66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58"/>
          <a:stretch/>
        </p:blipFill>
        <p:spPr>
          <a:xfrm>
            <a:off x="469431" y="4550477"/>
            <a:ext cx="6710516" cy="207805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64383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/>
            </a:gs>
            <a:gs pos="41000">
              <a:schemeClr val="accent6"/>
            </a:gs>
            <a:gs pos="100000">
              <a:schemeClr val="accent6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3206" y="371960"/>
            <a:ext cx="4938793" cy="6137327"/>
          </a:xfrm>
          <a:effectLst>
            <a:outerShdw blurRad="266700" dist="127000" dir="13500000" algn="br" rotWithShape="0">
              <a:prstClr val="black">
                <a:alpha val="40000"/>
              </a:prstClr>
            </a:outerShdw>
          </a:effectLst>
        </p:spPr>
        <p:txBody>
          <a:bodyPr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3200" spc="7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We have now completed the CRUD system, getting all this working is </a:t>
            </a:r>
            <a:r>
              <a:rPr lang="en-GB" sz="3200" spc="7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worth 25%, see </a:t>
            </a:r>
            <a:r>
              <a:rPr lang="en-GB" sz="3200" spc="7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part 2 of the CW spec.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3200" spc="7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See the next set of slides for adding to this.</a:t>
            </a:r>
          </a:p>
        </p:txBody>
      </p:sp>
      <p:pic>
        <p:nvPicPr>
          <p:cNvPr id="1026" name="Picture 2" descr="The Office gif. Ellie Kemper as Erin pops up from her seat and starts violently fist pumping the air and yelling out in immense excitement.">
            <a:extLst>
              <a:ext uri="{FF2B5EF4-FFF2-40B4-BE49-F238E27FC236}">
                <a16:creationId xmlns:a16="http://schemas.microsoft.com/office/drawing/2014/main" id="{99447305-66C6-ABF3-1DBF-162F457B5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315" y="600559"/>
            <a:ext cx="6788258" cy="5656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8078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/>
            </a:gs>
            <a:gs pos="41000">
              <a:schemeClr val="accent6"/>
            </a:gs>
            <a:gs pos="100000">
              <a:schemeClr val="accent6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247136"/>
            <a:ext cx="12192000" cy="5152767"/>
          </a:xfrm>
          <a:effectLst>
            <a:outerShdw blurRad="266700" dist="127000" dir="13500000" algn="b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GB" sz="40000" spc="7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68276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15480</TotalTime>
  <Words>684</Words>
  <Application>Microsoft Macintosh PowerPoint</Application>
  <PresentationFormat>Widescreen</PresentationFormat>
  <Paragraphs>52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American Typewriter</vt:lpstr>
      <vt:lpstr>Arial</vt:lpstr>
      <vt:lpstr>Calibri</vt:lpstr>
      <vt:lpstr>Calibri Light</vt:lpstr>
      <vt:lpstr>Courier New</vt:lpstr>
      <vt:lpstr>Helvetica Neue Light</vt:lpstr>
      <vt:lpstr>Helvetica Neue Thin</vt:lpstr>
      <vt:lpstr>Office Theme</vt:lpstr>
      <vt:lpstr>COMP 1842</vt:lpstr>
      <vt:lpstr>Recap</vt:lpstr>
      <vt:lpstr>PowerPoint Presentation</vt:lpstr>
      <vt:lpstr>This week</vt:lpstr>
      <vt:lpstr>PowerPoint Presentation</vt:lpstr>
      <vt:lpstr>In place of alerts</vt:lpstr>
      <vt:lpstr>In place of alerts</vt:lpstr>
      <vt:lpstr>helpers.js  -  lines 1-19</vt:lpstr>
      <vt:lpstr>App.vue-  add line 20</vt:lpstr>
      <vt:lpstr>Test it</vt:lpstr>
      <vt:lpstr>Finally…</vt:lpstr>
      <vt:lpstr>Test edit a word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Test adding a word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 1321</dc:title>
  <dc:creator>Matthew Prichard</dc:creator>
  <cp:lastModifiedBy>Matthew Prichard</cp:lastModifiedBy>
  <cp:revision>156</cp:revision>
  <dcterms:created xsi:type="dcterms:W3CDTF">2020-06-28T01:46:05Z</dcterms:created>
  <dcterms:modified xsi:type="dcterms:W3CDTF">2025-03-14T11:40:52Z</dcterms:modified>
</cp:coreProperties>
</file>