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75" r:id="rId4"/>
    <p:sldId id="286" r:id="rId5"/>
    <p:sldId id="297" r:id="rId6"/>
    <p:sldId id="277" r:id="rId7"/>
    <p:sldId id="290" r:id="rId8"/>
    <p:sldId id="289" r:id="rId9"/>
    <p:sldId id="283" r:id="rId10"/>
    <p:sldId id="276" r:id="rId11"/>
    <p:sldId id="291" r:id="rId12"/>
    <p:sldId id="292" r:id="rId13"/>
    <p:sldId id="293" r:id="rId14"/>
    <p:sldId id="299" r:id="rId15"/>
    <p:sldId id="300" r:id="rId16"/>
    <p:sldId id="298" r:id="rId17"/>
    <p:sldId id="264" r:id="rId18"/>
    <p:sldId id="263" r:id="rId19"/>
    <p:sldId id="266" r:id="rId20"/>
    <p:sldId id="267" r:id="rId21"/>
    <p:sldId id="268" r:id="rId22"/>
    <p:sldId id="285" r:id="rId23"/>
    <p:sldId id="269" r:id="rId24"/>
    <p:sldId id="279" r:id="rId25"/>
    <p:sldId id="280" r:id="rId26"/>
    <p:sldId id="281" r:id="rId27"/>
    <p:sldId id="282" r:id="rId28"/>
    <p:sldId id="284" r:id="rId29"/>
    <p:sldId id="288" r:id="rId30"/>
    <p:sldId id="294" r:id="rId31"/>
    <p:sldId id="296" r:id="rId32"/>
    <p:sldId id="262"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3473F"/>
    <a:srgbClr val="FF574B"/>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70"/>
    <p:restoredTop sz="86395"/>
  </p:normalViewPr>
  <p:slideViewPr>
    <p:cSldViewPr snapToGrid="0" snapToObjects="1">
      <p:cViewPr varScale="1">
        <p:scale>
          <a:sx n="127" d="100"/>
          <a:sy n="127" d="100"/>
        </p:scale>
        <p:origin x="360" y="19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3/28/25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semantic-ui.com/elements/icon.html"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auth0.com/docs/quickstart/spa/vuejs/interactiv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510584"/>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371652"/>
            <a:ext cx="12192000" cy="1429455"/>
          </a:xfrm>
        </p:spPr>
        <p:txBody>
          <a:bodyPr>
            <a:normAutofit/>
          </a:bodyPr>
          <a:lstStyle/>
          <a:p>
            <a:endParaRPr lang="en-US"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Additional tasks and deliverables.</a:t>
            </a: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CW part 2 – 60%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43788"/>
            <a:ext cx="10515600" cy="5049087"/>
          </a:xfrm>
        </p:spPr>
        <p:txBody>
          <a:bodyPr>
            <a:normAutofit fontScale="55000" lnSpcReduction="20000"/>
          </a:bodyPr>
          <a:lstStyle/>
          <a:p>
            <a:pPr marL="0" indent="0">
              <a:lnSpc>
                <a:spcPct val="170000"/>
              </a:lnSpc>
              <a:buNone/>
            </a:pPr>
            <a:r>
              <a:rPr lang="en-GB" sz="3300" dirty="0">
                <a:latin typeface="Helvetica Neue Light" panose="02000403000000020004" pitchFamily="2" charset="0"/>
                <a:ea typeface="Helvetica Neue Light" panose="02000403000000020004" pitchFamily="2" charset="0"/>
              </a:rPr>
              <a:t>Developing a very basic MEVN stack CRUD system and providing a video walkthrough of the system and the code.</a:t>
            </a:r>
          </a:p>
          <a:p>
            <a:pPr marL="0" indent="0">
              <a:lnSpc>
                <a:spcPct val="170000"/>
              </a:lnSpc>
              <a:buNone/>
            </a:pPr>
            <a:r>
              <a:rPr lang="en-GB" sz="3300" dirty="0">
                <a:latin typeface="Helvetica Neue Light" panose="02000403000000020004" pitchFamily="2" charset="0"/>
                <a:ea typeface="Helvetica Neue Light" panose="02000403000000020004" pitchFamily="2" charset="0"/>
              </a:rPr>
              <a:t>This is to be implemented on the University G-Drive. If you want to work on your own machine you will need to handle the installation process yourself. </a:t>
            </a:r>
          </a:p>
          <a:p>
            <a:pPr marL="0" indent="0">
              <a:lnSpc>
                <a:spcPct val="170000"/>
              </a:lnSpc>
              <a:buNone/>
            </a:pPr>
            <a:r>
              <a:rPr lang="en-GB" sz="3300" dirty="0">
                <a:latin typeface="Helvetica Neue Light" panose="02000403000000020004" pitchFamily="2" charset="0"/>
                <a:ea typeface="Helvetica Neue Light" panose="02000403000000020004" pitchFamily="2" charset="0"/>
              </a:rPr>
              <a:t>We will develop a basic system in the labs, and you will be shown how to evidence this for your video. Higher marks will be awarded for:</a:t>
            </a:r>
          </a:p>
          <a:p>
            <a:pPr marL="514350" indent="-514350">
              <a:lnSpc>
                <a:spcPct val="170000"/>
              </a:lnSpc>
              <a:buFont typeface="+mj-lt"/>
              <a:buAutoNum type="arabicPeriod"/>
            </a:pPr>
            <a:r>
              <a:rPr lang="en-GB" sz="3300" dirty="0">
                <a:latin typeface="Helvetica Neue Light" panose="02000403000000020004" pitchFamily="2" charset="0"/>
                <a:ea typeface="Helvetica Neue Light" panose="02000403000000020004" pitchFamily="2" charset="0"/>
              </a:rPr>
              <a:t>Implementing the test page</a:t>
            </a:r>
          </a:p>
          <a:p>
            <a:pPr marL="514350" indent="-514350">
              <a:lnSpc>
                <a:spcPct val="170000"/>
              </a:lnSpc>
              <a:buFont typeface="+mj-lt"/>
              <a:buAutoNum type="arabicPeriod"/>
            </a:pPr>
            <a:r>
              <a:rPr lang="en-GB" sz="3300" dirty="0">
                <a:latin typeface="Helvetica Neue Light" panose="02000403000000020004" pitchFamily="2" charset="0"/>
                <a:ea typeface="Helvetica Neue Light" panose="02000403000000020004" pitchFamily="2" charset="0"/>
              </a:rPr>
              <a:t>Adding a new menu item and page. </a:t>
            </a:r>
          </a:p>
          <a:p>
            <a:pPr marL="514350" indent="-514350">
              <a:lnSpc>
                <a:spcPct val="170000"/>
              </a:lnSpc>
              <a:buFont typeface="+mj-lt"/>
              <a:buAutoNum type="arabicPeriod"/>
            </a:pPr>
            <a:r>
              <a:rPr lang="en-GB" sz="3300" dirty="0">
                <a:latin typeface="Helvetica Neue Light" panose="02000403000000020004" pitchFamily="2" charset="0"/>
                <a:ea typeface="Helvetica Neue Light" panose="02000403000000020004" pitchFamily="2" charset="0"/>
              </a:rPr>
              <a:t>Adding a new field to the crud system, the current system has 2, add a 3rd language.</a:t>
            </a:r>
          </a:p>
          <a:p>
            <a:pPr marL="514350" indent="-514350">
              <a:lnSpc>
                <a:spcPct val="170000"/>
              </a:lnSpc>
              <a:buFont typeface="+mj-lt"/>
              <a:buAutoNum type="arabicPeriod"/>
            </a:pPr>
            <a:r>
              <a:rPr lang="en-GB" sz="3300" dirty="0">
                <a:latin typeface="Helvetica Neue Light" panose="02000403000000020004" pitchFamily="2" charset="0"/>
                <a:ea typeface="Helvetica Neue Light" panose="02000403000000020004" pitchFamily="2" charset="0"/>
              </a:rPr>
              <a:t>Additional functionality of your own choice beyond the above three.</a:t>
            </a:r>
          </a:p>
        </p:txBody>
      </p:sp>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Deliverables </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73449"/>
            <a:ext cx="10515600" cy="1249172"/>
          </a:xfrm>
        </p:spPr>
        <p:txBody>
          <a:bodyPr>
            <a:normAutofit/>
          </a:bodyPr>
          <a:lstStyle/>
          <a:p>
            <a:pPr marL="0" indent="0">
              <a:lnSpc>
                <a:spcPct val="150000"/>
              </a:lnSpc>
              <a:buNone/>
            </a:pPr>
            <a:r>
              <a:rPr lang="en-GB" sz="2400" b="1" dirty="0">
                <a:latin typeface="Helvetica Neue Light" panose="02000403000000020004" pitchFamily="2" charset="0"/>
                <a:ea typeface="Helvetica Neue Light" panose="02000403000000020004" pitchFamily="2" charset="0"/>
              </a:rPr>
              <a:t>Upload a zipped copy of your SRC folder from the front-end folder. Only the SRC folder is required !</a:t>
            </a:r>
          </a:p>
          <a:p>
            <a:pPr>
              <a:lnSpc>
                <a:spcPct val="150000"/>
              </a:lnSpc>
            </a:pPr>
            <a:endParaRPr lang="en-GB" sz="2400" dirty="0">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04536070-96CF-B7F1-E01E-8B276E513E78}"/>
              </a:ext>
            </a:extLst>
          </p:cNvPr>
          <p:cNvPicPr>
            <a:picLocks noChangeAspect="1"/>
          </p:cNvPicPr>
          <p:nvPr/>
        </p:nvPicPr>
        <p:blipFill>
          <a:blip r:embed="rId2"/>
          <a:stretch>
            <a:fillRect/>
          </a:stretch>
        </p:blipFill>
        <p:spPr>
          <a:xfrm>
            <a:off x="918587" y="2699012"/>
            <a:ext cx="4447233" cy="1629374"/>
          </a:xfrm>
          <a:prstGeom prst="rect">
            <a:avLst/>
          </a:prstGeom>
        </p:spPr>
      </p:pic>
      <p:sp>
        <p:nvSpPr>
          <p:cNvPr id="3" name="Content Placeholder 4">
            <a:extLst>
              <a:ext uri="{FF2B5EF4-FFF2-40B4-BE49-F238E27FC236}">
                <a16:creationId xmlns:a16="http://schemas.microsoft.com/office/drawing/2014/main" id="{1D5CDB9A-3C07-5DE9-327C-4F5EB0B6C7D4}"/>
              </a:ext>
            </a:extLst>
          </p:cNvPr>
          <p:cNvSpPr txBox="1">
            <a:spLocks/>
          </p:cNvSpPr>
          <p:nvPr/>
        </p:nvSpPr>
        <p:spPr>
          <a:xfrm>
            <a:off x="757813" y="4550403"/>
            <a:ext cx="10515600" cy="124917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b="1" dirty="0">
                <a:latin typeface="Helvetica Neue Light" panose="02000403000000020004" pitchFamily="2" charset="0"/>
                <a:ea typeface="Helvetica Neue Light" panose="02000403000000020004" pitchFamily="2" charset="0"/>
              </a:rPr>
              <a:t>A 7-minute video walk through of your system in MP4 format. Details to follow. If you can’t create a video a PDF walkthrough will be acceptable, details to follow.</a:t>
            </a:r>
          </a:p>
          <a:p>
            <a:pPr>
              <a:lnSpc>
                <a:spcPct val="150000"/>
              </a:lnSpc>
            </a:pPr>
            <a:endParaRPr lang="en-GB"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75549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550817" y="1982672"/>
            <a:ext cx="11353800" cy="2892656"/>
          </a:xfrm>
        </p:spPr>
        <p:txBody>
          <a:bodyPr anchor="t">
            <a:noAutofit/>
          </a:bodyPr>
          <a:lstStyle/>
          <a:p>
            <a:pPr algn="ctr">
              <a:lnSpc>
                <a:spcPct val="150000"/>
              </a:lnSpc>
            </a:pP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Additional tasks for extra marks</a:t>
            </a:r>
            <a:b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b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endPar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endParaRPr>
          </a:p>
        </p:txBody>
      </p:sp>
    </p:spTree>
    <p:extLst>
      <p:ext uri="{BB962C8B-B14F-4D97-AF65-F5344CB8AC3E}">
        <p14:creationId xmlns:p14="http://schemas.microsoft.com/office/powerpoint/2010/main" val="4205056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57EF1-43A9-5FE9-83B9-E2CDC85E848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D461DBE-B96C-08A3-29B8-CF3260342560}"/>
              </a:ext>
            </a:extLst>
          </p:cNvPr>
          <p:cNvSpPr>
            <a:spLocks noGrp="1"/>
          </p:cNvSpPr>
          <p:nvPr>
            <p:ph type="title"/>
          </p:nvPr>
        </p:nvSpPr>
        <p:spPr>
          <a:xfrm>
            <a:off x="550817" y="393155"/>
            <a:ext cx="10281306" cy="6071690"/>
          </a:xfrm>
        </p:spPr>
        <p:txBody>
          <a:bodyPr anchor="t">
            <a:noAutofit/>
          </a:bodyPr>
          <a:lstStyle/>
          <a:p>
            <a:pPr>
              <a:lnSpc>
                <a:spcPct val="150000"/>
              </a:lnSpc>
            </a:pPr>
            <a:r>
              <a:rPr lang="en-US" sz="3600" spc="60" dirty="0">
                <a:solidFill>
                  <a:srgbClr val="D3473F"/>
                </a:solidFill>
                <a:latin typeface="American Typewriter" panose="02090604020004020304" pitchFamily="18" charset="77"/>
                <a:ea typeface="Helvetica Neue Light" panose="02000403000000020004" pitchFamily="2" charset="0"/>
                <a:cs typeface="Georgia Pro Cond Black" panose="020F0502020204030204" pitchFamily="34" charset="0"/>
              </a:rPr>
              <a:t>Carry out these tasks independently.</a:t>
            </a:r>
            <a:b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b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br>
            <a: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t>They are not as hard as they may at first seem.</a:t>
            </a:r>
            <a:b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br>
            <a:b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br>
            <a: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t>If you want to back up / duplicate your system back up or rename the ‘</a:t>
            </a:r>
            <a:r>
              <a:rPr lang="en-US" sz="2800" spc="60" dirty="0" err="1">
                <a:latin typeface="Helvetica Neue Light" panose="02000403000000020004" pitchFamily="2" charset="0"/>
                <a:ea typeface="Helvetica Neue Light" panose="02000403000000020004" pitchFamily="2" charset="0"/>
                <a:cs typeface="Georgia Pro Cond Black" panose="020F0502020204030204" pitchFamily="34" charset="0"/>
              </a:rPr>
              <a:t>src</a:t>
            </a:r>
            <a: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t>’ folder only, it is quite small (57kb).</a:t>
            </a:r>
            <a:b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br>
            <a:b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br>
            <a: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t>Do not back up the node-modules folder, it is huge (130 meg).</a:t>
            </a:r>
          </a:p>
        </p:txBody>
      </p:sp>
    </p:spTree>
    <p:extLst>
      <p:ext uri="{BB962C8B-B14F-4D97-AF65-F5344CB8AC3E}">
        <p14:creationId xmlns:p14="http://schemas.microsoft.com/office/powerpoint/2010/main" val="327615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036871" y="141314"/>
            <a:ext cx="10161104" cy="1023591"/>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Additional task 1 – Nice easy one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sym typeface="Wingdings" pitchFamily="2" charset="2"/>
              </a:rPr>
              <a:t></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8" name="Picture 7">
            <a:extLst>
              <a:ext uri="{FF2B5EF4-FFF2-40B4-BE49-F238E27FC236}">
                <a16:creationId xmlns:a16="http://schemas.microsoft.com/office/drawing/2014/main" id="{FFCFD17A-B3A0-7E5C-44F4-60C6D31F78A4}"/>
              </a:ext>
            </a:extLst>
          </p:cNvPr>
          <p:cNvPicPr>
            <a:picLocks noChangeAspect="1"/>
          </p:cNvPicPr>
          <p:nvPr/>
        </p:nvPicPr>
        <p:blipFill rotWithShape="1">
          <a:blip r:embed="rId2"/>
          <a:srcRect r="39576" b="66947"/>
          <a:stretch/>
        </p:blipFill>
        <p:spPr>
          <a:xfrm>
            <a:off x="1036871" y="1007855"/>
            <a:ext cx="6039565" cy="2297047"/>
          </a:xfrm>
          <a:prstGeom prst="rect">
            <a:avLst/>
          </a:prstGeom>
          <a:ln>
            <a:solidFill>
              <a:schemeClr val="bg1">
                <a:lumMod val="50000"/>
              </a:schemeClr>
            </a:solidFill>
          </a:ln>
        </p:spPr>
      </p:pic>
      <p:sp>
        <p:nvSpPr>
          <p:cNvPr id="10" name="Content Placeholder 4">
            <a:extLst>
              <a:ext uri="{FF2B5EF4-FFF2-40B4-BE49-F238E27FC236}">
                <a16:creationId xmlns:a16="http://schemas.microsoft.com/office/drawing/2014/main" id="{E0168EBF-B842-0F5E-7376-67CAE8F2DBE7}"/>
              </a:ext>
            </a:extLst>
          </p:cNvPr>
          <p:cNvSpPr txBox="1">
            <a:spLocks/>
          </p:cNvSpPr>
          <p:nvPr/>
        </p:nvSpPr>
        <p:spPr>
          <a:xfrm>
            <a:off x="836472" y="3875316"/>
            <a:ext cx="10519055" cy="2828309"/>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Notice we have had and extra link ‘test’ in the menu bar</a:t>
            </a:r>
          </a:p>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There are 2 files in the zip on Moodle called</a:t>
            </a:r>
          </a:p>
          <a:p>
            <a:pPr marL="0" indent="0">
              <a:lnSpc>
                <a:spcPct val="150000"/>
              </a:lnSpc>
              <a:buFont typeface="Arial" panose="020B0604020202020204" pitchFamily="34" charset="0"/>
              <a:buNone/>
            </a:pP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VocabTest.vue</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and </a:t>
            </a:r>
            <a:r>
              <a:rPr lang="en-GB" spc="80" dirty="0" err="1">
                <a:solidFill>
                  <a:schemeClr val="tx1">
                    <a:lumMod val="85000"/>
                    <a:lumOff val="15000"/>
                  </a:schemeClr>
                </a:solidFill>
                <a:latin typeface="Helvetica Neue Light" panose="02000403000000020004" pitchFamily="2" charset="0"/>
                <a:ea typeface="Helvetica Neue Light" panose="02000403000000020004" pitchFamily="2" charset="0"/>
              </a:rPr>
              <a:t>Test.vue</a:t>
            </a: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All you need to do is download these files and put them in the right pace</a:t>
            </a:r>
          </a:p>
          <a:p>
            <a:pPr marL="0" indent="0">
              <a:lnSpc>
                <a:spcPct val="150000"/>
              </a:lnSpc>
              <a:buFont typeface="Arial" panose="020B0604020202020204" pitchFamily="34" charset="0"/>
              <a:buNone/>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Font typeface="Arial" panose="020B0604020202020204" pitchFamily="34" charset="0"/>
              <a:buNone/>
            </a:pPr>
            <a:endParaRPr lang="en-GB" spc="80" dirty="0">
              <a:latin typeface="Helvetica Neue Light" panose="02000403000000020004" pitchFamily="2" charset="0"/>
              <a:ea typeface="Helvetica Neue Light" panose="02000403000000020004" pitchFamily="2" charset="0"/>
            </a:endParaRPr>
          </a:p>
          <a:p>
            <a:pPr marL="0" indent="0">
              <a:lnSpc>
                <a:spcPct val="150000"/>
              </a:lnSpc>
              <a:buFont typeface="Arial" panose="020B0604020202020204" pitchFamily="34" charset="0"/>
              <a:buNone/>
            </a:pPr>
            <a:endParaRPr lang="en-GB" dirty="0">
              <a:latin typeface="Helvetica Neue Light" panose="02000403000000020004" pitchFamily="2" charset="0"/>
              <a:ea typeface="Helvetica Neue Light" panose="02000403000000020004" pitchFamily="2" charset="0"/>
            </a:endParaRPr>
          </a:p>
        </p:txBody>
      </p:sp>
      <p:pic>
        <p:nvPicPr>
          <p:cNvPr id="12" name="Picture 11">
            <a:extLst>
              <a:ext uri="{FF2B5EF4-FFF2-40B4-BE49-F238E27FC236}">
                <a16:creationId xmlns:a16="http://schemas.microsoft.com/office/drawing/2014/main" id="{DB8AB1FA-74AD-51F7-B856-F98B14852148}"/>
              </a:ext>
            </a:extLst>
          </p:cNvPr>
          <p:cNvPicPr>
            <a:picLocks noChangeAspect="1"/>
          </p:cNvPicPr>
          <p:nvPr/>
        </p:nvPicPr>
        <p:blipFill>
          <a:blip r:embed="rId3"/>
          <a:stretch>
            <a:fillRect/>
          </a:stretch>
        </p:blipFill>
        <p:spPr>
          <a:xfrm>
            <a:off x="7586082" y="1007855"/>
            <a:ext cx="3983616" cy="2297046"/>
          </a:xfrm>
          <a:prstGeom prst="rect">
            <a:avLst/>
          </a:prstGeom>
          <a:ln>
            <a:solidFill>
              <a:schemeClr val="bg1">
                <a:lumMod val="50000"/>
              </a:schemeClr>
            </a:solidFill>
          </a:ln>
        </p:spPr>
      </p:pic>
      <p:cxnSp>
        <p:nvCxnSpPr>
          <p:cNvPr id="14" name="Straight Arrow Connector 13">
            <a:extLst>
              <a:ext uri="{FF2B5EF4-FFF2-40B4-BE49-F238E27FC236}">
                <a16:creationId xmlns:a16="http://schemas.microsoft.com/office/drawing/2014/main" id="{11953E15-6323-D17F-3C73-0C7C28EC6694}"/>
              </a:ext>
            </a:extLst>
          </p:cNvPr>
          <p:cNvCxnSpPr>
            <a:cxnSpLocks/>
          </p:cNvCxnSpPr>
          <p:nvPr/>
        </p:nvCxnSpPr>
        <p:spPr>
          <a:xfrm flipV="1">
            <a:off x="6230983" y="3304901"/>
            <a:ext cx="0" cy="692333"/>
          </a:xfrm>
          <a:prstGeom prst="straightConnector1">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cxnSp>
        <p:nvCxnSpPr>
          <p:cNvPr id="16" name="Straight Arrow Connector 15">
            <a:extLst>
              <a:ext uri="{FF2B5EF4-FFF2-40B4-BE49-F238E27FC236}">
                <a16:creationId xmlns:a16="http://schemas.microsoft.com/office/drawing/2014/main" id="{94ED807C-07C8-8631-5AA5-B6C57599665A}"/>
              </a:ext>
            </a:extLst>
          </p:cNvPr>
          <p:cNvCxnSpPr>
            <a:cxnSpLocks/>
          </p:cNvCxnSpPr>
          <p:nvPr/>
        </p:nvCxnSpPr>
        <p:spPr>
          <a:xfrm flipV="1">
            <a:off x="6095999" y="2830284"/>
            <a:ext cx="2129247" cy="1793967"/>
          </a:xfrm>
          <a:prstGeom prst="straightConnector1">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9797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015448" y="258880"/>
            <a:ext cx="10161104" cy="694709"/>
          </a:xfrm>
        </p:spPr>
        <p:txBody>
          <a:bodyPr>
            <a:normAutofit fontScale="85000" lnSpcReduction="10000"/>
          </a:bodyPr>
          <a:lstStyle/>
          <a:p>
            <a:pPr marL="0" indent="0">
              <a:lnSpc>
                <a:spcPct val="150000"/>
              </a:lnSpc>
              <a:buNone/>
            </a:pPr>
            <a:r>
              <a:rPr lang="en-GB" b="1" spc="80" dirty="0">
                <a:solidFill>
                  <a:srgbClr val="FF574B"/>
                </a:solidFill>
                <a:latin typeface="Helvetica Neue Light" panose="02000403000000020004" pitchFamily="2" charset="0"/>
                <a:ea typeface="Helvetica Neue Light" panose="02000403000000020004" pitchFamily="2" charset="0"/>
              </a:rPr>
              <a:t>Just plug the code in, here is a </a:t>
            </a:r>
            <a:r>
              <a:rPr lang="en-GB" b="1" i="1" spc="80" dirty="0">
                <a:solidFill>
                  <a:srgbClr val="FF574B"/>
                </a:solidFill>
                <a:latin typeface="Helvetica Neue Light" panose="02000403000000020004" pitchFamily="2" charset="0"/>
                <a:ea typeface="Helvetica Neue Light" panose="02000403000000020004" pitchFamily="2" charset="0"/>
              </a:rPr>
              <a:t>brief</a:t>
            </a:r>
            <a:r>
              <a:rPr lang="en-GB" b="1" spc="80" dirty="0">
                <a:solidFill>
                  <a:srgbClr val="FF574B"/>
                </a:solidFill>
                <a:latin typeface="Helvetica Neue Light" panose="02000403000000020004" pitchFamily="2" charset="0"/>
                <a:ea typeface="Helvetica Neue Light" panose="02000403000000020004" pitchFamily="2" charset="0"/>
              </a:rPr>
              <a:t> overview of what is happening</a:t>
            </a:r>
          </a:p>
        </p:txBody>
      </p:sp>
      <p:sp>
        <p:nvSpPr>
          <p:cNvPr id="10" name="Content Placeholder 4">
            <a:extLst>
              <a:ext uri="{FF2B5EF4-FFF2-40B4-BE49-F238E27FC236}">
                <a16:creationId xmlns:a16="http://schemas.microsoft.com/office/drawing/2014/main" id="{E0168EBF-B842-0F5E-7376-67CAE8F2DBE7}"/>
              </a:ext>
            </a:extLst>
          </p:cNvPr>
          <p:cNvSpPr txBox="1">
            <a:spLocks/>
          </p:cNvSpPr>
          <p:nvPr/>
        </p:nvSpPr>
        <p:spPr>
          <a:xfrm>
            <a:off x="1015448" y="953588"/>
            <a:ext cx="10336175" cy="544721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In a nutshell, we’re receiving the word list, </a:t>
            </a:r>
            <a:r>
              <a:rPr lang="en-GB" spc="80" dirty="0">
                <a:solidFill>
                  <a:srgbClr val="FF574B"/>
                </a:solidFill>
                <a:latin typeface="Helvetica Neue Light" panose="02000403000000020004" pitchFamily="2" charset="0"/>
                <a:ea typeface="Helvetica Neue Light" panose="02000403000000020004" pitchFamily="2" charset="0"/>
              </a:rPr>
              <a:t>words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as a prop (this is an array of objects). We then declare some data properties, mostly related to displaying the test. The </a:t>
            </a:r>
            <a:r>
              <a:rPr lang="en-GB" b="1" spc="80" dirty="0" err="1">
                <a:solidFill>
                  <a:srgbClr val="FF574B"/>
                </a:solidFill>
                <a:latin typeface="Helvetica Neue Light" panose="02000403000000020004" pitchFamily="2" charset="0"/>
                <a:ea typeface="Helvetica Neue Light" panose="02000403000000020004" pitchFamily="2" charset="0"/>
              </a:rPr>
              <a:t>randWords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property makes use of the spread operator and an arrow function to sort the words into a random order.</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We’re declaring </a:t>
            </a:r>
            <a:r>
              <a:rPr lang="en-GB" b="1" spc="80" dirty="0" err="1">
                <a:solidFill>
                  <a:srgbClr val="FF574B"/>
                </a:solidFill>
                <a:latin typeface="Helvetica Neue Light" panose="02000403000000020004" pitchFamily="2" charset="0"/>
                <a:ea typeface="Helvetica Neue Light" panose="02000403000000020004" pitchFamily="2" charset="0"/>
              </a:rPr>
              <a:t>currWord</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as a computed property, which will return the next word in the list of random words. We’ve used a computed property, as in the </a:t>
            </a:r>
            <a:r>
              <a:rPr lang="en-GB" b="1" spc="80" dirty="0" err="1">
                <a:solidFill>
                  <a:srgbClr val="FF574B"/>
                </a:solidFill>
                <a:latin typeface="Helvetica Neue Light" panose="02000403000000020004" pitchFamily="2" charset="0"/>
                <a:ea typeface="Helvetica Neue Light" panose="02000403000000020004" pitchFamily="2" charset="0"/>
              </a:rPr>
              <a:t>onSubmit</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method we’re removing the first item of the </a:t>
            </a:r>
            <a:r>
              <a:rPr lang="en-GB" b="1" spc="80" dirty="0" err="1">
                <a:solidFill>
                  <a:srgbClr val="FF574B"/>
                </a:solidFill>
                <a:latin typeface="Helvetica Neue Light" panose="02000403000000020004" pitchFamily="2" charset="0"/>
                <a:ea typeface="Helvetica Neue Light" panose="02000403000000020004" pitchFamily="2" charset="0"/>
              </a:rPr>
              <a:t>randWords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array using </a:t>
            </a:r>
            <a:r>
              <a:rPr lang="en-GB" b="1" spc="80" dirty="0">
                <a:solidFill>
                  <a:srgbClr val="FF574B"/>
                </a:solidFill>
                <a:latin typeface="Helvetica Neue Light" panose="02000403000000020004" pitchFamily="2" charset="0"/>
                <a:ea typeface="Helvetica Neue Light" panose="02000403000000020004" pitchFamily="2" charset="0"/>
              </a:rPr>
              <a:t>shift()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every time the user makes a guess. Mutating the array like this will cause </a:t>
            </a:r>
            <a:r>
              <a:rPr lang="en-GB" b="1" spc="80" dirty="0" err="1">
                <a:solidFill>
                  <a:srgbClr val="FF574B"/>
                </a:solidFill>
                <a:latin typeface="Helvetica Neue Light" panose="02000403000000020004" pitchFamily="2" charset="0"/>
                <a:ea typeface="Helvetica Neue Light" panose="02000403000000020004" pitchFamily="2" charset="0"/>
              </a:rPr>
              <a:t>currWord</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to be recalculated and the test will update.</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Finally, the</a:t>
            </a:r>
            <a:r>
              <a:rPr lang="en-GB" b="1" spc="80" dirty="0">
                <a:solidFill>
                  <a:schemeClr val="tx1">
                    <a:lumMod val="85000"/>
                    <a:lumOff val="15000"/>
                  </a:schemeClr>
                </a:solidFill>
                <a:latin typeface="Helvetica Neue Light" panose="02000403000000020004" pitchFamily="2" charset="0"/>
                <a:ea typeface="Helvetica Neue Light" panose="02000403000000020004" pitchFamily="2" charset="0"/>
              </a:rPr>
              <a:t> </a:t>
            </a:r>
            <a:r>
              <a:rPr lang="en-GB" b="1" spc="80" dirty="0" err="1">
                <a:solidFill>
                  <a:srgbClr val="FF574B"/>
                </a:solidFill>
                <a:latin typeface="Helvetica Neue Light" panose="02000403000000020004" pitchFamily="2" charset="0"/>
                <a:ea typeface="Helvetica Neue Light" panose="02000403000000020004" pitchFamily="2" charset="0"/>
              </a:rPr>
              <a:t>onSubmit</a:t>
            </a:r>
            <a:r>
              <a:rPr lang="en-GB" b="1" spc="80" dirty="0">
                <a:solidFill>
                  <a:schemeClr val="tx1">
                    <a:lumMod val="85000"/>
                    <a:lumOff val="15000"/>
                  </a:schemeClr>
                </a:solidFill>
                <a:latin typeface="Helvetica Neue Light" panose="02000403000000020004" pitchFamily="2" charset="0"/>
                <a:ea typeface="Helvetica Neue Light" panose="02000403000000020004" pitchFamily="2" charset="0"/>
              </a:rPr>
              <a:t>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method and the </a:t>
            </a:r>
            <a:r>
              <a:rPr lang="en-GB" b="1" spc="80" dirty="0" err="1">
                <a:solidFill>
                  <a:srgbClr val="FF574B"/>
                </a:solidFill>
                <a:latin typeface="Helvetica Neue Light" panose="02000403000000020004" pitchFamily="2" charset="0"/>
                <a:ea typeface="Helvetica Neue Light" panose="02000403000000020004" pitchFamily="2" charset="0"/>
              </a:rPr>
              <a:t>displayResults</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method handle form submission (when the user makes a guess) displaying the results.</a:t>
            </a:r>
          </a:p>
        </p:txBody>
      </p:sp>
    </p:spTree>
    <p:extLst>
      <p:ext uri="{BB962C8B-B14F-4D97-AF65-F5344CB8AC3E}">
        <p14:creationId xmlns:p14="http://schemas.microsoft.com/office/powerpoint/2010/main" val="601920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036871" y="141314"/>
            <a:ext cx="10161104" cy="1023591"/>
          </a:xfrm>
        </p:spPr>
        <p:txBody>
          <a:bodyPr>
            <a:normAutofit/>
          </a:bodyPr>
          <a:lstStyle/>
          <a:p>
            <a:pPr marL="0" indent="0">
              <a:lnSpc>
                <a:spcPct val="150000"/>
              </a:lnSpc>
              <a:buNone/>
            </a:pPr>
            <a:r>
              <a:rPr lang="en-GB" b="1" spc="80" dirty="0">
                <a:solidFill>
                  <a:srgbClr val="FF574B"/>
                </a:solidFill>
                <a:latin typeface="Helvetica Neue Light" panose="02000403000000020004" pitchFamily="2" charset="0"/>
                <a:ea typeface="Helvetica Neue Light" panose="02000403000000020004" pitchFamily="2" charset="0"/>
              </a:rPr>
              <a:t>Additional task 1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working test</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pic>
        <p:nvPicPr>
          <p:cNvPr id="8" name="Picture 7">
            <a:extLst>
              <a:ext uri="{FF2B5EF4-FFF2-40B4-BE49-F238E27FC236}">
                <a16:creationId xmlns:a16="http://schemas.microsoft.com/office/drawing/2014/main" id="{FFCFD17A-B3A0-7E5C-44F4-60C6D31F78A4}"/>
              </a:ext>
            </a:extLst>
          </p:cNvPr>
          <p:cNvPicPr>
            <a:picLocks noChangeAspect="1"/>
          </p:cNvPicPr>
          <p:nvPr/>
        </p:nvPicPr>
        <p:blipFill>
          <a:blip r:embed="rId2"/>
          <a:stretch>
            <a:fillRect/>
          </a:stretch>
        </p:blipFill>
        <p:spPr>
          <a:xfrm>
            <a:off x="1036871" y="1269112"/>
            <a:ext cx="7039628" cy="4894541"/>
          </a:xfrm>
          <a:prstGeom prst="rect">
            <a:avLst/>
          </a:prstGeom>
          <a:ln>
            <a:solidFill>
              <a:schemeClr val="bg1">
                <a:lumMod val="50000"/>
              </a:schemeClr>
            </a:solidFill>
          </a:ln>
        </p:spPr>
      </p:pic>
    </p:spTree>
    <p:extLst>
      <p:ext uri="{BB962C8B-B14F-4D97-AF65-F5344CB8AC3E}">
        <p14:creationId xmlns:p14="http://schemas.microsoft.com/office/powerpoint/2010/main" val="2080967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994025" y="299978"/>
            <a:ext cx="10161104" cy="1023591"/>
          </a:xfrm>
        </p:spPr>
        <p:txBody>
          <a:bodyPr>
            <a:normAutofit/>
          </a:bodyPr>
          <a:lstStyle/>
          <a:p>
            <a:pPr marL="0" indent="0">
              <a:lnSpc>
                <a:spcPct val="150000"/>
              </a:lnSpc>
              <a:buNone/>
            </a:pPr>
            <a:r>
              <a:rPr lang="en-GB" b="1" spc="80" dirty="0">
                <a:solidFill>
                  <a:srgbClr val="FF574B"/>
                </a:solidFill>
                <a:latin typeface="Helvetica Neue Light" panose="02000403000000020004" pitchFamily="2" charset="0"/>
                <a:ea typeface="Helvetica Neue Light" panose="02000403000000020004" pitchFamily="2" charset="0"/>
              </a:rPr>
              <a:t>Additional task 2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About me page</a:t>
            </a:r>
            <a:endParaRPr lang="en-GB" dirty="0">
              <a:latin typeface="Helvetica Neue Light" panose="02000403000000020004" pitchFamily="2" charset="0"/>
              <a:ea typeface="Helvetica Neue Light" panose="02000403000000020004" pitchFamily="2" charset="0"/>
            </a:endParaRPr>
          </a:p>
        </p:txBody>
      </p:sp>
      <p:sp>
        <p:nvSpPr>
          <p:cNvPr id="4" name="Content Placeholder 4">
            <a:extLst>
              <a:ext uri="{FF2B5EF4-FFF2-40B4-BE49-F238E27FC236}">
                <a16:creationId xmlns:a16="http://schemas.microsoft.com/office/drawing/2014/main" id="{C71E83F2-7693-124E-C074-883700B649F8}"/>
              </a:ext>
            </a:extLst>
          </p:cNvPr>
          <p:cNvSpPr txBox="1">
            <a:spLocks/>
          </p:cNvSpPr>
          <p:nvPr/>
        </p:nvSpPr>
        <p:spPr>
          <a:xfrm>
            <a:off x="876459" y="5879928"/>
            <a:ext cx="10161104" cy="6780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Simple template containing an H1 and p tag</a:t>
            </a:r>
            <a:endParaRPr lang="en-GB" sz="2400" spc="80" dirty="0">
              <a:latin typeface="Helvetica Neue Light" panose="02000403000000020004" pitchFamily="2" charset="0"/>
              <a:ea typeface="Helvetica Neue Light" panose="02000403000000020004" pitchFamily="2" charset="0"/>
            </a:endParaRPr>
          </a:p>
          <a:p>
            <a:pPr marL="0" indent="0">
              <a:lnSpc>
                <a:spcPct val="150000"/>
              </a:lnSpc>
              <a:buFont typeface="Arial" panose="020B0604020202020204" pitchFamily="34" charset="0"/>
              <a:buNone/>
            </a:pPr>
            <a:endParaRPr lang="en-GB" dirty="0">
              <a:latin typeface="Helvetica Neue Light" panose="02000403000000020004" pitchFamily="2" charset="0"/>
              <a:ea typeface="Helvetica Neue Light" panose="02000403000000020004" pitchFamily="2" charset="0"/>
            </a:endParaRPr>
          </a:p>
        </p:txBody>
      </p:sp>
      <p:pic>
        <p:nvPicPr>
          <p:cNvPr id="7" name="Picture 6">
            <a:extLst>
              <a:ext uri="{FF2B5EF4-FFF2-40B4-BE49-F238E27FC236}">
                <a16:creationId xmlns:a16="http://schemas.microsoft.com/office/drawing/2014/main" id="{ABDCAA86-7A46-BD19-5D50-1009FFF79141}"/>
              </a:ext>
            </a:extLst>
          </p:cNvPr>
          <p:cNvPicPr>
            <a:picLocks noChangeAspect="1"/>
          </p:cNvPicPr>
          <p:nvPr/>
        </p:nvPicPr>
        <p:blipFill>
          <a:blip r:embed="rId2"/>
          <a:stretch>
            <a:fillRect/>
          </a:stretch>
        </p:blipFill>
        <p:spPr>
          <a:xfrm>
            <a:off x="994025" y="2704012"/>
            <a:ext cx="7773617" cy="2873828"/>
          </a:xfrm>
          <a:prstGeom prst="rect">
            <a:avLst/>
          </a:prstGeom>
          <a:ln>
            <a:solidFill>
              <a:schemeClr val="bg1">
                <a:lumMod val="50000"/>
              </a:schemeClr>
            </a:solidFill>
          </a:ln>
        </p:spPr>
      </p:pic>
      <p:sp>
        <p:nvSpPr>
          <p:cNvPr id="2" name="Content Placeholder 4">
            <a:extLst>
              <a:ext uri="{FF2B5EF4-FFF2-40B4-BE49-F238E27FC236}">
                <a16:creationId xmlns:a16="http://schemas.microsoft.com/office/drawing/2014/main" id="{CEA5E868-3DA2-BFE0-0997-BCE365200F89}"/>
              </a:ext>
            </a:extLst>
          </p:cNvPr>
          <p:cNvSpPr txBox="1">
            <a:spLocks/>
          </p:cNvSpPr>
          <p:nvPr/>
        </p:nvSpPr>
        <p:spPr>
          <a:xfrm>
            <a:off x="994025" y="1085956"/>
            <a:ext cx="10203950" cy="159192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Use your username as a link in the menu and route it to </a:t>
            </a:r>
            <a:r>
              <a:rPr lang="en-GB" sz="2400" b="1" spc="80" dirty="0">
                <a:solidFill>
                  <a:srgbClr val="D3473F"/>
                </a:solidFill>
                <a:latin typeface="Helvetica Neue Light" panose="02000403000000020004" pitchFamily="2" charset="0"/>
                <a:ea typeface="Helvetica Neue Light" panose="02000403000000020004" pitchFamily="2" charset="0"/>
              </a:rPr>
              <a:t>a new template </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stating who you are and that you wrote this code. </a:t>
            </a:r>
            <a:endParaRPr lang="en-GB" dirty="0">
              <a:latin typeface="Helvetica Neue Light" panose="02000403000000020004" pitchFamily="2" charset="0"/>
              <a:ea typeface="Helvetica Neue Light" panose="02000403000000020004" pitchFamily="2" charset="0"/>
            </a:endParaRPr>
          </a:p>
        </p:txBody>
      </p:sp>
      <p:cxnSp>
        <p:nvCxnSpPr>
          <p:cNvPr id="3" name="Straight Arrow Connector 2">
            <a:extLst>
              <a:ext uri="{FF2B5EF4-FFF2-40B4-BE49-F238E27FC236}">
                <a16:creationId xmlns:a16="http://schemas.microsoft.com/office/drawing/2014/main" id="{9F209DE4-944E-3B53-7DFB-8A29B5C19E0C}"/>
              </a:ext>
            </a:extLst>
          </p:cNvPr>
          <p:cNvCxnSpPr>
            <a:cxnSpLocks/>
          </p:cNvCxnSpPr>
          <p:nvPr/>
        </p:nvCxnSpPr>
        <p:spPr>
          <a:xfrm flipV="1">
            <a:off x="3339710" y="5240862"/>
            <a:ext cx="409330" cy="641093"/>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46612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015448" y="356370"/>
            <a:ext cx="8141615" cy="1023591"/>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Semantic UI icons   - implement any one you like</a:t>
            </a:r>
            <a:endParaRPr lang="en-GB" spc="80" dirty="0">
              <a:latin typeface="Helvetica Neue Light" panose="02000403000000020004" pitchFamily="2" charset="0"/>
              <a:ea typeface="Helvetica Neue Light" panose="02000403000000020004" pitchFamily="2" charset="0"/>
            </a:endParaRPr>
          </a:p>
          <a:p>
            <a:pPr marL="0" indent="0">
              <a:lnSpc>
                <a:spcPct val="150000"/>
              </a:lnSpc>
              <a:buNone/>
            </a:pPr>
            <a:endParaRPr lang="en-GB" dirty="0">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5A19A087-4074-EC64-7A2A-DC095BAE56C8}"/>
              </a:ext>
            </a:extLst>
          </p:cNvPr>
          <p:cNvSpPr txBox="1"/>
          <p:nvPr/>
        </p:nvSpPr>
        <p:spPr>
          <a:xfrm>
            <a:off x="1015448" y="2119825"/>
            <a:ext cx="6097712" cy="369332"/>
          </a:xfrm>
          <a:prstGeom prst="rect">
            <a:avLst/>
          </a:prstGeom>
          <a:noFill/>
        </p:spPr>
        <p:txBody>
          <a:bodyPr wrap="square">
            <a:spAutoFit/>
          </a:bodyPr>
          <a:lstStyle/>
          <a:p>
            <a:r>
              <a:rPr lang="en-US" dirty="0">
                <a:hlinkClick r:id="rId2"/>
              </a:rPr>
              <a:t>https://semantic-ui.com/elements/icon.html</a:t>
            </a:r>
            <a:endParaRPr lang="en-US" dirty="0"/>
          </a:p>
        </p:txBody>
      </p:sp>
      <p:pic>
        <p:nvPicPr>
          <p:cNvPr id="6" name="Picture 5">
            <a:extLst>
              <a:ext uri="{FF2B5EF4-FFF2-40B4-BE49-F238E27FC236}">
                <a16:creationId xmlns:a16="http://schemas.microsoft.com/office/drawing/2014/main" id="{A1BD9D95-2689-AEBF-6A63-8FF86F68860D}"/>
              </a:ext>
            </a:extLst>
          </p:cNvPr>
          <p:cNvPicPr>
            <a:picLocks noChangeAspect="1"/>
          </p:cNvPicPr>
          <p:nvPr/>
        </p:nvPicPr>
        <p:blipFill>
          <a:blip r:embed="rId3"/>
          <a:stretch>
            <a:fillRect/>
          </a:stretch>
        </p:blipFill>
        <p:spPr>
          <a:xfrm>
            <a:off x="1108716" y="2729088"/>
            <a:ext cx="8420638" cy="3538314"/>
          </a:xfrm>
          <a:prstGeom prst="rect">
            <a:avLst/>
          </a:prstGeom>
          <a:ln>
            <a:solidFill>
              <a:schemeClr val="bg1">
                <a:lumMod val="50000"/>
              </a:schemeClr>
            </a:solidFill>
          </a:ln>
        </p:spPr>
      </p:pic>
      <p:pic>
        <p:nvPicPr>
          <p:cNvPr id="7" name="Picture 6">
            <a:extLst>
              <a:ext uri="{FF2B5EF4-FFF2-40B4-BE49-F238E27FC236}">
                <a16:creationId xmlns:a16="http://schemas.microsoft.com/office/drawing/2014/main" id="{603AEA31-B48D-A75E-F3B9-0B740D86F5D1}"/>
              </a:ext>
            </a:extLst>
          </p:cNvPr>
          <p:cNvPicPr>
            <a:picLocks noChangeAspect="1"/>
          </p:cNvPicPr>
          <p:nvPr/>
        </p:nvPicPr>
        <p:blipFill rotWithShape="1">
          <a:blip r:embed="rId4"/>
          <a:srcRect l="57278" t="23715" r="17012" b="56539"/>
          <a:stretch/>
        </p:blipFill>
        <p:spPr>
          <a:xfrm>
            <a:off x="1108716" y="1107518"/>
            <a:ext cx="2764191" cy="784817"/>
          </a:xfrm>
          <a:prstGeom prst="rect">
            <a:avLst/>
          </a:prstGeom>
          <a:ln>
            <a:solidFill>
              <a:schemeClr val="bg1">
                <a:lumMod val="50000"/>
              </a:schemeClr>
            </a:solidFill>
          </a:ln>
        </p:spPr>
      </p:pic>
    </p:spTree>
    <p:extLst>
      <p:ext uri="{BB962C8B-B14F-4D97-AF65-F5344CB8AC3E}">
        <p14:creationId xmlns:p14="http://schemas.microsoft.com/office/powerpoint/2010/main" val="52796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110464" y="243062"/>
            <a:ext cx="10633045" cy="5739727"/>
          </a:xfrm>
        </p:spPr>
        <p:txBody>
          <a:bodyPr>
            <a:normAutofit/>
          </a:bodyPr>
          <a:lstStyle/>
          <a:p>
            <a:pPr marL="0" indent="0">
              <a:lnSpc>
                <a:spcPct val="150000"/>
              </a:lnSpc>
              <a:buNone/>
            </a:pPr>
            <a:r>
              <a:rPr lang="en-GB" b="1" spc="80" dirty="0">
                <a:solidFill>
                  <a:srgbClr val="FF574B"/>
                </a:solidFill>
                <a:latin typeface="Helvetica Neue Light" panose="02000403000000020004" pitchFamily="2" charset="0"/>
                <a:ea typeface="Helvetica Neue Light" panose="02000403000000020004" pitchFamily="2" charset="0"/>
              </a:rPr>
              <a:t>Additional task 3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 slightly more involved</a:t>
            </a:r>
          </a:p>
          <a:p>
            <a:pPr marL="0" indent="0">
              <a:lnSpc>
                <a:spcPct val="150000"/>
              </a:lnSpc>
              <a:buNone/>
            </a:pPr>
            <a:r>
              <a:rPr lang="en-GB" sz="2400" i="1" dirty="0">
                <a:latin typeface="Helvetica Neue Light" panose="02000403000000020004" pitchFamily="2" charset="0"/>
                <a:ea typeface="Helvetica Neue Light" panose="02000403000000020004" pitchFamily="2" charset="0"/>
              </a:rPr>
              <a:t>Adding a new field to the crud system, the current system has 2, add a 3</a:t>
            </a:r>
            <a:r>
              <a:rPr lang="en-GB" sz="2400" i="1" baseline="30000" dirty="0">
                <a:latin typeface="Helvetica Neue Light" panose="02000403000000020004" pitchFamily="2" charset="0"/>
                <a:ea typeface="Helvetica Neue Light" panose="02000403000000020004" pitchFamily="2" charset="0"/>
              </a:rPr>
              <a:t>rd</a:t>
            </a:r>
            <a:r>
              <a:rPr lang="en-GB" sz="2400" i="1" dirty="0">
                <a:latin typeface="Helvetica Neue Light" panose="02000403000000020004" pitchFamily="2" charset="0"/>
                <a:ea typeface="Helvetica Neue Light" panose="02000403000000020004" pitchFamily="2" charset="0"/>
              </a:rPr>
              <a:t> language</a:t>
            </a:r>
          </a:p>
          <a:p>
            <a:pPr>
              <a:lnSpc>
                <a:spcPct val="150000"/>
              </a:lnSpc>
            </a:pPr>
            <a:r>
              <a:rPr lang="en-GB" sz="2400" dirty="0">
                <a:latin typeface="Helvetica Neue Light" panose="02000403000000020004" pitchFamily="2" charset="0"/>
                <a:ea typeface="Helvetica Neue Light" panose="02000403000000020004" pitchFamily="2" charset="0"/>
              </a:rPr>
              <a:t>Add an additional language to the system throughout. If you speak a 2</a:t>
            </a:r>
            <a:r>
              <a:rPr lang="en-GB" sz="2400" baseline="30000" dirty="0">
                <a:latin typeface="Helvetica Neue Light" panose="02000403000000020004" pitchFamily="2" charset="0"/>
                <a:ea typeface="Helvetica Neue Light" panose="02000403000000020004" pitchFamily="2" charset="0"/>
              </a:rPr>
              <a:t>nd</a:t>
            </a:r>
            <a:r>
              <a:rPr lang="en-GB" sz="2400" dirty="0">
                <a:latin typeface="Helvetica Neue Light" panose="02000403000000020004" pitchFamily="2" charset="0"/>
                <a:ea typeface="Helvetica Neue Light" panose="02000403000000020004" pitchFamily="2" charset="0"/>
              </a:rPr>
              <a:t> language, perhaps use that one and use the appropriate flag.</a:t>
            </a:r>
          </a:p>
          <a:p>
            <a:pPr>
              <a:lnSpc>
                <a:spcPct val="150000"/>
              </a:lnSpc>
            </a:pPr>
            <a:r>
              <a:rPr lang="en-GB" sz="2400" dirty="0">
                <a:latin typeface="Helvetica Neue Light" panose="02000403000000020004" pitchFamily="2" charset="0"/>
                <a:ea typeface="Helvetica Neue Light" panose="02000403000000020004" pitchFamily="2" charset="0"/>
              </a:rPr>
              <a:t>You will need to think </a:t>
            </a:r>
            <a:r>
              <a:rPr lang="en-GB" sz="2400" b="1" i="1" dirty="0">
                <a:latin typeface="Helvetica Neue Light" panose="02000403000000020004" pitchFamily="2" charset="0"/>
                <a:ea typeface="Helvetica Neue Light" panose="02000403000000020004" pitchFamily="2" charset="0"/>
              </a:rPr>
              <a:t>carefully</a:t>
            </a:r>
            <a:r>
              <a:rPr lang="en-GB" sz="2400" dirty="0">
                <a:latin typeface="Helvetica Neue Light" panose="02000403000000020004" pitchFamily="2" charset="0"/>
                <a:ea typeface="Helvetica Neue Light" panose="02000403000000020004" pitchFamily="2" charset="0"/>
              </a:rPr>
              <a:t> about where to make changes and add additional code to both the server and the front-end.</a:t>
            </a:r>
          </a:p>
          <a:p>
            <a:pPr>
              <a:lnSpc>
                <a:spcPct val="150000"/>
              </a:lnSpc>
            </a:pPr>
            <a:r>
              <a:rPr lang="en-GB" sz="2400" dirty="0">
                <a:latin typeface="Helvetica Neue Light" panose="02000403000000020004" pitchFamily="2" charset="0"/>
                <a:ea typeface="Helvetica Neue Light" panose="02000403000000020004" pitchFamily="2" charset="0"/>
              </a:rPr>
              <a:t>You may be surprised about how few change you actually need to make!</a:t>
            </a:r>
          </a:p>
          <a:p>
            <a:pPr marL="0" indent="0">
              <a:lnSpc>
                <a:spcPct val="150000"/>
              </a:lnSpc>
              <a:buNone/>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452594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B3507BA2-7A5A-E7EC-F7F4-018D37CD8E59}"/>
              </a:ext>
            </a:extLst>
          </p:cNvPr>
          <p:cNvSpPr txBox="1">
            <a:spLocks/>
          </p:cNvSpPr>
          <p:nvPr/>
        </p:nvSpPr>
        <p:spPr>
          <a:xfrm>
            <a:off x="1015448" y="261844"/>
            <a:ext cx="10161104" cy="10238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2400" b="1" spc="80" dirty="0">
                <a:solidFill>
                  <a:srgbClr val="FF574B"/>
                </a:solidFill>
                <a:latin typeface="Helvetica Neue Light" panose="02000403000000020004" pitchFamily="2" charset="0"/>
                <a:ea typeface="Helvetica Neue Light" panose="02000403000000020004" pitchFamily="2" charset="0"/>
              </a:rPr>
              <a:t>Free advice - Safety tip </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 server/</a:t>
            </a:r>
            <a:r>
              <a:rPr lang="en-GB" sz="24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api</a:t>
            </a: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/models/</a:t>
            </a:r>
            <a:r>
              <a:rPr lang="en-GB" sz="2400" spc="80" dirty="0" err="1">
                <a:solidFill>
                  <a:schemeClr val="tx1">
                    <a:lumMod val="85000"/>
                    <a:lumOff val="15000"/>
                  </a:schemeClr>
                </a:solidFill>
                <a:latin typeface="Helvetica Neue Light" panose="02000403000000020004" pitchFamily="2" charset="0"/>
                <a:ea typeface="Helvetica Neue Light" panose="02000403000000020004" pitchFamily="2" charset="0"/>
              </a:rPr>
              <a:t>vocabModel.js</a:t>
            </a:r>
            <a:endPar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00000"/>
              </a:lnSpc>
              <a:buFont typeface="Arial" panose="020B0604020202020204" pitchFamily="34" charset="0"/>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Change the collection name</a:t>
            </a:r>
            <a:endParaRPr lang="en-GB" sz="2400" spc="80" dirty="0">
              <a:latin typeface="Helvetica Neue Light" panose="02000403000000020004" pitchFamily="2" charset="0"/>
              <a:ea typeface="Helvetica Neue Light" panose="02000403000000020004" pitchFamily="2" charset="0"/>
            </a:endParaRPr>
          </a:p>
        </p:txBody>
      </p:sp>
      <p:pic>
        <p:nvPicPr>
          <p:cNvPr id="4" name="Picture 3">
            <a:extLst>
              <a:ext uri="{FF2B5EF4-FFF2-40B4-BE49-F238E27FC236}">
                <a16:creationId xmlns:a16="http://schemas.microsoft.com/office/drawing/2014/main" id="{7B6FB2C2-59BA-448D-F224-91761782C0CE}"/>
              </a:ext>
            </a:extLst>
          </p:cNvPr>
          <p:cNvPicPr>
            <a:picLocks noChangeAspect="1"/>
          </p:cNvPicPr>
          <p:nvPr/>
        </p:nvPicPr>
        <p:blipFill>
          <a:blip r:embed="rId2"/>
          <a:stretch>
            <a:fillRect/>
          </a:stretch>
        </p:blipFill>
        <p:spPr>
          <a:xfrm>
            <a:off x="1015448" y="1618926"/>
            <a:ext cx="10552060" cy="1507436"/>
          </a:xfrm>
          <a:prstGeom prst="rect">
            <a:avLst/>
          </a:prstGeom>
        </p:spPr>
      </p:pic>
      <p:cxnSp>
        <p:nvCxnSpPr>
          <p:cNvPr id="6" name="Straight Arrow Connector 5">
            <a:extLst>
              <a:ext uri="{FF2B5EF4-FFF2-40B4-BE49-F238E27FC236}">
                <a16:creationId xmlns:a16="http://schemas.microsoft.com/office/drawing/2014/main" id="{7A062AA5-E301-B496-5C86-D81A907D2187}"/>
              </a:ext>
            </a:extLst>
          </p:cNvPr>
          <p:cNvCxnSpPr>
            <a:cxnSpLocks/>
          </p:cNvCxnSpPr>
          <p:nvPr/>
        </p:nvCxnSpPr>
        <p:spPr>
          <a:xfrm>
            <a:off x="5354937" y="1065878"/>
            <a:ext cx="1873082" cy="662613"/>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DC4CB1D1-0E60-3857-417C-52667554F145}"/>
              </a:ext>
            </a:extLst>
          </p:cNvPr>
          <p:cNvPicPr>
            <a:picLocks noChangeAspect="1"/>
          </p:cNvPicPr>
          <p:nvPr/>
        </p:nvPicPr>
        <p:blipFill rotWithShape="1">
          <a:blip r:embed="rId3"/>
          <a:srcRect b="47609"/>
          <a:stretch/>
        </p:blipFill>
        <p:spPr>
          <a:xfrm>
            <a:off x="1015448" y="4741911"/>
            <a:ext cx="6378129" cy="1854245"/>
          </a:xfrm>
          <a:prstGeom prst="rect">
            <a:avLst/>
          </a:prstGeom>
          <a:ln>
            <a:solidFill>
              <a:schemeClr val="bg1">
                <a:lumMod val="50000"/>
              </a:schemeClr>
            </a:solidFill>
          </a:ln>
        </p:spPr>
      </p:pic>
      <p:sp>
        <p:nvSpPr>
          <p:cNvPr id="10" name="Content Placeholder 4">
            <a:extLst>
              <a:ext uri="{FF2B5EF4-FFF2-40B4-BE49-F238E27FC236}">
                <a16:creationId xmlns:a16="http://schemas.microsoft.com/office/drawing/2014/main" id="{43290453-6811-02FB-2836-127F519B8041}"/>
              </a:ext>
            </a:extLst>
          </p:cNvPr>
          <p:cNvSpPr txBox="1">
            <a:spLocks/>
          </p:cNvSpPr>
          <p:nvPr/>
        </p:nvSpPr>
        <p:spPr>
          <a:xfrm>
            <a:off x="1015448" y="3400952"/>
            <a:ext cx="10161104" cy="16470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400" spc="80" dirty="0">
                <a:solidFill>
                  <a:schemeClr val="tx1">
                    <a:lumMod val="85000"/>
                    <a:lumOff val="15000"/>
                  </a:schemeClr>
                </a:solidFill>
                <a:latin typeface="Helvetica Neue Light" panose="02000403000000020004" pitchFamily="2" charset="0"/>
                <a:ea typeface="Helvetica Neue Light" panose="02000403000000020004" pitchFamily="2" charset="0"/>
              </a:rPr>
              <a:t>I called mine vocab3 (for 3 languages) this way your original collection will remain unchanged if it all goes wrong.</a:t>
            </a:r>
          </a:p>
          <a:p>
            <a:pPr marL="0" indent="0">
              <a:lnSpc>
                <a:spcPct val="150000"/>
              </a:lnSpc>
              <a:buFont typeface="Arial" panose="020B0604020202020204" pitchFamily="34" charset="0"/>
              <a:buNone/>
            </a:pP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33855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858694" y="707378"/>
            <a:ext cx="10978264" cy="42565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b="1" spc="80" dirty="0">
                <a:solidFill>
                  <a:srgbClr val="D3473F"/>
                </a:solidFill>
                <a:latin typeface="Helvetica Neue Light" panose="02000403000000020004" pitchFamily="2" charset="0"/>
                <a:ea typeface="Helvetica Neue Light" panose="02000403000000020004" pitchFamily="2" charset="0"/>
              </a:rPr>
              <a:t>Additional task 4 suggestions</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What do we do about the test now that we have 3 languages. </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I have not done anything with this myself. </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I will give extra marks if you come up with a solution.</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This is not compulsory, finish everything else first !!</a:t>
            </a:r>
          </a:p>
        </p:txBody>
      </p:sp>
    </p:spTree>
    <p:extLst>
      <p:ext uri="{BB962C8B-B14F-4D97-AF65-F5344CB8AC3E}">
        <p14:creationId xmlns:p14="http://schemas.microsoft.com/office/powerpoint/2010/main" val="2343320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EA7B9-D050-76B9-2C3D-0A7699E217B5}"/>
            </a:ext>
          </a:extLst>
        </p:cNvPr>
        <p:cNvGrpSpPr/>
        <p:nvPr/>
      </p:nvGrpSpPr>
      <p:grpSpPr>
        <a:xfrm>
          <a:off x="0" y="0"/>
          <a:ext cx="0" cy="0"/>
          <a:chOff x="0" y="0"/>
          <a:chExt cx="0" cy="0"/>
        </a:xfrm>
      </p:grpSpPr>
      <p:sp>
        <p:nvSpPr>
          <p:cNvPr id="8" name="Content Placeholder 4">
            <a:extLst>
              <a:ext uri="{FF2B5EF4-FFF2-40B4-BE49-F238E27FC236}">
                <a16:creationId xmlns:a16="http://schemas.microsoft.com/office/drawing/2014/main" id="{D34DD278-EC5A-5487-D4E5-AAB5FB79FE82}"/>
              </a:ext>
            </a:extLst>
          </p:cNvPr>
          <p:cNvSpPr txBox="1">
            <a:spLocks/>
          </p:cNvSpPr>
          <p:nvPr/>
        </p:nvSpPr>
        <p:spPr>
          <a:xfrm>
            <a:off x="858694" y="707378"/>
            <a:ext cx="10978264" cy="42565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b="1" spc="80" dirty="0">
                <a:solidFill>
                  <a:srgbClr val="D3473F"/>
                </a:solidFill>
                <a:latin typeface="Helvetica Neue Light" panose="02000403000000020004" pitchFamily="2" charset="0"/>
                <a:ea typeface="Helvetica Neue Light" panose="02000403000000020004" pitchFamily="2" charset="0"/>
              </a:rPr>
              <a:t>Additional task 4 suggestions part 2</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Create a login system- this </a:t>
            </a:r>
            <a:r>
              <a:rPr lang="en-GB" spc="80">
                <a:solidFill>
                  <a:schemeClr val="tx1">
                    <a:lumMod val="85000"/>
                    <a:lumOff val="15000"/>
                  </a:schemeClr>
                </a:solidFill>
                <a:latin typeface="Helvetica Neue Light" panose="02000403000000020004" pitchFamily="2" charset="0"/>
                <a:ea typeface="Helvetica Neue Light" panose="02000403000000020004" pitchFamily="2" charset="0"/>
              </a:rPr>
              <a:t>is one example </a:t>
            </a: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https://auth0.com/docs/quickstart/spa/vuejs/interactive</a:t>
            </a: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Create a search functionality</a:t>
            </a:r>
          </a:p>
          <a:p>
            <a:pPr>
              <a:lnSpc>
                <a:spcPct val="150000"/>
              </a:lnSpc>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Any other functionally you want to try and implement, just make sure you clearly identify what you have done and how.</a:t>
            </a:r>
          </a:p>
          <a:p>
            <a:pPr>
              <a:lnSpc>
                <a:spcPct val="150000"/>
              </a:lnSpc>
            </a:pPr>
            <a:endPar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42677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2B0F0-59E9-2CDC-CC82-83A4D3CA6F6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3211AE-E4C4-99C0-E41E-19B826BEDA66}"/>
              </a:ext>
            </a:extLst>
          </p:cNvPr>
          <p:cNvSpPr>
            <a:spLocks noGrp="1"/>
          </p:cNvSpPr>
          <p:nvPr>
            <p:ph type="title"/>
          </p:nvPr>
        </p:nvSpPr>
        <p:spPr>
          <a:xfrm>
            <a:off x="550817" y="1982672"/>
            <a:ext cx="11353800" cy="1534251"/>
          </a:xfrm>
        </p:spPr>
        <p:txBody>
          <a:bodyPr anchor="t">
            <a:noAutofit/>
          </a:bodyPr>
          <a:lstStyle/>
          <a:p>
            <a:pPr algn="ctr">
              <a:lnSpc>
                <a:spcPct val="150000"/>
              </a:lnSpc>
            </a:pP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Video requirements</a:t>
            </a:r>
            <a:b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r>
              <a:rPr lang="en-US" sz="2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Please watch my video </a:t>
            </a:r>
            <a:r>
              <a:rPr lang="en-US" sz="2800" spc="6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on </a:t>
            </a:r>
            <a:r>
              <a:rPr lang="en-US" sz="2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a:t>
            </a:r>
            <a:r>
              <a:rPr lang="en-US" sz="2800" spc="6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oodle</a:t>
            </a:r>
            <a:b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br>
              <a:rPr lang="en-US" sz="36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endPar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endParaRPr>
          </a:p>
        </p:txBody>
      </p:sp>
    </p:spTree>
    <p:extLst>
      <p:ext uri="{BB962C8B-B14F-4D97-AF65-F5344CB8AC3E}">
        <p14:creationId xmlns:p14="http://schemas.microsoft.com/office/powerpoint/2010/main" val="3629209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2DD04-74A4-1C1C-1E0D-C678E80D3DE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3691F0F-FBCC-2BF5-0BF9-A2BE8CCB35D6}"/>
              </a:ext>
            </a:extLst>
          </p:cNvPr>
          <p:cNvSpPr>
            <a:spLocks noGrp="1"/>
          </p:cNvSpPr>
          <p:nvPr>
            <p:ph type="title"/>
          </p:nvPr>
        </p:nvSpPr>
        <p:spPr>
          <a:xfrm>
            <a:off x="560865" y="636192"/>
            <a:ext cx="10693289" cy="5915334"/>
          </a:xfrm>
        </p:spPr>
        <p:txBody>
          <a:bodyPr anchor="t">
            <a:noAutofit/>
          </a:bodyPr>
          <a:lstStyle/>
          <a:p>
            <a:pPr>
              <a:lnSpc>
                <a:spcPct val="150000"/>
              </a:lnSpc>
            </a:pPr>
            <a:r>
              <a:rPr lang="en-US" sz="2400" dirty="0">
                <a:latin typeface="Helvetica Neue" panose="02000503000000020004" pitchFamily="2" charset="0"/>
                <a:ea typeface="Helvetica Neue" panose="02000503000000020004" pitchFamily="2" charset="0"/>
                <a:cs typeface="Helvetica Neue" panose="02000503000000020004" pitchFamily="2" charset="0"/>
              </a:rPr>
              <a:t>If for some reason it is not possible for you to make a video walkthrough you may provide a PDF instead.</a:t>
            </a:r>
            <a:br>
              <a:rPr lang="en-US" sz="2400" dirty="0">
                <a:latin typeface="Helvetica Neue" panose="02000503000000020004" pitchFamily="2" charset="0"/>
                <a:ea typeface="Helvetica Neue" panose="02000503000000020004" pitchFamily="2" charset="0"/>
                <a:cs typeface="Helvetica Neue" panose="02000503000000020004" pitchFamily="2" charset="0"/>
              </a:rPr>
            </a:br>
            <a:br>
              <a:rPr lang="en-US" sz="2400" dirty="0">
                <a:latin typeface="Helvetica Neue" panose="02000503000000020004" pitchFamily="2" charset="0"/>
                <a:ea typeface="Helvetica Neue" panose="02000503000000020004" pitchFamily="2" charset="0"/>
                <a:cs typeface="Helvetica Neue" panose="02000503000000020004" pitchFamily="2" charset="0"/>
              </a:rPr>
            </a:br>
            <a:r>
              <a:rPr lang="en-US" sz="2400" dirty="0">
                <a:latin typeface="Helvetica Neue" panose="02000503000000020004" pitchFamily="2" charset="0"/>
                <a:ea typeface="Helvetica Neue" panose="02000503000000020004" pitchFamily="2" charset="0"/>
                <a:cs typeface="Helvetica Neue" panose="02000503000000020004" pitchFamily="2" charset="0"/>
              </a:rPr>
              <a:t>The following slides show the basic required screenshots.</a:t>
            </a:r>
            <a:br>
              <a:rPr lang="en-US" sz="2400" dirty="0">
                <a:latin typeface="Helvetica Neue" panose="02000503000000020004" pitchFamily="2" charset="0"/>
                <a:ea typeface="Helvetica Neue" panose="02000503000000020004" pitchFamily="2" charset="0"/>
                <a:cs typeface="Helvetica Neue" panose="02000503000000020004" pitchFamily="2" charset="0"/>
              </a:rPr>
            </a:br>
            <a:br>
              <a:rPr lang="en-US" sz="2400" dirty="0">
                <a:latin typeface="Helvetica Neue" panose="02000503000000020004" pitchFamily="2" charset="0"/>
                <a:ea typeface="Helvetica Neue" panose="02000503000000020004" pitchFamily="2" charset="0"/>
                <a:cs typeface="Helvetica Neue" panose="02000503000000020004" pitchFamily="2" charset="0"/>
              </a:rPr>
            </a:br>
            <a:r>
              <a:rPr lang="en-US" sz="2400" dirty="0">
                <a:latin typeface="Helvetica Neue" panose="02000503000000020004" pitchFamily="2" charset="0"/>
                <a:ea typeface="Helvetica Neue" panose="02000503000000020004" pitchFamily="2" charset="0"/>
                <a:cs typeface="Helvetica Neue" panose="02000503000000020004" pitchFamily="2" charset="0"/>
              </a:rPr>
              <a:t>You will need to provide annotations explaining what is happening and if you implement new code you will need to show and discuss that too.</a:t>
            </a:r>
            <a:br>
              <a:rPr lang="en-US" sz="2400" dirty="0">
                <a:latin typeface="Helvetica Neue" panose="02000503000000020004" pitchFamily="2" charset="0"/>
                <a:ea typeface="Helvetica Neue" panose="02000503000000020004" pitchFamily="2" charset="0"/>
                <a:cs typeface="Helvetica Neue" panose="02000503000000020004" pitchFamily="2" charset="0"/>
              </a:rPr>
            </a:br>
            <a:br>
              <a:rPr lang="en-US" sz="2400" dirty="0">
                <a:latin typeface="Helvetica Neue" panose="02000503000000020004" pitchFamily="2" charset="0"/>
                <a:ea typeface="Helvetica Neue" panose="02000503000000020004" pitchFamily="2" charset="0"/>
                <a:cs typeface="Helvetica Neue" panose="02000503000000020004" pitchFamily="2" charset="0"/>
              </a:rPr>
            </a:br>
            <a:r>
              <a:rPr lang="en-US" sz="2400" dirty="0">
                <a:latin typeface="Helvetica Neue" panose="02000503000000020004" pitchFamily="2" charset="0"/>
                <a:ea typeface="Helvetica Neue" panose="02000503000000020004" pitchFamily="2" charset="0"/>
                <a:cs typeface="Helvetica Neue" panose="02000503000000020004" pitchFamily="2" charset="0"/>
              </a:rPr>
              <a:t>There is an example on Moodle.</a:t>
            </a:r>
          </a:p>
        </p:txBody>
      </p:sp>
      <p:pic>
        <p:nvPicPr>
          <p:cNvPr id="2" name="Picture 1">
            <a:extLst>
              <a:ext uri="{FF2B5EF4-FFF2-40B4-BE49-F238E27FC236}">
                <a16:creationId xmlns:a16="http://schemas.microsoft.com/office/drawing/2014/main" id="{F29F4E33-AF0B-7258-FAE8-DD9E4117A795}"/>
              </a:ext>
            </a:extLst>
          </p:cNvPr>
          <p:cNvPicPr>
            <a:picLocks noChangeAspect="1"/>
          </p:cNvPicPr>
          <p:nvPr/>
        </p:nvPicPr>
        <p:blipFill>
          <a:blip r:embed="rId2"/>
          <a:stretch>
            <a:fillRect/>
          </a:stretch>
        </p:blipFill>
        <p:spPr>
          <a:xfrm>
            <a:off x="5664199" y="4848957"/>
            <a:ext cx="4759871" cy="1702569"/>
          </a:xfrm>
          <a:prstGeom prst="rect">
            <a:avLst/>
          </a:prstGeom>
        </p:spPr>
      </p:pic>
    </p:spTree>
    <p:extLst>
      <p:ext uri="{BB962C8B-B14F-4D97-AF65-F5344CB8AC3E}">
        <p14:creationId xmlns:p14="http://schemas.microsoft.com/office/powerpoint/2010/main" val="2611436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backend server is running on port 3000 from ‘server’</a:t>
            </a:r>
          </a:p>
        </p:txBody>
      </p:sp>
      <p:pic>
        <p:nvPicPr>
          <p:cNvPr id="2" name="Picture 1">
            <a:extLst>
              <a:ext uri="{FF2B5EF4-FFF2-40B4-BE49-F238E27FC236}">
                <a16:creationId xmlns:a16="http://schemas.microsoft.com/office/drawing/2014/main" id="{A661C069-9A33-C948-7C50-23272ECC2FF3}"/>
              </a:ext>
            </a:extLst>
          </p:cNvPr>
          <p:cNvPicPr>
            <a:picLocks noChangeAspect="1"/>
          </p:cNvPicPr>
          <p:nvPr/>
        </p:nvPicPr>
        <p:blipFill>
          <a:blip r:embed="rId2"/>
          <a:stretch>
            <a:fillRect/>
          </a:stretch>
        </p:blipFill>
        <p:spPr>
          <a:xfrm>
            <a:off x="838200" y="1690688"/>
            <a:ext cx="6620691" cy="4693148"/>
          </a:xfrm>
          <a:prstGeom prst="rect">
            <a:avLst/>
          </a:prstGeom>
          <a:ln>
            <a:solidFill>
              <a:schemeClr val="bg1">
                <a:lumMod val="50000"/>
              </a:schemeClr>
            </a:solidFill>
          </a:ln>
        </p:spPr>
      </p:pic>
    </p:spTree>
    <p:extLst>
      <p:ext uri="{BB962C8B-B14F-4D97-AF65-F5344CB8AC3E}">
        <p14:creationId xmlns:p14="http://schemas.microsoft.com/office/powerpoint/2010/main" val="448020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6F7322C7-1F9F-0643-AE5F-CCD41963C7B3}"/>
              </a:ext>
            </a:extLst>
          </p:cNvPr>
          <p:cNvSpPr txBox="1">
            <a:spLocks/>
          </p:cNvSpPr>
          <p:nvPr/>
        </p:nvSpPr>
        <p:spPr>
          <a:xfrm>
            <a:off x="990599" y="26520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frontend server is running on port 8080 from ‘front-end’</a:t>
            </a:r>
          </a:p>
        </p:txBody>
      </p:sp>
      <p:pic>
        <p:nvPicPr>
          <p:cNvPr id="2" name="Picture 1">
            <a:extLst>
              <a:ext uri="{FF2B5EF4-FFF2-40B4-BE49-F238E27FC236}">
                <a16:creationId xmlns:a16="http://schemas.microsoft.com/office/drawing/2014/main" id="{BA1F699B-3260-679F-EA88-5DF001E07A92}"/>
              </a:ext>
            </a:extLst>
          </p:cNvPr>
          <p:cNvPicPr>
            <a:picLocks noChangeAspect="1"/>
          </p:cNvPicPr>
          <p:nvPr/>
        </p:nvPicPr>
        <p:blipFill>
          <a:blip r:embed="rId2"/>
          <a:stretch>
            <a:fillRect/>
          </a:stretch>
        </p:blipFill>
        <p:spPr>
          <a:xfrm>
            <a:off x="1025433" y="1843088"/>
            <a:ext cx="6193971" cy="4749704"/>
          </a:xfrm>
          <a:prstGeom prst="rect">
            <a:avLst/>
          </a:prstGeom>
          <a:ln>
            <a:solidFill>
              <a:schemeClr val="bg1">
                <a:lumMod val="50000"/>
              </a:schemeClr>
            </a:solidFill>
          </a:ln>
        </p:spPr>
      </p:pic>
    </p:spTree>
    <p:extLst>
      <p:ext uri="{BB962C8B-B14F-4D97-AF65-F5344CB8AC3E}">
        <p14:creationId xmlns:p14="http://schemas.microsoft.com/office/powerpoint/2010/main" val="3578023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02825"/>
            <a:ext cx="10515600" cy="1325563"/>
          </a:xfrm>
        </p:spPr>
        <p:txBody>
          <a:bodyPr>
            <a:normAutofit/>
          </a:bodyPr>
          <a:lstStyle/>
          <a:p>
            <a:r>
              <a:rPr lang="en-US" sz="5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home page is running</a:t>
            </a:r>
          </a:p>
        </p:txBody>
      </p:sp>
      <p:pic>
        <p:nvPicPr>
          <p:cNvPr id="2" name="Picture 1">
            <a:extLst>
              <a:ext uri="{FF2B5EF4-FFF2-40B4-BE49-F238E27FC236}">
                <a16:creationId xmlns:a16="http://schemas.microsoft.com/office/drawing/2014/main" id="{85E52BF5-CE03-33B1-3E04-96B656CE21E1}"/>
              </a:ext>
            </a:extLst>
          </p:cNvPr>
          <p:cNvPicPr>
            <a:picLocks noChangeAspect="1"/>
          </p:cNvPicPr>
          <p:nvPr/>
        </p:nvPicPr>
        <p:blipFill>
          <a:blip r:embed="rId2"/>
          <a:stretch>
            <a:fillRect/>
          </a:stretch>
        </p:blipFill>
        <p:spPr>
          <a:xfrm>
            <a:off x="927652" y="2259909"/>
            <a:ext cx="7451035" cy="4019738"/>
          </a:xfrm>
          <a:prstGeom prst="rect">
            <a:avLst/>
          </a:prstGeom>
          <a:ln>
            <a:solidFill>
              <a:schemeClr val="bg1">
                <a:lumMod val="50000"/>
              </a:schemeClr>
            </a:solidFill>
          </a:ln>
        </p:spPr>
      </p:pic>
      <p:sp>
        <p:nvSpPr>
          <p:cNvPr id="3" name="Title 3">
            <a:extLst>
              <a:ext uri="{FF2B5EF4-FFF2-40B4-BE49-F238E27FC236}">
                <a16:creationId xmlns:a16="http://schemas.microsoft.com/office/drawing/2014/main" id="{D459BA62-C189-3E41-6E32-CBEECE8C6B54}"/>
              </a:ext>
            </a:extLst>
          </p:cNvPr>
          <p:cNvSpPr txBox="1">
            <a:spLocks/>
          </p:cNvSpPr>
          <p:nvPr/>
        </p:nvSpPr>
        <p:spPr>
          <a:xfrm>
            <a:off x="838200" y="1041025"/>
            <a:ext cx="8262730" cy="132556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spc="60" dirty="0">
                <a:latin typeface="Helvetica Neue Light" panose="02000403000000020004" pitchFamily="2" charset="0"/>
                <a:ea typeface="Helvetica Neue Light" panose="02000403000000020004" pitchFamily="2" charset="0"/>
                <a:cs typeface="Georgia Pro Cond Black" panose="020F0502020204030204" pitchFamily="34" charset="0"/>
              </a:rPr>
              <a:t>Something to identify you</a:t>
            </a:r>
          </a:p>
        </p:txBody>
      </p:sp>
      <p:cxnSp>
        <p:nvCxnSpPr>
          <p:cNvPr id="5" name="Straight Arrow Connector 4">
            <a:extLst>
              <a:ext uri="{FF2B5EF4-FFF2-40B4-BE49-F238E27FC236}">
                <a16:creationId xmlns:a16="http://schemas.microsoft.com/office/drawing/2014/main" id="{60EC2A90-6E6F-67E7-28A0-1B586B4FCE39}"/>
              </a:ext>
            </a:extLst>
          </p:cNvPr>
          <p:cNvCxnSpPr>
            <a:cxnSpLocks/>
          </p:cNvCxnSpPr>
          <p:nvPr/>
        </p:nvCxnSpPr>
        <p:spPr>
          <a:xfrm flipH="1">
            <a:off x="2782957" y="1928191"/>
            <a:ext cx="1689652" cy="1798983"/>
          </a:xfrm>
          <a:prstGeom prst="straightConnector1">
            <a:avLst/>
          </a:prstGeom>
          <a:ln w="28575">
            <a:solidFill>
              <a:srgbClr val="C0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202979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9912531" cy="784406"/>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of add new</a:t>
            </a:r>
          </a:p>
        </p:txBody>
      </p:sp>
      <p:pic>
        <p:nvPicPr>
          <p:cNvPr id="2" name="Picture 1">
            <a:extLst>
              <a:ext uri="{FF2B5EF4-FFF2-40B4-BE49-F238E27FC236}">
                <a16:creationId xmlns:a16="http://schemas.microsoft.com/office/drawing/2014/main" id="{46AF3A25-3775-54FB-11D5-C9D0264BF26E}"/>
              </a:ext>
            </a:extLst>
          </p:cNvPr>
          <p:cNvPicPr>
            <a:picLocks noChangeAspect="1"/>
          </p:cNvPicPr>
          <p:nvPr/>
        </p:nvPicPr>
        <p:blipFill>
          <a:blip r:embed="rId2"/>
          <a:stretch>
            <a:fillRect/>
          </a:stretch>
        </p:blipFill>
        <p:spPr>
          <a:xfrm>
            <a:off x="838200" y="1149532"/>
            <a:ext cx="7772400" cy="3698730"/>
          </a:xfrm>
          <a:prstGeom prst="rect">
            <a:avLst/>
          </a:prstGeom>
          <a:ln>
            <a:solidFill>
              <a:schemeClr val="bg1">
                <a:lumMod val="50000"/>
              </a:schemeClr>
            </a:solidFill>
          </a:ln>
        </p:spPr>
      </p:pic>
      <p:pic>
        <p:nvPicPr>
          <p:cNvPr id="3" name="Picture 2">
            <a:extLst>
              <a:ext uri="{FF2B5EF4-FFF2-40B4-BE49-F238E27FC236}">
                <a16:creationId xmlns:a16="http://schemas.microsoft.com/office/drawing/2014/main" id="{542FBB30-609D-9E6C-E6D4-39D6F9D4D679}"/>
              </a:ext>
            </a:extLst>
          </p:cNvPr>
          <p:cNvPicPr>
            <a:picLocks noChangeAspect="1"/>
          </p:cNvPicPr>
          <p:nvPr/>
        </p:nvPicPr>
        <p:blipFill>
          <a:blip r:embed="rId3"/>
          <a:stretch>
            <a:fillRect/>
          </a:stretch>
        </p:blipFill>
        <p:spPr>
          <a:xfrm>
            <a:off x="838200" y="5153866"/>
            <a:ext cx="7772400" cy="957604"/>
          </a:xfrm>
          <a:prstGeom prst="rect">
            <a:avLst/>
          </a:prstGeom>
          <a:ln>
            <a:solidFill>
              <a:schemeClr val="bg1">
                <a:lumMod val="50000"/>
              </a:schemeClr>
            </a:solidFill>
          </a:ln>
        </p:spPr>
      </p:pic>
    </p:spTree>
    <p:extLst>
      <p:ext uri="{BB962C8B-B14F-4D97-AF65-F5344CB8AC3E}">
        <p14:creationId xmlns:p14="http://schemas.microsoft.com/office/powerpoint/2010/main" val="2497023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65126"/>
            <a:ext cx="10515600" cy="860244"/>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of show and edit </a:t>
            </a:r>
            <a:r>
              <a:rPr lang="en-US" sz="40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etc</a:t>
            </a:r>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t>
            </a:r>
          </a:p>
        </p:txBody>
      </p:sp>
      <p:pic>
        <p:nvPicPr>
          <p:cNvPr id="2" name="Picture 1">
            <a:extLst>
              <a:ext uri="{FF2B5EF4-FFF2-40B4-BE49-F238E27FC236}">
                <a16:creationId xmlns:a16="http://schemas.microsoft.com/office/drawing/2014/main" id="{6228ED02-F264-4A8C-D571-CB128653A7B5}"/>
              </a:ext>
            </a:extLst>
          </p:cNvPr>
          <p:cNvPicPr>
            <a:picLocks noChangeAspect="1"/>
          </p:cNvPicPr>
          <p:nvPr/>
        </p:nvPicPr>
        <p:blipFill>
          <a:blip r:embed="rId2"/>
          <a:stretch>
            <a:fillRect/>
          </a:stretch>
        </p:blipFill>
        <p:spPr>
          <a:xfrm>
            <a:off x="955764" y="1225370"/>
            <a:ext cx="7384286" cy="2876367"/>
          </a:xfrm>
          <a:prstGeom prst="rect">
            <a:avLst/>
          </a:prstGeom>
          <a:ln>
            <a:solidFill>
              <a:schemeClr val="bg1">
                <a:lumMod val="50000"/>
              </a:schemeClr>
            </a:solidFill>
          </a:ln>
        </p:spPr>
      </p:pic>
      <p:pic>
        <p:nvPicPr>
          <p:cNvPr id="6" name="Picture 5">
            <a:extLst>
              <a:ext uri="{FF2B5EF4-FFF2-40B4-BE49-F238E27FC236}">
                <a16:creationId xmlns:a16="http://schemas.microsoft.com/office/drawing/2014/main" id="{8AA9D0F0-5F47-24A8-DD2F-454DCBC551F4}"/>
              </a:ext>
            </a:extLst>
          </p:cNvPr>
          <p:cNvPicPr>
            <a:picLocks noChangeAspect="1"/>
          </p:cNvPicPr>
          <p:nvPr/>
        </p:nvPicPr>
        <p:blipFill>
          <a:blip r:embed="rId3"/>
          <a:stretch>
            <a:fillRect/>
          </a:stretch>
        </p:blipFill>
        <p:spPr>
          <a:xfrm>
            <a:off x="4510677" y="2928014"/>
            <a:ext cx="6943364" cy="2704616"/>
          </a:xfrm>
          <a:prstGeom prst="rect">
            <a:avLst/>
          </a:prstGeom>
          <a:ln>
            <a:solidFill>
              <a:schemeClr val="bg1">
                <a:lumMod val="50000"/>
              </a:schemeClr>
            </a:solidFill>
          </a:ln>
        </p:spPr>
      </p:pic>
    </p:spTree>
    <p:extLst>
      <p:ext uri="{BB962C8B-B14F-4D97-AF65-F5344CB8AC3E}">
        <p14:creationId xmlns:p14="http://schemas.microsoft.com/office/powerpoint/2010/main" val="532144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Evidence of delete</a:t>
            </a:r>
          </a:p>
        </p:txBody>
      </p:sp>
      <p:pic>
        <p:nvPicPr>
          <p:cNvPr id="3" name="Picture 2">
            <a:extLst>
              <a:ext uri="{FF2B5EF4-FFF2-40B4-BE49-F238E27FC236}">
                <a16:creationId xmlns:a16="http://schemas.microsoft.com/office/drawing/2014/main" id="{20D46942-9985-3FB3-4D66-52D7D69EADDC}"/>
              </a:ext>
            </a:extLst>
          </p:cNvPr>
          <p:cNvPicPr>
            <a:picLocks noChangeAspect="1"/>
          </p:cNvPicPr>
          <p:nvPr/>
        </p:nvPicPr>
        <p:blipFill>
          <a:blip r:embed="rId2"/>
          <a:stretch>
            <a:fillRect/>
          </a:stretch>
        </p:blipFill>
        <p:spPr>
          <a:xfrm>
            <a:off x="838200" y="1484216"/>
            <a:ext cx="7326086" cy="4896709"/>
          </a:xfrm>
          <a:prstGeom prst="rect">
            <a:avLst/>
          </a:prstGeom>
          <a:ln>
            <a:solidFill>
              <a:schemeClr val="bg1">
                <a:lumMod val="50000"/>
              </a:schemeClr>
            </a:solidFill>
          </a:ln>
        </p:spPr>
      </p:pic>
    </p:spTree>
    <p:extLst>
      <p:ext uri="{BB962C8B-B14F-4D97-AF65-F5344CB8AC3E}">
        <p14:creationId xmlns:p14="http://schemas.microsoft.com/office/powerpoint/2010/main" val="2974121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The data in my database</a:t>
            </a:r>
          </a:p>
        </p:txBody>
      </p:sp>
      <p:pic>
        <p:nvPicPr>
          <p:cNvPr id="2" name="Picture 1">
            <a:extLst>
              <a:ext uri="{FF2B5EF4-FFF2-40B4-BE49-F238E27FC236}">
                <a16:creationId xmlns:a16="http://schemas.microsoft.com/office/drawing/2014/main" id="{AE20CB0A-57ED-E577-4968-14DBE4C35835}"/>
              </a:ext>
            </a:extLst>
          </p:cNvPr>
          <p:cNvPicPr>
            <a:picLocks noChangeAspect="1"/>
          </p:cNvPicPr>
          <p:nvPr/>
        </p:nvPicPr>
        <p:blipFill>
          <a:blip r:embed="rId2"/>
          <a:stretch>
            <a:fillRect/>
          </a:stretch>
        </p:blipFill>
        <p:spPr>
          <a:xfrm>
            <a:off x="838200" y="2068908"/>
            <a:ext cx="10881325" cy="1937045"/>
          </a:xfrm>
          <a:prstGeom prst="rect">
            <a:avLst/>
          </a:prstGeom>
          <a:ln>
            <a:solidFill>
              <a:schemeClr val="bg1">
                <a:lumMod val="50000"/>
              </a:schemeClr>
            </a:solidFill>
          </a:ln>
        </p:spPr>
      </p:pic>
    </p:spTree>
    <p:extLst>
      <p:ext uri="{BB962C8B-B14F-4D97-AF65-F5344CB8AC3E}">
        <p14:creationId xmlns:p14="http://schemas.microsoft.com/office/powerpoint/2010/main" val="171989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1110465" y="243062"/>
            <a:ext cx="10161104" cy="936853"/>
          </a:xfrm>
        </p:spPr>
        <p:txBody>
          <a:bodyPr>
            <a:normAutofit/>
          </a:bodyPr>
          <a:lstStyle/>
          <a:p>
            <a:pPr marL="0" indent="0">
              <a:lnSpc>
                <a:spcPct val="150000"/>
              </a:lnSpc>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Additional task 3 – evidence 1</a:t>
            </a:r>
          </a:p>
        </p:txBody>
      </p:sp>
      <p:pic>
        <p:nvPicPr>
          <p:cNvPr id="3" name="Picture 2">
            <a:extLst>
              <a:ext uri="{FF2B5EF4-FFF2-40B4-BE49-F238E27FC236}">
                <a16:creationId xmlns:a16="http://schemas.microsoft.com/office/drawing/2014/main" id="{FDF10AE4-50C5-0FE8-E56A-3F5D6ADEF198}"/>
              </a:ext>
            </a:extLst>
          </p:cNvPr>
          <p:cNvPicPr>
            <a:picLocks noChangeAspect="1"/>
          </p:cNvPicPr>
          <p:nvPr/>
        </p:nvPicPr>
        <p:blipFill>
          <a:blip r:embed="rId2"/>
          <a:stretch>
            <a:fillRect/>
          </a:stretch>
        </p:blipFill>
        <p:spPr>
          <a:xfrm>
            <a:off x="1110465" y="1345474"/>
            <a:ext cx="6805007" cy="4472610"/>
          </a:xfrm>
          <a:prstGeom prst="rect">
            <a:avLst/>
          </a:prstGeom>
          <a:ln>
            <a:solidFill>
              <a:schemeClr val="bg1">
                <a:lumMod val="50000"/>
              </a:schemeClr>
            </a:solidFill>
          </a:ln>
        </p:spPr>
      </p:pic>
    </p:spTree>
    <p:extLst>
      <p:ext uri="{BB962C8B-B14F-4D97-AF65-F5344CB8AC3E}">
        <p14:creationId xmlns:p14="http://schemas.microsoft.com/office/powerpoint/2010/main" val="165346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0BD0EA-7EF7-3DDA-B096-B2EF89572856}"/>
              </a:ext>
            </a:extLst>
          </p:cNvPr>
          <p:cNvPicPr>
            <a:picLocks noChangeAspect="1"/>
          </p:cNvPicPr>
          <p:nvPr/>
        </p:nvPicPr>
        <p:blipFill>
          <a:blip r:embed="rId2"/>
          <a:stretch>
            <a:fillRect/>
          </a:stretch>
        </p:blipFill>
        <p:spPr>
          <a:xfrm>
            <a:off x="915256" y="1380623"/>
            <a:ext cx="7772400" cy="4384430"/>
          </a:xfrm>
          <a:prstGeom prst="rect">
            <a:avLst/>
          </a:prstGeom>
          <a:ln>
            <a:solidFill>
              <a:schemeClr val="bg1">
                <a:lumMod val="50000"/>
              </a:schemeClr>
            </a:solidFill>
          </a:ln>
        </p:spPr>
      </p:pic>
      <p:sp>
        <p:nvSpPr>
          <p:cNvPr id="7" name="Content Placeholder 4">
            <a:extLst>
              <a:ext uri="{FF2B5EF4-FFF2-40B4-BE49-F238E27FC236}">
                <a16:creationId xmlns:a16="http://schemas.microsoft.com/office/drawing/2014/main" id="{98E94FDB-8739-2DCA-BC78-5CEB1C7CA8D9}"/>
              </a:ext>
            </a:extLst>
          </p:cNvPr>
          <p:cNvSpPr txBox="1">
            <a:spLocks/>
          </p:cNvSpPr>
          <p:nvPr/>
        </p:nvSpPr>
        <p:spPr>
          <a:xfrm>
            <a:off x="1110465" y="243062"/>
            <a:ext cx="10161104" cy="9368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Additional task 3 – evidence 2</a:t>
            </a:r>
          </a:p>
        </p:txBody>
      </p:sp>
    </p:spTree>
    <p:extLst>
      <p:ext uri="{BB962C8B-B14F-4D97-AF65-F5344CB8AC3E}">
        <p14:creationId xmlns:p14="http://schemas.microsoft.com/office/powerpoint/2010/main" val="179836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text, application, email&#10;&#10;Description automatically generated">
            <a:extLst>
              <a:ext uri="{FF2B5EF4-FFF2-40B4-BE49-F238E27FC236}">
                <a16:creationId xmlns:a16="http://schemas.microsoft.com/office/drawing/2014/main" id="{F397F1FB-B1A6-38AB-8AD8-77A8BC8A0B45}"/>
              </a:ext>
            </a:extLst>
          </p:cNvPr>
          <p:cNvPicPr>
            <a:picLocks noChangeAspect="1"/>
          </p:cNvPicPr>
          <p:nvPr/>
        </p:nvPicPr>
        <p:blipFill>
          <a:blip r:embed="rId2"/>
          <a:stretch>
            <a:fillRect/>
          </a:stretch>
        </p:blipFill>
        <p:spPr>
          <a:xfrm>
            <a:off x="906694" y="1436384"/>
            <a:ext cx="7772400" cy="4384430"/>
          </a:xfrm>
          <a:prstGeom prst="rect">
            <a:avLst/>
          </a:prstGeom>
          <a:ln>
            <a:solidFill>
              <a:schemeClr val="bg1">
                <a:lumMod val="50000"/>
              </a:schemeClr>
            </a:solidFill>
          </a:ln>
        </p:spPr>
      </p:pic>
      <p:sp>
        <p:nvSpPr>
          <p:cNvPr id="9" name="Content Placeholder 4">
            <a:extLst>
              <a:ext uri="{FF2B5EF4-FFF2-40B4-BE49-F238E27FC236}">
                <a16:creationId xmlns:a16="http://schemas.microsoft.com/office/drawing/2014/main" id="{83F82B60-CC73-DCC8-0B85-C07E4641B207}"/>
              </a:ext>
            </a:extLst>
          </p:cNvPr>
          <p:cNvSpPr txBox="1">
            <a:spLocks/>
          </p:cNvSpPr>
          <p:nvPr/>
        </p:nvSpPr>
        <p:spPr>
          <a:xfrm>
            <a:off x="1110465" y="243062"/>
            <a:ext cx="10161104" cy="9368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Additional task 3 – evidence 3</a:t>
            </a:r>
          </a:p>
        </p:txBody>
      </p:sp>
    </p:spTree>
    <p:extLst>
      <p:ext uri="{BB962C8B-B14F-4D97-AF65-F5344CB8AC3E}">
        <p14:creationId xmlns:p14="http://schemas.microsoft.com/office/powerpoint/2010/main" val="88084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ACAC420-EA6E-90B5-9739-4BD8891410FD}"/>
              </a:ext>
            </a:extLst>
          </p:cNvPr>
          <p:cNvPicPr>
            <a:picLocks noChangeAspect="1"/>
          </p:cNvPicPr>
          <p:nvPr/>
        </p:nvPicPr>
        <p:blipFill>
          <a:blip r:embed="rId2"/>
          <a:stretch>
            <a:fillRect/>
          </a:stretch>
        </p:blipFill>
        <p:spPr>
          <a:xfrm>
            <a:off x="1015448" y="1380624"/>
            <a:ext cx="7772400" cy="4384430"/>
          </a:xfrm>
          <a:prstGeom prst="rect">
            <a:avLst/>
          </a:prstGeom>
          <a:ln>
            <a:solidFill>
              <a:schemeClr val="bg1">
                <a:lumMod val="50000"/>
              </a:schemeClr>
            </a:solidFill>
          </a:ln>
        </p:spPr>
      </p:pic>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1110465" y="243062"/>
            <a:ext cx="10161104" cy="93685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80" dirty="0">
                <a:solidFill>
                  <a:schemeClr val="tx1">
                    <a:lumMod val="85000"/>
                    <a:lumOff val="15000"/>
                  </a:schemeClr>
                </a:solidFill>
                <a:latin typeface="Helvetica Neue Light" panose="02000403000000020004" pitchFamily="2" charset="0"/>
                <a:ea typeface="Helvetica Neue Light" panose="02000403000000020004" pitchFamily="2" charset="0"/>
              </a:rPr>
              <a:t>Additional task 3 – evidence 4 – you get the idea…</a:t>
            </a:r>
          </a:p>
        </p:txBody>
      </p:sp>
    </p:spTree>
    <p:extLst>
      <p:ext uri="{BB962C8B-B14F-4D97-AF65-F5344CB8AC3E}">
        <p14:creationId xmlns:p14="http://schemas.microsoft.com/office/powerpoint/2010/main" val="1172809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814481" y="2230736"/>
            <a:ext cx="10861704" cy="21101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3600" spc="80" dirty="0">
                <a:solidFill>
                  <a:schemeClr val="tx1">
                    <a:lumMod val="85000"/>
                    <a:lumOff val="15000"/>
                  </a:schemeClr>
                </a:solidFill>
                <a:latin typeface="Helvetica Neue Light" panose="02000403000000020004" pitchFamily="2" charset="0"/>
                <a:ea typeface="Helvetica Neue Light" panose="02000403000000020004" pitchFamily="2" charset="0"/>
              </a:rPr>
              <a:t>Code snippets may be used in your PDF if you are not making a video, to identify your new code.</a:t>
            </a:r>
          </a:p>
        </p:txBody>
      </p:sp>
    </p:spTree>
    <p:extLst>
      <p:ext uri="{BB962C8B-B14F-4D97-AF65-F5344CB8AC3E}">
        <p14:creationId xmlns:p14="http://schemas.microsoft.com/office/powerpoint/2010/main" val="14951691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1015448" y="2777839"/>
            <a:ext cx="10161104" cy="13023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GB" sz="5400" spc="80" dirty="0">
                <a:solidFill>
                  <a:schemeClr val="tx1">
                    <a:lumMod val="85000"/>
                    <a:lumOff val="15000"/>
                  </a:schemeClr>
                </a:solidFill>
                <a:latin typeface="Helvetica Neue Light" panose="02000403000000020004" pitchFamily="2" charset="0"/>
                <a:ea typeface="Helvetica Neue Light" panose="02000403000000020004" pitchFamily="2" charset="0"/>
              </a:rPr>
              <a:t>Last time through the CW spec</a:t>
            </a:r>
          </a:p>
        </p:txBody>
      </p:sp>
    </p:spTree>
    <p:extLst>
      <p:ext uri="{BB962C8B-B14F-4D97-AF65-F5344CB8AC3E}">
        <p14:creationId xmlns:p14="http://schemas.microsoft.com/office/powerpoint/2010/main" val="2304910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1015448" y="0"/>
            <a:ext cx="10161104" cy="98457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4000" spc="80" dirty="0">
                <a:solidFill>
                  <a:schemeClr val="tx1">
                    <a:lumMod val="85000"/>
                    <a:lumOff val="15000"/>
                  </a:schemeClr>
                </a:solidFill>
                <a:latin typeface="Helvetica Neue Light" panose="02000403000000020004" pitchFamily="2" charset="0"/>
                <a:ea typeface="Helvetica Neue Light" panose="02000403000000020004" pitchFamily="2" charset="0"/>
              </a:rPr>
              <a:t>Final list of deliverables -code</a:t>
            </a:r>
          </a:p>
        </p:txBody>
      </p:sp>
      <p:pic>
        <p:nvPicPr>
          <p:cNvPr id="2" name="Picture 1">
            <a:extLst>
              <a:ext uri="{FF2B5EF4-FFF2-40B4-BE49-F238E27FC236}">
                <a16:creationId xmlns:a16="http://schemas.microsoft.com/office/drawing/2014/main" id="{279E741B-0A84-C2F6-253C-76857DB74D77}"/>
              </a:ext>
            </a:extLst>
          </p:cNvPr>
          <p:cNvPicPr>
            <a:picLocks noChangeAspect="1"/>
          </p:cNvPicPr>
          <p:nvPr/>
        </p:nvPicPr>
        <p:blipFill rotWithShape="1">
          <a:blip r:embed="rId2"/>
          <a:srcRect r="15930"/>
          <a:stretch/>
        </p:blipFill>
        <p:spPr>
          <a:xfrm>
            <a:off x="1015447" y="3221941"/>
            <a:ext cx="8357153" cy="986183"/>
          </a:xfrm>
          <a:prstGeom prst="rect">
            <a:avLst/>
          </a:prstGeom>
          <a:ln>
            <a:solidFill>
              <a:schemeClr val="bg1">
                <a:lumMod val="50000"/>
              </a:schemeClr>
            </a:solidFill>
          </a:ln>
        </p:spPr>
      </p:pic>
      <p:pic>
        <p:nvPicPr>
          <p:cNvPr id="3" name="Picture 2">
            <a:extLst>
              <a:ext uri="{FF2B5EF4-FFF2-40B4-BE49-F238E27FC236}">
                <a16:creationId xmlns:a16="http://schemas.microsoft.com/office/drawing/2014/main" id="{EA003A67-0980-79C5-EAC2-ED52E460BB50}"/>
              </a:ext>
            </a:extLst>
          </p:cNvPr>
          <p:cNvPicPr>
            <a:picLocks noChangeAspect="1"/>
          </p:cNvPicPr>
          <p:nvPr/>
        </p:nvPicPr>
        <p:blipFill rotWithShape="1">
          <a:blip r:embed="rId3"/>
          <a:srcRect r="19583"/>
          <a:stretch/>
        </p:blipFill>
        <p:spPr>
          <a:xfrm>
            <a:off x="1015447" y="4496070"/>
            <a:ext cx="7133291" cy="1928340"/>
          </a:xfrm>
          <a:prstGeom prst="rect">
            <a:avLst/>
          </a:prstGeom>
          <a:ln>
            <a:solidFill>
              <a:schemeClr val="bg1">
                <a:lumMod val="50000"/>
              </a:schemeClr>
            </a:solidFill>
          </a:ln>
        </p:spPr>
      </p:pic>
      <p:pic>
        <p:nvPicPr>
          <p:cNvPr id="4" name="Picture 3">
            <a:extLst>
              <a:ext uri="{FF2B5EF4-FFF2-40B4-BE49-F238E27FC236}">
                <a16:creationId xmlns:a16="http://schemas.microsoft.com/office/drawing/2014/main" id="{A8AECF81-50FE-8132-4844-6B292D5A6D5D}"/>
              </a:ext>
            </a:extLst>
          </p:cNvPr>
          <p:cNvPicPr>
            <a:picLocks noChangeAspect="1"/>
          </p:cNvPicPr>
          <p:nvPr/>
        </p:nvPicPr>
        <p:blipFill rotWithShape="1">
          <a:blip r:embed="rId4"/>
          <a:srcRect t="54396" r="44927"/>
          <a:stretch/>
        </p:blipFill>
        <p:spPr>
          <a:xfrm>
            <a:off x="1015447" y="1113092"/>
            <a:ext cx="4280453" cy="986183"/>
          </a:xfrm>
          <a:prstGeom prst="rect">
            <a:avLst/>
          </a:prstGeom>
          <a:ln>
            <a:solidFill>
              <a:schemeClr val="bg1">
                <a:lumMod val="50000"/>
              </a:schemeClr>
            </a:solidFill>
          </a:ln>
        </p:spPr>
      </p:pic>
      <p:pic>
        <p:nvPicPr>
          <p:cNvPr id="6" name="Picture 5">
            <a:extLst>
              <a:ext uri="{FF2B5EF4-FFF2-40B4-BE49-F238E27FC236}">
                <a16:creationId xmlns:a16="http://schemas.microsoft.com/office/drawing/2014/main" id="{CE3F4EB7-6C25-8A83-FA31-51C05548312D}"/>
              </a:ext>
            </a:extLst>
          </p:cNvPr>
          <p:cNvPicPr>
            <a:picLocks noChangeAspect="1"/>
          </p:cNvPicPr>
          <p:nvPr/>
        </p:nvPicPr>
        <p:blipFill>
          <a:blip r:embed="rId5"/>
          <a:stretch>
            <a:fillRect/>
          </a:stretch>
        </p:blipFill>
        <p:spPr>
          <a:xfrm>
            <a:off x="1015446" y="2324395"/>
            <a:ext cx="4280453" cy="710940"/>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D795F172-3B39-BD79-C911-F20C365F8B5F}"/>
              </a:ext>
            </a:extLst>
          </p:cNvPr>
          <p:cNvSpPr txBox="1"/>
          <p:nvPr/>
        </p:nvSpPr>
        <p:spPr>
          <a:xfrm>
            <a:off x="5981700" y="1005463"/>
            <a:ext cx="6019799" cy="1792735"/>
          </a:xfrm>
          <a:prstGeom prst="rect">
            <a:avLst/>
          </a:prstGeom>
          <a:noFill/>
        </p:spPr>
        <p:txBody>
          <a:bodyPr wrap="square" rtlCol="0">
            <a:spAutoFit/>
          </a:bodyPr>
          <a:lstStyle/>
          <a:p>
            <a:pPr>
              <a:lnSpc>
                <a:spcPct val="150000"/>
              </a:lnSpc>
            </a:pPr>
            <a:r>
              <a:rPr lang="en-US" sz="2200" dirty="0">
                <a:solidFill>
                  <a:srgbClr val="FF0000"/>
                </a:solidFill>
                <a:latin typeface="Helvetica Neue Light" panose="02000403000000020004" pitchFamily="2" charset="0"/>
                <a:ea typeface="Helvetica Neue Light" panose="02000403000000020004" pitchFamily="2" charset="0"/>
              </a:rPr>
              <a:t>Upload 1 zip file of all your code.</a:t>
            </a:r>
          </a:p>
          <a:p>
            <a:pPr>
              <a:lnSpc>
                <a:spcPct val="150000"/>
              </a:lnSpc>
            </a:pPr>
            <a:r>
              <a:rPr lang="en-US" dirty="0">
                <a:latin typeface="Helvetica Neue Light" panose="02000403000000020004" pitchFamily="2" charset="0"/>
                <a:ea typeface="Helvetica Neue Light" panose="02000403000000020004" pitchFamily="2" charset="0"/>
              </a:rPr>
              <a:t>It will contain 3 folders for the Vue work, weeks 2, 3 and 4  each containing the relevant lessons. If you did not save each week separately just upload what you have.</a:t>
            </a:r>
          </a:p>
        </p:txBody>
      </p:sp>
      <p:cxnSp>
        <p:nvCxnSpPr>
          <p:cNvPr id="9" name="Straight Arrow Connector 8">
            <a:extLst>
              <a:ext uri="{FF2B5EF4-FFF2-40B4-BE49-F238E27FC236}">
                <a16:creationId xmlns:a16="http://schemas.microsoft.com/office/drawing/2014/main" id="{3286635D-221B-398F-F8A8-FC433CE0BF1E}"/>
              </a:ext>
            </a:extLst>
          </p:cNvPr>
          <p:cNvCxnSpPr>
            <a:cxnSpLocks/>
          </p:cNvCxnSpPr>
          <p:nvPr/>
        </p:nvCxnSpPr>
        <p:spPr>
          <a:xfrm flipH="1">
            <a:off x="2844800" y="1435100"/>
            <a:ext cx="3136900" cy="1409700"/>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08111D5-5069-5AA4-AFFC-FB2A39722EC3}"/>
              </a:ext>
            </a:extLst>
          </p:cNvPr>
          <p:cNvCxnSpPr>
            <a:cxnSpLocks/>
          </p:cNvCxnSpPr>
          <p:nvPr/>
        </p:nvCxnSpPr>
        <p:spPr>
          <a:xfrm flipH="1">
            <a:off x="3670300" y="1295400"/>
            <a:ext cx="2311400" cy="0"/>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7" name="Straight Arrow Connector 16">
            <a:extLst>
              <a:ext uri="{FF2B5EF4-FFF2-40B4-BE49-F238E27FC236}">
                <a16:creationId xmlns:a16="http://schemas.microsoft.com/office/drawing/2014/main" id="{2B8F749A-5402-E10B-09BF-04B010729900}"/>
              </a:ext>
            </a:extLst>
          </p:cNvPr>
          <p:cNvCxnSpPr>
            <a:cxnSpLocks/>
            <a:stCxn id="7" idx="1"/>
          </p:cNvCxnSpPr>
          <p:nvPr/>
        </p:nvCxnSpPr>
        <p:spPr>
          <a:xfrm flipH="1">
            <a:off x="4559300" y="1901831"/>
            <a:ext cx="1422400" cy="1692269"/>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A44A02A6-E9BB-E19A-4B92-9F8962164D5B}"/>
              </a:ext>
            </a:extLst>
          </p:cNvPr>
          <p:cNvCxnSpPr>
            <a:cxnSpLocks/>
            <a:stCxn id="7" idx="1"/>
          </p:cNvCxnSpPr>
          <p:nvPr/>
        </p:nvCxnSpPr>
        <p:spPr>
          <a:xfrm>
            <a:off x="5981700" y="1901831"/>
            <a:ext cx="0" cy="1320110"/>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3F0D2D75-0D4F-6D59-05D7-6B8E3D3D3391}"/>
              </a:ext>
            </a:extLst>
          </p:cNvPr>
          <p:cNvSpPr txBox="1"/>
          <p:nvPr/>
        </p:nvSpPr>
        <p:spPr>
          <a:xfrm>
            <a:off x="8432799" y="4394730"/>
            <a:ext cx="3568699" cy="1700402"/>
          </a:xfrm>
          <a:prstGeom prst="rect">
            <a:avLst/>
          </a:prstGeom>
          <a:noFill/>
        </p:spPr>
        <p:txBody>
          <a:bodyPr wrap="square" rtlCol="0">
            <a:spAutoFit/>
          </a:bodyPr>
          <a:lstStyle/>
          <a:p>
            <a:pPr>
              <a:lnSpc>
                <a:spcPct val="150000"/>
              </a:lnSpc>
            </a:pPr>
            <a:r>
              <a:rPr lang="en-US" dirty="0">
                <a:latin typeface="Helvetica Neue Light" panose="02000403000000020004" pitchFamily="2" charset="0"/>
                <a:ea typeface="Helvetica Neue Light" panose="02000403000000020004" pitchFamily="2" charset="0"/>
              </a:rPr>
              <a:t>In the same zip include a copy of the SRC folder from your vocab front-end. That is all, otherwise it will be too large.</a:t>
            </a:r>
          </a:p>
        </p:txBody>
      </p:sp>
      <p:cxnSp>
        <p:nvCxnSpPr>
          <p:cNvPr id="25" name="Straight Arrow Connector 24">
            <a:extLst>
              <a:ext uri="{FF2B5EF4-FFF2-40B4-BE49-F238E27FC236}">
                <a16:creationId xmlns:a16="http://schemas.microsoft.com/office/drawing/2014/main" id="{B17A2EE8-AF11-091A-0975-28BA6EC2917A}"/>
              </a:ext>
            </a:extLst>
          </p:cNvPr>
          <p:cNvCxnSpPr>
            <a:cxnSpLocks/>
          </p:cNvCxnSpPr>
          <p:nvPr/>
        </p:nvCxnSpPr>
        <p:spPr>
          <a:xfrm flipH="1" flipV="1">
            <a:off x="6223000" y="4585265"/>
            <a:ext cx="2209799" cy="138935"/>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385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4">
            <a:extLst>
              <a:ext uri="{FF2B5EF4-FFF2-40B4-BE49-F238E27FC236}">
                <a16:creationId xmlns:a16="http://schemas.microsoft.com/office/drawing/2014/main" id="{E7750E0C-F1E5-03FA-9951-B53376C429BC}"/>
              </a:ext>
            </a:extLst>
          </p:cNvPr>
          <p:cNvSpPr txBox="1">
            <a:spLocks/>
          </p:cNvSpPr>
          <p:nvPr/>
        </p:nvSpPr>
        <p:spPr>
          <a:xfrm>
            <a:off x="1015448" y="1782619"/>
            <a:ext cx="10161104" cy="329276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GB" sz="5400" spc="80" dirty="0">
                <a:solidFill>
                  <a:schemeClr val="tx1">
                    <a:lumMod val="85000"/>
                    <a:lumOff val="15000"/>
                  </a:schemeClr>
                </a:solidFill>
                <a:latin typeface="Helvetica Neue Light" panose="02000403000000020004" pitchFamily="2" charset="0"/>
                <a:ea typeface="Helvetica Neue Light" panose="02000403000000020004" pitchFamily="2" charset="0"/>
              </a:rPr>
              <a:t>If you don’t understand something, ask me or Alfie.</a:t>
            </a:r>
          </a:p>
        </p:txBody>
      </p:sp>
    </p:spTree>
    <p:extLst>
      <p:ext uri="{BB962C8B-B14F-4D97-AF65-F5344CB8AC3E}">
        <p14:creationId xmlns:p14="http://schemas.microsoft.com/office/powerpoint/2010/main" val="152381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954828"/>
            <a:ext cx="12192000" cy="3676136"/>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3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2995</TotalTime>
  <Words>1073</Words>
  <Application>Microsoft Macintosh PowerPoint</Application>
  <PresentationFormat>Widescreen</PresentationFormat>
  <Paragraphs>72</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American Typewriter</vt:lpstr>
      <vt:lpstr>Arial</vt:lpstr>
      <vt:lpstr>Calibri</vt:lpstr>
      <vt:lpstr>Calibri Light</vt:lpstr>
      <vt:lpstr>Helvetica Neue</vt:lpstr>
      <vt:lpstr>Helvetica Neue Light</vt:lpstr>
      <vt:lpstr>Helvetica Neue Thin</vt:lpstr>
      <vt:lpstr>Office Theme</vt:lpstr>
      <vt:lpstr>COMP 1842</vt:lpstr>
      <vt:lpstr>CW part 2 – 60% </vt:lpstr>
      <vt:lpstr>Deliverables </vt:lpstr>
      <vt:lpstr>Additional tasks for extra marks  </vt:lpstr>
      <vt:lpstr>Carry out these tasks independently.  They are not as hard as they may at first seem.  If you want to back up / duplicate your system back up or rename the ‘src’ folder only, it is quite small (57kb).  Do not back up the node-modules folder, it is huge (130 meg).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 requirements Please watch my video on Moodle  </vt:lpstr>
      <vt:lpstr>If for some reason it is not possible for you to make a video walkthrough you may provide a PDF instead.  The following slides show the basic required screenshots.  You will need to provide annotations explaining what is happening and if you implement new code you will need to show and discuss that too.  There is an example on Moodle.</vt:lpstr>
      <vt:lpstr>Evidence backend server is running on port 3000 from ‘server’</vt:lpstr>
      <vt:lpstr>PowerPoint Presentation</vt:lpstr>
      <vt:lpstr>Evidence home page is running</vt:lpstr>
      <vt:lpstr>Evidence of add new</vt:lpstr>
      <vt:lpstr>Evidence of show and edit etc…</vt:lpstr>
      <vt:lpstr>Evidence of delete</vt:lpstr>
      <vt:lpstr>The data in my database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58</cp:revision>
  <dcterms:created xsi:type="dcterms:W3CDTF">2020-06-28T01:46:05Z</dcterms:created>
  <dcterms:modified xsi:type="dcterms:W3CDTF">2025-03-28T11:23:13Z</dcterms:modified>
</cp:coreProperties>
</file>