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325" r:id="rId4"/>
    <p:sldId id="307" r:id="rId5"/>
    <p:sldId id="328" r:id="rId6"/>
    <p:sldId id="329" r:id="rId7"/>
    <p:sldId id="330" r:id="rId8"/>
    <p:sldId id="331" r:id="rId9"/>
    <p:sldId id="332" r:id="rId10"/>
    <p:sldId id="333" r:id="rId11"/>
    <p:sldId id="334" r:id="rId12"/>
    <p:sldId id="335" r:id="rId13"/>
    <p:sldId id="336" r:id="rId14"/>
    <p:sldId id="310" r:id="rId15"/>
    <p:sldId id="322" r:id="rId16"/>
    <p:sldId id="318" r:id="rId17"/>
    <p:sldId id="317" r:id="rId18"/>
    <p:sldId id="320" r:id="rId19"/>
    <p:sldId id="323" r:id="rId20"/>
    <p:sldId id="321" r:id="rId21"/>
    <p:sldId id="305"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473F"/>
    <a:srgbClr val="FF574B"/>
    <a:srgbClr val="FF5B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28"/>
    <p:restoredTop sz="86395"/>
  </p:normalViewPr>
  <p:slideViewPr>
    <p:cSldViewPr snapToGrid="0" snapToObjects="1">
      <p:cViewPr varScale="1">
        <p:scale>
          <a:sx n="103" d="100"/>
          <a:sy n="103" d="100"/>
        </p:scale>
        <p:origin x="848" y="16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2/13/25</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2/13/25</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blogs.gre.ac.uk/cmssupport/application-development/databases/mongodb/"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mongodb.com/docs/compass/current/documents/view/"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docs.mongodb.com/manual/reference/sql-compariso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cs.mongodb.com/manual/administration/install-community/" TargetMode="Externa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mongodb.com/products/compas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57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485420"/>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640041"/>
            <a:ext cx="12192000" cy="1236652"/>
          </a:xfrm>
        </p:spPr>
        <p:txBody>
          <a:bodyPr>
            <a:normAutofit/>
          </a:bodyPr>
          <a:lstStyle/>
          <a:p>
            <a:r>
              <a:rPr lang="en-US" sz="4800" dirty="0">
                <a:solidFill>
                  <a:schemeClr val="bg1"/>
                </a:solidFill>
                <a:latin typeface="Helvetica Neue Thin" panose="020B0403020202020204" pitchFamily="34" charset="0"/>
                <a:ea typeface="Helvetica Neue Thin" panose="020B0403020202020204" pitchFamily="34" charset="0"/>
              </a:rPr>
              <a:t>MongoDB in the labs and Home</a:t>
            </a: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79413"/>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Introduction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95577" y="2100263"/>
            <a:ext cx="3390900" cy="3189288"/>
          </a:xfrm>
        </p:spPr>
        <p:txBody>
          <a:bodyPr>
            <a:normAutofit/>
          </a:bodyPr>
          <a:lstStyle/>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Compass</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Demos</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Tutorials</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Labs</a:t>
            </a:r>
          </a:p>
        </p:txBody>
      </p:sp>
      <p:pic>
        <p:nvPicPr>
          <p:cNvPr id="1026" name="Picture 2" descr="MongoDB Compass: A no-code tool for data analysts | by Looi Yih Foo | Medium">
            <a:extLst>
              <a:ext uri="{FF2B5EF4-FFF2-40B4-BE49-F238E27FC236}">
                <a16:creationId xmlns:a16="http://schemas.microsoft.com/office/drawing/2014/main" id="{C6323480-B3E5-00B0-9943-4B7D6EC3E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6900" y="2236703"/>
            <a:ext cx="5676900" cy="2384594"/>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3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226540" y="193040"/>
            <a:ext cx="11738919" cy="1325563"/>
          </a:xfrm>
        </p:spPr>
        <p:txBody>
          <a:bodyPr>
            <a:noAutofit/>
          </a:bodyPr>
          <a:lstStyle/>
          <a:p>
            <a:pPr algn="ctr"/>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Think…phpMyAdmin for MongoDB</a:t>
            </a:r>
          </a:p>
        </p:txBody>
      </p:sp>
      <p:pic>
        <p:nvPicPr>
          <p:cNvPr id="2" name="Picture 1">
            <a:extLst>
              <a:ext uri="{FF2B5EF4-FFF2-40B4-BE49-F238E27FC236}">
                <a16:creationId xmlns:a16="http://schemas.microsoft.com/office/drawing/2014/main" id="{265B1EC1-2EFE-DE3C-37E6-9C5303A7FD45}"/>
              </a:ext>
            </a:extLst>
          </p:cNvPr>
          <p:cNvPicPr>
            <a:picLocks noChangeAspect="1"/>
          </p:cNvPicPr>
          <p:nvPr/>
        </p:nvPicPr>
        <p:blipFill>
          <a:blip r:embed="rId2"/>
          <a:stretch>
            <a:fillRect/>
          </a:stretch>
        </p:blipFill>
        <p:spPr>
          <a:xfrm>
            <a:off x="1238471" y="1268892"/>
            <a:ext cx="9715057" cy="5160583"/>
          </a:xfrm>
          <a:prstGeom prst="rect">
            <a:avLst/>
          </a:prstGeom>
          <a:ln>
            <a:solidFill>
              <a:schemeClr val="accent1"/>
            </a:solidFill>
          </a:ln>
        </p:spPr>
      </p:pic>
    </p:spTree>
    <p:extLst>
      <p:ext uri="{BB962C8B-B14F-4D97-AF65-F5344CB8AC3E}">
        <p14:creationId xmlns:p14="http://schemas.microsoft.com/office/powerpoint/2010/main" val="3000291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Autofit/>
          </a:bodyPr>
          <a:lstStyle/>
          <a:p>
            <a:r>
              <a:rPr lang="en-GB" sz="2000" dirty="0">
                <a:solidFill>
                  <a:srgbClr val="D3473F"/>
                </a:solidFill>
                <a:latin typeface="American Typewriter" panose="02090604020004020304" pitchFamily="18" charset="77"/>
                <a:hlinkClick r:id="rId2"/>
              </a:rPr>
              <a:t>https://</a:t>
            </a:r>
            <a:r>
              <a:rPr lang="en-GB" sz="2000" dirty="0" err="1">
                <a:solidFill>
                  <a:srgbClr val="D3473F"/>
                </a:solidFill>
                <a:latin typeface="American Typewriter" panose="02090604020004020304" pitchFamily="18" charset="77"/>
                <a:hlinkClick r:id="rId2"/>
              </a:rPr>
              <a:t>blogs.gre.ac.uk</a:t>
            </a:r>
            <a:r>
              <a:rPr lang="en-GB" sz="2000" dirty="0">
                <a:solidFill>
                  <a:srgbClr val="D3473F"/>
                </a:solidFill>
                <a:latin typeface="American Typewriter" panose="02090604020004020304" pitchFamily="18" charset="77"/>
                <a:hlinkClick r:id="rId2"/>
              </a:rPr>
              <a:t>/</a:t>
            </a:r>
            <a:r>
              <a:rPr lang="en-GB" sz="2000" dirty="0" err="1">
                <a:solidFill>
                  <a:srgbClr val="D3473F"/>
                </a:solidFill>
                <a:latin typeface="American Typewriter" panose="02090604020004020304" pitchFamily="18" charset="77"/>
                <a:hlinkClick r:id="rId2"/>
              </a:rPr>
              <a:t>cmssupport</a:t>
            </a:r>
            <a:r>
              <a:rPr lang="en-GB" sz="2000" dirty="0">
                <a:solidFill>
                  <a:srgbClr val="D3473F"/>
                </a:solidFill>
                <a:latin typeface="American Typewriter" panose="02090604020004020304" pitchFamily="18" charset="77"/>
                <a:hlinkClick r:id="rId2"/>
              </a:rPr>
              <a:t>/application-development/databases/</a:t>
            </a:r>
            <a:r>
              <a:rPr lang="en-GB" sz="2000" dirty="0" err="1">
                <a:solidFill>
                  <a:srgbClr val="D3473F"/>
                </a:solidFill>
                <a:latin typeface="American Typewriter" panose="02090604020004020304" pitchFamily="18" charset="77"/>
                <a:hlinkClick r:id="rId2"/>
              </a:rPr>
              <a:t>mongodb</a:t>
            </a:r>
            <a:r>
              <a:rPr lang="en-GB" sz="2000" dirty="0">
                <a:solidFill>
                  <a:srgbClr val="D3473F"/>
                </a:solidFill>
                <a:latin typeface="American Typewriter" panose="02090604020004020304" pitchFamily="18" charset="77"/>
                <a:hlinkClick r:id="rId2"/>
              </a:rPr>
              <a:t>/</a:t>
            </a:r>
            <a:endParaRPr lang="en-GB" sz="2000" dirty="0">
              <a:solidFill>
                <a:srgbClr val="D3473F"/>
              </a:solidFill>
              <a:latin typeface="American Typewriter" panose="02090604020004020304" pitchFamily="18" charset="77"/>
            </a:endParaRPr>
          </a:p>
        </p:txBody>
      </p:sp>
      <p:sp>
        <p:nvSpPr>
          <p:cNvPr id="5" name="Content Placeholder 4">
            <a:extLst>
              <a:ext uri="{FF2B5EF4-FFF2-40B4-BE49-F238E27FC236}">
                <a16:creationId xmlns:a16="http://schemas.microsoft.com/office/drawing/2014/main" id="{09574D41-0043-1047-BAA2-DBC210F7AA01}"/>
              </a:ext>
            </a:extLst>
          </p:cNvPr>
          <p:cNvSpPr>
            <a:spLocks noGrp="1"/>
          </p:cNvSpPr>
          <p:nvPr>
            <p:ph idx="1"/>
          </p:nvPr>
        </p:nvSpPr>
        <p:spPr>
          <a:xfrm>
            <a:off x="5643563" y="1185864"/>
            <a:ext cx="6229351" cy="5429249"/>
          </a:xfrm>
        </p:spPr>
        <p:txBody>
          <a:bodyPr>
            <a:normAutofit lnSpcReduction="10000"/>
          </a:bodyPr>
          <a:lstStyle/>
          <a:p>
            <a:pPr marL="0" indent="0">
              <a:lnSpc>
                <a:spcPct val="160000"/>
              </a:lnSpc>
              <a:buNone/>
            </a:pPr>
            <a:r>
              <a:rPr lang="en-GB" sz="2200" dirty="0">
                <a:latin typeface="Helvetica Neue Light" panose="02000403000000020004" pitchFamily="2" charset="0"/>
                <a:ea typeface="Helvetica Neue Light" panose="02000403000000020004" pitchFamily="2" charset="0"/>
              </a:rPr>
              <a:t>Follow these CMS instructions for accessing your student MongoDB database</a:t>
            </a:r>
          </a:p>
          <a:p>
            <a:pPr marL="0" indent="0">
              <a:lnSpc>
                <a:spcPct val="160000"/>
              </a:lnSpc>
              <a:buNone/>
            </a:pPr>
            <a:r>
              <a:rPr lang="en-GB" sz="2200" dirty="0">
                <a:latin typeface="Helvetica Neue Light" panose="02000403000000020004" pitchFamily="2" charset="0"/>
                <a:ea typeface="Helvetica Neue Light" panose="02000403000000020004" pitchFamily="2" charset="0"/>
              </a:rPr>
              <a:t>Follow the instructions </a:t>
            </a:r>
            <a:r>
              <a:rPr lang="en-GB" sz="2200" b="1" dirty="0">
                <a:solidFill>
                  <a:srgbClr val="FF0000"/>
                </a:solidFill>
                <a:latin typeface="Helvetica Neue Light" panose="02000403000000020004" pitchFamily="2" charset="0"/>
                <a:ea typeface="Helvetica Neue Light" panose="02000403000000020004" pitchFamily="2" charset="0"/>
              </a:rPr>
              <a:t>carefully.</a:t>
            </a:r>
          </a:p>
          <a:p>
            <a:pPr marL="0" indent="0">
              <a:lnSpc>
                <a:spcPct val="160000"/>
              </a:lnSpc>
              <a:buNone/>
            </a:pPr>
            <a:r>
              <a:rPr lang="en-GB" sz="2200" dirty="0">
                <a:latin typeface="Helvetica Neue Light" panose="02000403000000020004" pitchFamily="2" charset="0"/>
                <a:ea typeface="Helvetica Neue Light" panose="02000403000000020004" pitchFamily="2" charset="0"/>
              </a:rPr>
              <a:t>Your student </a:t>
            </a:r>
            <a:r>
              <a:rPr lang="en-GB" sz="2200">
                <a:latin typeface="Helvetica Neue Light" panose="02000403000000020004" pitchFamily="2" charset="0"/>
                <a:ea typeface="Helvetica Neue Light" panose="02000403000000020004" pitchFamily="2" charset="0"/>
              </a:rPr>
              <a:t>‘username’ </a:t>
            </a:r>
            <a:r>
              <a:rPr lang="en-GB" sz="2200" dirty="0">
                <a:latin typeface="Helvetica Neue Light" panose="02000403000000020004" pitchFamily="2" charset="0"/>
                <a:ea typeface="Helvetica Neue Light" panose="02000403000000020004" pitchFamily="2" charset="0"/>
              </a:rPr>
              <a:t>is used for all 3 parts of the authentication.</a:t>
            </a:r>
          </a:p>
          <a:p>
            <a:pPr marL="0" indent="0">
              <a:lnSpc>
                <a:spcPct val="160000"/>
              </a:lnSpc>
              <a:buNone/>
            </a:pPr>
            <a:r>
              <a:rPr lang="en-GB" sz="2200" dirty="0">
                <a:latin typeface="Helvetica Neue Light" panose="02000403000000020004" pitchFamily="2" charset="0"/>
                <a:ea typeface="Helvetica Neue Light" panose="02000403000000020004" pitchFamily="2" charset="0"/>
              </a:rPr>
              <a:t>Do this straight away, Alfie and I will help if needed.</a:t>
            </a:r>
          </a:p>
          <a:p>
            <a:pPr marL="0" indent="0">
              <a:lnSpc>
                <a:spcPct val="160000"/>
              </a:lnSpc>
              <a:buNone/>
            </a:pPr>
            <a:r>
              <a:rPr lang="en-GB" sz="2200" dirty="0">
                <a:latin typeface="Helvetica Neue Light" panose="02000403000000020004" pitchFamily="2" charset="0"/>
                <a:ea typeface="Helvetica Neue Light" panose="02000403000000020004" pitchFamily="2" charset="0"/>
              </a:rPr>
              <a:t>Connection string is:</a:t>
            </a:r>
          </a:p>
          <a:p>
            <a:pPr marL="0" indent="0">
              <a:lnSpc>
                <a:spcPct val="160000"/>
              </a:lnSpc>
              <a:buNone/>
            </a:pPr>
            <a:r>
              <a:rPr lang="en-GB" sz="2200" b="1" dirty="0" err="1">
                <a:latin typeface="Helvetica Neue Light" panose="02000403000000020004" pitchFamily="2" charset="0"/>
                <a:ea typeface="Helvetica Neue Light" panose="02000403000000020004" pitchFamily="2" charset="0"/>
              </a:rPr>
              <a:t>mongodb</a:t>
            </a:r>
            <a:r>
              <a:rPr lang="en-GB" sz="2200" b="1" dirty="0">
                <a:latin typeface="Helvetica Neue Light" panose="02000403000000020004" pitchFamily="2" charset="0"/>
                <a:ea typeface="Helvetica Neue Light" panose="02000403000000020004" pitchFamily="2" charset="0"/>
              </a:rPr>
              <a:t>://vmp1lstumdb01:27017/</a:t>
            </a: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B8E09C8B-0CC2-A0F2-1AF5-F2F4812A1A04}"/>
              </a:ext>
            </a:extLst>
          </p:cNvPr>
          <p:cNvPicPr>
            <a:picLocks noChangeAspect="1"/>
          </p:cNvPicPr>
          <p:nvPr/>
        </p:nvPicPr>
        <p:blipFill>
          <a:blip r:embed="rId3"/>
          <a:stretch>
            <a:fillRect/>
          </a:stretch>
        </p:blipFill>
        <p:spPr>
          <a:xfrm>
            <a:off x="848826" y="1185864"/>
            <a:ext cx="4628049" cy="4760912"/>
          </a:xfrm>
          <a:prstGeom prst="rect">
            <a:avLst/>
          </a:prstGeom>
          <a:ln>
            <a:solidFill>
              <a:schemeClr val="bg1">
                <a:lumMod val="65000"/>
              </a:schemeClr>
            </a:solidFill>
          </a:ln>
        </p:spPr>
      </p:pic>
    </p:spTree>
    <p:extLst>
      <p:ext uri="{BB962C8B-B14F-4D97-AF65-F5344CB8AC3E}">
        <p14:creationId xmlns:p14="http://schemas.microsoft.com/office/powerpoint/2010/main" val="144562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1AEF8-0A40-20B5-5440-F0772B69049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02DD2E8-3EA0-A3C8-E382-ADB2C5D28C7D}"/>
              </a:ext>
            </a:extLst>
          </p:cNvPr>
          <p:cNvSpPr>
            <a:spLocks noGrp="1"/>
          </p:cNvSpPr>
          <p:nvPr>
            <p:ph idx="1"/>
          </p:nvPr>
        </p:nvSpPr>
        <p:spPr>
          <a:xfrm>
            <a:off x="5484074" y="612203"/>
            <a:ext cx="6229351" cy="5429249"/>
          </a:xfrm>
        </p:spPr>
        <p:txBody>
          <a:bodyPr>
            <a:normAutofit/>
          </a:bodyPr>
          <a:lstStyle/>
          <a:p>
            <a:pPr marL="0" indent="0">
              <a:lnSpc>
                <a:spcPct val="160000"/>
              </a:lnSpc>
              <a:buNone/>
            </a:pPr>
            <a:r>
              <a:rPr lang="en-GB" sz="2200" dirty="0">
                <a:latin typeface="Helvetica Neue Light" panose="02000403000000020004" pitchFamily="2" charset="0"/>
                <a:ea typeface="Helvetica Neue Light" panose="02000403000000020004" pitchFamily="2" charset="0"/>
              </a:rPr>
              <a:t>When connected you should see a database with your name on the left, very much like </a:t>
            </a:r>
            <a:r>
              <a:rPr lang="en-GB" sz="2200" dirty="0" err="1">
                <a:latin typeface="Helvetica Neue Light" panose="02000403000000020004" pitchFamily="2" charset="0"/>
                <a:ea typeface="Helvetica Neue Light" panose="02000403000000020004" pitchFamily="2" charset="0"/>
              </a:rPr>
              <a:t>PHPMyAdmin</a:t>
            </a:r>
            <a:r>
              <a:rPr lang="en-GB" sz="2200" dirty="0">
                <a:latin typeface="Helvetica Neue Light" panose="02000403000000020004" pitchFamily="2" charset="0"/>
                <a:ea typeface="Helvetica Neue Light" panose="02000403000000020004" pitchFamily="2" charset="0"/>
              </a:rPr>
              <a:t>. Mine already has some collections (tables) in it, yours will be empty.</a:t>
            </a:r>
            <a:endParaRPr lang="en-GB" sz="2200" b="1"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CC5F27A9-45CF-A3CF-0E22-B150168ACD76}"/>
              </a:ext>
            </a:extLst>
          </p:cNvPr>
          <p:cNvPicPr>
            <a:picLocks noChangeAspect="1"/>
          </p:cNvPicPr>
          <p:nvPr/>
        </p:nvPicPr>
        <p:blipFill>
          <a:blip r:embed="rId2"/>
          <a:stretch>
            <a:fillRect/>
          </a:stretch>
        </p:blipFill>
        <p:spPr>
          <a:xfrm>
            <a:off x="208884" y="612203"/>
            <a:ext cx="4852273" cy="4100512"/>
          </a:xfrm>
          <a:prstGeom prst="rect">
            <a:avLst/>
          </a:prstGeom>
          <a:ln>
            <a:solidFill>
              <a:schemeClr val="bg1">
                <a:lumMod val="50000"/>
              </a:schemeClr>
            </a:solidFill>
          </a:ln>
        </p:spPr>
      </p:pic>
      <p:cxnSp>
        <p:nvCxnSpPr>
          <p:cNvPr id="8" name="Straight Arrow Connector 7">
            <a:extLst>
              <a:ext uri="{FF2B5EF4-FFF2-40B4-BE49-F238E27FC236}">
                <a16:creationId xmlns:a16="http://schemas.microsoft.com/office/drawing/2014/main" id="{B7EFA72B-866D-389E-D873-B63E28F80296}"/>
              </a:ext>
            </a:extLst>
          </p:cNvPr>
          <p:cNvCxnSpPr>
            <a:cxnSpLocks/>
          </p:cNvCxnSpPr>
          <p:nvPr/>
        </p:nvCxnSpPr>
        <p:spPr>
          <a:xfrm flipH="1">
            <a:off x="1988288" y="1543464"/>
            <a:ext cx="3495786" cy="2060973"/>
          </a:xfrm>
          <a:prstGeom prst="straightConnector1">
            <a:avLst/>
          </a:prstGeom>
          <a:ln w="34925">
            <a:solidFill>
              <a:srgbClr val="FF574B"/>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3C9B93F3-D40B-0519-4830-F58FAC0A1614}"/>
              </a:ext>
            </a:extLst>
          </p:cNvPr>
          <p:cNvCxnSpPr>
            <a:cxnSpLocks/>
          </p:cNvCxnSpPr>
          <p:nvPr/>
        </p:nvCxnSpPr>
        <p:spPr>
          <a:xfrm flipH="1">
            <a:off x="2635020" y="2752751"/>
            <a:ext cx="3189525" cy="1734189"/>
          </a:xfrm>
          <a:prstGeom prst="straightConnector1">
            <a:avLst/>
          </a:prstGeom>
          <a:ln w="34925">
            <a:solidFill>
              <a:srgbClr val="FF574B"/>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14384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58FEC-6815-BE3C-413A-0538EE543796}"/>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338FB35-945B-5E2A-3FD6-6BACF1774854}"/>
              </a:ext>
            </a:extLst>
          </p:cNvPr>
          <p:cNvSpPr>
            <a:spLocks noGrp="1"/>
          </p:cNvSpPr>
          <p:nvPr>
            <p:ph idx="1"/>
          </p:nvPr>
        </p:nvSpPr>
        <p:spPr>
          <a:xfrm>
            <a:off x="490654" y="5131041"/>
            <a:ext cx="7377438" cy="1195332"/>
          </a:xfrm>
        </p:spPr>
        <p:txBody>
          <a:bodyPr>
            <a:normAutofit/>
          </a:bodyPr>
          <a:lstStyle/>
          <a:p>
            <a:pPr marL="0" indent="0">
              <a:lnSpc>
                <a:spcPct val="160000"/>
              </a:lnSpc>
              <a:buNone/>
            </a:pPr>
            <a:r>
              <a:rPr lang="en-GB" sz="2200" dirty="0">
                <a:latin typeface="Helvetica Neue Light" panose="02000403000000020004" pitchFamily="2" charset="0"/>
                <a:ea typeface="Helvetica Neue Light" panose="02000403000000020004" pitchFamily="2" charset="0"/>
              </a:rPr>
              <a:t>Click the little plus sign next to your database name and name your new collection ‘bob’ </a:t>
            </a:r>
            <a:endParaRPr lang="en-GB" sz="2200" b="1"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06F0D50B-9594-9A3F-E6A8-93FEC00D1391}"/>
              </a:ext>
            </a:extLst>
          </p:cNvPr>
          <p:cNvPicPr>
            <a:picLocks noChangeAspect="1"/>
          </p:cNvPicPr>
          <p:nvPr/>
        </p:nvPicPr>
        <p:blipFill>
          <a:blip r:embed="rId2"/>
          <a:stretch>
            <a:fillRect/>
          </a:stretch>
        </p:blipFill>
        <p:spPr>
          <a:xfrm>
            <a:off x="407377" y="406489"/>
            <a:ext cx="9757348" cy="4344023"/>
          </a:xfrm>
          <a:prstGeom prst="rect">
            <a:avLst/>
          </a:prstGeom>
        </p:spPr>
      </p:pic>
      <p:cxnSp>
        <p:nvCxnSpPr>
          <p:cNvPr id="10" name="Straight Arrow Connector 9">
            <a:extLst>
              <a:ext uri="{FF2B5EF4-FFF2-40B4-BE49-F238E27FC236}">
                <a16:creationId xmlns:a16="http://schemas.microsoft.com/office/drawing/2014/main" id="{335ADFB8-6131-23A3-B3B7-A97C88773F99}"/>
              </a:ext>
            </a:extLst>
          </p:cNvPr>
          <p:cNvCxnSpPr>
            <a:cxnSpLocks/>
          </p:cNvCxnSpPr>
          <p:nvPr/>
        </p:nvCxnSpPr>
        <p:spPr>
          <a:xfrm flipV="1">
            <a:off x="2137144" y="1424763"/>
            <a:ext cx="202019" cy="3706278"/>
          </a:xfrm>
          <a:prstGeom prst="straightConnector1">
            <a:avLst/>
          </a:prstGeom>
          <a:ln w="34925">
            <a:solidFill>
              <a:srgbClr val="FF574B"/>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5712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046AC-9D92-6B8B-FD27-18660FBD84D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C633EF-D812-F580-821B-DF93C27F9EAB}"/>
              </a:ext>
            </a:extLst>
          </p:cNvPr>
          <p:cNvPicPr>
            <a:picLocks noChangeAspect="1"/>
          </p:cNvPicPr>
          <p:nvPr/>
        </p:nvPicPr>
        <p:blipFill>
          <a:blip r:embed="rId2"/>
          <a:stretch>
            <a:fillRect/>
          </a:stretch>
        </p:blipFill>
        <p:spPr>
          <a:xfrm>
            <a:off x="699976" y="438959"/>
            <a:ext cx="10272823" cy="4812220"/>
          </a:xfrm>
          <a:prstGeom prst="rect">
            <a:avLst/>
          </a:prstGeom>
          <a:ln>
            <a:solidFill>
              <a:schemeClr val="bg1">
                <a:lumMod val="50000"/>
              </a:schemeClr>
            </a:solidFill>
          </a:ln>
        </p:spPr>
      </p:pic>
      <p:sp>
        <p:nvSpPr>
          <p:cNvPr id="5" name="Content Placeholder 4">
            <a:extLst>
              <a:ext uri="{FF2B5EF4-FFF2-40B4-BE49-F238E27FC236}">
                <a16:creationId xmlns:a16="http://schemas.microsoft.com/office/drawing/2014/main" id="{43E674CD-3E86-4AB3-E5EB-3C22526A87E9}"/>
              </a:ext>
            </a:extLst>
          </p:cNvPr>
          <p:cNvSpPr>
            <a:spLocks noGrp="1"/>
          </p:cNvSpPr>
          <p:nvPr>
            <p:ph idx="1"/>
          </p:nvPr>
        </p:nvSpPr>
        <p:spPr>
          <a:xfrm>
            <a:off x="699976" y="5518567"/>
            <a:ext cx="10070804" cy="1195332"/>
          </a:xfrm>
        </p:spPr>
        <p:txBody>
          <a:bodyPr>
            <a:normAutofit/>
          </a:bodyPr>
          <a:lstStyle/>
          <a:p>
            <a:pPr marL="0" indent="0">
              <a:lnSpc>
                <a:spcPct val="160000"/>
              </a:lnSpc>
              <a:buNone/>
            </a:pPr>
            <a:r>
              <a:rPr lang="en-GB" sz="2200" dirty="0">
                <a:latin typeface="Helvetica Neue Light" panose="02000403000000020004" pitchFamily="2" charset="0"/>
                <a:ea typeface="Helvetica Neue Light" panose="02000403000000020004" pitchFamily="2" charset="0"/>
              </a:rPr>
              <a:t>You should now see an import data button, find the bob the builder </a:t>
            </a:r>
            <a:r>
              <a:rPr lang="en-GB" sz="2200" dirty="0" err="1">
                <a:latin typeface="Helvetica Neue Light" panose="02000403000000020004" pitchFamily="2" charset="0"/>
                <a:ea typeface="Helvetica Neue Light" panose="02000403000000020004" pitchFamily="2" charset="0"/>
              </a:rPr>
              <a:t>json</a:t>
            </a:r>
            <a:r>
              <a:rPr lang="en-GB" sz="2200" dirty="0">
                <a:latin typeface="Helvetica Neue Light" panose="02000403000000020004" pitchFamily="2" charset="0"/>
                <a:ea typeface="Helvetica Neue Light" panose="02000403000000020004" pitchFamily="2" charset="0"/>
              </a:rPr>
              <a:t> file from the bob </a:t>
            </a:r>
            <a:r>
              <a:rPr lang="en-GB" sz="2200" dirty="0" err="1">
                <a:latin typeface="Helvetica Neue Light" panose="02000403000000020004" pitchFamily="2" charset="0"/>
                <a:ea typeface="Helvetica Neue Light" panose="02000403000000020004" pitchFamily="2" charset="0"/>
              </a:rPr>
              <a:t>buikder</a:t>
            </a:r>
            <a:r>
              <a:rPr lang="en-GB" sz="2200" dirty="0">
                <a:latin typeface="Helvetica Neue Light" panose="02000403000000020004" pitchFamily="2" charset="0"/>
                <a:ea typeface="Helvetica Neue Light" panose="02000403000000020004" pitchFamily="2" charset="0"/>
              </a:rPr>
              <a:t> zip on </a:t>
            </a:r>
            <a:r>
              <a:rPr lang="en-GB" sz="2200" dirty="0" err="1">
                <a:latin typeface="Helvetica Neue Light" panose="02000403000000020004" pitchFamily="2" charset="0"/>
                <a:ea typeface="Helvetica Neue Light" panose="02000403000000020004" pitchFamily="2" charset="0"/>
              </a:rPr>
              <a:t>moodle</a:t>
            </a:r>
            <a:r>
              <a:rPr lang="en-GB" sz="2200" dirty="0">
                <a:latin typeface="Helvetica Neue Light" panose="02000403000000020004" pitchFamily="2" charset="0"/>
                <a:ea typeface="Helvetica Neue Light" panose="02000403000000020004" pitchFamily="2" charset="0"/>
              </a:rPr>
              <a:t> and </a:t>
            </a:r>
            <a:r>
              <a:rPr lang="en-GB" sz="2200">
                <a:latin typeface="Helvetica Neue Light" panose="02000403000000020004" pitchFamily="2" charset="0"/>
                <a:ea typeface="Helvetica Neue Light" panose="02000403000000020004" pitchFamily="2" charset="0"/>
              </a:rPr>
              <a:t>import it.</a:t>
            </a:r>
            <a:endParaRPr lang="en-GB" sz="2200" b="1"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p:txBody>
      </p:sp>
      <p:cxnSp>
        <p:nvCxnSpPr>
          <p:cNvPr id="10" name="Straight Arrow Connector 9">
            <a:extLst>
              <a:ext uri="{FF2B5EF4-FFF2-40B4-BE49-F238E27FC236}">
                <a16:creationId xmlns:a16="http://schemas.microsoft.com/office/drawing/2014/main" id="{61725E62-58F6-874C-A6AE-6ED06EAC273F}"/>
              </a:ext>
            </a:extLst>
          </p:cNvPr>
          <p:cNvCxnSpPr>
            <a:cxnSpLocks/>
          </p:cNvCxnSpPr>
          <p:nvPr/>
        </p:nvCxnSpPr>
        <p:spPr>
          <a:xfrm flipV="1">
            <a:off x="8144540" y="5046561"/>
            <a:ext cx="659218" cy="705653"/>
          </a:xfrm>
          <a:prstGeom prst="straightConnector1">
            <a:avLst/>
          </a:prstGeom>
          <a:ln w="34925">
            <a:solidFill>
              <a:srgbClr val="FF574B"/>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7555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A975C-9261-4888-6694-0DEFE08CE6E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FF29359-F357-1BE2-3B9A-42A72482E7E4}"/>
              </a:ext>
            </a:extLst>
          </p:cNvPr>
          <p:cNvPicPr>
            <a:picLocks noChangeAspect="1"/>
          </p:cNvPicPr>
          <p:nvPr/>
        </p:nvPicPr>
        <p:blipFill>
          <a:blip r:embed="rId2"/>
          <a:stretch>
            <a:fillRect/>
          </a:stretch>
        </p:blipFill>
        <p:spPr>
          <a:xfrm>
            <a:off x="827568" y="534653"/>
            <a:ext cx="7772400" cy="3640917"/>
          </a:xfrm>
          <a:prstGeom prst="rect">
            <a:avLst/>
          </a:prstGeom>
          <a:ln>
            <a:solidFill>
              <a:schemeClr val="bg1">
                <a:lumMod val="50000"/>
              </a:schemeClr>
            </a:solidFill>
          </a:ln>
        </p:spPr>
      </p:pic>
      <p:cxnSp>
        <p:nvCxnSpPr>
          <p:cNvPr id="10" name="Straight Arrow Connector 9">
            <a:extLst>
              <a:ext uri="{FF2B5EF4-FFF2-40B4-BE49-F238E27FC236}">
                <a16:creationId xmlns:a16="http://schemas.microsoft.com/office/drawing/2014/main" id="{050D8398-C69C-91DA-2B8B-BF1A39DC82DC}"/>
              </a:ext>
            </a:extLst>
          </p:cNvPr>
          <p:cNvCxnSpPr>
            <a:cxnSpLocks/>
          </p:cNvCxnSpPr>
          <p:nvPr/>
        </p:nvCxnSpPr>
        <p:spPr>
          <a:xfrm flipV="1">
            <a:off x="2530549" y="3646967"/>
            <a:ext cx="829339" cy="1254643"/>
          </a:xfrm>
          <a:prstGeom prst="straightConnector1">
            <a:avLst/>
          </a:prstGeom>
          <a:ln w="34925">
            <a:solidFill>
              <a:srgbClr val="FF574B"/>
            </a:solidFill>
            <a:tailEnd type="triangle"/>
          </a:ln>
        </p:spPr>
        <p:style>
          <a:lnRef idx="1">
            <a:schemeClr val="accent2"/>
          </a:lnRef>
          <a:fillRef idx="0">
            <a:schemeClr val="accent2"/>
          </a:fillRef>
          <a:effectRef idx="0">
            <a:schemeClr val="accent2"/>
          </a:effectRef>
          <a:fontRef idx="minor">
            <a:schemeClr val="tx1"/>
          </a:fontRef>
        </p:style>
      </p:cxnSp>
      <p:sp>
        <p:nvSpPr>
          <p:cNvPr id="9" name="Content Placeholder 4">
            <a:extLst>
              <a:ext uri="{FF2B5EF4-FFF2-40B4-BE49-F238E27FC236}">
                <a16:creationId xmlns:a16="http://schemas.microsoft.com/office/drawing/2014/main" id="{6CA39E00-B4EA-9AE8-9D84-FF0E9CAFAFCA}"/>
              </a:ext>
            </a:extLst>
          </p:cNvPr>
          <p:cNvSpPr>
            <a:spLocks noGrp="1"/>
          </p:cNvSpPr>
          <p:nvPr>
            <p:ph idx="1"/>
          </p:nvPr>
        </p:nvSpPr>
        <p:spPr>
          <a:xfrm>
            <a:off x="827568" y="4901610"/>
            <a:ext cx="10070804" cy="1195332"/>
          </a:xfrm>
        </p:spPr>
        <p:txBody>
          <a:bodyPr>
            <a:normAutofit/>
          </a:bodyPr>
          <a:lstStyle/>
          <a:p>
            <a:pPr marL="0" indent="0">
              <a:lnSpc>
                <a:spcPct val="160000"/>
              </a:lnSpc>
              <a:buNone/>
            </a:pPr>
            <a:r>
              <a:rPr lang="en-GB" sz="2200" dirty="0">
                <a:latin typeface="Helvetica Neue Light" panose="02000403000000020004" pitchFamily="2" charset="0"/>
                <a:ea typeface="Helvetica Neue Light" panose="02000403000000020004" pitchFamily="2" charset="0"/>
              </a:rPr>
              <a:t>Your imported data – notice a unique _id (or primary key) is generated for you</a:t>
            </a:r>
            <a:endParaRPr lang="en-GB" sz="2200" b="1"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941171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DC5D8-4C5E-D2FA-5310-7B7505C1A84A}"/>
            </a:ext>
          </a:extLst>
        </p:cNvPr>
        <p:cNvGrpSpPr/>
        <p:nvPr/>
      </p:nvGrpSpPr>
      <p:grpSpPr>
        <a:xfrm>
          <a:off x="0" y="0"/>
          <a:ext cx="0" cy="0"/>
          <a:chOff x="0" y="0"/>
          <a:chExt cx="0" cy="0"/>
        </a:xfrm>
      </p:grpSpPr>
      <p:sp>
        <p:nvSpPr>
          <p:cNvPr id="9" name="Content Placeholder 4">
            <a:extLst>
              <a:ext uri="{FF2B5EF4-FFF2-40B4-BE49-F238E27FC236}">
                <a16:creationId xmlns:a16="http://schemas.microsoft.com/office/drawing/2014/main" id="{84178DE8-CEE9-E99E-A051-1207CC693148}"/>
              </a:ext>
            </a:extLst>
          </p:cNvPr>
          <p:cNvSpPr>
            <a:spLocks noGrp="1"/>
          </p:cNvSpPr>
          <p:nvPr>
            <p:ph idx="1"/>
          </p:nvPr>
        </p:nvSpPr>
        <p:spPr>
          <a:xfrm>
            <a:off x="827568" y="1471025"/>
            <a:ext cx="11059633" cy="2581992"/>
          </a:xfrm>
        </p:spPr>
        <p:txBody>
          <a:bodyPr>
            <a:normAutofit/>
          </a:bodyPr>
          <a:lstStyle/>
          <a:p>
            <a:pPr marL="0" indent="0">
              <a:lnSpc>
                <a:spcPct val="160000"/>
              </a:lnSpc>
              <a:buNone/>
            </a:pPr>
            <a:r>
              <a:rPr lang="en-GB" sz="2200" dirty="0">
                <a:latin typeface="Helvetica Neue Light" panose="02000403000000020004" pitchFamily="2" charset="0"/>
                <a:ea typeface="Helvetica Neue Light" panose="02000403000000020004" pitchFamily="2" charset="0"/>
              </a:rPr>
              <a:t>Notice the 3 buttons at the top right of your data  window.</a:t>
            </a:r>
          </a:p>
          <a:p>
            <a:pPr marL="0" indent="0">
              <a:lnSpc>
                <a:spcPct val="160000"/>
              </a:lnSpc>
              <a:buNone/>
            </a:pPr>
            <a:r>
              <a:rPr lang="en-GB" sz="2200" dirty="0">
                <a:latin typeface="Helvetica Neue Light" panose="02000403000000020004" pitchFamily="2" charset="0"/>
                <a:ea typeface="Helvetica Neue Light" panose="02000403000000020004" pitchFamily="2" charset="0"/>
              </a:rPr>
              <a:t>They are, List view, JSON view and Table view. Click on them all and see how the view of your data changes.</a:t>
            </a:r>
          </a:p>
          <a:p>
            <a:pPr marL="0" indent="0">
              <a:lnSpc>
                <a:spcPct val="160000"/>
              </a:lnSpc>
              <a:buNone/>
            </a:pPr>
            <a:r>
              <a:rPr lang="en-GB" sz="2200" dirty="0">
                <a:latin typeface="Helvetica Neue Light" panose="02000403000000020004" pitchFamily="2" charset="0"/>
                <a:ea typeface="Helvetica Neue Light" panose="02000403000000020004" pitchFamily="2" charset="0"/>
              </a:rPr>
              <a:t>You will probably feel most comfortable in Table view coming from a MySQL background</a:t>
            </a: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68D8D841-3227-CAF3-B4EB-C6DC92B41C9F}"/>
              </a:ext>
            </a:extLst>
          </p:cNvPr>
          <p:cNvPicPr>
            <a:picLocks noChangeAspect="1"/>
          </p:cNvPicPr>
          <p:nvPr/>
        </p:nvPicPr>
        <p:blipFill>
          <a:blip r:embed="rId2"/>
          <a:stretch>
            <a:fillRect/>
          </a:stretch>
        </p:blipFill>
        <p:spPr>
          <a:xfrm>
            <a:off x="827568" y="386991"/>
            <a:ext cx="6279919" cy="926071"/>
          </a:xfrm>
          <a:prstGeom prst="rect">
            <a:avLst/>
          </a:prstGeom>
          <a:ln>
            <a:solidFill>
              <a:schemeClr val="bg1">
                <a:lumMod val="50000"/>
              </a:schemeClr>
            </a:solidFill>
          </a:ln>
        </p:spPr>
      </p:pic>
      <p:sp>
        <p:nvSpPr>
          <p:cNvPr id="5" name="Rectangle 4">
            <a:extLst>
              <a:ext uri="{FF2B5EF4-FFF2-40B4-BE49-F238E27FC236}">
                <a16:creationId xmlns:a16="http://schemas.microsoft.com/office/drawing/2014/main" id="{57DCCE26-D05C-BFC8-9FB6-A0492952527D}"/>
              </a:ext>
            </a:extLst>
          </p:cNvPr>
          <p:cNvSpPr/>
          <p:nvPr/>
        </p:nvSpPr>
        <p:spPr>
          <a:xfrm>
            <a:off x="4738504" y="410902"/>
            <a:ext cx="2421925" cy="8345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EAF49C7-D3F9-E279-21B8-72DF0C1EDB76}"/>
              </a:ext>
            </a:extLst>
          </p:cNvPr>
          <p:cNvPicPr>
            <a:picLocks noChangeAspect="1"/>
          </p:cNvPicPr>
          <p:nvPr/>
        </p:nvPicPr>
        <p:blipFill>
          <a:blip r:embed="rId3"/>
          <a:stretch>
            <a:fillRect/>
          </a:stretch>
        </p:blipFill>
        <p:spPr>
          <a:xfrm>
            <a:off x="998779" y="4278627"/>
            <a:ext cx="10716106" cy="2035676"/>
          </a:xfrm>
          <a:prstGeom prst="rect">
            <a:avLst/>
          </a:prstGeom>
          <a:ln>
            <a:solidFill>
              <a:schemeClr val="bg1">
                <a:lumMod val="50000"/>
              </a:schemeClr>
            </a:solidFill>
          </a:ln>
        </p:spPr>
      </p:pic>
    </p:spTree>
    <p:extLst>
      <p:ext uri="{BB962C8B-B14F-4D97-AF65-F5344CB8AC3E}">
        <p14:creationId xmlns:p14="http://schemas.microsoft.com/office/powerpoint/2010/main" val="3547193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171DA-E376-AA1E-9AFE-499CEED1819A}"/>
            </a:ext>
          </a:extLst>
        </p:cNvPr>
        <p:cNvGrpSpPr/>
        <p:nvPr/>
      </p:nvGrpSpPr>
      <p:grpSpPr>
        <a:xfrm>
          <a:off x="0" y="0"/>
          <a:ext cx="0" cy="0"/>
          <a:chOff x="0" y="0"/>
          <a:chExt cx="0" cy="0"/>
        </a:xfrm>
      </p:grpSpPr>
      <p:sp>
        <p:nvSpPr>
          <p:cNvPr id="9" name="Content Placeholder 4">
            <a:extLst>
              <a:ext uri="{FF2B5EF4-FFF2-40B4-BE49-F238E27FC236}">
                <a16:creationId xmlns:a16="http://schemas.microsoft.com/office/drawing/2014/main" id="{8FEA6552-B5F9-7B6F-F27E-B9AAB8C39C6F}"/>
              </a:ext>
            </a:extLst>
          </p:cNvPr>
          <p:cNvSpPr>
            <a:spLocks noGrp="1"/>
          </p:cNvSpPr>
          <p:nvPr>
            <p:ph idx="1"/>
          </p:nvPr>
        </p:nvSpPr>
        <p:spPr>
          <a:xfrm>
            <a:off x="566183" y="2625868"/>
            <a:ext cx="11059633" cy="1612500"/>
          </a:xfrm>
        </p:spPr>
        <p:txBody>
          <a:bodyPr>
            <a:normAutofit lnSpcReduction="10000"/>
          </a:bodyPr>
          <a:lstStyle/>
          <a:p>
            <a:pPr marL="0" indent="0">
              <a:lnSpc>
                <a:spcPct val="160000"/>
              </a:lnSpc>
              <a:buNone/>
            </a:pPr>
            <a:r>
              <a:rPr lang="en-GB" sz="2200" dirty="0">
                <a:latin typeface="Helvetica Neue Light" panose="02000403000000020004" pitchFamily="2" charset="0"/>
                <a:ea typeface="Helvetica Neue Light" panose="02000403000000020004" pitchFamily="2" charset="0"/>
              </a:rPr>
              <a:t>Double click on the word ”builder” and the edit/delete options open. Here we can edit the content or change the data type from the down menu etc. Notice the little plus sign. Click it and click ”Add field after job” call it hourly pay, data type decimal, put a value in</a:t>
            </a: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E5F7270B-48E7-86B4-1B69-0F551B854097}"/>
              </a:ext>
            </a:extLst>
          </p:cNvPr>
          <p:cNvPicPr>
            <a:picLocks noChangeAspect="1"/>
          </p:cNvPicPr>
          <p:nvPr/>
        </p:nvPicPr>
        <p:blipFill>
          <a:blip r:embed="rId2"/>
          <a:stretch>
            <a:fillRect/>
          </a:stretch>
        </p:blipFill>
        <p:spPr>
          <a:xfrm>
            <a:off x="566183" y="351759"/>
            <a:ext cx="10442328" cy="1983668"/>
          </a:xfrm>
          <a:prstGeom prst="rect">
            <a:avLst/>
          </a:prstGeom>
          <a:ln>
            <a:solidFill>
              <a:schemeClr val="bg1">
                <a:lumMod val="50000"/>
              </a:schemeClr>
            </a:solidFill>
          </a:ln>
        </p:spPr>
      </p:pic>
      <p:sp>
        <p:nvSpPr>
          <p:cNvPr id="5" name="Rectangle 4">
            <a:extLst>
              <a:ext uri="{FF2B5EF4-FFF2-40B4-BE49-F238E27FC236}">
                <a16:creationId xmlns:a16="http://schemas.microsoft.com/office/drawing/2014/main" id="{BAEEA51D-26E6-EB66-8539-A7B7C8488FF2}"/>
              </a:ext>
            </a:extLst>
          </p:cNvPr>
          <p:cNvSpPr/>
          <p:nvPr/>
        </p:nvSpPr>
        <p:spPr>
          <a:xfrm>
            <a:off x="6400800" y="1158229"/>
            <a:ext cx="3707027" cy="84356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4701508-FF69-8ECA-1206-3BD8E563A535}"/>
              </a:ext>
            </a:extLst>
          </p:cNvPr>
          <p:cNvPicPr>
            <a:picLocks noChangeAspect="1"/>
          </p:cNvPicPr>
          <p:nvPr/>
        </p:nvPicPr>
        <p:blipFill>
          <a:blip r:embed="rId3"/>
          <a:stretch>
            <a:fillRect/>
          </a:stretch>
        </p:blipFill>
        <p:spPr>
          <a:xfrm>
            <a:off x="566183" y="4392884"/>
            <a:ext cx="3912535" cy="1010279"/>
          </a:xfrm>
          <a:prstGeom prst="rect">
            <a:avLst/>
          </a:prstGeom>
          <a:ln>
            <a:solidFill>
              <a:schemeClr val="bg1">
                <a:lumMod val="50000"/>
              </a:schemeClr>
            </a:solidFill>
          </a:ln>
        </p:spPr>
      </p:pic>
      <p:pic>
        <p:nvPicPr>
          <p:cNvPr id="7" name="Picture 6">
            <a:extLst>
              <a:ext uri="{FF2B5EF4-FFF2-40B4-BE49-F238E27FC236}">
                <a16:creationId xmlns:a16="http://schemas.microsoft.com/office/drawing/2014/main" id="{21C281BF-228F-DA23-E4D3-D48ED50DE7E9}"/>
              </a:ext>
            </a:extLst>
          </p:cNvPr>
          <p:cNvPicPr>
            <a:picLocks noChangeAspect="1"/>
          </p:cNvPicPr>
          <p:nvPr/>
        </p:nvPicPr>
        <p:blipFill>
          <a:blip r:embed="rId4"/>
          <a:stretch>
            <a:fillRect/>
          </a:stretch>
        </p:blipFill>
        <p:spPr>
          <a:xfrm>
            <a:off x="5129420" y="4345058"/>
            <a:ext cx="6249785" cy="1105929"/>
          </a:xfrm>
          <a:prstGeom prst="rect">
            <a:avLst/>
          </a:prstGeom>
          <a:ln>
            <a:solidFill>
              <a:schemeClr val="bg1">
                <a:lumMod val="50000"/>
              </a:schemeClr>
            </a:solidFill>
          </a:ln>
        </p:spPr>
      </p:pic>
    </p:spTree>
    <p:extLst>
      <p:ext uri="{BB962C8B-B14F-4D97-AF65-F5344CB8AC3E}">
        <p14:creationId xmlns:p14="http://schemas.microsoft.com/office/powerpoint/2010/main" val="2773662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DD0D-8246-7D7E-A138-A0BEA6B45E9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E4A4A0-C79F-9043-775D-12D93C7E1D9A}"/>
              </a:ext>
            </a:extLst>
          </p:cNvPr>
          <p:cNvPicPr>
            <a:picLocks noChangeAspect="1"/>
          </p:cNvPicPr>
          <p:nvPr/>
        </p:nvPicPr>
        <p:blipFill>
          <a:blip r:embed="rId2"/>
          <a:stretch>
            <a:fillRect/>
          </a:stretch>
        </p:blipFill>
        <p:spPr>
          <a:xfrm>
            <a:off x="637478" y="314987"/>
            <a:ext cx="10988338" cy="1513488"/>
          </a:xfrm>
          <a:prstGeom prst="rect">
            <a:avLst/>
          </a:prstGeom>
          <a:ln>
            <a:solidFill>
              <a:schemeClr val="bg1">
                <a:lumMod val="50000"/>
              </a:schemeClr>
            </a:solidFill>
          </a:ln>
        </p:spPr>
      </p:pic>
      <p:sp>
        <p:nvSpPr>
          <p:cNvPr id="9" name="Content Placeholder 4">
            <a:extLst>
              <a:ext uri="{FF2B5EF4-FFF2-40B4-BE49-F238E27FC236}">
                <a16:creationId xmlns:a16="http://schemas.microsoft.com/office/drawing/2014/main" id="{1BE6C85C-0555-C293-5D82-B6E8B4EF5D1B}"/>
              </a:ext>
            </a:extLst>
          </p:cNvPr>
          <p:cNvSpPr>
            <a:spLocks noGrp="1"/>
          </p:cNvSpPr>
          <p:nvPr>
            <p:ph idx="1"/>
          </p:nvPr>
        </p:nvSpPr>
        <p:spPr>
          <a:xfrm>
            <a:off x="637478" y="2076935"/>
            <a:ext cx="11277281" cy="752373"/>
          </a:xfrm>
        </p:spPr>
        <p:txBody>
          <a:bodyPr>
            <a:normAutofit/>
          </a:bodyPr>
          <a:lstStyle/>
          <a:p>
            <a:pPr marL="0" indent="0">
              <a:lnSpc>
                <a:spcPct val="160000"/>
              </a:lnSpc>
              <a:buNone/>
            </a:pPr>
            <a:r>
              <a:rPr lang="en-GB" sz="2000" dirty="0">
                <a:latin typeface="Helvetica Neue Light" panose="02000403000000020004" pitchFamily="2" charset="0"/>
                <a:ea typeface="Helvetica Neue Light" panose="02000403000000020004" pitchFamily="2" charset="0"/>
              </a:rPr>
              <a:t>You could now double click “No field” for lofty and add a value. Simple yes… very like PHP </a:t>
            </a:r>
            <a:r>
              <a:rPr lang="en-GB" sz="2000" dirty="0" err="1">
                <a:latin typeface="Helvetica Neue Light" panose="02000403000000020004" pitchFamily="2" charset="0"/>
                <a:ea typeface="Helvetica Neue Light" panose="02000403000000020004" pitchFamily="2" charset="0"/>
              </a:rPr>
              <a:t>MyAdmin</a:t>
            </a:r>
            <a:endParaRPr lang="en-GB" sz="20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p:txBody>
      </p:sp>
      <p:sp>
        <p:nvSpPr>
          <p:cNvPr id="5" name="Rectangle 4">
            <a:extLst>
              <a:ext uri="{FF2B5EF4-FFF2-40B4-BE49-F238E27FC236}">
                <a16:creationId xmlns:a16="http://schemas.microsoft.com/office/drawing/2014/main" id="{D58E18D7-3BD8-535A-EFD6-2970C1BF7791}"/>
              </a:ext>
            </a:extLst>
          </p:cNvPr>
          <p:cNvSpPr/>
          <p:nvPr/>
        </p:nvSpPr>
        <p:spPr>
          <a:xfrm>
            <a:off x="6932140" y="563447"/>
            <a:ext cx="4447065" cy="84356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DFE7520-8D63-F894-BD10-2994027ED1E5}"/>
              </a:ext>
            </a:extLst>
          </p:cNvPr>
          <p:cNvPicPr>
            <a:picLocks noChangeAspect="1"/>
          </p:cNvPicPr>
          <p:nvPr/>
        </p:nvPicPr>
        <p:blipFill>
          <a:blip r:embed="rId3"/>
          <a:stretch>
            <a:fillRect/>
          </a:stretch>
        </p:blipFill>
        <p:spPr>
          <a:xfrm>
            <a:off x="637478" y="2997449"/>
            <a:ext cx="8939008" cy="2251306"/>
          </a:xfrm>
          <a:prstGeom prst="rect">
            <a:avLst/>
          </a:prstGeom>
          <a:ln>
            <a:solidFill>
              <a:schemeClr val="bg1">
                <a:lumMod val="50000"/>
              </a:schemeClr>
            </a:solidFill>
          </a:ln>
        </p:spPr>
      </p:pic>
      <p:sp>
        <p:nvSpPr>
          <p:cNvPr id="8" name="Content Placeholder 4">
            <a:extLst>
              <a:ext uri="{FF2B5EF4-FFF2-40B4-BE49-F238E27FC236}">
                <a16:creationId xmlns:a16="http://schemas.microsoft.com/office/drawing/2014/main" id="{B3ED0302-5488-5DBE-F3EE-111FA46EBC4A}"/>
              </a:ext>
            </a:extLst>
          </p:cNvPr>
          <p:cNvSpPr txBox="1">
            <a:spLocks/>
          </p:cNvSpPr>
          <p:nvPr/>
        </p:nvSpPr>
        <p:spPr>
          <a:xfrm>
            <a:off x="637477" y="5542180"/>
            <a:ext cx="11277281" cy="7523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Font typeface="Arial" panose="020B0604020202020204" pitchFamily="34" charset="0"/>
              <a:buNone/>
            </a:pPr>
            <a:r>
              <a:rPr lang="en-GB" sz="2000" dirty="0">
                <a:latin typeface="Helvetica Neue Light" panose="02000403000000020004" pitchFamily="2" charset="0"/>
                <a:ea typeface="Helvetica Neue Light" panose="02000403000000020004" pitchFamily="2" charset="0"/>
              </a:rPr>
              <a:t>To add a new “row” or document click the green “ADD DATA” button and choose Insert document</a:t>
            </a: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01946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B109-0FC6-5CDC-5FAB-881755CFA8EE}"/>
            </a:ext>
          </a:extLst>
        </p:cNvPr>
        <p:cNvGrpSpPr/>
        <p:nvPr/>
      </p:nvGrpSpPr>
      <p:grpSpPr>
        <a:xfrm>
          <a:off x="0" y="0"/>
          <a:ext cx="0" cy="0"/>
          <a:chOff x="0" y="0"/>
          <a:chExt cx="0" cy="0"/>
        </a:xfrm>
      </p:grpSpPr>
      <p:sp>
        <p:nvSpPr>
          <p:cNvPr id="9" name="Content Placeholder 4">
            <a:extLst>
              <a:ext uri="{FF2B5EF4-FFF2-40B4-BE49-F238E27FC236}">
                <a16:creationId xmlns:a16="http://schemas.microsoft.com/office/drawing/2014/main" id="{3858046E-17E1-A56B-B7A5-0086EB8222B8}"/>
              </a:ext>
            </a:extLst>
          </p:cNvPr>
          <p:cNvSpPr>
            <a:spLocks noGrp="1"/>
          </p:cNvSpPr>
          <p:nvPr>
            <p:ph idx="1"/>
          </p:nvPr>
        </p:nvSpPr>
        <p:spPr>
          <a:xfrm>
            <a:off x="5822244" y="297085"/>
            <a:ext cx="6067168" cy="956665"/>
          </a:xfrm>
        </p:spPr>
        <p:txBody>
          <a:bodyPr>
            <a:normAutofit/>
          </a:bodyPr>
          <a:lstStyle/>
          <a:p>
            <a:pPr marL="0" indent="0">
              <a:lnSpc>
                <a:spcPct val="160000"/>
              </a:lnSpc>
              <a:buNone/>
            </a:pPr>
            <a:r>
              <a:rPr lang="en-GB" sz="2400" dirty="0">
                <a:latin typeface="Helvetica Neue Light" panose="02000403000000020004" pitchFamily="2" charset="0"/>
                <a:ea typeface="Helvetica Neue Light" panose="02000403000000020004" pitchFamily="2" charset="0"/>
              </a:rPr>
              <a:t>Select the list view button and click insert</a:t>
            </a: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p:txBody>
      </p:sp>
      <p:sp>
        <p:nvSpPr>
          <p:cNvPr id="8" name="Content Placeholder 4">
            <a:extLst>
              <a:ext uri="{FF2B5EF4-FFF2-40B4-BE49-F238E27FC236}">
                <a16:creationId xmlns:a16="http://schemas.microsoft.com/office/drawing/2014/main" id="{EB313644-C5EA-79B3-DAA7-89BCB9C67ED8}"/>
              </a:ext>
            </a:extLst>
          </p:cNvPr>
          <p:cNvSpPr txBox="1">
            <a:spLocks/>
          </p:cNvSpPr>
          <p:nvPr/>
        </p:nvSpPr>
        <p:spPr>
          <a:xfrm>
            <a:off x="402863" y="5578988"/>
            <a:ext cx="11277281" cy="7523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Font typeface="Arial" panose="020B0604020202020204" pitchFamily="34" charset="0"/>
              <a:buNone/>
            </a:pPr>
            <a:r>
              <a:rPr lang="en-GB" sz="2000" dirty="0">
                <a:latin typeface="Helvetica Neue Light" panose="02000403000000020004" pitchFamily="2" charset="0"/>
                <a:ea typeface="Helvetica Neue Light" panose="02000403000000020004" pitchFamily="2" charset="0"/>
              </a:rPr>
              <a:t>A new document is added with a primary key and you could now enter some data as before.</a:t>
            </a: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AE618CD4-2A88-8052-2C6A-6885F2A86D3F}"/>
              </a:ext>
            </a:extLst>
          </p:cNvPr>
          <p:cNvPicPr>
            <a:picLocks noChangeAspect="1"/>
          </p:cNvPicPr>
          <p:nvPr/>
        </p:nvPicPr>
        <p:blipFill>
          <a:blip r:embed="rId2"/>
          <a:stretch>
            <a:fillRect/>
          </a:stretch>
        </p:blipFill>
        <p:spPr>
          <a:xfrm>
            <a:off x="277242" y="137213"/>
            <a:ext cx="5203640" cy="3026117"/>
          </a:xfrm>
          <a:prstGeom prst="rect">
            <a:avLst/>
          </a:prstGeom>
        </p:spPr>
      </p:pic>
      <p:cxnSp>
        <p:nvCxnSpPr>
          <p:cNvPr id="4" name="Straight Arrow Connector 3">
            <a:extLst>
              <a:ext uri="{FF2B5EF4-FFF2-40B4-BE49-F238E27FC236}">
                <a16:creationId xmlns:a16="http://schemas.microsoft.com/office/drawing/2014/main" id="{E37199BA-C28B-CE69-2B32-FFDC71604741}"/>
              </a:ext>
            </a:extLst>
          </p:cNvPr>
          <p:cNvCxnSpPr>
            <a:cxnSpLocks/>
          </p:cNvCxnSpPr>
          <p:nvPr/>
        </p:nvCxnSpPr>
        <p:spPr>
          <a:xfrm flipH="1">
            <a:off x="5020263" y="813228"/>
            <a:ext cx="2511707" cy="395501"/>
          </a:xfrm>
          <a:prstGeom prst="straightConnector1">
            <a:avLst/>
          </a:prstGeom>
          <a:ln w="34925">
            <a:solidFill>
              <a:srgbClr val="FF574B"/>
            </a:solidFill>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FDA3A3F9-61D8-A644-406E-A755D82F40AB}"/>
              </a:ext>
            </a:extLst>
          </p:cNvPr>
          <p:cNvCxnSpPr>
            <a:cxnSpLocks/>
          </p:cNvCxnSpPr>
          <p:nvPr/>
        </p:nvCxnSpPr>
        <p:spPr>
          <a:xfrm flipH="1">
            <a:off x="5034475" y="902825"/>
            <a:ext cx="5695257" cy="1591611"/>
          </a:xfrm>
          <a:prstGeom prst="straightConnector1">
            <a:avLst/>
          </a:prstGeom>
          <a:ln w="34925">
            <a:solidFill>
              <a:srgbClr val="FF574B"/>
            </a:solidFill>
            <a:tailEnd type="triangle"/>
          </a:ln>
        </p:spPr>
        <p:style>
          <a:lnRef idx="1">
            <a:schemeClr val="accent2"/>
          </a:lnRef>
          <a:fillRef idx="0">
            <a:schemeClr val="accent2"/>
          </a:fillRef>
          <a:effectRef idx="0">
            <a:schemeClr val="accent2"/>
          </a:effectRef>
          <a:fontRef idx="minor">
            <a:schemeClr val="tx1"/>
          </a:fontRef>
        </p:style>
      </p:cxnSp>
      <p:pic>
        <p:nvPicPr>
          <p:cNvPr id="14" name="Picture 13">
            <a:extLst>
              <a:ext uri="{FF2B5EF4-FFF2-40B4-BE49-F238E27FC236}">
                <a16:creationId xmlns:a16="http://schemas.microsoft.com/office/drawing/2014/main" id="{03065359-8005-9D87-2542-B1AEF824E68C}"/>
              </a:ext>
            </a:extLst>
          </p:cNvPr>
          <p:cNvPicPr>
            <a:picLocks noChangeAspect="1"/>
          </p:cNvPicPr>
          <p:nvPr/>
        </p:nvPicPr>
        <p:blipFill>
          <a:blip r:embed="rId3"/>
          <a:stretch>
            <a:fillRect/>
          </a:stretch>
        </p:blipFill>
        <p:spPr>
          <a:xfrm>
            <a:off x="402863" y="3565186"/>
            <a:ext cx="9086188" cy="1759168"/>
          </a:xfrm>
          <a:prstGeom prst="rect">
            <a:avLst/>
          </a:prstGeom>
          <a:ln>
            <a:solidFill>
              <a:schemeClr val="bg1">
                <a:lumMod val="50000"/>
              </a:schemeClr>
            </a:solidFill>
          </a:ln>
        </p:spPr>
      </p:pic>
    </p:spTree>
    <p:extLst>
      <p:ext uri="{BB962C8B-B14F-4D97-AF65-F5344CB8AC3E}">
        <p14:creationId xmlns:p14="http://schemas.microsoft.com/office/powerpoint/2010/main" val="1598044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4077-42D7-78BB-D5E0-66BD264A8B1E}"/>
            </a:ext>
          </a:extLst>
        </p:cNvPr>
        <p:cNvGrpSpPr/>
        <p:nvPr/>
      </p:nvGrpSpPr>
      <p:grpSpPr>
        <a:xfrm>
          <a:off x="0" y="0"/>
          <a:ext cx="0" cy="0"/>
          <a:chOff x="0" y="0"/>
          <a:chExt cx="0" cy="0"/>
        </a:xfrm>
      </p:grpSpPr>
      <p:sp>
        <p:nvSpPr>
          <p:cNvPr id="8" name="Content Placeholder 4">
            <a:extLst>
              <a:ext uri="{FF2B5EF4-FFF2-40B4-BE49-F238E27FC236}">
                <a16:creationId xmlns:a16="http://schemas.microsoft.com/office/drawing/2014/main" id="{BBEA11C7-E01A-1EB1-373F-E478ACD870A2}"/>
              </a:ext>
            </a:extLst>
          </p:cNvPr>
          <p:cNvSpPr txBox="1">
            <a:spLocks/>
          </p:cNvSpPr>
          <p:nvPr/>
        </p:nvSpPr>
        <p:spPr>
          <a:xfrm>
            <a:off x="336532" y="834811"/>
            <a:ext cx="11277281" cy="51883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Font typeface="Arial" panose="020B0604020202020204" pitchFamily="34" charset="0"/>
              <a:buNone/>
            </a:pPr>
            <a:r>
              <a:rPr lang="en-GB" sz="2400" dirty="0">
                <a:latin typeface="Helvetica Neue Light" panose="02000403000000020004" pitchFamily="2" charset="0"/>
                <a:ea typeface="Helvetica Neue Light" panose="02000403000000020004" pitchFamily="2" charset="0"/>
              </a:rPr>
              <a:t>That is the absolute basics of adding, editing and deleting fields, documents and collections. Play around with it for a while, if it goes wrong dump the collection and re import it. </a:t>
            </a:r>
          </a:p>
          <a:p>
            <a:pPr marL="0" indent="0">
              <a:lnSpc>
                <a:spcPct val="160000"/>
              </a:lnSpc>
              <a:buFont typeface="Arial" panose="020B0604020202020204" pitchFamily="34" charset="0"/>
              <a:buNone/>
            </a:pPr>
            <a:r>
              <a:rPr lang="en-GB" sz="2400" dirty="0">
                <a:latin typeface="Helvetica Neue Light" panose="02000403000000020004" pitchFamily="2" charset="0"/>
                <a:ea typeface="Helvetica Neue Light" panose="02000403000000020004" pitchFamily="2" charset="0"/>
              </a:rPr>
              <a:t>Compass has help files at:</a:t>
            </a:r>
          </a:p>
          <a:p>
            <a:pPr marL="0" indent="0">
              <a:lnSpc>
                <a:spcPct val="160000"/>
              </a:lnSpc>
              <a:buFont typeface="Arial" panose="020B0604020202020204" pitchFamily="34" charset="0"/>
              <a:buNone/>
            </a:pPr>
            <a:r>
              <a:rPr lang="en-GB" sz="2400" dirty="0">
                <a:latin typeface="Helvetica Neue Light" panose="02000403000000020004" pitchFamily="2" charset="0"/>
                <a:ea typeface="Helvetica Neue Light" panose="02000403000000020004" pitchFamily="2" charset="0"/>
                <a:hlinkClick r:id="rId2"/>
              </a:rPr>
              <a:t>https://www.mongodb.com/docs/compass/current/documents/view/</a:t>
            </a: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r>
              <a:rPr lang="en-GB" sz="2400" dirty="0">
                <a:latin typeface="Helvetica Neue Light" panose="02000403000000020004" pitchFamily="2" charset="0"/>
                <a:ea typeface="Helvetica Neue Light" panose="02000403000000020004" pitchFamily="2" charset="0"/>
              </a:rPr>
              <a:t>We don’t need to go into great depth for this module, but get to feel comfortable with the basics and make sure your student account works. </a:t>
            </a: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a:p>
            <a:pPr marL="0" indent="0">
              <a:lnSpc>
                <a:spcPct val="160000"/>
              </a:lnSpc>
              <a:buFont typeface="Arial" panose="020B0604020202020204" pitchFamily="34" charset="0"/>
              <a:buNone/>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870956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Autofit/>
          </a:bodyPr>
          <a:lstStyle/>
          <a:p>
            <a:r>
              <a:rPr lang="en-GB" sz="2000" dirty="0">
                <a:solidFill>
                  <a:srgbClr val="D3473F"/>
                </a:solidFill>
                <a:latin typeface="American Typewriter" panose="02090604020004020304" pitchFamily="18" charset="77"/>
                <a:hlinkClick r:id="rId2"/>
              </a:rPr>
              <a:t>https://docs.mongodb.com/manual/reference/sql-comparison/</a:t>
            </a:r>
            <a:endParaRPr lang="en-GB" sz="2000" dirty="0">
              <a:solidFill>
                <a:srgbClr val="D3473F"/>
              </a:solidFill>
              <a:latin typeface="American Typewriter" panose="02090604020004020304" pitchFamily="18" charset="77"/>
            </a:endParaRPr>
          </a:p>
        </p:txBody>
      </p:sp>
      <p:pic>
        <p:nvPicPr>
          <p:cNvPr id="2" name="Picture 1">
            <a:extLst>
              <a:ext uri="{FF2B5EF4-FFF2-40B4-BE49-F238E27FC236}">
                <a16:creationId xmlns:a16="http://schemas.microsoft.com/office/drawing/2014/main" id="{E6813E57-A8AF-5D4F-BE4D-05D8F2E81A78}"/>
              </a:ext>
            </a:extLst>
          </p:cNvPr>
          <p:cNvPicPr>
            <a:picLocks noChangeAspect="1"/>
          </p:cNvPicPr>
          <p:nvPr/>
        </p:nvPicPr>
        <p:blipFill>
          <a:blip r:embed="rId3"/>
          <a:stretch>
            <a:fillRect/>
          </a:stretch>
        </p:blipFill>
        <p:spPr>
          <a:xfrm>
            <a:off x="869950" y="1689100"/>
            <a:ext cx="10452100" cy="3479800"/>
          </a:xfrm>
          <a:prstGeom prst="rect">
            <a:avLst/>
          </a:prstGeom>
          <a:ln>
            <a:solidFill>
              <a:schemeClr val="bg1">
                <a:lumMod val="50000"/>
              </a:schemeClr>
            </a:solidFill>
          </a:ln>
        </p:spPr>
      </p:pic>
    </p:spTree>
    <p:extLst>
      <p:ext uri="{BB962C8B-B14F-4D97-AF65-F5344CB8AC3E}">
        <p14:creationId xmlns:p14="http://schemas.microsoft.com/office/powerpoint/2010/main" val="92662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hallenging Times Make Companies Great - XINNIX">
            <a:extLst>
              <a:ext uri="{FF2B5EF4-FFF2-40B4-BE49-F238E27FC236}">
                <a16:creationId xmlns:a16="http://schemas.microsoft.com/office/drawing/2014/main" id="{6B51356B-EEA4-F94D-B94D-B7768ECDC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918" y="0"/>
            <a:ext cx="12441836" cy="7078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9931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591226"/>
            <a:ext cx="10515600" cy="1675547"/>
          </a:xfrm>
        </p:spPr>
        <p:txBody>
          <a:bodyPr>
            <a:noAutofit/>
          </a:bodyPr>
          <a:lstStyle/>
          <a:p>
            <a:pPr algn="ctr"/>
            <a:r>
              <a:rPr lang="en-GB" sz="9600" dirty="0">
                <a:solidFill>
                  <a:srgbClr val="D3473F"/>
                </a:solidFill>
                <a:latin typeface="American Typewriter" panose="02090604020004020304" pitchFamily="18" charset="77"/>
              </a:rPr>
              <a:t>MongoDB on localhost at home</a:t>
            </a:r>
          </a:p>
        </p:txBody>
      </p:sp>
    </p:spTree>
    <p:extLst>
      <p:ext uri="{BB962C8B-B14F-4D97-AF65-F5344CB8AC3E}">
        <p14:creationId xmlns:p14="http://schemas.microsoft.com/office/powerpoint/2010/main" val="3999657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EAEECF45-7C62-264D-B848-AE420974B39D}"/>
              </a:ext>
            </a:extLst>
          </p:cNvPr>
          <p:cNvSpPr txBox="1">
            <a:spLocks/>
          </p:cNvSpPr>
          <p:nvPr/>
        </p:nvSpPr>
        <p:spPr>
          <a:xfrm>
            <a:off x="789214" y="112956"/>
            <a:ext cx="10613571" cy="888459"/>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70000"/>
              </a:lnSpc>
              <a:spcAft>
                <a:spcPts val="600"/>
              </a:spcAft>
            </a:pPr>
            <a:r>
              <a:rPr lang="en-US" kern="1200" dirty="0">
                <a:solidFill>
                  <a:srgbClr val="D3473F"/>
                </a:solidFill>
                <a:latin typeface="American Typewriter" panose="02090604020004020304" pitchFamily="18" charset="77"/>
              </a:rPr>
              <a:t>Install the free community edition of MongoDB </a:t>
            </a:r>
          </a:p>
        </p:txBody>
      </p:sp>
      <p:pic>
        <p:nvPicPr>
          <p:cNvPr id="4" name="Picture 3">
            <a:extLst>
              <a:ext uri="{FF2B5EF4-FFF2-40B4-BE49-F238E27FC236}">
                <a16:creationId xmlns:a16="http://schemas.microsoft.com/office/drawing/2014/main" id="{BE0A77E8-2926-C94C-8559-6F05F218C38F}"/>
              </a:ext>
            </a:extLst>
          </p:cNvPr>
          <p:cNvPicPr>
            <a:picLocks noChangeAspect="1"/>
          </p:cNvPicPr>
          <p:nvPr/>
        </p:nvPicPr>
        <p:blipFill>
          <a:blip r:embed="rId2"/>
          <a:stretch>
            <a:fillRect/>
          </a:stretch>
        </p:blipFill>
        <p:spPr>
          <a:xfrm>
            <a:off x="789214" y="1206874"/>
            <a:ext cx="9433810" cy="4444251"/>
          </a:xfrm>
          <a:prstGeom prst="rect">
            <a:avLst/>
          </a:prstGeom>
          <a:ln>
            <a:solidFill>
              <a:schemeClr val="bg1">
                <a:lumMod val="50000"/>
              </a:schemeClr>
            </a:solidFill>
          </a:ln>
        </p:spPr>
      </p:pic>
      <p:sp>
        <p:nvSpPr>
          <p:cNvPr id="7" name="TextBox 6">
            <a:extLst>
              <a:ext uri="{FF2B5EF4-FFF2-40B4-BE49-F238E27FC236}">
                <a16:creationId xmlns:a16="http://schemas.microsoft.com/office/drawing/2014/main" id="{ACAD72B6-4F30-914A-ABEC-073C2B0DBFFD}"/>
              </a:ext>
            </a:extLst>
          </p:cNvPr>
          <p:cNvSpPr txBox="1"/>
          <p:nvPr/>
        </p:nvSpPr>
        <p:spPr>
          <a:xfrm>
            <a:off x="710070" y="6016068"/>
            <a:ext cx="9870844" cy="646331"/>
          </a:xfrm>
          <a:prstGeom prst="rect">
            <a:avLst/>
          </a:prstGeom>
          <a:noFill/>
        </p:spPr>
        <p:txBody>
          <a:bodyPr wrap="square">
            <a:spAutoFit/>
          </a:bodyPr>
          <a:lstStyle/>
          <a:p>
            <a:r>
              <a:rPr lang="en-US" dirty="0">
                <a:hlinkClick r:id="rId3"/>
              </a:rPr>
              <a:t>https://docs.mongodb.com/manual/administration/install-community/</a:t>
            </a:r>
            <a:endParaRPr lang="en-US" dirty="0"/>
          </a:p>
          <a:p>
            <a:endParaRPr lang="en-US" dirty="0"/>
          </a:p>
        </p:txBody>
      </p:sp>
    </p:spTree>
    <p:extLst>
      <p:ext uri="{BB962C8B-B14F-4D97-AF65-F5344CB8AC3E}">
        <p14:creationId xmlns:p14="http://schemas.microsoft.com/office/powerpoint/2010/main" val="3316506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EAEECF45-7C62-264D-B848-AE420974B39D}"/>
              </a:ext>
            </a:extLst>
          </p:cNvPr>
          <p:cNvSpPr txBox="1">
            <a:spLocks/>
          </p:cNvSpPr>
          <p:nvPr/>
        </p:nvSpPr>
        <p:spPr>
          <a:xfrm>
            <a:off x="590149" y="156401"/>
            <a:ext cx="10692716" cy="1480458"/>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70000"/>
              </a:lnSpc>
              <a:spcAft>
                <a:spcPts val="600"/>
              </a:spcAft>
            </a:pPr>
            <a:r>
              <a:rPr lang="en-US" sz="2400" kern="1200" dirty="0">
                <a:solidFill>
                  <a:srgbClr val="D3473F"/>
                </a:solidFill>
                <a:latin typeface="American Typewriter" panose="02090604020004020304" pitchFamily="18" charset="77"/>
              </a:rPr>
              <a:t>On my Mac I had to install various prerequisites from the command line.</a:t>
            </a:r>
          </a:p>
          <a:p>
            <a:pPr>
              <a:lnSpc>
                <a:spcPct val="170000"/>
              </a:lnSpc>
              <a:spcAft>
                <a:spcPts val="600"/>
              </a:spcAft>
            </a:pPr>
            <a:r>
              <a:rPr lang="en-US" sz="2400" kern="1200" dirty="0">
                <a:solidFill>
                  <a:srgbClr val="D3473F"/>
                </a:solidFill>
                <a:latin typeface="American Typewriter" panose="02090604020004020304" pitchFamily="18" charset="77"/>
              </a:rPr>
              <a:t>Good luck windows users </a:t>
            </a:r>
            <a:r>
              <a:rPr lang="en-US" sz="2400" kern="1200" dirty="0">
                <a:solidFill>
                  <a:srgbClr val="D3473F"/>
                </a:solidFill>
                <a:latin typeface="American Typewriter" panose="02090604020004020304" pitchFamily="18" charset="77"/>
                <a:sym typeface="Wingdings" pitchFamily="2" charset="2"/>
              </a:rPr>
              <a:t> </a:t>
            </a:r>
            <a:r>
              <a:rPr lang="en-US" sz="2400" dirty="0">
                <a:solidFill>
                  <a:srgbClr val="D3473F"/>
                </a:solidFill>
                <a:latin typeface="American Typewriter" panose="02090604020004020304" pitchFamily="18" charset="77"/>
              </a:rPr>
              <a:t>About an hour later it was all done !! </a:t>
            </a:r>
            <a:r>
              <a:rPr lang="en-US" sz="2400" dirty="0">
                <a:solidFill>
                  <a:srgbClr val="D3473F"/>
                </a:solidFill>
                <a:latin typeface="American Typewriter" panose="02090604020004020304" pitchFamily="18" charset="77"/>
                <a:sym typeface="Wingdings" pitchFamily="2" charset="2"/>
              </a:rPr>
              <a:t></a:t>
            </a:r>
            <a:endParaRPr lang="en-US" sz="2400" kern="1200" dirty="0">
              <a:solidFill>
                <a:srgbClr val="D3473F"/>
              </a:solidFill>
              <a:latin typeface="American Typewriter" panose="02090604020004020304" pitchFamily="18" charset="77"/>
            </a:endParaRPr>
          </a:p>
        </p:txBody>
      </p:sp>
      <p:pic>
        <p:nvPicPr>
          <p:cNvPr id="2" name="Picture 1">
            <a:extLst>
              <a:ext uri="{FF2B5EF4-FFF2-40B4-BE49-F238E27FC236}">
                <a16:creationId xmlns:a16="http://schemas.microsoft.com/office/drawing/2014/main" id="{F044FC60-1291-F642-B454-DC12F0F0960B}"/>
              </a:ext>
            </a:extLst>
          </p:cNvPr>
          <p:cNvPicPr>
            <a:picLocks noChangeAspect="1"/>
          </p:cNvPicPr>
          <p:nvPr/>
        </p:nvPicPr>
        <p:blipFill>
          <a:blip r:embed="rId2"/>
          <a:stretch>
            <a:fillRect/>
          </a:stretch>
        </p:blipFill>
        <p:spPr>
          <a:xfrm>
            <a:off x="590149" y="1636859"/>
            <a:ext cx="7994438" cy="4928833"/>
          </a:xfrm>
          <a:prstGeom prst="rect">
            <a:avLst/>
          </a:prstGeom>
          <a:ln>
            <a:solidFill>
              <a:schemeClr val="bg1">
                <a:lumMod val="50000"/>
              </a:schemeClr>
            </a:solidFill>
          </a:ln>
        </p:spPr>
      </p:pic>
      <p:pic>
        <p:nvPicPr>
          <p:cNvPr id="3" name="Picture 2">
            <a:extLst>
              <a:ext uri="{FF2B5EF4-FFF2-40B4-BE49-F238E27FC236}">
                <a16:creationId xmlns:a16="http://schemas.microsoft.com/office/drawing/2014/main" id="{1CCDDE55-D541-CF4A-B6C0-DF12420BE672}"/>
              </a:ext>
            </a:extLst>
          </p:cNvPr>
          <p:cNvPicPr>
            <a:picLocks noChangeAspect="1"/>
          </p:cNvPicPr>
          <p:nvPr/>
        </p:nvPicPr>
        <p:blipFill>
          <a:blip r:embed="rId3"/>
          <a:stretch>
            <a:fillRect/>
          </a:stretch>
        </p:blipFill>
        <p:spPr>
          <a:xfrm>
            <a:off x="7086600" y="2803160"/>
            <a:ext cx="5105400" cy="3225800"/>
          </a:xfrm>
          <a:prstGeom prst="rect">
            <a:avLst/>
          </a:prstGeom>
        </p:spPr>
      </p:pic>
      <p:cxnSp>
        <p:nvCxnSpPr>
          <p:cNvPr id="8" name="Straight Arrow Connector 7">
            <a:extLst>
              <a:ext uri="{FF2B5EF4-FFF2-40B4-BE49-F238E27FC236}">
                <a16:creationId xmlns:a16="http://schemas.microsoft.com/office/drawing/2014/main" id="{7C04CEDB-46B7-0444-AA67-15D7B06758B8}"/>
              </a:ext>
            </a:extLst>
          </p:cNvPr>
          <p:cNvCxnSpPr/>
          <p:nvPr/>
        </p:nvCxnSpPr>
        <p:spPr>
          <a:xfrm>
            <a:off x="8814217" y="1469036"/>
            <a:ext cx="164891" cy="1959964"/>
          </a:xfrm>
          <a:prstGeom prst="straightConnector1">
            <a:avLst/>
          </a:prstGeom>
          <a:ln w="34925">
            <a:solidFill>
              <a:srgbClr val="FF574B"/>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46833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EAEECF45-7C62-264D-B848-AE420974B39D}"/>
              </a:ext>
            </a:extLst>
          </p:cNvPr>
          <p:cNvSpPr txBox="1">
            <a:spLocks/>
          </p:cNvSpPr>
          <p:nvPr/>
        </p:nvSpPr>
        <p:spPr>
          <a:xfrm>
            <a:off x="909135" y="0"/>
            <a:ext cx="10613571" cy="106430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70000"/>
              </a:lnSpc>
              <a:spcAft>
                <a:spcPts val="600"/>
              </a:spcAft>
            </a:pPr>
            <a:r>
              <a:rPr lang="en-US" kern="1200" dirty="0">
                <a:solidFill>
                  <a:srgbClr val="D3473F"/>
                </a:solidFill>
                <a:latin typeface="American Typewriter" panose="02090604020004020304" pitchFamily="18" charset="77"/>
              </a:rPr>
              <a:t>Compass  - free GUI</a:t>
            </a:r>
          </a:p>
        </p:txBody>
      </p:sp>
      <p:sp>
        <p:nvSpPr>
          <p:cNvPr id="6" name="TextBox 5">
            <a:extLst>
              <a:ext uri="{FF2B5EF4-FFF2-40B4-BE49-F238E27FC236}">
                <a16:creationId xmlns:a16="http://schemas.microsoft.com/office/drawing/2014/main" id="{7452257D-F820-E342-AA18-BA16E338F0F5}"/>
              </a:ext>
            </a:extLst>
          </p:cNvPr>
          <p:cNvSpPr txBox="1"/>
          <p:nvPr/>
        </p:nvSpPr>
        <p:spPr>
          <a:xfrm>
            <a:off x="986961" y="6152247"/>
            <a:ext cx="10032735" cy="461665"/>
          </a:xfrm>
          <a:prstGeom prst="rect">
            <a:avLst/>
          </a:prstGeom>
          <a:noFill/>
        </p:spPr>
        <p:txBody>
          <a:bodyPr wrap="square">
            <a:spAutoFit/>
          </a:bodyPr>
          <a:lstStyle/>
          <a:p>
            <a:pPr algn="ctr"/>
            <a:r>
              <a:rPr lang="en-US" sz="2400" dirty="0">
                <a:hlinkClick r:id="rId2"/>
              </a:rPr>
              <a:t>https://www.mongodb.com/products/compass</a:t>
            </a:r>
            <a:endParaRPr lang="en-US" sz="2400" dirty="0"/>
          </a:p>
        </p:txBody>
      </p:sp>
      <p:pic>
        <p:nvPicPr>
          <p:cNvPr id="2" name="Picture 1">
            <a:hlinkClick r:id="rId2"/>
            <a:extLst>
              <a:ext uri="{FF2B5EF4-FFF2-40B4-BE49-F238E27FC236}">
                <a16:creationId xmlns:a16="http://schemas.microsoft.com/office/drawing/2014/main" id="{22BFEA19-CD89-DE3F-3A20-24C56B011F3A}"/>
              </a:ext>
            </a:extLst>
          </p:cNvPr>
          <p:cNvPicPr>
            <a:picLocks noChangeAspect="1"/>
          </p:cNvPicPr>
          <p:nvPr/>
        </p:nvPicPr>
        <p:blipFill>
          <a:blip r:embed="rId3"/>
          <a:srcRect t="15055"/>
          <a:stretch/>
        </p:blipFill>
        <p:spPr>
          <a:xfrm>
            <a:off x="986961" y="1064302"/>
            <a:ext cx="10457918" cy="4613050"/>
          </a:xfrm>
          <a:prstGeom prst="rect">
            <a:avLst/>
          </a:prstGeom>
        </p:spPr>
      </p:pic>
    </p:spTree>
    <p:extLst>
      <p:ext uri="{BB962C8B-B14F-4D97-AF65-F5344CB8AC3E}">
        <p14:creationId xmlns:p14="http://schemas.microsoft.com/office/powerpoint/2010/main" val="3082646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EAEECF45-7C62-264D-B848-AE420974B39D}"/>
              </a:ext>
            </a:extLst>
          </p:cNvPr>
          <p:cNvSpPr txBox="1">
            <a:spLocks/>
          </p:cNvSpPr>
          <p:nvPr/>
        </p:nvSpPr>
        <p:spPr>
          <a:xfrm>
            <a:off x="789214" y="208041"/>
            <a:ext cx="10613571" cy="237776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70000"/>
              </a:lnSpc>
              <a:spcAft>
                <a:spcPts val="600"/>
              </a:spcAft>
            </a:pPr>
            <a:r>
              <a:rPr lang="en-US" kern="1200" dirty="0">
                <a:solidFill>
                  <a:srgbClr val="D3473F"/>
                </a:solidFill>
                <a:latin typeface="American Typewriter" panose="02090604020004020304" pitchFamily="18" charset="77"/>
              </a:rPr>
              <a:t>In the end it might just be easier to work on Virtual desktop.</a:t>
            </a:r>
          </a:p>
        </p:txBody>
      </p:sp>
      <p:pic>
        <p:nvPicPr>
          <p:cNvPr id="1026" name="Picture 2" descr="21 Hilarious Microsoft Windows Fails | IE">
            <a:extLst>
              <a:ext uri="{FF2B5EF4-FFF2-40B4-BE49-F238E27FC236}">
                <a16:creationId xmlns:a16="http://schemas.microsoft.com/office/drawing/2014/main" id="{61750927-2776-1946-8101-0C94A6F837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9080" y="3846902"/>
            <a:ext cx="4011820" cy="26475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quot;Computer says no&quot; Photographic Prints by loreleipelaez ...">
            <a:extLst>
              <a:ext uri="{FF2B5EF4-FFF2-40B4-BE49-F238E27FC236}">
                <a16:creationId xmlns:a16="http://schemas.microsoft.com/office/drawing/2014/main" id="{472EC0C2-0BC7-3240-AE02-91B5C681CA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3049" y="2848130"/>
            <a:ext cx="2784569" cy="3646358"/>
          </a:xfrm>
          <a:prstGeom prst="rect">
            <a:avLst/>
          </a:prstGeom>
          <a:noFill/>
          <a:ln>
            <a:solidFill>
              <a:schemeClr val="bg1">
                <a:lumMod val="50000"/>
              </a:schemeClr>
            </a:solidFill>
          </a:ln>
          <a:extLst>
            <a:ext uri="{909E8E84-426E-40DD-AFC4-6F175D3DCCD1}">
              <a14:hiddenFill xmlns:a14="http://schemas.microsoft.com/office/drawing/2010/main">
                <a:solidFill>
                  <a:srgbClr val="FFFFFF"/>
                </a:solidFill>
              </a14:hiddenFill>
            </a:ext>
          </a:extLst>
        </p:spPr>
      </p:pic>
      <p:pic>
        <p:nvPicPr>
          <p:cNvPr id="1030" name="Picture 6" descr="Edvard Munch The Scream Reproduction Hight Quality ...">
            <a:extLst>
              <a:ext uri="{FF2B5EF4-FFF2-40B4-BE49-F238E27FC236}">
                <a16:creationId xmlns:a16="http://schemas.microsoft.com/office/drawing/2014/main" id="{2BF71265-F72F-484D-8C9B-23DF403226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162" y="2848129"/>
            <a:ext cx="2734768" cy="3646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0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457944"/>
            <a:ext cx="10515600" cy="1675547"/>
          </a:xfrm>
        </p:spPr>
        <p:txBody>
          <a:bodyPr>
            <a:noAutofit/>
          </a:bodyPr>
          <a:lstStyle/>
          <a:p>
            <a:pPr algn="ctr"/>
            <a:r>
              <a:rPr lang="en-GB" sz="9600" dirty="0">
                <a:solidFill>
                  <a:srgbClr val="D3473F"/>
                </a:solidFill>
                <a:latin typeface="American Typewriter" panose="02090604020004020304" pitchFamily="18" charset="77"/>
              </a:rPr>
              <a:t>Labs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983166" y="3248838"/>
            <a:ext cx="10515600" cy="2639006"/>
          </a:xfrm>
        </p:spPr>
        <p:txBody>
          <a:bodyPr>
            <a:normAutofit/>
          </a:bodyPr>
          <a:lstStyle/>
          <a:p>
            <a:pPr marL="0" indent="0" algn="ctr">
              <a:lnSpc>
                <a:spcPct val="160000"/>
              </a:lnSpc>
              <a:buNone/>
            </a:pPr>
            <a:r>
              <a:rPr lang="en-GB" sz="4000" dirty="0">
                <a:latin typeface="Helvetica Neue Light" panose="02000403000000020004" pitchFamily="2" charset="0"/>
                <a:ea typeface="Helvetica Neue Light" panose="02000403000000020004" pitchFamily="2" charset="0"/>
              </a:rPr>
              <a:t>Work through slides 4 -13</a:t>
            </a:r>
            <a:r>
              <a:rPr lang="en-GB" sz="2600" dirty="0">
                <a:latin typeface="Helvetica Neue Light" panose="02000403000000020004" pitchFamily="2" charset="0"/>
                <a:ea typeface="Helvetica Neue Light" panose="02000403000000020004" pitchFamily="2" charset="0"/>
              </a:rPr>
              <a:t>.</a:t>
            </a:r>
          </a:p>
          <a:p>
            <a:pPr marL="0" indent="0">
              <a:lnSpc>
                <a:spcPct val="160000"/>
              </a:lnSpc>
              <a:buNone/>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86370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7136"/>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4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2382741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2188</TotalTime>
  <Words>569</Words>
  <Application>Microsoft Macintosh PowerPoint</Application>
  <PresentationFormat>Widescreen</PresentationFormat>
  <Paragraphs>60</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American Typewriter</vt:lpstr>
      <vt:lpstr>Arial</vt:lpstr>
      <vt:lpstr>Calibri</vt:lpstr>
      <vt:lpstr>Calibri Light</vt:lpstr>
      <vt:lpstr>Helvetica Neue Light</vt:lpstr>
      <vt:lpstr>Helvetica Neue Thin</vt:lpstr>
      <vt:lpstr>Office Theme</vt:lpstr>
      <vt:lpstr>COMP 1842</vt:lpstr>
      <vt:lpstr>Introduction</vt:lpstr>
      <vt:lpstr>Think…phpMyAdmin for MongoDB</vt:lpstr>
      <vt:lpstr>https://blogs.gre.ac.uk/cmssupport/application-development/databases/mongodb/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https://docs.mongodb.com/manual/reference/sql-comparison/</vt:lpstr>
      <vt:lpstr>PowerPoint Presentation</vt:lpstr>
      <vt:lpstr>MongoDB on localhost at home</vt:lpstr>
      <vt:lpstr>PowerPoint Presentation</vt:lpstr>
      <vt:lpstr>PowerPoint Presentation</vt:lpstr>
      <vt:lpstr>PowerPoint Presentation</vt:lpstr>
      <vt:lpstr>PowerPoint Presentation</vt:lpstr>
      <vt:lpstr>Labs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107</cp:revision>
  <dcterms:created xsi:type="dcterms:W3CDTF">2020-06-28T01:46:05Z</dcterms:created>
  <dcterms:modified xsi:type="dcterms:W3CDTF">2025-02-13T13:40:26Z</dcterms:modified>
</cp:coreProperties>
</file>