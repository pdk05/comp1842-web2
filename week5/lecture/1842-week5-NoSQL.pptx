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4" r:id="rId4"/>
    <p:sldId id="267" r:id="rId5"/>
    <p:sldId id="269" r:id="rId6"/>
    <p:sldId id="270" r:id="rId7"/>
    <p:sldId id="271" r:id="rId8"/>
    <p:sldId id="272" r:id="rId9"/>
    <p:sldId id="274" r:id="rId10"/>
    <p:sldId id="275" r:id="rId11"/>
    <p:sldId id="276" r:id="rId12"/>
    <p:sldId id="277" r:id="rId13"/>
    <p:sldId id="278" r:id="rId14"/>
    <p:sldId id="279" r:id="rId15"/>
    <p:sldId id="266" r:id="rId16"/>
    <p:sldId id="281" r:id="rId17"/>
    <p:sldId id="282" r:id="rId18"/>
    <p:sldId id="283" r:id="rId19"/>
    <p:sldId id="280" r:id="rId20"/>
    <p:sldId id="284" r:id="rId21"/>
    <p:sldId id="287" r:id="rId22"/>
    <p:sldId id="288" r:id="rId23"/>
    <p:sldId id="286" r:id="rId24"/>
    <p:sldId id="289" r:id="rId25"/>
    <p:sldId id="259" r:id="rId26"/>
    <p:sldId id="260" r:id="rId27"/>
    <p:sldId id="290" r:id="rId28"/>
    <p:sldId id="265"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291" r:id="rId50"/>
    <p:sldId id="268" r:id="rId51"/>
    <p:sldId id="262"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473F"/>
    <a:srgbClr val="FF5B50"/>
    <a:srgbClr val="FF57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216"/>
    <p:restoredTop sz="86395"/>
  </p:normalViewPr>
  <p:slideViewPr>
    <p:cSldViewPr snapToGrid="0" snapToObjects="1">
      <p:cViewPr varScale="1">
        <p:scale>
          <a:sx n="90" d="100"/>
          <a:sy n="90" d="100"/>
        </p:scale>
        <p:origin x="224" y="101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4.141"/>
    </inkml:context>
    <inkml:brush xml:id="br0">
      <inkml:brushProperty name="width" value="0.05" units="cm"/>
      <inkml:brushProperty name="height" value="0.05" units="cm"/>
      <inkml:brushProperty name="color" value="#E71224"/>
    </inkml:brush>
  </inkml:definitions>
  <inkml:trace contextRef="#ctx0" brushRef="#br0">1 10 24575,'0'-6'0,"0"2"0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5.093"/>
    </inkml:context>
    <inkml:brush xml:id="br0">
      <inkml:brushProperty name="width" value="0.05" units="cm"/>
      <inkml:brushProperty name="height" value="0.05" units="cm"/>
      <inkml:brushProperty name="color" value="#E71224"/>
    </inkml:brush>
  </inkml:definitions>
  <inkml:trace contextRef="#ctx0" brushRef="#br0">1 1 24575,'5'5'0,"-1"-1"0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0.298"/>
    </inkml:context>
    <inkml:brush xml:id="br0">
      <inkml:brushProperty name="width" value="0.05" units="cm"/>
      <inkml:brushProperty name="height" value="0.05" units="cm"/>
      <inkml:brushProperty name="color" value="#E71224"/>
    </inkml:brush>
  </inkml:definitions>
  <inkml:trace contextRef="#ctx0" brushRef="#br0">1 10 24575,'0'-5'0,"0"1"0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6.089"/>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8.710"/>
    </inkml:context>
    <inkml:brush xml:id="br0">
      <inkml:brushProperty name="width" value="0.05" units="cm"/>
      <inkml:brushProperty name="height" value="0.05" units="cm"/>
      <inkml:brushProperty name="color" value="#E71224"/>
    </inkml:brush>
  </inkml:definitions>
  <inkml:trace contextRef="#ctx0" brushRef="#br0">0 1 24575,'5'0'0,"-1"0"0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F539-EFFE-4545-8560-8B85D420C59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27E099-A4CF-C148-8D5A-DC7DCE6EA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14F13F-321A-6C44-A529-3C63949C72C6}"/>
              </a:ext>
            </a:extLst>
          </p:cNvPr>
          <p:cNvSpPr>
            <a:spLocks noGrp="1"/>
          </p:cNvSpPr>
          <p:nvPr>
            <p:ph type="dt" sz="half" idx="10"/>
          </p:nvPr>
        </p:nvSpPr>
        <p:spPr/>
        <p:txBody>
          <a:bodyPr/>
          <a:lstStyle/>
          <a:p>
            <a:fld id="{BDE38E33-E634-164E-9160-E9D257145221}" type="datetimeFigureOut">
              <a:rPr lang="en-US" smtClean="0"/>
              <a:t>2/17/24</a:t>
            </a:fld>
            <a:endParaRPr lang="en-US"/>
          </a:p>
        </p:txBody>
      </p:sp>
      <p:sp>
        <p:nvSpPr>
          <p:cNvPr id="5" name="Footer Placeholder 4">
            <a:extLst>
              <a:ext uri="{FF2B5EF4-FFF2-40B4-BE49-F238E27FC236}">
                <a16:creationId xmlns:a16="http://schemas.microsoft.com/office/drawing/2014/main" id="{97777D4B-E972-3F48-8AB6-BC30D35A4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F37F83-FC1F-964D-9D14-71EC1C06AE71}"/>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63798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8E1E-8C7B-BF49-ADDF-0DBF11C19E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96981E-8F9B-D64C-9D10-A1DF590341E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6020193-341C-E347-A42A-A1A21E43FF77}"/>
              </a:ext>
            </a:extLst>
          </p:cNvPr>
          <p:cNvSpPr>
            <a:spLocks noGrp="1"/>
          </p:cNvSpPr>
          <p:nvPr>
            <p:ph type="dt" sz="half" idx="10"/>
          </p:nvPr>
        </p:nvSpPr>
        <p:spPr/>
        <p:txBody>
          <a:bodyPr/>
          <a:lstStyle/>
          <a:p>
            <a:fld id="{BDE38E33-E634-164E-9160-E9D257145221}" type="datetimeFigureOut">
              <a:rPr lang="en-US" smtClean="0"/>
              <a:t>2/17/24</a:t>
            </a:fld>
            <a:endParaRPr lang="en-US"/>
          </a:p>
        </p:txBody>
      </p:sp>
      <p:sp>
        <p:nvSpPr>
          <p:cNvPr id="5" name="Footer Placeholder 4">
            <a:extLst>
              <a:ext uri="{FF2B5EF4-FFF2-40B4-BE49-F238E27FC236}">
                <a16:creationId xmlns:a16="http://schemas.microsoft.com/office/drawing/2014/main" id="{2B618F1D-D2AE-3E45-9684-41082CDD0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77C00-9FE2-D644-877F-E440C7FDB26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12644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FB7A-866B-8144-B7A1-B3D2CE8B4D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A9333F-7620-324C-821F-9AD4629D80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41DDB4-466A-D142-8FFA-437B8B3B2108}"/>
              </a:ext>
            </a:extLst>
          </p:cNvPr>
          <p:cNvSpPr>
            <a:spLocks noGrp="1"/>
          </p:cNvSpPr>
          <p:nvPr>
            <p:ph type="dt" sz="half" idx="10"/>
          </p:nvPr>
        </p:nvSpPr>
        <p:spPr/>
        <p:txBody>
          <a:bodyPr/>
          <a:lstStyle/>
          <a:p>
            <a:fld id="{BDE38E33-E634-164E-9160-E9D257145221}" type="datetimeFigureOut">
              <a:rPr lang="en-US" smtClean="0"/>
              <a:t>2/17/24</a:t>
            </a:fld>
            <a:endParaRPr lang="en-US"/>
          </a:p>
        </p:txBody>
      </p:sp>
      <p:sp>
        <p:nvSpPr>
          <p:cNvPr id="5" name="Footer Placeholder 4">
            <a:extLst>
              <a:ext uri="{FF2B5EF4-FFF2-40B4-BE49-F238E27FC236}">
                <a16:creationId xmlns:a16="http://schemas.microsoft.com/office/drawing/2014/main" id="{0E5B42E0-284F-5746-B82C-C36E036E5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C5C72-09E6-E047-BEF5-956CDC65F70E}"/>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3278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2E35-2AE7-6F47-B4DA-83DE0DF4746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FCAD58-35EE-E345-9223-93C0D708CA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64EF8E7-11C7-6E44-9C23-E6F8B255FA0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1588C67-D211-A347-94D3-2566B042CEAC}"/>
              </a:ext>
            </a:extLst>
          </p:cNvPr>
          <p:cNvSpPr>
            <a:spLocks noGrp="1"/>
          </p:cNvSpPr>
          <p:nvPr>
            <p:ph type="dt" sz="half" idx="10"/>
          </p:nvPr>
        </p:nvSpPr>
        <p:spPr/>
        <p:txBody>
          <a:bodyPr/>
          <a:lstStyle/>
          <a:p>
            <a:fld id="{BDE38E33-E634-164E-9160-E9D257145221}" type="datetimeFigureOut">
              <a:rPr lang="en-US" smtClean="0"/>
              <a:t>2/17/24</a:t>
            </a:fld>
            <a:endParaRPr lang="en-US"/>
          </a:p>
        </p:txBody>
      </p:sp>
      <p:sp>
        <p:nvSpPr>
          <p:cNvPr id="6" name="Footer Placeholder 5">
            <a:extLst>
              <a:ext uri="{FF2B5EF4-FFF2-40B4-BE49-F238E27FC236}">
                <a16:creationId xmlns:a16="http://schemas.microsoft.com/office/drawing/2014/main" id="{BF3FAA6E-E7CE-1B4F-A78D-8055C20FF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079D9-12B3-A149-9192-6D6EE5E58F8C}"/>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69610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7B05-85DB-5A4D-931F-231EBBA1129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6F10373-280F-CA46-BE02-633860BE99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0A25CD-D56D-9749-8FA7-012A6FFB1A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1940AEA-A232-8E45-B81D-24868FB2C4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DB3D5C-B45E-294F-899C-37B8ABB445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F43D68E-FDF7-C045-8CAA-189B56B2E697}"/>
              </a:ext>
            </a:extLst>
          </p:cNvPr>
          <p:cNvSpPr>
            <a:spLocks noGrp="1"/>
          </p:cNvSpPr>
          <p:nvPr>
            <p:ph type="dt" sz="half" idx="10"/>
          </p:nvPr>
        </p:nvSpPr>
        <p:spPr/>
        <p:txBody>
          <a:bodyPr/>
          <a:lstStyle/>
          <a:p>
            <a:fld id="{BDE38E33-E634-164E-9160-E9D257145221}" type="datetimeFigureOut">
              <a:rPr lang="en-US" smtClean="0"/>
              <a:t>2/17/24</a:t>
            </a:fld>
            <a:endParaRPr lang="en-US"/>
          </a:p>
        </p:txBody>
      </p:sp>
      <p:sp>
        <p:nvSpPr>
          <p:cNvPr id="8" name="Footer Placeholder 7">
            <a:extLst>
              <a:ext uri="{FF2B5EF4-FFF2-40B4-BE49-F238E27FC236}">
                <a16:creationId xmlns:a16="http://schemas.microsoft.com/office/drawing/2014/main" id="{7C413D46-B78B-B34E-A26D-1E905B740B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8BDADF-5108-CD45-9618-15BBE06090DB}"/>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99492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9E0C-142B-1A4D-89C5-B127E3184B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8F2823E-3DFF-BC40-A52F-4043983FB2DD}"/>
              </a:ext>
            </a:extLst>
          </p:cNvPr>
          <p:cNvSpPr>
            <a:spLocks noGrp="1"/>
          </p:cNvSpPr>
          <p:nvPr>
            <p:ph type="dt" sz="half" idx="10"/>
          </p:nvPr>
        </p:nvSpPr>
        <p:spPr/>
        <p:txBody>
          <a:bodyPr/>
          <a:lstStyle/>
          <a:p>
            <a:fld id="{BDE38E33-E634-164E-9160-E9D257145221}" type="datetimeFigureOut">
              <a:rPr lang="en-US" smtClean="0"/>
              <a:t>2/17/24</a:t>
            </a:fld>
            <a:endParaRPr lang="en-US"/>
          </a:p>
        </p:txBody>
      </p:sp>
      <p:sp>
        <p:nvSpPr>
          <p:cNvPr id="4" name="Footer Placeholder 3">
            <a:extLst>
              <a:ext uri="{FF2B5EF4-FFF2-40B4-BE49-F238E27FC236}">
                <a16:creationId xmlns:a16="http://schemas.microsoft.com/office/drawing/2014/main" id="{124D8986-40E4-9C4C-9000-D7F27294F6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6A2C31-69A8-2541-8800-BF6093390D3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80514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E6F4BA-B7C3-0B40-A517-3063895B03DF}"/>
              </a:ext>
            </a:extLst>
          </p:cNvPr>
          <p:cNvSpPr>
            <a:spLocks noGrp="1"/>
          </p:cNvSpPr>
          <p:nvPr>
            <p:ph type="dt" sz="half" idx="10"/>
          </p:nvPr>
        </p:nvSpPr>
        <p:spPr/>
        <p:txBody>
          <a:bodyPr/>
          <a:lstStyle/>
          <a:p>
            <a:fld id="{BDE38E33-E634-164E-9160-E9D257145221}" type="datetimeFigureOut">
              <a:rPr lang="en-US" smtClean="0"/>
              <a:t>2/17/24</a:t>
            </a:fld>
            <a:endParaRPr lang="en-US"/>
          </a:p>
        </p:txBody>
      </p:sp>
      <p:sp>
        <p:nvSpPr>
          <p:cNvPr id="3" name="Footer Placeholder 2">
            <a:extLst>
              <a:ext uri="{FF2B5EF4-FFF2-40B4-BE49-F238E27FC236}">
                <a16:creationId xmlns:a16="http://schemas.microsoft.com/office/drawing/2014/main" id="{4797E2D8-25FE-5D4E-AA84-54C5D96B6F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3C8086-56AB-5846-9B21-24E9FACF9EE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564853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128B-CB7D-4949-BDCD-CEA57AD653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4C22BEB-180F-2C4F-AD00-7398A27FFD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D449D24-1922-914E-8AE1-EDB93293A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CC72B2-DD18-5848-8941-A617E3E7920F}"/>
              </a:ext>
            </a:extLst>
          </p:cNvPr>
          <p:cNvSpPr>
            <a:spLocks noGrp="1"/>
          </p:cNvSpPr>
          <p:nvPr>
            <p:ph type="dt" sz="half" idx="10"/>
          </p:nvPr>
        </p:nvSpPr>
        <p:spPr/>
        <p:txBody>
          <a:bodyPr/>
          <a:lstStyle/>
          <a:p>
            <a:fld id="{BDE38E33-E634-164E-9160-E9D257145221}" type="datetimeFigureOut">
              <a:rPr lang="en-US" smtClean="0"/>
              <a:t>2/17/24</a:t>
            </a:fld>
            <a:endParaRPr lang="en-US"/>
          </a:p>
        </p:txBody>
      </p:sp>
      <p:sp>
        <p:nvSpPr>
          <p:cNvPr id="6" name="Footer Placeholder 5">
            <a:extLst>
              <a:ext uri="{FF2B5EF4-FFF2-40B4-BE49-F238E27FC236}">
                <a16:creationId xmlns:a16="http://schemas.microsoft.com/office/drawing/2014/main" id="{688227D4-8A18-8847-B7F4-B294D0E21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41A7C-E471-BB41-A5AE-D7F2A5EF524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01206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BA7A-65F6-804A-9941-BCE8970B95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A38F054-1226-C841-8344-D63DBC0215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11DC94-414C-3F41-B393-D969AAC6A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DE8132-7D31-F647-A931-5987A506D35F}"/>
              </a:ext>
            </a:extLst>
          </p:cNvPr>
          <p:cNvSpPr>
            <a:spLocks noGrp="1"/>
          </p:cNvSpPr>
          <p:nvPr>
            <p:ph type="dt" sz="half" idx="10"/>
          </p:nvPr>
        </p:nvSpPr>
        <p:spPr/>
        <p:txBody>
          <a:bodyPr/>
          <a:lstStyle/>
          <a:p>
            <a:fld id="{BDE38E33-E634-164E-9160-E9D257145221}" type="datetimeFigureOut">
              <a:rPr lang="en-US" smtClean="0"/>
              <a:t>2/17/24</a:t>
            </a:fld>
            <a:endParaRPr lang="en-US"/>
          </a:p>
        </p:txBody>
      </p:sp>
      <p:sp>
        <p:nvSpPr>
          <p:cNvPr id="6" name="Footer Placeholder 5">
            <a:extLst>
              <a:ext uri="{FF2B5EF4-FFF2-40B4-BE49-F238E27FC236}">
                <a16:creationId xmlns:a16="http://schemas.microsoft.com/office/drawing/2014/main" id="{59DF137E-B2CD-DD4D-BF38-E08630C9F6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EF7E92-EA36-7B48-A10F-1F43EE78FE1D}"/>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384561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E4E04-9F9F-AB48-88B1-E1883CD3317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657EA1-F037-8B4E-9A3A-2DE41A3DE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DB8C3C-2D4F-BE41-8BC7-084B83BEFA84}"/>
              </a:ext>
            </a:extLst>
          </p:cNvPr>
          <p:cNvSpPr>
            <a:spLocks noGrp="1"/>
          </p:cNvSpPr>
          <p:nvPr>
            <p:ph type="dt" sz="half" idx="10"/>
          </p:nvPr>
        </p:nvSpPr>
        <p:spPr/>
        <p:txBody>
          <a:bodyPr/>
          <a:lstStyle/>
          <a:p>
            <a:fld id="{BDE38E33-E634-164E-9160-E9D257145221}" type="datetimeFigureOut">
              <a:rPr lang="en-US" smtClean="0"/>
              <a:t>2/17/24</a:t>
            </a:fld>
            <a:endParaRPr lang="en-US"/>
          </a:p>
        </p:txBody>
      </p:sp>
      <p:sp>
        <p:nvSpPr>
          <p:cNvPr id="5" name="Footer Placeholder 4">
            <a:extLst>
              <a:ext uri="{FF2B5EF4-FFF2-40B4-BE49-F238E27FC236}">
                <a16:creationId xmlns:a16="http://schemas.microsoft.com/office/drawing/2014/main" id="{D612D0DE-14FE-1D40-BE53-A452852B6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1D8C1-DBB4-6047-9F3A-27574BE70FD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18189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564D8-A2EB-6040-A321-450F2B3B53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E19CC6-DE46-8941-A1E0-A043207418B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4B8749-56EB-B24A-9291-4EBB8B556CFA}"/>
              </a:ext>
            </a:extLst>
          </p:cNvPr>
          <p:cNvSpPr>
            <a:spLocks noGrp="1"/>
          </p:cNvSpPr>
          <p:nvPr>
            <p:ph type="dt" sz="half" idx="10"/>
          </p:nvPr>
        </p:nvSpPr>
        <p:spPr/>
        <p:txBody>
          <a:bodyPr/>
          <a:lstStyle/>
          <a:p>
            <a:fld id="{BDE38E33-E634-164E-9160-E9D257145221}" type="datetimeFigureOut">
              <a:rPr lang="en-US" smtClean="0"/>
              <a:t>2/17/24</a:t>
            </a:fld>
            <a:endParaRPr lang="en-US"/>
          </a:p>
        </p:txBody>
      </p:sp>
      <p:sp>
        <p:nvSpPr>
          <p:cNvPr id="5" name="Footer Placeholder 4">
            <a:extLst>
              <a:ext uri="{FF2B5EF4-FFF2-40B4-BE49-F238E27FC236}">
                <a16:creationId xmlns:a16="http://schemas.microsoft.com/office/drawing/2014/main" id="{527ABE29-13B7-C144-9FE6-C43F1BC65D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9BD64-DA0B-7445-BB80-5A502968ADB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8931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0518A-80A7-B946-A2C0-357FF80B4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66F8D-B95D-3748-A8C1-B613B61AC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01E4AA-0008-E746-A8C3-917D9ECC1F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38E33-E634-164E-9160-E9D257145221}" type="datetimeFigureOut">
              <a:rPr lang="en-US" smtClean="0"/>
              <a:t>2/17/24</a:t>
            </a:fld>
            <a:endParaRPr lang="en-US"/>
          </a:p>
        </p:txBody>
      </p:sp>
      <p:sp>
        <p:nvSpPr>
          <p:cNvPr id="5" name="Footer Placeholder 4">
            <a:extLst>
              <a:ext uri="{FF2B5EF4-FFF2-40B4-BE49-F238E27FC236}">
                <a16:creationId xmlns:a16="http://schemas.microsoft.com/office/drawing/2014/main" id="{32A644B1-065E-4C4F-8DD6-AB2140588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71CFFB-C884-9249-B66F-52213D904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301A9-E266-4A4D-81C0-23C5428F31B4}" type="slidenum">
              <a:rPr lang="en-US" smtClean="0"/>
              <a:t>‹#›</a:t>
            </a:fld>
            <a:endParaRPr lang="en-US"/>
          </a:p>
        </p:txBody>
      </p:sp>
    </p:spTree>
    <p:extLst>
      <p:ext uri="{BB962C8B-B14F-4D97-AF65-F5344CB8AC3E}">
        <p14:creationId xmlns:p14="http://schemas.microsoft.com/office/powerpoint/2010/main" val="1832146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10" Type="http://schemas.openxmlformats.org/officeDocument/2006/relationships/image" Target="../media/image4.png"/><Relationship Id="rId4" Type="http://schemas.openxmlformats.org/officeDocument/2006/relationships/customXml" Target="../ink/ink2.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mysql.com/" TargetMode="Externa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hyperlink" Target="https://www.oracle.com/database/" TargetMode="External"/><Relationship Id="rId5" Type="http://schemas.openxmlformats.org/officeDocument/2006/relationships/hyperlink" Target="https://www.microsoft.com/en-ie/sql-server/sql-server-downloads" TargetMode="External"/><Relationship Id="rId4" Type="http://schemas.openxmlformats.org/officeDocument/2006/relationships/hyperlink" Target="https://www.postgresql.org/"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graphable.ai/blog/what-is-a-graph-database/" TargetMode="External"/><Relationship Id="rId2" Type="http://schemas.openxmlformats.org/officeDocument/2006/relationships/hyperlink" Target="https://www.mongodb.com/scale/types-of-nosql-databases" TargetMode="External"/><Relationship Id="rId1" Type="http://schemas.openxmlformats.org/officeDocument/2006/relationships/slideLayout" Target="../slideLayouts/slideLayout2.xml"/><Relationship Id="rId4" Type="http://schemas.openxmlformats.org/officeDocument/2006/relationships/hyperlink" Target="https://neo4j.com/cloud/aura/?ref=docs-get-started-dropdow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mongodb.com/nosql-explained/when-to-use-nosq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docs.mongodb.com/guides/" TargetMode="External"/><Relationship Id="rId2" Type="http://schemas.openxmlformats.org/officeDocument/2006/relationships/hyperlink" Target="https://www.mongodb.com/" TargetMode="Externa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hyperlink" Target="https://en.wikipedia.org/wiki/MongoDB_Inc."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docs.mongodb.com/manual/reference/limits/#BSON-Document-Size"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www.mongodb.com/nosql-explained/nosql-vs-sql" TargetMode="External"/><Relationship Id="rId2" Type="http://schemas.openxmlformats.org/officeDocument/2006/relationships/hyperlink" Target="https://www.imaginarycloud.com/blog/sql-vs-nosql/" TargetMode="External"/><Relationship Id="rId1" Type="http://schemas.openxmlformats.org/officeDocument/2006/relationships/slideLayout" Target="../slideLayouts/slideLayout2.xml"/><Relationship Id="rId6" Type="http://schemas.openxmlformats.org/officeDocument/2006/relationships/hyperlink" Target="https://middleware.io/blog/vertical-vs-horizontal-scaling/" TargetMode="External"/><Relationship Id="rId5" Type="http://schemas.openxmlformats.org/officeDocument/2006/relationships/hyperlink" Target="https://www.geeksforgeeks.org/overview-of-scaling-vertical-and-horizontal-scaling/" TargetMode="External"/><Relationship Id="rId4" Type="http://schemas.openxmlformats.org/officeDocument/2006/relationships/hyperlink" Target="https://www.mongodb.com/nosql-explain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57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8B91-A0EF-6441-AC27-9667FD447C0F}"/>
              </a:ext>
            </a:extLst>
          </p:cNvPr>
          <p:cNvSpPr>
            <a:spLocks noGrp="1"/>
          </p:cNvSpPr>
          <p:nvPr>
            <p:ph type="ctrTitle"/>
          </p:nvPr>
        </p:nvSpPr>
        <p:spPr>
          <a:xfrm>
            <a:off x="0" y="1485420"/>
            <a:ext cx="12192000" cy="2472633"/>
          </a:xfrm>
          <a:ln>
            <a:noFill/>
          </a:ln>
          <a:effectLst>
            <a:outerShdw blurRad="165100" dist="101600" dir="5400000" algn="t" rotWithShape="0">
              <a:prstClr val="black">
                <a:alpha val="40000"/>
              </a:prstClr>
            </a:outerShdw>
          </a:effectLst>
        </p:spPr>
        <p:txBody>
          <a:bodyPr>
            <a:noAutofit/>
          </a:bodyPr>
          <a:lstStyle/>
          <a:p>
            <a:r>
              <a:rPr lang="en-US" sz="1500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COMP 1842</a:t>
            </a:r>
          </a:p>
        </p:txBody>
      </p:sp>
      <p:sp>
        <p:nvSpPr>
          <p:cNvPr id="3" name="Subtitle 2">
            <a:extLst>
              <a:ext uri="{FF2B5EF4-FFF2-40B4-BE49-F238E27FC236}">
                <a16:creationId xmlns:a16="http://schemas.microsoft.com/office/drawing/2014/main" id="{7CC15634-394B-C140-BAEF-ABAB8B4926C9}"/>
              </a:ext>
            </a:extLst>
          </p:cNvPr>
          <p:cNvSpPr>
            <a:spLocks noGrp="1"/>
          </p:cNvSpPr>
          <p:nvPr>
            <p:ph type="subTitle" idx="1"/>
          </p:nvPr>
        </p:nvSpPr>
        <p:spPr>
          <a:xfrm>
            <a:off x="0" y="4640041"/>
            <a:ext cx="12192000" cy="1169088"/>
          </a:xfrm>
        </p:spPr>
        <p:txBody>
          <a:bodyPr>
            <a:normAutofit/>
          </a:bodyPr>
          <a:lstStyle/>
          <a:p>
            <a:r>
              <a:rPr lang="en-US" sz="4000" dirty="0">
                <a:solidFill>
                  <a:schemeClr val="bg1"/>
                </a:solidFill>
                <a:latin typeface="Helvetica Neue Thin" panose="020B0403020202020204" pitchFamily="34" charset="0"/>
                <a:ea typeface="Helvetica Neue Thin" panose="020B0403020202020204" pitchFamily="34" charset="0"/>
              </a:rPr>
              <a:t>Introduction to NoSQL</a:t>
            </a:r>
          </a:p>
          <a:p>
            <a:r>
              <a:rPr lang="en-US" dirty="0">
                <a:solidFill>
                  <a:schemeClr val="bg1"/>
                </a:solidFill>
                <a:latin typeface="Helvetica Neue Thin" panose="020B0403020202020204" pitchFamily="34" charset="0"/>
                <a:ea typeface="Helvetica Neue Thin" panose="020B0403020202020204" pitchFamily="34" charset="0"/>
              </a:rPr>
              <a:t>Matt Prichard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D7C0677-BBE1-414B-814E-FB526796BABE}"/>
                  </a:ext>
                </a:extLst>
              </p14:cNvPr>
              <p14:cNvContentPartPr/>
              <p14:nvPr/>
            </p14:nvContentPartPr>
            <p14:xfrm>
              <a:off x="8651014" y="2840692"/>
              <a:ext cx="360" cy="3600"/>
            </p14:xfrm>
          </p:contentPart>
        </mc:Choice>
        <mc:Fallback xmlns="">
          <p:pic>
            <p:nvPicPr>
              <p:cNvPr id="5" name="Ink 4">
                <a:extLst>
                  <a:ext uri="{FF2B5EF4-FFF2-40B4-BE49-F238E27FC236}">
                    <a16:creationId xmlns:a16="http://schemas.microsoft.com/office/drawing/2014/main" id="{DD7C0677-BBE1-414B-814E-FB526796BABE}"/>
                  </a:ext>
                </a:extLst>
              </p:cNvPr>
              <p:cNvPicPr/>
              <p:nvPr/>
            </p:nvPicPr>
            <p:blipFill>
              <a:blip r:embed="rId3"/>
              <a:stretch>
                <a:fillRect/>
              </a:stretch>
            </p:blipFill>
            <p:spPr>
              <a:xfrm>
                <a:off x="8642374" y="283169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850E275-2940-D64F-8F9D-8FEA90F263CD}"/>
                  </a:ext>
                </a:extLst>
              </p14:cNvPr>
              <p14:cNvContentPartPr/>
              <p14:nvPr/>
            </p14:nvContentPartPr>
            <p14:xfrm>
              <a:off x="7568494" y="1355692"/>
              <a:ext cx="3600" cy="3600"/>
            </p14:xfrm>
          </p:contentPart>
        </mc:Choice>
        <mc:Fallback xmlns="">
          <p:pic>
            <p:nvPicPr>
              <p:cNvPr id="6" name="Ink 5">
                <a:extLst>
                  <a:ext uri="{FF2B5EF4-FFF2-40B4-BE49-F238E27FC236}">
                    <a16:creationId xmlns:a16="http://schemas.microsoft.com/office/drawing/2014/main" id="{2850E275-2940-D64F-8F9D-8FEA90F263CD}"/>
                  </a:ext>
                </a:extLst>
              </p:cNvPr>
              <p:cNvPicPr/>
              <p:nvPr/>
            </p:nvPicPr>
            <p:blipFill>
              <a:blip r:embed="rId5"/>
              <a:stretch>
                <a:fillRect/>
              </a:stretch>
            </p:blipFill>
            <p:spPr>
              <a:xfrm>
                <a:off x="7559854" y="1347052"/>
                <a:ext cx="212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C9CF2D3-71F9-664F-83A1-4ACBF7039607}"/>
                  </a:ext>
                </a:extLst>
              </p14:cNvPr>
              <p14:cNvContentPartPr/>
              <p14:nvPr/>
            </p14:nvContentPartPr>
            <p14:xfrm>
              <a:off x="5078734" y="3049852"/>
              <a:ext cx="360" cy="3600"/>
            </p14:xfrm>
          </p:contentPart>
        </mc:Choice>
        <mc:Fallback xmlns="">
          <p:pic>
            <p:nvPicPr>
              <p:cNvPr id="7" name="Ink 6">
                <a:extLst>
                  <a:ext uri="{FF2B5EF4-FFF2-40B4-BE49-F238E27FC236}">
                    <a16:creationId xmlns:a16="http://schemas.microsoft.com/office/drawing/2014/main" id="{3C9CF2D3-71F9-664F-83A1-4ACBF7039607}"/>
                  </a:ext>
                </a:extLst>
              </p:cNvPr>
              <p:cNvPicPr/>
              <p:nvPr/>
            </p:nvPicPr>
            <p:blipFill>
              <a:blip r:embed="rId3"/>
              <a:stretch>
                <a:fillRect/>
              </a:stretch>
            </p:blipFill>
            <p:spPr>
              <a:xfrm>
                <a:off x="5070094" y="304121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FDACCB0-A54B-354A-A3EC-60B7525CDF0A}"/>
                  </a:ext>
                </a:extLst>
              </p14:cNvPr>
              <p14:cNvContentPartPr/>
              <p14:nvPr/>
            </p14:nvContentPartPr>
            <p14:xfrm>
              <a:off x="5525854" y="1776532"/>
              <a:ext cx="360" cy="360"/>
            </p14:xfrm>
          </p:contentPart>
        </mc:Choice>
        <mc:Fallback xmlns="">
          <p:pic>
            <p:nvPicPr>
              <p:cNvPr id="8" name="Ink 7">
                <a:extLst>
                  <a:ext uri="{FF2B5EF4-FFF2-40B4-BE49-F238E27FC236}">
                    <a16:creationId xmlns:a16="http://schemas.microsoft.com/office/drawing/2014/main" id="{8FDACCB0-A54B-354A-A3EC-60B7525CDF0A}"/>
                  </a:ext>
                </a:extLst>
              </p:cNvPr>
              <p:cNvPicPr/>
              <p:nvPr/>
            </p:nvPicPr>
            <p:blipFill>
              <a:blip r:embed="rId8"/>
              <a:stretch>
                <a:fillRect/>
              </a:stretch>
            </p:blipFill>
            <p:spPr>
              <a:xfrm>
                <a:off x="5517214" y="176753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465448C-44AF-1340-8608-65DF607A0667}"/>
                  </a:ext>
                </a:extLst>
              </p14:cNvPr>
              <p14:cNvContentPartPr/>
              <p14:nvPr/>
            </p14:nvContentPartPr>
            <p14:xfrm>
              <a:off x="768814" y="1290172"/>
              <a:ext cx="3600" cy="360"/>
            </p14:xfrm>
          </p:contentPart>
        </mc:Choice>
        <mc:Fallback xmlns="">
          <p:pic>
            <p:nvPicPr>
              <p:cNvPr id="9" name="Ink 8">
                <a:extLst>
                  <a:ext uri="{FF2B5EF4-FFF2-40B4-BE49-F238E27FC236}">
                    <a16:creationId xmlns:a16="http://schemas.microsoft.com/office/drawing/2014/main" id="{6465448C-44AF-1340-8608-65DF607A0667}"/>
                  </a:ext>
                </a:extLst>
              </p:cNvPr>
              <p:cNvPicPr/>
              <p:nvPr/>
            </p:nvPicPr>
            <p:blipFill>
              <a:blip r:embed="rId10"/>
              <a:stretch>
                <a:fillRect/>
              </a:stretch>
            </p:blipFill>
            <p:spPr>
              <a:xfrm>
                <a:off x="759814" y="1281532"/>
                <a:ext cx="21240" cy="18000"/>
              </a:xfrm>
              <a:prstGeom prst="rect">
                <a:avLst/>
              </a:prstGeom>
            </p:spPr>
          </p:pic>
        </mc:Fallback>
      </mc:AlternateContent>
    </p:spTree>
    <p:extLst>
      <p:ext uri="{BB962C8B-B14F-4D97-AF65-F5344CB8AC3E}">
        <p14:creationId xmlns:p14="http://schemas.microsoft.com/office/powerpoint/2010/main" val="163420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Introduction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2100263"/>
            <a:ext cx="3390900" cy="3189288"/>
          </a:xfrm>
        </p:spPr>
        <p:txBody>
          <a:bodyPr>
            <a:normAutofit/>
          </a:bodyPr>
          <a:lstStyle/>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SQL vs NoSQL</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Scaling</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MongoDB</a:t>
            </a:r>
          </a:p>
        </p:txBody>
      </p:sp>
      <p:pic>
        <p:nvPicPr>
          <p:cNvPr id="8194" name="Picture 2" descr="SQL vs noSQL | MySQL vs MongoDB - różnice - YouTube">
            <a:extLst>
              <a:ext uri="{FF2B5EF4-FFF2-40B4-BE49-F238E27FC236}">
                <a16:creationId xmlns:a16="http://schemas.microsoft.com/office/drawing/2014/main" id="{ABB35A2A-5BF3-AB41-AD7E-EF347ED65B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9100" y="2100263"/>
            <a:ext cx="7267323" cy="4078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36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SQL recap</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8"/>
            <a:ext cx="10515600" cy="4351338"/>
          </a:xfrm>
        </p:spPr>
        <p:txBody>
          <a:bodyPr>
            <a:normAutofit/>
          </a:bodyPr>
          <a:lstStyle/>
          <a:p>
            <a:pPr>
              <a:lnSpc>
                <a:spcPct val="150000"/>
              </a:lnSpc>
            </a:pPr>
            <a:r>
              <a:rPr lang="en-GB" sz="2400" dirty="0">
                <a:latin typeface="Helvetica Neue Light" panose="02000403000000020004" pitchFamily="2" charset="0"/>
                <a:ea typeface="Helvetica Neue Light" panose="02000403000000020004" pitchFamily="2" charset="0"/>
              </a:rPr>
              <a:t>It is a query language that allows retrieving specific data from databases.</a:t>
            </a:r>
          </a:p>
          <a:p>
            <a:pPr>
              <a:lnSpc>
                <a:spcPct val="150000"/>
              </a:lnSpc>
            </a:pPr>
            <a:r>
              <a:rPr lang="en-GB" sz="2400" dirty="0">
                <a:latin typeface="Helvetica Neue Light" panose="02000403000000020004" pitchFamily="2" charset="0"/>
                <a:ea typeface="Helvetica Neue Light" panose="02000403000000020004" pitchFamily="2" charset="0"/>
              </a:rPr>
              <a:t>A relational database is a type of database (usually organized into tables) that enables the recognition and access of data in relation to another piece of data within the same database. </a:t>
            </a:r>
          </a:p>
          <a:p>
            <a:pPr>
              <a:lnSpc>
                <a:spcPct val="150000"/>
              </a:lnSpc>
            </a:pPr>
            <a:r>
              <a:rPr lang="en-GB" sz="2400" dirty="0">
                <a:latin typeface="Helvetica Neue Light" panose="02000403000000020004" pitchFamily="2" charset="0"/>
                <a:ea typeface="Helvetica Neue Light" panose="02000403000000020004" pitchFamily="2" charset="0"/>
              </a:rPr>
              <a:t>In other words, it stores related data across multiple tables, which are organized into columns and rows, and allow the user to query data (or information) from various tables simultaneously.</a:t>
            </a: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4140873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DBMS SQL Experts | iTool Solutions">
            <a:extLst>
              <a:ext uri="{FF2B5EF4-FFF2-40B4-BE49-F238E27FC236}">
                <a16:creationId xmlns:a16="http://schemas.microsoft.com/office/drawing/2014/main" id="{64F95F38-74D7-694B-AEA4-A47D3857E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4901" y="0"/>
            <a:ext cx="5687099" cy="295433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RDBMS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995488"/>
            <a:ext cx="10934700" cy="4351338"/>
          </a:xfrm>
        </p:spPr>
        <p:txBody>
          <a:bodyPr>
            <a:normAutofit lnSpcReduction="10000"/>
          </a:bodyPr>
          <a:lstStyle/>
          <a:p>
            <a:pPr>
              <a:lnSpc>
                <a:spcPct val="150000"/>
              </a:lnSpc>
            </a:pPr>
            <a:r>
              <a:rPr lang="en-GB" sz="2400" dirty="0">
                <a:latin typeface="Helvetica Neue Light" panose="02000403000000020004" pitchFamily="2" charset="0"/>
                <a:ea typeface="Helvetica Neue Light" panose="02000403000000020004" pitchFamily="2" charset="0"/>
              </a:rPr>
              <a:t>A relational database is a database that follows</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  the relational model of data. To maintain a relational</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  database, a Relational Database Management System (RDBMS) is used. </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  SQL is a language that allows for communication with data in an RDBMS.</a:t>
            </a:r>
          </a:p>
          <a:p>
            <a:pPr>
              <a:lnSpc>
                <a:spcPct val="150000"/>
              </a:lnSpc>
            </a:pPr>
            <a:r>
              <a:rPr lang="en-GB" sz="2400" dirty="0">
                <a:latin typeface="Helvetica Neue Light" panose="02000403000000020004" pitchFamily="2" charset="0"/>
                <a:ea typeface="Helvetica Neue Light" panose="02000403000000020004" pitchFamily="2" charset="0"/>
              </a:rPr>
              <a:t>An important clarification is that SQL is not a database system itself. When comparing SQL vs NoSQL, the main differences being assessed are relational databases vs non-relational databases </a:t>
            </a:r>
          </a:p>
        </p:txBody>
      </p:sp>
    </p:spTree>
    <p:extLst>
      <p:ext uri="{BB962C8B-B14F-4D97-AF65-F5344CB8AC3E}">
        <p14:creationId xmlns:p14="http://schemas.microsoft.com/office/powerpoint/2010/main" val="30592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QL Logo - LogoDix">
            <a:extLst>
              <a:ext uri="{FF2B5EF4-FFF2-40B4-BE49-F238E27FC236}">
                <a16:creationId xmlns:a16="http://schemas.microsoft.com/office/drawing/2014/main" id="{4C8E9F5A-5920-8949-9D9B-FEC2D42BBC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371" r="7363"/>
          <a:stretch/>
        </p:blipFill>
        <p:spPr bwMode="auto">
          <a:xfrm>
            <a:off x="7986713" y="0"/>
            <a:ext cx="4014787" cy="3032144"/>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SQL</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2055813"/>
            <a:ext cx="10515600" cy="4351338"/>
          </a:xfrm>
        </p:spPr>
        <p:txBody>
          <a:bodyPr>
            <a:normAutofit/>
          </a:bodyPr>
          <a:lstStyle/>
          <a:p>
            <a:pPr>
              <a:lnSpc>
                <a:spcPct val="150000"/>
              </a:lnSpc>
            </a:pPr>
            <a:r>
              <a:rPr lang="en-GB" sz="2400" dirty="0">
                <a:latin typeface="Helvetica Neue Light" panose="02000403000000020004" pitchFamily="2" charset="0"/>
                <a:ea typeface="Helvetica Neue Light" panose="02000403000000020004" pitchFamily="2" charset="0"/>
              </a:rPr>
              <a:t>Another aspect to consider is that SQL is not the only programming language able to query relational databases, but it is definitely the most popular one.</a:t>
            </a:r>
          </a:p>
          <a:p>
            <a:pPr>
              <a:lnSpc>
                <a:spcPct val="150000"/>
              </a:lnSpc>
            </a:pPr>
            <a:r>
              <a:rPr lang="en-GB" sz="2400" dirty="0">
                <a:latin typeface="Helvetica Neue Light" panose="02000403000000020004" pitchFamily="2" charset="0"/>
                <a:ea typeface="Helvetica Neue Light" panose="02000403000000020004" pitchFamily="2" charset="0"/>
              </a:rPr>
              <a:t>Therefore, the terms "SQL databases" and "relational databases" are often interchangeably used. </a:t>
            </a:r>
            <a:r>
              <a:rPr lang="en-GB" sz="2400" u="sng" dirty="0">
                <a:latin typeface="Helvetica Neue Light" panose="02000403000000020004" pitchFamily="2" charset="0"/>
                <a:ea typeface="Helvetica Neue Light" panose="02000403000000020004" pitchFamily="2" charset="0"/>
                <a:hlinkClick r:id="rId3"/>
              </a:rPr>
              <a:t>MySQL</a:t>
            </a:r>
            <a:r>
              <a:rPr lang="en-GB" sz="2400" dirty="0">
                <a:latin typeface="Helvetica Neue Light" panose="02000403000000020004" pitchFamily="2" charset="0"/>
                <a:ea typeface="Helvetica Neue Light" panose="02000403000000020004" pitchFamily="2" charset="0"/>
              </a:rPr>
              <a:t>, </a:t>
            </a:r>
            <a:r>
              <a:rPr lang="en-GB" sz="2400" u="sng" dirty="0">
                <a:latin typeface="Helvetica Neue Light" panose="02000403000000020004" pitchFamily="2" charset="0"/>
                <a:ea typeface="Helvetica Neue Light" panose="02000403000000020004" pitchFamily="2" charset="0"/>
                <a:hlinkClick r:id="rId4"/>
              </a:rPr>
              <a:t>PostgreSQL</a:t>
            </a:r>
            <a:r>
              <a:rPr lang="en-GB" sz="2400" dirty="0">
                <a:latin typeface="Helvetica Neue Light" panose="02000403000000020004" pitchFamily="2" charset="0"/>
                <a:ea typeface="Helvetica Neue Light" panose="02000403000000020004" pitchFamily="2" charset="0"/>
              </a:rPr>
              <a:t>, </a:t>
            </a:r>
            <a:r>
              <a:rPr lang="en-GB" sz="2400" u="sng" dirty="0">
                <a:latin typeface="Helvetica Neue Light" panose="02000403000000020004" pitchFamily="2" charset="0"/>
                <a:ea typeface="Helvetica Neue Light" panose="02000403000000020004" pitchFamily="2" charset="0"/>
                <a:hlinkClick r:id="rId5"/>
              </a:rPr>
              <a:t>Microsoft SQLServer</a:t>
            </a:r>
            <a:endParaRPr lang="en-GB" sz="2400" u="sng" dirty="0">
              <a:latin typeface="Helvetica Neue Light" panose="02000403000000020004" pitchFamily="2" charset="0"/>
              <a:ea typeface="Helvetica Neue Light" panose="02000403000000020004" pitchFamily="2" charset="0"/>
            </a:endParaRPr>
          </a:p>
          <a:p>
            <a:pPr marL="0" indent="0">
              <a:lnSpc>
                <a:spcPct val="150000"/>
              </a:lnSpc>
              <a:buNone/>
            </a:pPr>
            <a:r>
              <a:rPr lang="en-GB" sz="2400" dirty="0">
                <a:latin typeface="Helvetica Neue Light" panose="02000403000000020004" pitchFamily="2" charset="0"/>
                <a:ea typeface="Helvetica Neue Light" panose="02000403000000020004" pitchFamily="2" charset="0"/>
              </a:rPr>
              <a:t>   and </a:t>
            </a:r>
            <a:r>
              <a:rPr lang="en-GB" sz="2400" u="sng" dirty="0">
                <a:latin typeface="Helvetica Neue Light" panose="02000403000000020004" pitchFamily="2" charset="0"/>
                <a:ea typeface="Helvetica Neue Light" panose="02000403000000020004" pitchFamily="2" charset="0"/>
                <a:hlinkClick r:id="rId6"/>
              </a:rPr>
              <a:t>Oracle Database</a:t>
            </a:r>
            <a:r>
              <a:rPr lang="en-GB" sz="2400" dirty="0">
                <a:latin typeface="Helvetica Neue Light" panose="02000403000000020004" pitchFamily="2" charset="0"/>
                <a:ea typeface="Helvetica Neue Light" panose="02000403000000020004" pitchFamily="2" charset="0"/>
              </a:rPr>
              <a:t> are among the most well-known RDBMS using SQL.</a:t>
            </a:r>
          </a:p>
        </p:txBody>
      </p:sp>
    </p:spTree>
    <p:extLst>
      <p:ext uri="{BB962C8B-B14F-4D97-AF65-F5344CB8AC3E}">
        <p14:creationId xmlns:p14="http://schemas.microsoft.com/office/powerpoint/2010/main" val="184625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What is NoSQL ?</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962150"/>
            <a:ext cx="10515600" cy="4351338"/>
          </a:xfrm>
        </p:spPr>
        <p:txBody>
          <a:bodyPr>
            <a:normAutofit/>
          </a:bodyPr>
          <a:lstStyle/>
          <a:p>
            <a:pPr>
              <a:lnSpc>
                <a:spcPct val="150000"/>
              </a:lnSpc>
            </a:pPr>
            <a:r>
              <a:rPr lang="en-GB" sz="2400" dirty="0">
                <a:latin typeface="Helvetica Neue Light" panose="02000403000000020004" pitchFamily="2" charset="0"/>
                <a:ea typeface="Helvetica Neue Light" panose="02000403000000020004" pitchFamily="2" charset="0"/>
              </a:rPr>
              <a:t>NoSQL refers to non-relational databases and to distributed databases. NoSQL can also stand for "Not Only SQL" to highlight that some NoSQL systems may also support SQL query language.</a:t>
            </a:r>
          </a:p>
          <a:p>
            <a:pPr>
              <a:lnSpc>
                <a:spcPct val="150000"/>
              </a:lnSpc>
            </a:pPr>
            <a:r>
              <a:rPr lang="en-GB" sz="2400" dirty="0">
                <a:latin typeface="Helvetica Neue Light" panose="02000403000000020004" pitchFamily="2" charset="0"/>
                <a:ea typeface="Helvetica Neue Light" panose="02000403000000020004" pitchFamily="2" charset="0"/>
              </a:rPr>
              <a:t>In fact, before moving on it is important to keep in mind that NoSQL does not necessarily mean that a database does not support SQL.</a:t>
            </a:r>
          </a:p>
          <a:p>
            <a:pPr>
              <a:lnSpc>
                <a:spcPct val="150000"/>
              </a:lnSpc>
            </a:pPr>
            <a:r>
              <a:rPr lang="en-GB" sz="2400" dirty="0">
                <a:latin typeface="Helvetica Neue Light" panose="02000403000000020004" pitchFamily="2" charset="0"/>
                <a:ea typeface="Helvetica Neue Light" panose="02000403000000020004" pitchFamily="2" charset="0"/>
              </a:rPr>
              <a:t>Instead, it means that the database is not an RDBMS or in other words a non-relational database.</a:t>
            </a:r>
          </a:p>
        </p:txBody>
      </p:sp>
      <p:pic>
        <p:nvPicPr>
          <p:cNvPr id="3076" name="Picture 4" descr="Difference Between NoSQL And SQL">
            <a:extLst>
              <a:ext uri="{FF2B5EF4-FFF2-40B4-BE49-F238E27FC236}">
                <a16:creationId xmlns:a16="http://schemas.microsoft.com/office/drawing/2014/main" id="{F3A66072-738E-CC49-A3C1-881376C302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25087" y="190502"/>
            <a:ext cx="1814512" cy="1814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5946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Brief history</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804988"/>
            <a:ext cx="10515600" cy="4351338"/>
          </a:xfrm>
        </p:spPr>
        <p:txBody>
          <a:bodyPr>
            <a:normAutofit/>
          </a:bodyPr>
          <a:lstStyle/>
          <a:p>
            <a:pPr>
              <a:lnSpc>
                <a:spcPct val="150000"/>
              </a:lnSpc>
            </a:pPr>
            <a:r>
              <a:rPr lang="en-GB" sz="2400" dirty="0">
                <a:latin typeface="Helvetica Neue Light" panose="02000403000000020004" pitchFamily="2" charset="0"/>
                <a:ea typeface="Helvetica Neue Light" panose="02000403000000020004" pitchFamily="2" charset="0"/>
              </a:rPr>
              <a:t>NoSQL databases emerged in the late 2000s as the cost of storage dramatically decreased, removing the need to create a complex, difficult-to-manage data models in order to avoid data duplication.</a:t>
            </a:r>
          </a:p>
          <a:p>
            <a:pPr>
              <a:lnSpc>
                <a:spcPct val="150000"/>
              </a:lnSpc>
            </a:pPr>
            <a:r>
              <a:rPr lang="en-GB" sz="2600" dirty="0">
                <a:latin typeface="Helvetica Neue Light" panose="02000403000000020004" pitchFamily="2" charset="0"/>
                <a:ea typeface="Helvetica Neue Light" panose="02000403000000020004" pitchFamily="2" charset="0"/>
              </a:rPr>
              <a:t>Cloud computing also rose in popularity, and developers began using public clouds to host their applications and data. They wanted the ability to distribute data across multiple servers and regions to make their applications resilient, to scale out instead of scale up.</a:t>
            </a:r>
          </a:p>
        </p:txBody>
      </p:sp>
    </p:spTree>
    <p:extLst>
      <p:ext uri="{BB962C8B-B14F-4D97-AF65-F5344CB8AC3E}">
        <p14:creationId xmlns:p14="http://schemas.microsoft.com/office/powerpoint/2010/main" val="671283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rizontal Vs. Vertical Scaling: How Do They Compare?">
            <a:extLst>
              <a:ext uri="{FF2B5EF4-FFF2-40B4-BE49-F238E27FC236}">
                <a16:creationId xmlns:a16="http://schemas.microsoft.com/office/drawing/2014/main" id="{06760DB8-EBBE-35AF-B509-59342888685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19" t="11383" r="4664" b="10338"/>
          <a:stretch/>
        </p:blipFill>
        <p:spPr bwMode="auto">
          <a:xfrm>
            <a:off x="2060354" y="1325562"/>
            <a:ext cx="8071291" cy="5429251"/>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03187"/>
            <a:ext cx="10515600" cy="1325563"/>
          </a:xfrm>
        </p:spPr>
        <p:txBody>
          <a:bodyPr>
            <a:normAutofit/>
          </a:bodyPr>
          <a:lstStyle/>
          <a:p>
            <a:pPr algn="ct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Scaling</a:t>
            </a:r>
          </a:p>
        </p:txBody>
      </p:sp>
    </p:spTree>
    <p:extLst>
      <p:ext uri="{BB962C8B-B14F-4D97-AF65-F5344CB8AC3E}">
        <p14:creationId xmlns:p14="http://schemas.microsoft.com/office/powerpoint/2010/main" val="233511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What is scaling</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1462087"/>
            <a:ext cx="10806113" cy="5030787"/>
          </a:xfrm>
        </p:spPr>
        <p:txBody>
          <a:bodyPr>
            <a:noAutofit/>
          </a:bodyPr>
          <a:lstStyle/>
          <a:p>
            <a:pPr>
              <a:lnSpc>
                <a:spcPct val="150000"/>
              </a:lnSpc>
            </a:pPr>
            <a:r>
              <a:rPr lang="en-GB" sz="2400" dirty="0">
                <a:latin typeface="Helvetica Neue Light" panose="02000403000000020004" pitchFamily="2" charset="0"/>
                <a:ea typeface="Helvetica Neue Light" panose="02000403000000020004" pitchFamily="2" charset="0"/>
              </a:rPr>
              <a:t>If an application can handle a maximum of 'x' requests simultaneously. As soon as this number exceeds x ( say, x+1), critical hardware resources are exhausted, and the application cannot process further requests. Scaling refers to the adjustments made to system hardware resources to handle increased traffic and requests. This could be in the form of:</a:t>
            </a:r>
          </a:p>
          <a:p>
            <a:pPr>
              <a:lnSpc>
                <a:spcPct val="160000"/>
              </a:lnSpc>
            </a:pPr>
            <a:r>
              <a:rPr lang="en-GB" sz="2400" dirty="0">
                <a:latin typeface="Helvetica Neue Light" panose="02000403000000020004" pitchFamily="2" charset="0"/>
                <a:ea typeface="Helvetica Neue Light" panose="02000403000000020004" pitchFamily="2" charset="0"/>
              </a:rPr>
              <a:t>Adjustments to network bandwidth </a:t>
            </a:r>
          </a:p>
          <a:p>
            <a:pPr>
              <a:lnSpc>
                <a:spcPct val="160000"/>
              </a:lnSpc>
            </a:pPr>
            <a:r>
              <a:rPr lang="en-GB" sz="2400" dirty="0">
                <a:latin typeface="Helvetica Neue Light" panose="02000403000000020004" pitchFamily="2" charset="0"/>
                <a:ea typeface="Helvetica Neue Light" panose="02000403000000020004" pitchFamily="2" charset="0"/>
              </a:rPr>
              <a:t>Upgrades to CPU capacity and physical memory </a:t>
            </a:r>
          </a:p>
          <a:p>
            <a:pPr>
              <a:lnSpc>
                <a:spcPct val="160000"/>
              </a:lnSpc>
            </a:pPr>
            <a:r>
              <a:rPr lang="en-GB" sz="2400" dirty="0">
                <a:latin typeface="Helvetica Neue Light" panose="02000403000000020004" pitchFamily="2" charset="0"/>
                <a:ea typeface="Helvetica Neue Light" panose="02000403000000020004" pitchFamily="2" charset="0"/>
              </a:rPr>
              <a:t>Basic hard drive alterations</a:t>
            </a:r>
          </a:p>
        </p:txBody>
      </p:sp>
    </p:spTree>
    <p:extLst>
      <p:ext uri="{BB962C8B-B14F-4D97-AF65-F5344CB8AC3E}">
        <p14:creationId xmlns:p14="http://schemas.microsoft.com/office/powerpoint/2010/main" val="1424563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Vertical scaling</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1462087"/>
            <a:ext cx="10806113" cy="5030787"/>
          </a:xfrm>
        </p:spPr>
        <p:txBody>
          <a:bodyPr>
            <a:noAutofit/>
          </a:bodyPr>
          <a:lstStyle/>
          <a:p>
            <a:pPr fontAlgn="base">
              <a:lnSpc>
                <a:spcPct val="150000"/>
              </a:lnSpc>
            </a:pPr>
            <a:r>
              <a:rPr lang="en-GB" dirty="0">
                <a:latin typeface="Helvetica Neue Light" panose="02000403000000020004" pitchFamily="2" charset="0"/>
                <a:ea typeface="Helvetica Neue Light" panose="02000403000000020004" pitchFamily="2" charset="0"/>
              </a:rPr>
              <a:t>It is defined as the process of increasing the capacity of a single machine by adding more resources such as memory, storage, etc. to increase the throughput of the system. No new resource is added, rather the capability of the existing resources is made more efficient. This is called Vertical scaling. Vertical Scaling is also called the Scale-up approach. </a:t>
            </a:r>
          </a:p>
          <a:p>
            <a:pPr fontAlgn="base">
              <a:lnSpc>
                <a:spcPct val="150000"/>
              </a:lnSpc>
            </a:pPr>
            <a:r>
              <a:rPr lang="en-GB" b="1" dirty="0">
                <a:latin typeface="Helvetica Neue Light" panose="02000403000000020004" pitchFamily="2" charset="0"/>
                <a:ea typeface="Helvetica Neue Light" panose="02000403000000020004" pitchFamily="2" charset="0"/>
              </a:rPr>
              <a:t>Example: MySQL </a:t>
            </a:r>
          </a:p>
        </p:txBody>
      </p:sp>
    </p:spTree>
    <p:extLst>
      <p:ext uri="{BB962C8B-B14F-4D97-AF65-F5344CB8AC3E}">
        <p14:creationId xmlns:p14="http://schemas.microsoft.com/office/powerpoint/2010/main" val="3473666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404812"/>
            <a:ext cx="10806113" cy="6067426"/>
          </a:xfrm>
        </p:spPr>
        <p:txBody>
          <a:bodyPr>
            <a:noAutofit/>
          </a:bodyPr>
          <a:lstStyle/>
          <a:p>
            <a:pPr marL="0" indent="0" fontAlgn="base">
              <a:lnSpc>
                <a:spcPct val="150000"/>
              </a:lnSpc>
              <a:buNone/>
            </a:pPr>
            <a:r>
              <a:rPr lang="en-GB" b="1" dirty="0">
                <a:latin typeface="HELVETICA NEUE LIGHT" panose="02000403000000020004" pitchFamily="2" charset="0"/>
                <a:ea typeface="HELVETICA NEUE LIGHT" panose="02000403000000020004" pitchFamily="2" charset="0"/>
              </a:rPr>
              <a:t>Advantages of Vertical Scaling</a:t>
            </a:r>
          </a:p>
          <a:p>
            <a:pPr fontAlgn="base">
              <a:lnSpc>
                <a:spcPct val="150000"/>
              </a:lnSpc>
            </a:pPr>
            <a:r>
              <a:rPr lang="en-GB" sz="2400" dirty="0">
                <a:latin typeface="Helvetica Neue Light" panose="02000403000000020004" pitchFamily="2" charset="0"/>
                <a:ea typeface="Helvetica Neue Light" panose="02000403000000020004" pitchFamily="2" charset="0"/>
              </a:rPr>
              <a:t>It is easy to implement</a:t>
            </a:r>
          </a:p>
          <a:p>
            <a:pPr fontAlgn="base">
              <a:lnSpc>
                <a:spcPct val="150000"/>
              </a:lnSpc>
            </a:pPr>
            <a:r>
              <a:rPr lang="en-GB" sz="2400" dirty="0">
                <a:latin typeface="Helvetica Neue Light" panose="02000403000000020004" pitchFamily="2" charset="0"/>
                <a:ea typeface="Helvetica Neue Light" panose="02000403000000020004" pitchFamily="2" charset="0"/>
              </a:rPr>
              <a:t>Reduced software costs as no new resources are added</a:t>
            </a:r>
          </a:p>
          <a:p>
            <a:pPr fontAlgn="base">
              <a:lnSpc>
                <a:spcPct val="150000"/>
              </a:lnSpc>
            </a:pPr>
            <a:r>
              <a:rPr lang="en-GB" sz="2400" dirty="0">
                <a:latin typeface="Helvetica Neue Light" panose="02000403000000020004" pitchFamily="2" charset="0"/>
                <a:ea typeface="Helvetica Neue Light" panose="02000403000000020004" pitchFamily="2" charset="0"/>
              </a:rPr>
              <a:t>Fewer efforts required to maintain this single system</a:t>
            </a:r>
          </a:p>
          <a:p>
            <a:pPr marL="0" indent="0" fontAlgn="base">
              <a:lnSpc>
                <a:spcPct val="150000"/>
              </a:lnSpc>
              <a:buNone/>
            </a:pPr>
            <a:r>
              <a:rPr lang="en-GB" b="1" dirty="0">
                <a:latin typeface="HELVETICA NEUE LIGHT" panose="02000403000000020004" pitchFamily="2" charset="0"/>
                <a:ea typeface="HELVETICA NEUE LIGHT" panose="02000403000000020004" pitchFamily="2" charset="0"/>
              </a:rPr>
              <a:t>Disadvantages of Vertical Scaling</a:t>
            </a:r>
          </a:p>
          <a:p>
            <a:pPr fontAlgn="base">
              <a:lnSpc>
                <a:spcPct val="150000"/>
              </a:lnSpc>
            </a:pPr>
            <a:r>
              <a:rPr lang="en-GB" sz="2400" dirty="0">
                <a:latin typeface="Helvetica Neue Light" panose="02000403000000020004" pitchFamily="2" charset="0"/>
                <a:ea typeface="Helvetica Neue Light" panose="02000403000000020004" pitchFamily="2" charset="0"/>
              </a:rPr>
              <a:t>Single-point failure</a:t>
            </a:r>
          </a:p>
          <a:p>
            <a:pPr fontAlgn="base">
              <a:lnSpc>
                <a:spcPct val="150000"/>
              </a:lnSpc>
            </a:pPr>
            <a:r>
              <a:rPr lang="en-GB" sz="2400" dirty="0">
                <a:latin typeface="Helvetica Neue Light" panose="02000403000000020004" pitchFamily="2" charset="0"/>
                <a:ea typeface="Helvetica Neue Light" panose="02000403000000020004" pitchFamily="2" charset="0"/>
              </a:rPr>
              <a:t>Since when the system (server) fails, the downtime is high because we only have a single server</a:t>
            </a:r>
          </a:p>
          <a:p>
            <a:pPr fontAlgn="base">
              <a:lnSpc>
                <a:spcPct val="150000"/>
              </a:lnSpc>
            </a:pPr>
            <a:r>
              <a:rPr lang="en-GB" sz="2400" dirty="0">
                <a:latin typeface="Helvetica Neue Light" panose="02000403000000020004" pitchFamily="2" charset="0"/>
                <a:ea typeface="Helvetica Neue Light" panose="02000403000000020004" pitchFamily="2" charset="0"/>
              </a:rPr>
              <a:t>High risk of hardware failures</a:t>
            </a:r>
          </a:p>
        </p:txBody>
      </p:sp>
    </p:spTree>
    <p:extLst>
      <p:ext uri="{BB962C8B-B14F-4D97-AF65-F5344CB8AC3E}">
        <p14:creationId xmlns:p14="http://schemas.microsoft.com/office/powerpoint/2010/main" val="267823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Horizontal scaling</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1462087"/>
            <a:ext cx="10806113" cy="5030787"/>
          </a:xfrm>
        </p:spPr>
        <p:txBody>
          <a:bodyPr>
            <a:noAutofit/>
          </a:bodyPr>
          <a:lstStyle/>
          <a:p>
            <a:pPr fontAlgn="base">
              <a:lnSpc>
                <a:spcPct val="150000"/>
              </a:lnSpc>
            </a:pPr>
            <a:r>
              <a:rPr lang="en-GB" sz="2400" dirty="0">
                <a:latin typeface="Helvetica Neue Light" panose="02000403000000020004" pitchFamily="2" charset="0"/>
                <a:ea typeface="Helvetica Neue Light" panose="02000403000000020004" pitchFamily="2" charset="0"/>
              </a:rPr>
              <a:t>The process of adding more instances of the same type to the existing pool of resources and not increasing the capacity of existing resources like in vertical scaling. Horizontal Scaling is also called the Scale-out approach. </a:t>
            </a:r>
          </a:p>
          <a:p>
            <a:pPr fontAlgn="base">
              <a:lnSpc>
                <a:spcPct val="150000"/>
              </a:lnSpc>
            </a:pPr>
            <a:r>
              <a:rPr lang="en-GB" sz="2400" dirty="0">
                <a:latin typeface="Helvetica Neue Light" panose="02000403000000020004" pitchFamily="2" charset="0"/>
                <a:ea typeface="Helvetica Neue Light" panose="02000403000000020004" pitchFamily="2" charset="0"/>
              </a:rPr>
              <a:t>In this process, the number of servers is increased and not the individual capacity of the server. A Load Balancer routes the user requests to different servers according to the availability of the server. Thereby, increasing the overall performance of the system. In this way, the entire process is </a:t>
            </a:r>
            <a:r>
              <a:rPr lang="en-GB" sz="2400" b="1" dirty="0">
                <a:latin typeface="Helvetica Neue Light" panose="02000403000000020004" pitchFamily="2" charset="0"/>
                <a:ea typeface="Helvetica Neue Light" panose="02000403000000020004" pitchFamily="2" charset="0"/>
              </a:rPr>
              <a:t>distributed</a:t>
            </a:r>
            <a:r>
              <a:rPr lang="en-GB" sz="2400" dirty="0">
                <a:latin typeface="Helvetica Neue Light" panose="02000403000000020004" pitchFamily="2" charset="0"/>
                <a:ea typeface="Helvetica Neue Light" panose="02000403000000020004" pitchFamily="2" charset="0"/>
              </a:rPr>
              <a:t> among all servers rather than just depending on a single server. </a:t>
            </a:r>
            <a:br>
              <a:rPr lang="en-GB" sz="2400" dirty="0">
                <a:latin typeface="Helvetica Neue Light" panose="02000403000000020004" pitchFamily="2" charset="0"/>
                <a:ea typeface="Helvetica Neue Light" panose="02000403000000020004" pitchFamily="2" charset="0"/>
              </a:rPr>
            </a:br>
            <a:r>
              <a:rPr lang="en-GB" sz="2400" b="1" dirty="0">
                <a:latin typeface="Helvetica Neue Light" panose="02000403000000020004" pitchFamily="2" charset="0"/>
                <a:ea typeface="Helvetica Neue Light" panose="02000403000000020004" pitchFamily="2" charset="0"/>
              </a:rPr>
              <a:t>Example: NoSQL, Cassandra, and MongoDB </a:t>
            </a:r>
          </a:p>
        </p:txBody>
      </p:sp>
    </p:spTree>
    <p:extLst>
      <p:ext uri="{BB962C8B-B14F-4D97-AF65-F5344CB8AC3E}">
        <p14:creationId xmlns:p14="http://schemas.microsoft.com/office/powerpoint/2010/main" val="438278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404812"/>
            <a:ext cx="10806113" cy="6067426"/>
          </a:xfrm>
        </p:spPr>
        <p:txBody>
          <a:bodyPr>
            <a:noAutofit/>
          </a:bodyPr>
          <a:lstStyle/>
          <a:p>
            <a:pPr marL="0" indent="0" fontAlgn="base">
              <a:lnSpc>
                <a:spcPct val="150000"/>
              </a:lnSpc>
              <a:buNone/>
            </a:pPr>
            <a:r>
              <a:rPr lang="en-GB" sz="2400" b="1" dirty="0">
                <a:latin typeface="HELVETICA NEUE LIGHT" panose="02000403000000020004" pitchFamily="2" charset="0"/>
                <a:ea typeface="HELVETICA NEUE LIGHT" panose="02000403000000020004" pitchFamily="2" charset="0"/>
              </a:rPr>
              <a:t>Advantages of Horizontal Scaling</a:t>
            </a:r>
          </a:p>
          <a:p>
            <a:pPr fontAlgn="base">
              <a:lnSpc>
                <a:spcPct val="150000"/>
              </a:lnSpc>
            </a:pPr>
            <a:r>
              <a:rPr lang="en-GB" sz="2200" dirty="0">
                <a:latin typeface="Helvetica Neue Light" panose="02000403000000020004" pitchFamily="2" charset="0"/>
                <a:ea typeface="Helvetica Neue Light" panose="02000403000000020004" pitchFamily="2" charset="0"/>
              </a:rPr>
              <a:t>There is no single point of failure in this kind of scale because there are multiple servers. So if any one fails then there will be other servers for backup. </a:t>
            </a:r>
          </a:p>
          <a:p>
            <a:pPr fontAlgn="base">
              <a:lnSpc>
                <a:spcPct val="150000"/>
              </a:lnSpc>
            </a:pPr>
            <a:r>
              <a:rPr lang="en-GB" sz="2200" dirty="0">
                <a:latin typeface="Helvetica Neue Light" panose="02000403000000020004" pitchFamily="2" charset="0"/>
                <a:ea typeface="Helvetica Neue Light" panose="02000403000000020004" pitchFamily="2" charset="0"/>
              </a:rPr>
              <a:t>Low Latency: Latency refers to how late or delayed our request is being processed.</a:t>
            </a:r>
          </a:p>
          <a:p>
            <a:pPr fontAlgn="base">
              <a:lnSpc>
                <a:spcPct val="150000"/>
              </a:lnSpc>
            </a:pPr>
            <a:r>
              <a:rPr lang="en-GB" sz="2200" dirty="0">
                <a:latin typeface="Helvetica Neue Light" panose="02000403000000020004" pitchFamily="2" charset="0"/>
                <a:ea typeface="Helvetica Neue Light" panose="02000403000000020004" pitchFamily="2" charset="0"/>
              </a:rPr>
              <a:t>Built-in backup</a:t>
            </a:r>
          </a:p>
          <a:p>
            <a:pPr marL="0" indent="0" fontAlgn="base">
              <a:lnSpc>
                <a:spcPct val="150000"/>
              </a:lnSpc>
              <a:buNone/>
            </a:pPr>
            <a:r>
              <a:rPr lang="en-GB" sz="2400" b="1" dirty="0">
                <a:latin typeface="Helvetica Neue Light" panose="02000403000000020004" pitchFamily="2" charset="0"/>
                <a:ea typeface="Helvetica Neue Light" panose="02000403000000020004" pitchFamily="2" charset="0"/>
              </a:rPr>
              <a:t>Disadvantages of Horizontal Scaling</a:t>
            </a:r>
          </a:p>
          <a:p>
            <a:pPr fontAlgn="base">
              <a:lnSpc>
                <a:spcPct val="150000"/>
              </a:lnSpc>
            </a:pPr>
            <a:r>
              <a:rPr lang="en-GB" sz="2200" dirty="0">
                <a:latin typeface="Helvetica Neue Light" panose="02000403000000020004" pitchFamily="2" charset="0"/>
                <a:ea typeface="Helvetica Neue Light" panose="02000403000000020004" pitchFamily="2" charset="0"/>
              </a:rPr>
              <a:t>Not easy to implement as there are a number of components needed</a:t>
            </a:r>
          </a:p>
          <a:p>
            <a:pPr fontAlgn="base">
              <a:lnSpc>
                <a:spcPct val="150000"/>
              </a:lnSpc>
            </a:pPr>
            <a:r>
              <a:rPr lang="en-GB" sz="2200" dirty="0">
                <a:latin typeface="Helvetica Neue Light" panose="02000403000000020004" pitchFamily="2" charset="0"/>
                <a:ea typeface="Helvetica Neue Light" panose="02000403000000020004" pitchFamily="2" charset="0"/>
              </a:rPr>
              <a:t>Cost is high</a:t>
            </a:r>
          </a:p>
          <a:p>
            <a:pPr fontAlgn="base">
              <a:lnSpc>
                <a:spcPct val="150000"/>
              </a:lnSpc>
            </a:pPr>
            <a:r>
              <a:rPr lang="en-GB" sz="2200" dirty="0">
                <a:latin typeface="Helvetica Neue Light" panose="02000403000000020004" pitchFamily="2" charset="0"/>
                <a:ea typeface="Helvetica Neue Light" panose="02000403000000020004" pitchFamily="2" charset="0"/>
              </a:rPr>
              <a:t>Networking components like, routers and load balancer are required</a:t>
            </a:r>
          </a:p>
        </p:txBody>
      </p:sp>
    </p:spTree>
    <p:extLst>
      <p:ext uri="{BB962C8B-B14F-4D97-AF65-F5344CB8AC3E}">
        <p14:creationId xmlns:p14="http://schemas.microsoft.com/office/powerpoint/2010/main" val="3838860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Lightbox">
            <a:extLst>
              <a:ext uri="{FF2B5EF4-FFF2-40B4-BE49-F238E27FC236}">
                <a16:creationId xmlns:a16="http://schemas.microsoft.com/office/drawing/2014/main" id="{65DEBEAA-BB4B-7747-B2D5-E9EB9E398D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0" y="1141757"/>
            <a:ext cx="6288091" cy="393546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61255895-6090-6441-9713-EAA09132F9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488" y="1151638"/>
            <a:ext cx="6050919" cy="37775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C963688-38A0-A246-B1CC-765D6196D67D}"/>
              </a:ext>
            </a:extLst>
          </p:cNvPr>
          <p:cNvSpPr/>
          <p:nvPr/>
        </p:nvSpPr>
        <p:spPr>
          <a:xfrm>
            <a:off x="9615488" y="3700463"/>
            <a:ext cx="2043112" cy="5143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8818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Back to NoSQL</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a:bodyPr>
          <a:lstStyle/>
          <a:p>
            <a:pPr marL="0" indent="0">
              <a:lnSpc>
                <a:spcPct val="150000"/>
              </a:lnSpc>
              <a:buNone/>
            </a:pPr>
            <a:r>
              <a:rPr lang="en-GB" sz="2400" b="1" dirty="0">
                <a:latin typeface="HELVETICA NEUE LIGHT" panose="02000403000000020004" pitchFamily="2" charset="0"/>
                <a:ea typeface="HELVETICA NEUE LIGHT" panose="02000403000000020004" pitchFamily="2" charset="0"/>
              </a:rPr>
              <a:t>Each NoSQL database has its own unique features. At a high level, many NoSQL databases have the following features:</a:t>
            </a:r>
          </a:p>
          <a:p>
            <a:pPr>
              <a:lnSpc>
                <a:spcPct val="150000"/>
              </a:lnSpc>
            </a:pPr>
            <a:r>
              <a:rPr lang="en-GB" sz="2400" dirty="0">
                <a:latin typeface="Helvetica Neue Light" panose="02000403000000020004" pitchFamily="2" charset="0"/>
                <a:ea typeface="Helvetica Neue Light" panose="02000403000000020004" pitchFamily="2" charset="0"/>
              </a:rPr>
              <a:t>Flexible schemas – next slide</a:t>
            </a:r>
          </a:p>
          <a:p>
            <a:pPr>
              <a:lnSpc>
                <a:spcPct val="150000"/>
              </a:lnSpc>
            </a:pPr>
            <a:r>
              <a:rPr lang="en-GB" sz="2400" dirty="0">
                <a:latin typeface="Helvetica Neue Light" panose="02000403000000020004" pitchFamily="2" charset="0"/>
                <a:ea typeface="Helvetica Neue Light" panose="02000403000000020004" pitchFamily="2" charset="0"/>
              </a:rPr>
              <a:t>Horizontal scaling</a:t>
            </a:r>
          </a:p>
          <a:p>
            <a:pPr>
              <a:lnSpc>
                <a:spcPct val="150000"/>
              </a:lnSpc>
            </a:pPr>
            <a:r>
              <a:rPr lang="en-GB" sz="2400" dirty="0">
                <a:latin typeface="Helvetica Neue Light" panose="02000403000000020004" pitchFamily="2" charset="0"/>
                <a:ea typeface="Helvetica Neue Light" panose="02000403000000020004" pitchFamily="2" charset="0"/>
              </a:rPr>
              <a:t>Fast queries due to the data model – next slide but one</a:t>
            </a:r>
          </a:p>
          <a:p>
            <a:pPr>
              <a:lnSpc>
                <a:spcPct val="150000"/>
              </a:lnSpc>
            </a:pPr>
            <a:r>
              <a:rPr lang="en-GB" sz="2400" dirty="0">
                <a:latin typeface="Helvetica Neue Light" panose="02000403000000020004" pitchFamily="2" charset="0"/>
                <a:ea typeface="Helvetica Neue Light" panose="02000403000000020004" pitchFamily="2" charset="0"/>
              </a:rPr>
              <a:t>Ease of use for developers</a:t>
            </a:r>
          </a:p>
        </p:txBody>
      </p:sp>
    </p:spTree>
    <p:extLst>
      <p:ext uri="{BB962C8B-B14F-4D97-AF65-F5344CB8AC3E}">
        <p14:creationId xmlns:p14="http://schemas.microsoft.com/office/powerpoint/2010/main" val="3630013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Flexible Schema</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fontScale="92500"/>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Unlike SQL databases, where you must determine and declare a table's schema before inserting data, MongoDB's </a:t>
            </a:r>
            <a:r>
              <a:rPr lang="en-GB" sz="2400" b="1" dirty="0">
                <a:solidFill>
                  <a:srgbClr val="FF0000"/>
                </a:solidFill>
                <a:latin typeface="HELVETICA NEUE LIGHT" panose="02000403000000020004" pitchFamily="2" charset="0"/>
                <a:ea typeface="HELVETICA NEUE LIGHT" panose="02000403000000020004" pitchFamily="2" charset="0"/>
              </a:rPr>
              <a:t>collections</a:t>
            </a:r>
            <a:r>
              <a:rPr lang="en-GB" sz="2400" dirty="0">
                <a:latin typeface="Helvetica Neue Light" panose="02000403000000020004" pitchFamily="2" charset="0"/>
                <a:ea typeface="Helvetica Neue Light" panose="02000403000000020004" pitchFamily="2" charset="0"/>
              </a:rPr>
              <a:t>, by default, do not require their </a:t>
            </a:r>
            <a:r>
              <a:rPr lang="en-GB" sz="2400" dirty="0">
                <a:solidFill>
                  <a:srgbClr val="FF0000"/>
                </a:solidFill>
                <a:latin typeface="Helvetica Neue Light" panose="02000403000000020004" pitchFamily="2" charset="0"/>
                <a:ea typeface="Helvetica Neue Light" panose="02000403000000020004" pitchFamily="2" charset="0"/>
              </a:rPr>
              <a:t>documents </a:t>
            </a:r>
            <a:r>
              <a:rPr lang="en-GB" sz="2400" dirty="0">
                <a:latin typeface="Helvetica Neue Light" panose="02000403000000020004" pitchFamily="2" charset="0"/>
                <a:ea typeface="Helvetica Neue Light" panose="02000403000000020004" pitchFamily="2" charset="0"/>
              </a:rPr>
              <a:t>to have the same schema. That is:</a:t>
            </a:r>
          </a:p>
          <a:p>
            <a:pPr>
              <a:lnSpc>
                <a:spcPct val="150000"/>
              </a:lnSpc>
            </a:pPr>
            <a:r>
              <a:rPr lang="en-GB" sz="2400" dirty="0">
                <a:latin typeface="Helvetica Neue Light" panose="02000403000000020004" pitchFamily="2" charset="0"/>
                <a:ea typeface="Helvetica Neue Light" panose="02000403000000020004" pitchFamily="2" charset="0"/>
              </a:rPr>
              <a:t>The documents in a single collection do not need to have the same set of fields and the data type for a field can differ across documents within a collection.</a:t>
            </a:r>
          </a:p>
          <a:p>
            <a:pPr>
              <a:lnSpc>
                <a:spcPct val="150000"/>
              </a:lnSpc>
            </a:pPr>
            <a:r>
              <a:rPr lang="en-GB" sz="2400" dirty="0">
                <a:latin typeface="Helvetica Neue Light" panose="02000403000000020004" pitchFamily="2" charset="0"/>
                <a:ea typeface="Helvetica Neue Light" panose="02000403000000020004" pitchFamily="2" charset="0"/>
              </a:rPr>
              <a:t>Ability to change the structure of the documents in a collection, such as add new fields, remove existing fields, or change the field values to a new type, update the documents to the new structure.</a:t>
            </a:r>
          </a:p>
        </p:txBody>
      </p:sp>
    </p:spTree>
    <p:extLst>
      <p:ext uri="{BB962C8B-B14F-4D97-AF65-F5344CB8AC3E}">
        <p14:creationId xmlns:p14="http://schemas.microsoft.com/office/powerpoint/2010/main" val="2705612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Fast Queries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1557338"/>
            <a:ext cx="10748963" cy="5129212"/>
          </a:xfrm>
        </p:spPr>
        <p:txBody>
          <a:bodyPr>
            <a:normAutofit fontScale="92500"/>
          </a:bodyPr>
          <a:lstStyle/>
          <a:p>
            <a:pPr marL="0" indent="0">
              <a:lnSpc>
                <a:spcPct val="200000"/>
              </a:lnSpc>
              <a:buNone/>
            </a:pPr>
            <a:r>
              <a:rPr lang="en-GB" sz="2400" b="1" dirty="0">
                <a:latin typeface="Helvetica Neue Light" panose="02000403000000020004" pitchFamily="2" charset="0"/>
                <a:ea typeface="Helvetica Neue Light" panose="02000403000000020004" pitchFamily="2" charset="0"/>
              </a:rPr>
              <a:t>Queries in NoSQL databases can be faster than SQL databases. Why? </a:t>
            </a:r>
          </a:p>
          <a:p>
            <a:pPr>
              <a:lnSpc>
                <a:spcPct val="200000"/>
              </a:lnSpc>
            </a:pPr>
            <a:r>
              <a:rPr lang="en-GB" sz="2400" dirty="0">
                <a:latin typeface="Helvetica Neue Light" panose="02000403000000020004" pitchFamily="2" charset="0"/>
                <a:ea typeface="Helvetica Neue Light" panose="02000403000000020004" pitchFamily="2" charset="0"/>
              </a:rPr>
              <a:t>Data in SQL databases is typically normalized, so queries for a single object or entity require you to join data from multiple tables. As your tables grow in size, the joins can become expensive. However, data in NoSQL databases is typically stored in a way that is optimized for queries.</a:t>
            </a:r>
          </a:p>
          <a:p>
            <a:pPr>
              <a:lnSpc>
                <a:spcPct val="200000"/>
              </a:lnSpc>
            </a:pPr>
            <a:r>
              <a:rPr lang="en-GB" sz="2400" dirty="0">
                <a:latin typeface="Helvetica Neue Light" panose="02000403000000020004" pitchFamily="2" charset="0"/>
                <a:ea typeface="Helvetica Neue Light" panose="02000403000000020004" pitchFamily="2" charset="0"/>
              </a:rPr>
              <a:t>The rule of thumb when you use MongoDB is </a:t>
            </a:r>
            <a:r>
              <a:rPr lang="en-GB" sz="2400" b="1" dirty="0">
                <a:latin typeface="Helvetica Neue Light" panose="02000403000000020004" pitchFamily="2" charset="0"/>
                <a:ea typeface="Helvetica Neue Light" panose="02000403000000020004" pitchFamily="2" charset="0"/>
              </a:rPr>
              <a:t>Data that is accessed together should be stored together. </a:t>
            </a:r>
            <a:r>
              <a:rPr lang="en-GB" sz="2400" dirty="0">
                <a:latin typeface="Helvetica Neue Light" panose="02000403000000020004" pitchFamily="2" charset="0"/>
                <a:ea typeface="Helvetica Neue Light" panose="02000403000000020004" pitchFamily="2" charset="0"/>
              </a:rPr>
              <a:t>Queries typically do not require joins, so the queries are very fast.</a:t>
            </a:r>
          </a:p>
        </p:txBody>
      </p:sp>
    </p:spTree>
    <p:extLst>
      <p:ext uri="{BB962C8B-B14F-4D97-AF65-F5344CB8AC3E}">
        <p14:creationId xmlns:p14="http://schemas.microsoft.com/office/powerpoint/2010/main" val="1375940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Types of NoSQL databases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825625"/>
            <a:ext cx="10515600" cy="4832350"/>
          </a:xfrm>
        </p:spPr>
        <p:txBody>
          <a:bodyPr>
            <a:normAutofit fontScale="92500" lnSpcReduction="10000"/>
          </a:bodyPr>
          <a:lstStyle/>
          <a:p>
            <a:pPr marL="0" indent="0">
              <a:lnSpc>
                <a:spcPct val="150000"/>
              </a:lnSpc>
              <a:buNone/>
            </a:pPr>
            <a:r>
              <a:rPr lang="en-GB" sz="2600" b="1" dirty="0">
                <a:latin typeface="Helvetica Neue Light" panose="02000403000000020004" pitchFamily="2" charset="0"/>
                <a:ea typeface="Helvetica Neue Light" panose="02000403000000020004" pitchFamily="2" charset="0"/>
              </a:rPr>
              <a:t>Over time, </a:t>
            </a:r>
            <a:r>
              <a:rPr lang="en-GB" sz="2600" b="1" dirty="0">
                <a:latin typeface="Helvetica Neue Light" panose="02000403000000020004" pitchFamily="2" charset="0"/>
                <a:ea typeface="Helvetica Neue Light" panose="02000403000000020004" pitchFamily="2" charset="0"/>
                <a:hlinkClick r:id="rId2"/>
              </a:rPr>
              <a:t>four major types of NoSQL </a:t>
            </a:r>
            <a:r>
              <a:rPr lang="en-GB" sz="2600" b="1" dirty="0">
                <a:latin typeface="Helvetica Neue Light" panose="02000403000000020004" pitchFamily="2" charset="0"/>
                <a:ea typeface="Helvetica Neue Light" panose="02000403000000020004" pitchFamily="2" charset="0"/>
              </a:rPr>
              <a:t>databases emerged: </a:t>
            </a:r>
          </a:p>
          <a:p>
            <a:pPr marL="457200" indent="-457200">
              <a:lnSpc>
                <a:spcPct val="150000"/>
              </a:lnSpc>
              <a:buFont typeface="+mj-lt"/>
              <a:buAutoNum type="arabicPeriod"/>
            </a:pPr>
            <a:r>
              <a:rPr lang="en-GB" sz="2000" b="1" dirty="0">
                <a:solidFill>
                  <a:srgbClr val="FF0000"/>
                </a:solidFill>
                <a:latin typeface="Helvetica Neue Light" panose="02000403000000020004" pitchFamily="2" charset="0"/>
                <a:ea typeface="Helvetica Neue Light" panose="02000403000000020004" pitchFamily="2" charset="0"/>
              </a:rPr>
              <a:t>Document databases </a:t>
            </a:r>
            <a:r>
              <a:rPr lang="en-GB" sz="2000" b="1" dirty="0">
                <a:latin typeface="Helvetica Neue Light" panose="02000403000000020004" pitchFamily="2" charset="0"/>
                <a:ea typeface="Helvetica Neue Light" panose="02000403000000020004" pitchFamily="2" charset="0"/>
              </a:rPr>
              <a:t>- </a:t>
            </a:r>
            <a:r>
              <a:rPr lang="en-GB" sz="2000" dirty="0">
                <a:latin typeface="Helvetica Neue Light" panose="02000403000000020004" pitchFamily="2" charset="0"/>
                <a:ea typeface="Helvetica Neue Light" panose="02000403000000020004" pitchFamily="2" charset="0"/>
              </a:rPr>
              <a:t>store data in documents similar to JSON (JavaScript Object Notation) objects. Each document contains pairs of fields and values. The values can typically be a variety of types including things like strings, numbers, </a:t>
            </a:r>
            <a:r>
              <a:rPr lang="en-GB" sz="2000" dirty="0" err="1">
                <a:latin typeface="Helvetica Neue Light" panose="02000403000000020004" pitchFamily="2" charset="0"/>
                <a:ea typeface="Helvetica Neue Light" panose="02000403000000020004" pitchFamily="2" charset="0"/>
              </a:rPr>
              <a:t>booleans</a:t>
            </a:r>
            <a:r>
              <a:rPr lang="en-GB" sz="2000" dirty="0">
                <a:latin typeface="Helvetica Neue Light" panose="02000403000000020004" pitchFamily="2" charset="0"/>
                <a:ea typeface="Helvetica Neue Light" panose="02000403000000020004" pitchFamily="2" charset="0"/>
              </a:rPr>
              <a:t>, arrays, or objects.</a:t>
            </a:r>
          </a:p>
          <a:p>
            <a:pPr marL="457200" indent="-457200">
              <a:lnSpc>
                <a:spcPct val="150000"/>
              </a:lnSpc>
              <a:buFont typeface="+mj-lt"/>
              <a:buAutoNum type="arabicPeriod"/>
            </a:pPr>
            <a:r>
              <a:rPr lang="en-GB" sz="2000" b="1" dirty="0">
                <a:latin typeface="Helvetica Neue Light" panose="02000403000000020004" pitchFamily="2" charset="0"/>
                <a:ea typeface="Helvetica Neue Light" panose="02000403000000020004" pitchFamily="2" charset="0"/>
              </a:rPr>
              <a:t>Key-value databases - </a:t>
            </a:r>
            <a:r>
              <a:rPr lang="en-GB" sz="2000" dirty="0">
                <a:latin typeface="Helvetica Neue Light" panose="02000403000000020004" pitchFamily="2" charset="0"/>
                <a:ea typeface="Helvetica Neue Light" panose="02000403000000020004" pitchFamily="2" charset="0"/>
              </a:rPr>
              <a:t>are a simpler type of database where each item contains keys and values.</a:t>
            </a:r>
          </a:p>
          <a:p>
            <a:pPr marL="457200" indent="-457200">
              <a:lnSpc>
                <a:spcPct val="150000"/>
              </a:lnSpc>
              <a:buFont typeface="+mj-lt"/>
              <a:buAutoNum type="arabicPeriod"/>
            </a:pPr>
            <a:r>
              <a:rPr lang="en-GB" sz="2000" b="1" dirty="0">
                <a:latin typeface="Helvetica Neue Light" panose="02000403000000020004" pitchFamily="2" charset="0"/>
                <a:ea typeface="Helvetica Neue Light" panose="02000403000000020004" pitchFamily="2" charset="0"/>
              </a:rPr>
              <a:t>Wide-column stores - </a:t>
            </a:r>
            <a:r>
              <a:rPr lang="en-GB" sz="2000" dirty="0">
                <a:latin typeface="Helvetica Neue Light" panose="02000403000000020004" pitchFamily="2" charset="0"/>
                <a:ea typeface="Helvetica Neue Light" panose="02000403000000020004" pitchFamily="2" charset="0"/>
              </a:rPr>
              <a:t>store data in tables, rows, and dynamic columns.</a:t>
            </a:r>
          </a:p>
          <a:p>
            <a:pPr marL="457200" indent="-457200">
              <a:lnSpc>
                <a:spcPct val="150000"/>
              </a:lnSpc>
              <a:buFont typeface="+mj-lt"/>
              <a:buAutoNum type="arabicPeriod"/>
            </a:pPr>
            <a:r>
              <a:rPr lang="en-GB" sz="2000" b="1" dirty="0">
                <a:latin typeface="Helvetica Neue Light" panose="02000403000000020004" pitchFamily="2" charset="0"/>
                <a:ea typeface="Helvetica Neue Light" panose="02000403000000020004" pitchFamily="2" charset="0"/>
                <a:hlinkClick r:id="rId3"/>
              </a:rPr>
              <a:t>Graph databases </a:t>
            </a:r>
            <a:r>
              <a:rPr lang="en-GB" sz="2000" b="1" dirty="0">
                <a:latin typeface="Helvetica Neue Light" panose="02000403000000020004" pitchFamily="2" charset="0"/>
                <a:ea typeface="Helvetica Neue Light" panose="02000403000000020004" pitchFamily="2" charset="0"/>
              </a:rPr>
              <a:t>- </a:t>
            </a:r>
            <a:r>
              <a:rPr lang="en-GB" sz="2000" dirty="0">
                <a:latin typeface="Helvetica Neue Light" panose="02000403000000020004" pitchFamily="2" charset="0"/>
                <a:ea typeface="Helvetica Neue Light" panose="02000403000000020004" pitchFamily="2" charset="0"/>
              </a:rPr>
              <a:t>store data in nodes and edges. Nodes typically store information about people, places, and things, while edges store information about the relationships between the nodes. </a:t>
            </a:r>
            <a:r>
              <a:rPr lang="en-GB" sz="2000" dirty="0">
                <a:latin typeface="Helvetica Neue Light" panose="02000403000000020004" pitchFamily="2" charset="0"/>
                <a:ea typeface="Helvetica Neue Light" panose="02000403000000020004" pitchFamily="2" charset="0"/>
                <a:hlinkClick r:id="rId4"/>
              </a:rPr>
              <a:t>Neo4j</a:t>
            </a:r>
            <a:r>
              <a:rPr lang="en-GB" sz="2000" dirty="0">
                <a:latin typeface="Helvetica Neue Light" panose="02000403000000020004" pitchFamily="2" charset="0"/>
                <a:ea typeface="Helvetica Neue Light" panose="02000403000000020004" pitchFamily="2" charset="0"/>
              </a:rPr>
              <a:t> seems to be a big player.</a:t>
            </a:r>
          </a:p>
        </p:txBody>
      </p:sp>
    </p:spTree>
    <p:extLst>
      <p:ext uri="{BB962C8B-B14F-4D97-AF65-F5344CB8AC3E}">
        <p14:creationId xmlns:p14="http://schemas.microsoft.com/office/powerpoint/2010/main" val="1571982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199" y="365125"/>
            <a:ext cx="10791825" cy="1325563"/>
          </a:xfrm>
        </p:spPr>
        <p:txBody>
          <a:bodyPr>
            <a:normAutofit/>
          </a:bodyPr>
          <a:lstStyle/>
          <a:p>
            <a:r>
              <a:rPr lang="en-GB" sz="4000" dirty="0">
                <a:solidFill>
                  <a:srgbClr val="D3473F"/>
                </a:solidFill>
                <a:latin typeface="American Typewriter" panose="02090604020004020304" pitchFamily="18" charset="77"/>
              </a:rPr>
              <a:t>RDBMS vs NoSQL: Data Modelling Example</a:t>
            </a:r>
            <a:endPar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a:bodyPr>
          <a:lstStyle/>
          <a:p>
            <a:pPr>
              <a:lnSpc>
                <a:spcPct val="150000"/>
              </a:lnSpc>
            </a:pPr>
            <a:r>
              <a:rPr lang="en-GB" dirty="0">
                <a:latin typeface="Helvetica Neue Light" panose="02000403000000020004" pitchFamily="2" charset="0"/>
                <a:ea typeface="Helvetica Neue Light" panose="02000403000000020004" pitchFamily="2" charset="0"/>
              </a:rPr>
              <a:t>Let's consider an example of storing information about a user and their hobbies. We need to store a user's first name, last name, phone number, city, and hobbies.</a:t>
            </a:r>
          </a:p>
          <a:p>
            <a:pPr>
              <a:lnSpc>
                <a:spcPct val="150000"/>
              </a:lnSpc>
            </a:pPr>
            <a:r>
              <a:rPr lang="en-GB" dirty="0">
                <a:latin typeface="Helvetica Neue Light" panose="02000403000000020004" pitchFamily="2" charset="0"/>
                <a:ea typeface="Helvetica Neue Light" panose="02000403000000020004" pitchFamily="2" charset="0"/>
              </a:rPr>
              <a:t>In a relational database, we'd likely create two tables: one for Users and one for Hobbies.</a:t>
            </a:r>
          </a:p>
        </p:txBody>
      </p:sp>
    </p:spTree>
    <p:extLst>
      <p:ext uri="{BB962C8B-B14F-4D97-AF65-F5344CB8AC3E}">
        <p14:creationId xmlns:p14="http://schemas.microsoft.com/office/powerpoint/2010/main" val="3570437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5583239"/>
            <a:ext cx="10848975" cy="1131888"/>
          </a:xfrm>
        </p:spPr>
        <p:txBody>
          <a:bodyPr>
            <a:normAutofit/>
          </a:bodyPr>
          <a:lstStyle/>
          <a:p>
            <a:pPr marL="0" indent="0">
              <a:lnSpc>
                <a:spcPct val="150000"/>
              </a:lnSpc>
              <a:buNone/>
            </a:pPr>
            <a:r>
              <a:rPr lang="en-GB" sz="2200" dirty="0">
                <a:latin typeface="Helvetica Neue Light" panose="02000403000000020004" pitchFamily="2" charset="0"/>
                <a:ea typeface="Helvetica Neue Light" panose="02000403000000020004" pitchFamily="2" charset="0"/>
              </a:rPr>
              <a:t>In order to retrieve all of the information about a user and their hobbies, information from the Users table and Hobbies table will need to be </a:t>
            </a:r>
            <a:r>
              <a:rPr lang="en-GB" sz="2200" b="1" dirty="0">
                <a:latin typeface="Helvetica Neue Light" panose="02000403000000020004" pitchFamily="2" charset="0"/>
                <a:ea typeface="Helvetica Neue Light" panose="02000403000000020004" pitchFamily="2" charset="0"/>
              </a:rPr>
              <a:t>joined</a:t>
            </a:r>
            <a:r>
              <a:rPr lang="en-GB" sz="2200" dirty="0">
                <a:latin typeface="Helvetica Neue Light" panose="02000403000000020004" pitchFamily="2" charset="0"/>
                <a:ea typeface="Helvetica Neue Light" panose="02000403000000020004" pitchFamily="2" charset="0"/>
              </a:rPr>
              <a:t> together.</a:t>
            </a:r>
            <a:endParaRPr lang="en-GB" sz="2200" u="sng" dirty="0">
              <a:latin typeface="Helvetica Neue Light" panose="02000403000000020004" pitchFamily="2" charset="0"/>
              <a:ea typeface="Helvetica Neue Light" panose="02000403000000020004" pitchFamily="2" charset="0"/>
              <a:cs typeface="Angsana New" panose="02020603050405020304" pitchFamily="18" charset="-34"/>
            </a:endParaRPr>
          </a:p>
        </p:txBody>
      </p:sp>
      <p:pic>
        <p:nvPicPr>
          <p:cNvPr id="6" name="Picture 5">
            <a:extLst>
              <a:ext uri="{FF2B5EF4-FFF2-40B4-BE49-F238E27FC236}">
                <a16:creationId xmlns:a16="http://schemas.microsoft.com/office/drawing/2014/main" id="{5BFD4319-69C9-CA44-8D41-25CD0FAA0A11}"/>
              </a:ext>
            </a:extLst>
          </p:cNvPr>
          <p:cNvPicPr>
            <a:picLocks noChangeAspect="1"/>
          </p:cNvPicPr>
          <p:nvPr/>
        </p:nvPicPr>
        <p:blipFill>
          <a:blip r:embed="rId2"/>
          <a:stretch>
            <a:fillRect/>
          </a:stretch>
        </p:blipFill>
        <p:spPr>
          <a:xfrm>
            <a:off x="938213" y="372120"/>
            <a:ext cx="9063038" cy="5026965"/>
          </a:xfrm>
          <a:prstGeom prst="rect">
            <a:avLst/>
          </a:prstGeom>
          <a:ln>
            <a:solidFill>
              <a:schemeClr val="bg2">
                <a:lumMod val="25000"/>
              </a:schemeClr>
            </a:solidFill>
          </a:ln>
        </p:spPr>
      </p:pic>
    </p:spTree>
    <p:extLst>
      <p:ext uri="{BB962C8B-B14F-4D97-AF65-F5344CB8AC3E}">
        <p14:creationId xmlns:p14="http://schemas.microsoft.com/office/powerpoint/2010/main" val="2737931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623887" y="250032"/>
            <a:ext cx="10515600" cy="1446213"/>
          </a:xfrm>
        </p:spPr>
        <p:txBody>
          <a:bodyPr>
            <a:normAutofit/>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How to store the same information about a user and their hobbies in a document database like MongoDB. – look familiar ?</a:t>
            </a: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pic>
        <p:nvPicPr>
          <p:cNvPr id="6" name="Picture 5">
            <a:extLst>
              <a:ext uri="{FF2B5EF4-FFF2-40B4-BE49-F238E27FC236}">
                <a16:creationId xmlns:a16="http://schemas.microsoft.com/office/drawing/2014/main" id="{F6BDE9C1-F030-D44C-96F1-D394A2FEDDB6}"/>
              </a:ext>
            </a:extLst>
          </p:cNvPr>
          <p:cNvPicPr>
            <a:picLocks noChangeAspect="1"/>
          </p:cNvPicPr>
          <p:nvPr/>
        </p:nvPicPr>
        <p:blipFill rotWithShape="1">
          <a:blip r:embed="rId2"/>
          <a:srcRect r="30773"/>
          <a:stretch/>
        </p:blipFill>
        <p:spPr>
          <a:xfrm>
            <a:off x="623887" y="1410266"/>
            <a:ext cx="9823333" cy="4011046"/>
          </a:xfrm>
          <a:prstGeom prst="rect">
            <a:avLst/>
          </a:prstGeom>
        </p:spPr>
      </p:pic>
      <p:sp>
        <p:nvSpPr>
          <p:cNvPr id="7" name="Content Placeholder 4">
            <a:extLst>
              <a:ext uri="{FF2B5EF4-FFF2-40B4-BE49-F238E27FC236}">
                <a16:creationId xmlns:a16="http://schemas.microsoft.com/office/drawing/2014/main" id="{9B454DED-F16A-1042-9FDD-9BFC7EE22320}"/>
              </a:ext>
            </a:extLst>
          </p:cNvPr>
          <p:cNvSpPr txBox="1">
            <a:spLocks/>
          </p:cNvSpPr>
          <p:nvPr/>
        </p:nvSpPr>
        <p:spPr>
          <a:xfrm>
            <a:off x="623887" y="5449888"/>
            <a:ext cx="11099007" cy="116998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dirty="0">
                <a:latin typeface="Helvetica Neue Light" panose="02000403000000020004" pitchFamily="2" charset="0"/>
                <a:ea typeface="Helvetica Neue Light" panose="02000403000000020004" pitchFamily="2" charset="0"/>
              </a:rPr>
              <a:t>In order to retrieve all of the information about a user and their hobbies, a single document can be retrieved from the database. No joins are required, resulting in faster queries.</a:t>
            </a: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875464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4900" dirty="0">
                <a:solidFill>
                  <a:srgbClr val="D3473F"/>
                </a:solidFill>
                <a:latin typeface="American Typewriter" panose="02090604020004020304" pitchFamily="18" charset="77"/>
              </a:rPr>
              <a:t>When should NoSQL be used?</a:t>
            </a:r>
            <a:endPar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8"/>
            <a:ext cx="10515600" cy="4351338"/>
          </a:xfrm>
        </p:spPr>
        <p:txBody>
          <a:bodyPr>
            <a:normAutofit lnSpcReduction="10000"/>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When deciding </a:t>
            </a:r>
            <a:r>
              <a:rPr lang="en-GB" sz="2400" dirty="0">
                <a:latin typeface="Helvetica Neue Light" panose="02000403000000020004" pitchFamily="2" charset="0"/>
                <a:ea typeface="Helvetica Neue Light" panose="02000403000000020004" pitchFamily="2" charset="0"/>
                <a:hlinkClick r:id="rId2"/>
              </a:rPr>
              <a:t>which database to use</a:t>
            </a:r>
            <a:r>
              <a:rPr lang="en-GB" sz="2400" dirty="0">
                <a:latin typeface="Helvetica Neue Light" panose="02000403000000020004" pitchFamily="2" charset="0"/>
                <a:ea typeface="Helvetica Neue Light" panose="02000403000000020004" pitchFamily="2" charset="0"/>
              </a:rPr>
              <a:t>, decision-makers typically find one or more of the following factors lead them to selecting a NoSQL database:</a:t>
            </a:r>
          </a:p>
          <a:p>
            <a:pPr>
              <a:lnSpc>
                <a:spcPct val="150000"/>
              </a:lnSpc>
            </a:pPr>
            <a:r>
              <a:rPr lang="en-GB" sz="2400" dirty="0">
                <a:latin typeface="Helvetica Neue Light" panose="02000403000000020004" pitchFamily="2" charset="0"/>
                <a:ea typeface="Helvetica Neue Light" panose="02000403000000020004" pitchFamily="2" charset="0"/>
              </a:rPr>
              <a:t>Fast-paced </a:t>
            </a:r>
            <a:r>
              <a:rPr lang="en-GB" sz="2400" b="1" dirty="0">
                <a:latin typeface="Helvetica Neue Light" panose="02000403000000020004" pitchFamily="2" charset="0"/>
                <a:ea typeface="Helvetica Neue Light" panose="02000403000000020004" pitchFamily="2" charset="0"/>
              </a:rPr>
              <a:t>Agile development</a:t>
            </a:r>
          </a:p>
          <a:p>
            <a:pPr>
              <a:lnSpc>
                <a:spcPct val="150000"/>
              </a:lnSpc>
            </a:pPr>
            <a:r>
              <a:rPr lang="en-GB" sz="2400" dirty="0">
                <a:latin typeface="Helvetica Neue Light" panose="02000403000000020004" pitchFamily="2" charset="0"/>
                <a:ea typeface="Helvetica Neue Light" panose="02000403000000020004" pitchFamily="2" charset="0"/>
              </a:rPr>
              <a:t>Storage of structured and semi-structured data</a:t>
            </a:r>
          </a:p>
          <a:p>
            <a:pPr>
              <a:lnSpc>
                <a:spcPct val="150000"/>
              </a:lnSpc>
            </a:pPr>
            <a:r>
              <a:rPr lang="en-GB" sz="2400" dirty="0">
                <a:latin typeface="Helvetica Neue Light" panose="02000403000000020004" pitchFamily="2" charset="0"/>
                <a:ea typeface="Helvetica Neue Light" panose="02000403000000020004" pitchFamily="2" charset="0"/>
              </a:rPr>
              <a:t>Huge volumes of data</a:t>
            </a:r>
          </a:p>
          <a:p>
            <a:pPr>
              <a:lnSpc>
                <a:spcPct val="150000"/>
              </a:lnSpc>
            </a:pPr>
            <a:r>
              <a:rPr lang="en-GB" sz="2400" dirty="0">
                <a:latin typeface="Helvetica Neue Light" panose="02000403000000020004" pitchFamily="2" charset="0"/>
                <a:ea typeface="Helvetica Neue Light" panose="02000403000000020004" pitchFamily="2" charset="0"/>
              </a:rPr>
              <a:t>Requirements for scale-out architecture</a:t>
            </a:r>
          </a:p>
          <a:p>
            <a:pPr>
              <a:lnSpc>
                <a:spcPct val="150000"/>
              </a:lnSpc>
            </a:pPr>
            <a:r>
              <a:rPr lang="en-GB" sz="2400" dirty="0">
                <a:latin typeface="Helvetica Neue Light" panose="02000403000000020004" pitchFamily="2" charset="0"/>
                <a:ea typeface="Helvetica Neue Light" panose="02000403000000020004" pitchFamily="2" charset="0"/>
              </a:rPr>
              <a:t>Modern application paradigms like microservices and real-time streaming</a:t>
            </a:r>
          </a:p>
        </p:txBody>
      </p:sp>
    </p:spTree>
    <p:extLst>
      <p:ext uri="{BB962C8B-B14F-4D97-AF65-F5344CB8AC3E}">
        <p14:creationId xmlns:p14="http://schemas.microsoft.com/office/powerpoint/2010/main" val="3541336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2017712"/>
            <a:ext cx="10515600" cy="4432301"/>
          </a:xfrm>
        </p:spPr>
        <p:txBody>
          <a:bodyPr>
            <a:normAutofit/>
          </a:bodyPr>
          <a:lstStyle/>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hlinkClick r:id="rId2"/>
              </a:rPr>
              <a:t>https://www.mongodb.com/</a:t>
            </a:r>
            <a:endPar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hlinkClick r:id="rId3"/>
              </a:rPr>
              <a:t>https://docs.mongodb.com/guides/</a:t>
            </a:r>
            <a:endPar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r>
              <a:rPr lang="en-GB" dirty="0">
                <a:latin typeface="Helvetica Neue Light" panose="02000403000000020004" pitchFamily="2" charset="0"/>
                <a:ea typeface="Helvetica Neue Light" panose="02000403000000020004" pitchFamily="2" charset="0"/>
              </a:rPr>
              <a:t>MongoDB is a source-available, cross-platform, </a:t>
            </a:r>
            <a:r>
              <a:rPr lang="en-GB" b="1" dirty="0">
                <a:latin typeface="Helvetica Neue Light" panose="02000403000000020004" pitchFamily="2" charset="0"/>
                <a:ea typeface="Helvetica Neue Light" panose="02000403000000020004" pitchFamily="2" charset="0"/>
              </a:rPr>
              <a:t>document-oriented database </a:t>
            </a:r>
            <a:r>
              <a:rPr lang="en-GB" dirty="0">
                <a:latin typeface="Helvetica Neue Light" panose="02000403000000020004" pitchFamily="2" charset="0"/>
                <a:ea typeface="Helvetica Neue Light" panose="02000403000000020004" pitchFamily="2" charset="0"/>
              </a:rPr>
              <a:t>program. Classified as a NoSQL database program, MongoDB uses JSON-like documents with optional schemas. MongoDB is developed by </a:t>
            </a:r>
            <a:r>
              <a:rPr lang="en-GB" dirty="0">
                <a:latin typeface="Helvetica Neue Light" panose="02000403000000020004" pitchFamily="2" charset="0"/>
                <a:ea typeface="Helvetica Neue Light" panose="02000403000000020004" pitchFamily="2" charset="0"/>
                <a:hlinkClick r:id="rId4" tooltip="MongoDB Inc."/>
              </a:rPr>
              <a:t>MongoDB Inc.</a:t>
            </a:r>
            <a:endPar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pic>
        <p:nvPicPr>
          <p:cNvPr id="7170" name="Picture 2" descr="An Overview of MongoDB as a Leader in NoSQL DBMS ...">
            <a:extLst>
              <a:ext uri="{FF2B5EF4-FFF2-40B4-BE49-F238E27FC236}">
                <a16:creationId xmlns:a16="http://schemas.microsoft.com/office/drawing/2014/main" id="{B1D38FA5-32E7-664F-909F-B0F6B24C31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875" y="214312"/>
            <a:ext cx="6019800" cy="180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469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214313" y="2766218"/>
            <a:ext cx="11701462" cy="1325563"/>
          </a:xfrm>
        </p:spPr>
        <p:txBody>
          <a:bodyPr>
            <a:noAutofit/>
          </a:bodyPr>
          <a:lstStyle/>
          <a:p>
            <a:pPr algn="ctr"/>
            <a:r>
              <a:rPr lang="en-GB" sz="96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Basic terminology</a:t>
            </a:r>
            <a:endParaRPr lang="en-US" sz="96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Tree>
    <p:extLst>
      <p:ext uri="{BB962C8B-B14F-4D97-AF65-F5344CB8AC3E}">
        <p14:creationId xmlns:p14="http://schemas.microsoft.com/office/powerpoint/2010/main" val="1632912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D1CD3F-957E-7246-9531-0880F8986D70}"/>
              </a:ext>
            </a:extLst>
          </p:cNvPr>
          <p:cNvPicPr>
            <a:picLocks noChangeAspect="1"/>
          </p:cNvPicPr>
          <p:nvPr/>
        </p:nvPicPr>
        <p:blipFill>
          <a:blip r:embed="rId2"/>
          <a:stretch>
            <a:fillRect/>
          </a:stretch>
        </p:blipFill>
        <p:spPr>
          <a:xfrm>
            <a:off x="255444" y="269355"/>
            <a:ext cx="11681111" cy="631928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568919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DA93C92-57DB-A148-93FB-80362C9B4F20}"/>
              </a:ext>
            </a:extLst>
          </p:cNvPr>
          <p:cNvPicPr>
            <a:picLocks noChangeAspect="1"/>
          </p:cNvPicPr>
          <p:nvPr/>
        </p:nvPicPr>
        <p:blipFill rotWithShape="1">
          <a:blip r:embed="rId2"/>
          <a:srcRect r="5861" b="40039"/>
          <a:stretch/>
        </p:blipFill>
        <p:spPr>
          <a:xfrm>
            <a:off x="408524" y="671512"/>
            <a:ext cx="11374952" cy="5514975"/>
          </a:xfrm>
          <a:prstGeom prst="rect">
            <a:avLst/>
          </a:prstGeom>
          <a:ln>
            <a:solidFill>
              <a:schemeClr val="bg2">
                <a:lumMod val="25000"/>
              </a:schemeClr>
            </a:solidFill>
          </a:ln>
        </p:spPr>
      </p:pic>
    </p:spTree>
    <p:extLst>
      <p:ext uri="{BB962C8B-B14F-4D97-AF65-F5344CB8AC3E}">
        <p14:creationId xmlns:p14="http://schemas.microsoft.com/office/powerpoint/2010/main" val="288197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DA93C92-57DB-A148-93FB-80362C9B4F20}"/>
              </a:ext>
            </a:extLst>
          </p:cNvPr>
          <p:cNvPicPr>
            <a:picLocks noChangeAspect="1"/>
          </p:cNvPicPr>
          <p:nvPr/>
        </p:nvPicPr>
        <p:blipFill rotWithShape="1">
          <a:blip r:embed="rId2"/>
          <a:srcRect l="-236" t="61358" r="6097" b="-21319"/>
          <a:stretch/>
        </p:blipFill>
        <p:spPr>
          <a:xfrm>
            <a:off x="451388" y="1757363"/>
            <a:ext cx="11374952" cy="5514975"/>
          </a:xfrm>
          <a:prstGeom prst="rect">
            <a:avLst/>
          </a:prstGeom>
          <a:ln>
            <a:noFill/>
          </a:ln>
        </p:spPr>
      </p:pic>
      <p:pic>
        <p:nvPicPr>
          <p:cNvPr id="5" name="Picture 4">
            <a:extLst>
              <a:ext uri="{FF2B5EF4-FFF2-40B4-BE49-F238E27FC236}">
                <a16:creationId xmlns:a16="http://schemas.microsoft.com/office/drawing/2014/main" id="{1492FA02-01D6-AA44-B14E-774D43632D70}"/>
              </a:ext>
            </a:extLst>
          </p:cNvPr>
          <p:cNvPicPr>
            <a:picLocks noChangeAspect="1"/>
          </p:cNvPicPr>
          <p:nvPr/>
        </p:nvPicPr>
        <p:blipFill rotWithShape="1">
          <a:blip r:embed="rId2"/>
          <a:srcRect l="-591" t="-157" r="6452" b="90629"/>
          <a:stretch/>
        </p:blipFill>
        <p:spPr>
          <a:xfrm>
            <a:off x="408524" y="895351"/>
            <a:ext cx="11374952" cy="876300"/>
          </a:xfrm>
          <a:prstGeom prst="rect">
            <a:avLst/>
          </a:prstGeom>
          <a:ln>
            <a:noFill/>
          </a:ln>
        </p:spPr>
      </p:pic>
    </p:spTree>
    <p:extLst>
      <p:ext uri="{BB962C8B-B14F-4D97-AF65-F5344CB8AC3E}">
        <p14:creationId xmlns:p14="http://schemas.microsoft.com/office/powerpoint/2010/main" val="4271385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fontScale="90000"/>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Mapping terms and concepts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fontScale="92500" lnSpcReduction="10000"/>
          </a:bodyPr>
          <a:lstStyle/>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The document model – Instead of tables, MongoDB stores data in documents, BSON documents which are a binary representations of JSON documents.</a:t>
            </a:r>
          </a:p>
          <a:p>
            <a:pPr marL="0" indent="0">
              <a:lnSpc>
                <a:spcPct val="150000"/>
              </a:lnSpc>
              <a:buNone/>
            </a:pPr>
            <a:r>
              <a:rPr lang="en-GB" dirty="0">
                <a:latin typeface="Helvetica Neue Light" panose="02000403000000020004" pitchFamily="2" charset="0"/>
                <a:ea typeface="Helvetica Neue Light" panose="02000403000000020004" pitchFamily="2" charset="0"/>
              </a:rPr>
              <a:t>Documents typically store information about one object as well as any information related to that object. Related documents are grouped together in collections. Related collections are grouped together and stored in a database.</a:t>
            </a:r>
            <a:endParaRPr lang="en-GB"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
        <p:nvSpPr>
          <p:cNvPr id="2" name="Rectangle 1">
            <a:extLst>
              <a:ext uri="{FF2B5EF4-FFF2-40B4-BE49-F238E27FC236}">
                <a16:creationId xmlns:a16="http://schemas.microsoft.com/office/drawing/2014/main" id="{F5FE3EE7-5E51-4745-8EDC-6E4733203B76}"/>
              </a:ext>
            </a:extLst>
          </p:cNvPr>
          <p:cNvSpPr/>
          <p:nvPr/>
        </p:nvSpPr>
        <p:spPr>
          <a:xfrm>
            <a:off x="838200" y="6022365"/>
            <a:ext cx="9587881" cy="497957"/>
          </a:xfrm>
          <a:prstGeom prst="rect">
            <a:avLst/>
          </a:prstGeom>
        </p:spPr>
        <p:txBody>
          <a:bodyPr wrap="none">
            <a:spAutoFit/>
          </a:bodyPr>
          <a:lstStyle/>
          <a:p>
            <a:pPr>
              <a:lnSpc>
                <a:spcPct val="150000"/>
              </a:lnSpc>
            </a:pP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https://</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www.mongodb.com</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/developer/article/map-terms-concepts-</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sql</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mongodb</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a:t>
            </a:r>
          </a:p>
        </p:txBody>
      </p:sp>
    </p:spTree>
    <p:extLst>
      <p:ext uri="{BB962C8B-B14F-4D97-AF65-F5344CB8AC3E}">
        <p14:creationId xmlns:p14="http://schemas.microsoft.com/office/powerpoint/2010/main" val="1514902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337678"/>
            <a:ext cx="10515600" cy="1074738"/>
          </a:xfrm>
        </p:spPr>
        <p:txBody>
          <a:bodyPr>
            <a:normAutofit/>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Every document begins and ends with curly braces.</a:t>
            </a: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
        <p:nvSpPr>
          <p:cNvPr id="8" name="TextBox 7">
            <a:extLst>
              <a:ext uri="{FF2B5EF4-FFF2-40B4-BE49-F238E27FC236}">
                <a16:creationId xmlns:a16="http://schemas.microsoft.com/office/drawing/2014/main" id="{15214E45-5C76-C547-BD32-59BB8853F2FB}"/>
              </a:ext>
            </a:extLst>
          </p:cNvPr>
          <p:cNvSpPr txBox="1"/>
          <p:nvPr/>
        </p:nvSpPr>
        <p:spPr>
          <a:xfrm>
            <a:off x="838198" y="3199546"/>
            <a:ext cx="9422607" cy="830997"/>
          </a:xfrm>
          <a:prstGeom prst="rect">
            <a:avLst/>
          </a:prstGeom>
          <a:noFill/>
        </p:spPr>
        <p:txBody>
          <a:bodyPr wrap="square">
            <a:spAutoFit/>
          </a:bodyPr>
          <a:lstStyle/>
          <a:p>
            <a:r>
              <a:rPr lang="en-GB" sz="2400" dirty="0">
                <a:latin typeface="Helvetica Neue Light" panose="02000403000000020004" pitchFamily="2" charset="0"/>
                <a:ea typeface="Helvetica Neue Light" panose="02000403000000020004" pitchFamily="2" charset="0"/>
              </a:rPr>
              <a:t>Inside the curly braces, you'll find an unordered set of field/value pairs that are separated by commas.</a:t>
            </a:r>
            <a:r>
              <a:rPr lang="en-GB" b="0" i="0" dirty="0">
                <a:solidFill>
                  <a:srgbClr val="F9FBFA"/>
                </a:solidFill>
                <a:effectLst/>
                <a:latin typeface="akzidenz"/>
              </a:rPr>
              <a:t>.</a:t>
            </a:r>
            <a:endParaRPr lang="en-US" dirty="0"/>
          </a:p>
        </p:txBody>
      </p:sp>
      <p:pic>
        <p:nvPicPr>
          <p:cNvPr id="9" name="Picture 8">
            <a:extLst>
              <a:ext uri="{FF2B5EF4-FFF2-40B4-BE49-F238E27FC236}">
                <a16:creationId xmlns:a16="http://schemas.microsoft.com/office/drawing/2014/main" id="{D82AA3C5-495F-F34C-A836-C0916F67EB2B}"/>
              </a:ext>
            </a:extLst>
          </p:cNvPr>
          <p:cNvPicPr>
            <a:picLocks noChangeAspect="1"/>
          </p:cNvPicPr>
          <p:nvPr/>
        </p:nvPicPr>
        <p:blipFill rotWithShape="1">
          <a:blip r:embed="rId2"/>
          <a:srcRect r="15361"/>
          <a:stretch/>
        </p:blipFill>
        <p:spPr>
          <a:xfrm>
            <a:off x="838200" y="1315808"/>
            <a:ext cx="7489522" cy="1598842"/>
          </a:xfrm>
          <a:prstGeom prst="rect">
            <a:avLst/>
          </a:prstGeom>
        </p:spPr>
      </p:pic>
      <p:pic>
        <p:nvPicPr>
          <p:cNvPr id="10" name="Picture 9">
            <a:extLst>
              <a:ext uri="{FF2B5EF4-FFF2-40B4-BE49-F238E27FC236}">
                <a16:creationId xmlns:a16="http://schemas.microsoft.com/office/drawing/2014/main" id="{0BC4C225-FB29-CA45-8D8C-33825C402CDE}"/>
              </a:ext>
            </a:extLst>
          </p:cNvPr>
          <p:cNvPicPr>
            <a:picLocks noChangeAspect="1"/>
          </p:cNvPicPr>
          <p:nvPr/>
        </p:nvPicPr>
        <p:blipFill>
          <a:blip r:embed="rId3"/>
          <a:stretch>
            <a:fillRect/>
          </a:stretch>
        </p:blipFill>
        <p:spPr>
          <a:xfrm>
            <a:off x="838198" y="4373792"/>
            <a:ext cx="7489523" cy="2146530"/>
          </a:xfrm>
          <a:prstGeom prst="rect">
            <a:avLst/>
          </a:prstGeom>
        </p:spPr>
      </p:pic>
    </p:spTree>
    <p:extLst>
      <p:ext uri="{BB962C8B-B14F-4D97-AF65-F5344CB8AC3E}">
        <p14:creationId xmlns:p14="http://schemas.microsoft.com/office/powerpoint/2010/main" val="255097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Field / Values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a:bodyPr>
          <a:lstStyle/>
          <a:p>
            <a:pPr>
              <a:lnSpc>
                <a:spcPct val="150000"/>
              </a:lnSpc>
            </a:pPr>
            <a:r>
              <a:rPr lang="en-GB" sz="2400" dirty="0">
                <a:latin typeface="Helvetica Neue Light" panose="02000403000000020004" pitchFamily="2" charset="0"/>
                <a:ea typeface="Helvetica Neue Light" panose="02000403000000020004" pitchFamily="2" charset="0"/>
              </a:rPr>
              <a:t>The fields are strings that describe the pieces of data being stored.</a:t>
            </a:r>
          </a:p>
          <a:p>
            <a:pPr>
              <a:lnSpc>
                <a:spcPct val="150000"/>
              </a:lnSpc>
            </a:pPr>
            <a:r>
              <a:rPr lang="en-GB" sz="2400" dirty="0">
                <a:latin typeface="Helvetica Neue Light" panose="02000403000000020004" pitchFamily="2" charset="0"/>
                <a:ea typeface="Helvetica Neue Light" panose="02000403000000020004" pitchFamily="2" charset="0"/>
              </a:rPr>
              <a:t>The values can be any of the BSON data types. BSON has a variety of data</a:t>
            </a:r>
            <a:r>
              <a:rPr lang="en-GB" sz="2400" u="sng" dirty="0">
                <a:latin typeface="Helvetica Neue Light" panose="02000403000000020004" pitchFamily="2" charset="0"/>
                <a:ea typeface="Helvetica Neue Light" panose="02000403000000020004" pitchFamily="2" charset="0"/>
              </a:rPr>
              <a:t> types</a:t>
            </a:r>
            <a:r>
              <a:rPr lang="en-GB" sz="2400" dirty="0">
                <a:latin typeface="Helvetica Neue Light" panose="02000403000000020004" pitchFamily="2" charset="0"/>
                <a:ea typeface="Helvetica Neue Light" panose="02000403000000020004" pitchFamily="2" charset="0"/>
              </a:rPr>
              <a:t> including Double, String, Object, Array, Binary Data, </a:t>
            </a:r>
            <a:r>
              <a:rPr lang="en-GB" sz="2400" dirty="0" err="1">
                <a:latin typeface="Helvetica Neue Light" panose="02000403000000020004" pitchFamily="2" charset="0"/>
                <a:ea typeface="Helvetica Neue Light" panose="02000403000000020004" pitchFamily="2" charset="0"/>
              </a:rPr>
              <a:t>ObjectId</a:t>
            </a:r>
            <a:r>
              <a:rPr lang="en-GB" sz="2400" dirty="0">
                <a:latin typeface="Helvetica Neue Light" panose="02000403000000020004" pitchFamily="2" charset="0"/>
                <a:ea typeface="Helvetica Neue Light" panose="02000403000000020004" pitchFamily="2" charset="0"/>
              </a:rPr>
              <a:t>, Boolean, Date, Null, Regular Expression, JavaScript, JavaScript (with scope), 32-bit Integer, Timestamp, 64-bit Integer, Decimal128, Min Key, and Max Key. </a:t>
            </a:r>
          </a:p>
          <a:p>
            <a:pPr>
              <a:lnSpc>
                <a:spcPct val="150000"/>
              </a:lnSpc>
            </a:pPr>
            <a:r>
              <a:rPr lang="en-GB" sz="2400" dirty="0">
                <a:latin typeface="Helvetica Neue Light" panose="02000403000000020004" pitchFamily="2" charset="0"/>
                <a:ea typeface="Helvetica Neue Light" panose="02000403000000020004" pitchFamily="2" charset="0"/>
              </a:rPr>
              <a:t>Every document is required to have a field named </a:t>
            </a:r>
            <a:r>
              <a:rPr lang="en-GB" sz="2400" u="sng" dirty="0">
                <a:latin typeface="Helvetica Neue Light" panose="02000403000000020004" pitchFamily="2" charset="0"/>
                <a:ea typeface="Helvetica Neue Light" panose="02000403000000020004" pitchFamily="2" charset="0"/>
              </a:rPr>
              <a:t>_id</a:t>
            </a:r>
            <a:r>
              <a:rPr lang="en-GB" sz="2400" dirty="0">
                <a:latin typeface="Helvetica Neue Light" panose="02000403000000020004" pitchFamily="2" charset="0"/>
                <a:ea typeface="Helvetica Neue Light" panose="02000403000000020004" pitchFamily="2" charset="0"/>
              </a:rPr>
              <a:t>. The value of _id must be unique for each document in a collection and  is immutable, </a:t>
            </a: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5479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a:bodyPr>
          <a:lstStyle/>
          <a:p>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Example Documents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185864"/>
            <a:ext cx="10515600" cy="4351338"/>
          </a:xfrm>
        </p:spPr>
        <p:txBody>
          <a:bodyPr>
            <a:normAutofit lnSpcReduction="10000"/>
          </a:bodyPr>
          <a:lstStyle/>
          <a:p>
            <a:pPr marL="0" indent="0">
              <a:lnSpc>
                <a:spcPct val="160000"/>
              </a:lnSpc>
              <a:buNone/>
            </a:pPr>
            <a:r>
              <a:rPr lang="en-GB" sz="2000" dirty="0">
                <a:latin typeface="Helvetica Neue Light" panose="02000403000000020004" pitchFamily="2" charset="0"/>
                <a:ea typeface="Helvetica Neue Light" panose="02000403000000020004" pitchFamily="2" charset="0"/>
              </a:rPr>
              <a:t>Let's say we need to store information about a user named Leslie. We'll store her contact information including her first name, last name, cell phone number, and city. We'll also store some extra information about her including her location, hobbies, and job history.</a:t>
            </a:r>
          </a:p>
          <a:p>
            <a:pPr marL="0" indent="0">
              <a:lnSpc>
                <a:spcPct val="160000"/>
              </a:lnSpc>
              <a:buNone/>
            </a:pPr>
            <a:r>
              <a:rPr lang="en-GB" sz="2000" b="1" dirty="0">
                <a:latin typeface="Helvetica Neue Light" panose="02000403000000020004" pitchFamily="2" charset="0"/>
                <a:ea typeface="Helvetica Neue Light" panose="02000403000000020004" pitchFamily="2" charset="0"/>
              </a:rPr>
              <a:t>Storing Contact Information</a:t>
            </a:r>
          </a:p>
          <a:p>
            <a:pPr marL="0" indent="0">
              <a:lnSpc>
                <a:spcPct val="160000"/>
              </a:lnSpc>
              <a:buNone/>
            </a:pPr>
            <a:r>
              <a:rPr lang="en-GB" sz="2000" dirty="0">
                <a:latin typeface="Helvetica Neue Light" panose="02000403000000020004" pitchFamily="2" charset="0"/>
                <a:ea typeface="Helvetica Neue Light" panose="02000403000000020004" pitchFamily="2" charset="0"/>
              </a:rPr>
              <a:t>Let's begin with Leslie's contact information. When using SQL, we'll create a table named Users. We can create columns</a:t>
            </a:r>
          </a:p>
          <a:p>
            <a:pPr marL="0" indent="0">
              <a:lnSpc>
                <a:spcPct val="160000"/>
              </a:lnSpc>
              <a:buNone/>
            </a:pPr>
            <a:r>
              <a:rPr lang="en-GB" sz="2000" dirty="0">
                <a:latin typeface="Helvetica Neue Light" panose="02000403000000020004" pitchFamily="2" charset="0"/>
                <a:ea typeface="Helvetica Neue Light" panose="02000403000000020004" pitchFamily="2" charset="0"/>
              </a:rPr>
              <a:t>for each piece of contact information</a:t>
            </a:r>
          </a:p>
          <a:p>
            <a:pPr marL="0" indent="0">
              <a:lnSpc>
                <a:spcPct val="160000"/>
              </a:lnSpc>
              <a:buNone/>
            </a:pPr>
            <a:r>
              <a:rPr lang="en-GB" sz="2000" dirty="0">
                <a:latin typeface="Helvetica Neue Light" panose="02000403000000020004" pitchFamily="2" charset="0"/>
                <a:ea typeface="Helvetica Neue Light" panose="02000403000000020004" pitchFamily="2" charset="0"/>
              </a:rPr>
              <a:t>and we'll include an ID column.</a:t>
            </a:r>
          </a:p>
        </p:txBody>
      </p:sp>
      <p:pic>
        <p:nvPicPr>
          <p:cNvPr id="2" name="Picture 1">
            <a:extLst>
              <a:ext uri="{FF2B5EF4-FFF2-40B4-BE49-F238E27FC236}">
                <a16:creationId xmlns:a16="http://schemas.microsoft.com/office/drawing/2014/main" id="{0AE80A13-9165-314E-8269-F3380328DE84}"/>
              </a:ext>
            </a:extLst>
          </p:cNvPr>
          <p:cNvPicPr>
            <a:picLocks noChangeAspect="1"/>
          </p:cNvPicPr>
          <p:nvPr/>
        </p:nvPicPr>
        <p:blipFill>
          <a:blip r:embed="rId2"/>
          <a:stretch>
            <a:fillRect/>
          </a:stretch>
        </p:blipFill>
        <p:spPr>
          <a:xfrm>
            <a:off x="5314775" y="3921130"/>
            <a:ext cx="6548668" cy="2571744"/>
          </a:xfrm>
          <a:prstGeom prst="rect">
            <a:avLst/>
          </a:prstGeom>
        </p:spPr>
      </p:pic>
    </p:spTree>
    <p:extLst>
      <p:ext uri="{BB962C8B-B14F-4D97-AF65-F5344CB8AC3E}">
        <p14:creationId xmlns:p14="http://schemas.microsoft.com/office/powerpoint/2010/main" val="2937005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a:bodyPr>
          <a:lstStyle/>
          <a:p>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MongoDB version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185864"/>
            <a:ext cx="10515600" cy="1857374"/>
          </a:xfrm>
        </p:spPr>
        <p:txBody>
          <a:bodyPr>
            <a:normAutofit/>
          </a:bodyPr>
          <a:lstStyle/>
          <a:p>
            <a:pPr marL="0" indent="0">
              <a:lnSpc>
                <a:spcPct val="160000"/>
              </a:lnSpc>
              <a:buNone/>
            </a:pPr>
            <a:r>
              <a:rPr lang="en-GB" sz="2400" dirty="0">
                <a:latin typeface="Helvetica Neue Light" panose="02000403000000020004" pitchFamily="2" charset="0"/>
                <a:ea typeface="Helvetica Neue Light" panose="02000403000000020004" pitchFamily="2" charset="0"/>
              </a:rPr>
              <a:t>We create a new document for Leslie where we'll add field/value pairs for each piece of contact information we need to store. We'll use _id to uniquely identify each document. We'll store this document in a </a:t>
            </a:r>
            <a:r>
              <a:rPr lang="en-GB" sz="2400" b="1" dirty="0">
                <a:latin typeface="Helvetica Neue Light" panose="02000403000000020004" pitchFamily="2" charset="0"/>
                <a:ea typeface="Helvetica Neue Light" panose="02000403000000020004" pitchFamily="2" charset="0"/>
              </a:rPr>
              <a:t>collection</a:t>
            </a:r>
            <a:r>
              <a:rPr lang="en-GB" sz="2400" dirty="0">
                <a:latin typeface="Helvetica Neue Light" panose="02000403000000020004" pitchFamily="2" charset="0"/>
                <a:ea typeface="Helvetica Neue Light" panose="02000403000000020004" pitchFamily="2" charset="0"/>
              </a:rPr>
              <a:t> named Users.</a:t>
            </a:r>
          </a:p>
        </p:txBody>
      </p:sp>
      <p:pic>
        <p:nvPicPr>
          <p:cNvPr id="3" name="Picture 2">
            <a:extLst>
              <a:ext uri="{FF2B5EF4-FFF2-40B4-BE49-F238E27FC236}">
                <a16:creationId xmlns:a16="http://schemas.microsoft.com/office/drawing/2014/main" id="{75E87D1B-8071-EE4E-9ECA-6BCE1D2D803C}"/>
              </a:ext>
            </a:extLst>
          </p:cNvPr>
          <p:cNvPicPr>
            <a:picLocks noChangeAspect="1"/>
          </p:cNvPicPr>
          <p:nvPr/>
        </p:nvPicPr>
        <p:blipFill rotWithShape="1">
          <a:blip r:embed="rId2"/>
          <a:srcRect t="17591"/>
          <a:stretch/>
        </p:blipFill>
        <p:spPr>
          <a:xfrm>
            <a:off x="838200" y="3100387"/>
            <a:ext cx="7593052" cy="3600450"/>
          </a:xfrm>
          <a:prstGeom prst="rect">
            <a:avLst/>
          </a:prstGeom>
        </p:spPr>
      </p:pic>
    </p:spTree>
    <p:extLst>
      <p:ext uri="{BB962C8B-B14F-4D97-AF65-F5344CB8AC3E}">
        <p14:creationId xmlns:p14="http://schemas.microsoft.com/office/powerpoint/2010/main" val="274481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a:bodyPr>
          <a:lstStyle/>
          <a:p>
            <a:r>
              <a:rPr lang="en-GB" dirty="0">
                <a:solidFill>
                  <a:srgbClr val="D3473F"/>
                </a:solidFill>
                <a:latin typeface="American Typewriter" panose="02090604020004020304" pitchFamily="18" charset="77"/>
              </a:rPr>
              <a:t>Storing Latitude and Longitude</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185864"/>
            <a:ext cx="10515600" cy="4351338"/>
          </a:xfrm>
        </p:spPr>
        <p:txBody>
          <a:bodyPr>
            <a:normAutofit/>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Now that we've stored Leslie's contact information, let's store the coordinates of her current location.</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When using SQL, we'll need to split the latitude and longitude between two columns.</a:t>
            </a:r>
          </a:p>
        </p:txBody>
      </p:sp>
      <p:pic>
        <p:nvPicPr>
          <p:cNvPr id="3" name="Picture 2">
            <a:extLst>
              <a:ext uri="{FF2B5EF4-FFF2-40B4-BE49-F238E27FC236}">
                <a16:creationId xmlns:a16="http://schemas.microsoft.com/office/drawing/2014/main" id="{0C71D38B-1583-4748-88A1-BC1753C28035}"/>
              </a:ext>
            </a:extLst>
          </p:cNvPr>
          <p:cNvPicPr>
            <a:picLocks noChangeAspect="1"/>
          </p:cNvPicPr>
          <p:nvPr/>
        </p:nvPicPr>
        <p:blipFill>
          <a:blip r:embed="rId2"/>
          <a:stretch>
            <a:fillRect/>
          </a:stretch>
        </p:blipFill>
        <p:spPr>
          <a:xfrm>
            <a:off x="838200" y="3729040"/>
            <a:ext cx="9131300" cy="2628900"/>
          </a:xfrm>
          <a:prstGeom prst="rect">
            <a:avLst/>
          </a:prstGeom>
        </p:spPr>
      </p:pic>
    </p:spTree>
    <p:extLst>
      <p:ext uri="{BB962C8B-B14F-4D97-AF65-F5344CB8AC3E}">
        <p14:creationId xmlns:p14="http://schemas.microsoft.com/office/powerpoint/2010/main" val="2079817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a:bodyPr>
          <a:lstStyle/>
          <a:p>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MongoDB version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185864"/>
            <a:ext cx="10515600" cy="1357311"/>
          </a:xfrm>
        </p:spPr>
        <p:txBody>
          <a:bodyPr>
            <a:normAutofit/>
          </a:bodyPr>
          <a:lstStyle/>
          <a:p>
            <a:pPr marL="0" indent="0">
              <a:lnSpc>
                <a:spcPct val="160000"/>
              </a:lnSpc>
              <a:buNone/>
            </a:pPr>
            <a:r>
              <a:rPr lang="en-GB" sz="2400" dirty="0">
                <a:latin typeface="Helvetica Neue Light" panose="02000403000000020004" pitchFamily="2" charset="0"/>
                <a:ea typeface="Helvetica Neue Light" panose="02000403000000020004" pitchFamily="2" charset="0"/>
              </a:rPr>
              <a:t>MongoDB has an array data type, so we can store the latitude and longitude together in a single field.</a:t>
            </a:r>
          </a:p>
        </p:txBody>
      </p:sp>
      <p:pic>
        <p:nvPicPr>
          <p:cNvPr id="2" name="Picture 1">
            <a:extLst>
              <a:ext uri="{FF2B5EF4-FFF2-40B4-BE49-F238E27FC236}">
                <a16:creationId xmlns:a16="http://schemas.microsoft.com/office/drawing/2014/main" id="{DA66876D-7A80-F64F-851F-1E3D56B770DC}"/>
              </a:ext>
            </a:extLst>
          </p:cNvPr>
          <p:cNvPicPr>
            <a:picLocks noChangeAspect="1"/>
          </p:cNvPicPr>
          <p:nvPr/>
        </p:nvPicPr>
        <p:blipFill>
          <a:blip r:embed="rId2"/>
          <a:stretch>
            <a:fillRect/>
          </a:stretch>
        </p:blipFill>
        <p:spPr>
          <a:xfrm>
            <a:off x="838199" y="2543174"/>
            <a:ext cx="7489237" cy="3949699"/>
          </a:xfrm>
          <a:prstGeom prst="rect">
            <a:avLst/>
          </a:prstGeom>
        </p:spPr>
      </p:pic>
    </p:spTree>
    <p:extLst>
      <p:ext uri="{BB962C8B-B14F-4D97-AF65-F5344CB8AC3E}">
        <p14:creationId xmlns:p14="http://schemas.microsoft.com/office/powerpoint/2010/main" val="3894017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a:bodyPr>
          <a:lstStyle/>
          <a:p>
            <a:r>
              <a:rPr lang="en-GB" dirty="0">
                <a:solidFill>
                  <a:srgbClr val="D3473F"/>
                </a:solidFill>
                <a:latin typeface="American Typewriter" panose="02090604020004020304" pitchFamily="18" charset="77"/>
              </a:rPr>
              <a:t>Storing lists of information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185864"/>
            <a:ext cx="10515600" cy="4351338"/>
          </a:xfrm>
        </p:spPr>
        <p:txBody>
          <a:bodyPr>
            <a:normAutofit/>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Now let's store her hobbies. Since a single user could have many hobbies (meaning we need to represent a one-to-many relationship), we’d create a separate table just for hobbies. Each row in the table will contain information about one hobby for one user. When we need to retrieve Leslie's hobbies, we'll join the Users table and our new Hobbies table.</a:t>
            </a:r>
          </a:p>
        </p:txBody>
      </p:sp>
      <p:pic>
        <p:nvPicPr>
          <p:cNvPr id="2" name="Picture 1">
            <a:extLst>
              <a:ext uri="{FF2B5EF4-FFF2-40B4-BE49-F238E27FC236}">
                <a16:creationId xmlns:a16="http://schemas.microsoft.com/office/drawing/2014/main" id="{4820CF36-48E2-634A-8256-D18F6F3D1989}"/>
              </a:ext>
            </a:extLst>
          </p:cNvPr>
          <p:cNvPicPr>
            <a:picLocks noChangeAspect="1"/>
          </p:cNvPicPr>
          <p:nvPr/>
        </p:nvPicPr>
        <p:blipFill>
          <a:blip r:embed="rId2"/>
          <a:stretch>
            <a:fillRect/>
          </a:stretch>
        </p:blipFill>
        <p:spPr>
          <a:xfrm>
            <a:off x="7430080" y="3606866"/>
            <a:ext cx="3514145" cy="2938875"/>
          </a:xfrm>
          <a:prstGeom prst="rect">
            <a:avLst/>
          </a:prstGeom>
        </p:spPr>
      </p:pic>
    </p:spTree>
    <p:extLst>
      <p:ext uri="{BB962C8B-B14F-4D97-AF65-F5344CB8AC3E}">
        <p14:creationId xmlns:p14="http://schemas.microsoft.com/office/powerpoint/2010/main" val="2018153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a:bodyPr>
          <a:lstStyle/>
          <a:p>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MongoDB version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185864"/>
            <a:ext cx="10515600" cy="2014536"/>
          </a:xfrm>
        </p:spPr>
        <p:txBody>
          <a:bodyPr>
            <a:noAutofit/>
          </a:bodyPr>
          <a:lstStyle/>
          <a:p>
            <a:pPr marL="0" indent="0">
              <a:lnSpc>
                <a:spcPct val="160000"/>
              </a:lnSpc>
              <a:buNone/>
            </a:pPr>
            <a:r>
              <a:rPr lang="en-GB" sz="2000" dirty="0">
                <a:latin typeface="Helvetica Neue Light" panose="02000403000000020004" pitchFamily="2" charset="0"/>
                <a:ea typeface="Helvetica Neue Light" panose="02000403000000020004" pitchFamily="2" charset="0"/>
              </a:rPr>
              <a:t>Since MongoDB supports arrays, we can simply add a new field named "hobbies" to our existing document. The array can contain as many or as few hobbies as we need (assuming we don't exceed the </a:t>
            </a:r>
            <a:r>
              <a:rPr lang="en-GB" sz="2000" u="sng" dirty="0">
                <a:latin typeface="Helvetica Neue Light" panose="02000403000000020004" pitchFamily="2" charset="0"/>
                <a:ea typeface="Helvetica Neue Light" panose="02000403000000020004" pitchFamily="2" charset="0"/>
                <a:hlinkClick r:id="rId2"/>
              </a:rPr>
              <a:t>16 megabyte document size limit</a:t>
            </a:r>
            <a:r>
              <a:rPr lang="en-GB" sz="2000" dirty="0">
                <a:latin typeface="Helvetica Neue Light" panose="02000403000000020004" pitchFamily="2" charset="0"/>
                <a:ea typeface="Helvetica Neue Light" panose="02000403000000020004" pitchFamily="2" charset="0"/>
              </a:rPr>
              <a:t>). When we need to retrieve Leslie's hobbies, we don't need to do an expensive join to bring the data together; we can simply retrieve her document in the Users collection.</a:t>
            </a:r>
          </a:p>
        </p:txBody>
      </p:sp>
      <p:pic>
        <p:nvPicPr>
          <p:cNvPr id="3" name="Picture 2">
            <a:extLst>
              <a:ext uri="{FF2B5EF4-FFF2-40B4-BE49-F238E27FC236}">
                <a16:creationId xmlns:a16="http://schemas.microsoft.com/office/drawing/2014/main" id="{30F97625-24F9-384C-AA4D-8885A5CD0AF9}"/>
              </a:ext>
            </a:extLst>
          </p:cNvPr>
          <p:cNvPicPr>
            <a:picLocks noChangeAspect="1"/>
          </p:cNvPicPr>
          <p:nvPr/>
        </p:nvPicPr>
        <p:blipFill>
          <a:blip r:embed="rId3"/>
          <a:stretch>
            <a:fillRect/>
          </a:stretch>
        </p:blipFill>
        <p:spPr>
          <a:xfrm>
            <a:off x="838200" y="3821114"/>
            <a:ext cx="6667500" cy="2832100"/>
          </a:xfrm>
          <a:prstGeom prst="rect">
            <a:avLst/>
          </a:prstGeom>
        </p:spPr>
      </p:pic>
    </p:spTree>
    <p:extLst>
      <p:ext uri="{BB962C8B-B14F-4D97-AF65-F5344CB8AC3E}">
        <p14:creationId xmlns:p14="http://schemas.microsoft.com/office/powerpoint/2010/main" val="3724136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a:bodyPr>
          <a:lstStyle/>
          <a:p>
            <a:r>
              <a:rPr lang="en-GB" dirty="0">
                <a:solidFill>
                  <a:srgbClr val="D3473F"/>
                </a:solidFill>
                <a:latin typeface="American Typewriter" panose="02090604020004020304" pitchFamily="18" charset="77"/>
              </a:rPr>
              <a:t>Storing groups of related information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185864"/>
            <a:ext cx="10515600" cy="4351338"/>
          </a:xfrm>
        </p:spPr>
        <p:txBody>
          <a:bodyPr>
            <a:normAutofit/>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Let's say we also need to store Leslie's job history.</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Just as we did with hobbies, we create a separate table just for job history information. Each row in the table will contain information about one job for one user.</a:t>
            </a:r>
          </a:p>
        </p:txBody>
      </p:sp>
      <p:pic>
        <p:nvPicPr>
          <p:cNvPr id="8" name="Picture 7" descr="Graphical user interface, application&#10;&#10;Description automatically generated">
            <a:extLst>
              <a:ext uri="{FF2B5EF4-FFF2-40B4-BE49-F238E27FC236}">
                <a16:creationId xmlns:a16="http://schemas.microsoft.com/office/drawing/2014/main" id="{548823B3-8C40-4046-B73F-037C15EEC1C4}"/>
              </a:ext>
            </a:extLst>
          </p:cNvPr>
          <p:cNvPicPr>
            <a:picLocks noChangeAspect="1"/>
          </p:cNvPicPr>
          <p:nvPr/>
        </p:nvPicPr>
        <p:blipFill>
          <a:blip r:embed="rId2"/>
          <a:stretch>
            <a:fillRect/>
          </a:stretch>
        </p:blipFill>
        <p:spPr>
          <a:xfrm>
            <a:off x="2614613" y="3063916"/>
            <a:ext cx="8086724" cy="3428958"/>
          </a:xfrm>
          <a:prstGeom prst="rect">
            <a:avLst/>
          </a:prstGeom>
        </p:spPr>
      </p:pic>
    </p:spTree>
    <p:extLst>
      <p:ext uri="{BB962C8B-B14F-4D97-AF65-F5344CB8AC3E}">
        <p14:creationId xmlns:p14="http://schemas.microsoft.com/office/powerpoint/2010/main" val="2824060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7688688" y="196850"/>
            <a:ext cx="4743450" cy="820738"/>
          </a:xfrm>
        </p:spPr>
        <p:txBody>
          <a:bodyPr>
            <a:normAutofit/>
          </a:bodyPr>
          <a:lstStyle/>
          <a:p>
            <a:r>
              <a:rPr lang="en-US" sz="3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MongoDB version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7688688" y="1017588"/>
            <a:ext cx="4214813" cy="5489573"/>
          </a:xfrm>
        </p:spPr>
        <p:txBody>
          <a:bodyPr>
            <a:noAutofit/>
          </a:bodyPr>
          <a:lstStyle/>
          <a:p>
            <a:pPr marL="0" indent="0">
              <a:lnSpc>
                <a:spcPct val="160000"/>
              </a:lnSpc>
              <a:buNone/>
            </a:pPr>
            <a:r>
              <a:rPr lang="en-GB" sz="2400" dirty="0">
                <a:latin typeface="Helvetica Neue Light" panose="02000403000000020004" pitchFamily="2" charset="0"/>
                <a:ea typeface="Helvetica Neue Light" panose="02000403000000020004" pitchFamily="2" charset="0"/>
              </a:rPr>
              <a:t>So far we've used arrays in MongoDB to store geolocation data and a list of Strings. Arrays can contain values of any type, including objects. Let's create a document for each job Leslie has held and store those documents in an array.</a:t>
            </a:r>
          </a:p>
        </p:txBody>
      </p:sp>
      <p:pic>
        <p:nvPicPr>
          <p:cNvPr id="2" name="Picture 1">
            <a:extLst>
              <a:ext uri="{FF2B5EF4-FFF2-40B4-BE49-F238E27FC236}">
                <a16:creationId xmlns:a16="http://schemas.microsoft.com/office/drawing/2014/main" id="{B32055AF-E273-4C4E-95B7-53902638E236}"/>
              </a:ext>
            </a:extLst>
          </p:cNvPr>
          <p:cNvPicPr>
            <a:picLocks noChangeAspect="1"/>
          </p:cNvPicPr>
          <p:nvPr/>
        </p:nvPicPr>
        <p:blipFill>
          <a:blip r:embed="rId2"/>
          <a:stretch>
            <a:fillRect/>
          </a:stretch>
        </p:blipFill>
        <p:spPr>
          <a:xfrm>
            <a:off x="0" y="0"/>
            <a:ext cx="7424370" cy="6858000"/>
          </a:xfrm>
          <a:prstGeom prst="rect">
            <a:avLst/>
          </a:prstGeom>
        </p:spPr>
      </p:pic>
    </p:spTree>
    <p:extLst>
      <p:ext uri="{BB962C8B-B14F-4D97-AF65-F5344CB8AC3E}">
        <p14:creationId xmlns:p14="http://schemas.microsoft.com/office/powerpoint/2010/main" val="4292829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a:bodyPr>
          <a:lstStyle/>
          <a:p>
            <a:r>
              <a:rPr lang="en-GB" dirty="0">
                <a:solidFill>
                  <a:srgbClr val="D3473F"/>
                </a:solidFill>
                <a:latin typeface="American Typewriter" panose="02090604020004020304" pitchFamily="18" charset="77"/>
              </a:rPr>
              <a:t>Skipping data and adding new info</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185864"/>
            <a:ext cx="10515600" cy="4351338"/>
          </a:xfrm>
        </p:spPr>
        <p:txBody>
          <a:bodyPr>
            <a:normAutofit/>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We find we need to store information about a new user: Lauren. We need to store a lot of the same information about Lauren as we did with Leslie : her first name, last name, city, and hobbies. However, Lauren doesn't have a phone, location data, or job history. We also discover that we need to store a new piece of information: her school.</a:t>
            </a: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1515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a:bodyPr>
          <a:lstStyle/>
          <a:p>
            <a:r>
              <a:rPr lang="en-GB" dirty="0">
                <a:solidFill>
                  <a:srgbClr val="D3473F"/>
                </a:solidFill>
                <a:latin typeface="American Typewriter" panose="02090604020004020304" pitchFamily="18" charset="77"/>
              </a:rPr>
              <a:t>In SQL</a:t>
            </a:r>
          </a:p>
        </p:txBody>
      </p:sp>
      <p:pic>
        <p:nvPicPr>
          <p:cNvPr id="6" name="Picture 5">
            <a:extLst>
              <a:ext uri="{FF2B5EF4-FFF2-40B4-BE49-F238E27FC236}">
                <a16:creationId xmlns:a16="http://schemas.microsoft.com/office/drawing/2014/main" id="{7D7C4ADA-1CC1-874B-A126-2865DF6050F9}"/>
              </a:ext>
            </a:extLst>
          </p:cNvPr>
          <p:cNvPicPr>
            <a:picLocks noChangeAspect="1"/>
          </p:cNvPicPr>
          <p:nvPr/>
        </p:nvPicPr>
        <p:blipFill>
          <a:blip r:embed="rId2"/>
          <a:stretch>
            <a:fillRect/>
          </a:stretch>
        </p:blipFill>
        <p:spPr>
          <a:xfrm>
            <a:off x="838200" y="1185864"/>
            <a:ext cx="7519988" cy="3074083"/>
          </a:xfrm>
          <a:prstGeom prst="rect">
            <a:avLst/>
          </a:prstGeom>
        </p:spPr>
      </p:pic>
      <p:pic>
        <p:nvPicPr>
          <p:cNvPr id="7" name="Picture 6">
            <a:extLst>
              <a:ext uri="{FF2B5EF4-FFF2-40B4-BE49-F238E27FC236}">
                <a16:creationId xmlns:a16="http://schemas.microsoft.com/office/drawing/2014/main" id="{7AAD0CF7-46FC-FC41-8477-3459B48FEB36}"/>
              </a:ext>
            </a:extLst>
          </p:cNvPr>
          <p:cNvPicPr>
            <a:picLocks noChangeAspect="1"/>
          </p:cNvPicPr>
          <p:nvPr/>
        </p:nvPicPr>
        <p:blipFill>
          <a:blip r:embed="rId3"/>
          <a:stretch>
            <a:fillRect/>
          </a:stretch>
        </p:blipFill>
        <p:spPr>
          <a:xfrm>
            <a:off x="8642617" y="1185864"/>
            <a:ext cx="3120757" cy="5135561"/>
          </a:xfrm>
          <a:prstGeom prst="rect">
            <a:avLst/>
          </a:prstGeom>
        </p:spPr>
      </p:pic>
    </p:spTree>
    <p:extLst>
      <p:ext uri="{BB962C8B-B14F-4D97-AF65-F5344CB8AC3E}">
        <p14:creationId xmlns:p14="http://schemas.microsoft.com/office/powerpoint/2010/main" val="3646341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fontScale="90000"/>
          </a:bodyPr>
          <a:lstStyle/>
          <a:p>
            <a:r>
              <a:rPr lang="en-GB" dirty="0">
                <a:solidFill>
                  <a:srgbClr val="D3473F"/>
                </a:solidFill>
                <a:latin typeface="American Typewriter" panose="02090604020004020304" pitchFamily="18" charset="77"/>
              </a:rPr>
              <a:t>Skipping data and adding new info </a:t>
            </a:r>
            <a:r>
              <a:rPr lang="en-GB" dirty="0" err="1">
                <a:solidFill>
                  <a:srgbClr val="D3473F"/>
                </a:solidFill>
                <a:latin typeface="American Typewriter" panose="02090604020004020304" pitchFamily="18" charset="77"/>
              </a:rPr>
              <a:t>cont</a:t>
            </a:r>
            <a:endParaRPr lang="en-GB" dirty="0">
              <a:solidFill>
                <a:srgbClr val="D3473F"/>
              </a:solidFill>
              <a:latin typeface="American Typewriter" panose="02090604020004020304" pitchFamily="18" charset="77"/>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185863"/>
            <a:ext cx="10515600" cy="5414962"/>
          </a:xfrm>
        </p:spPr>
        <p:txBody>
          <a:bodyPr>
            <a:normAutofit fontScale="85000" lnSpcReduction="20000"/>
          </a:bodyPr>
          <a:lstStyle/>
          <a:p>
            <a:pPr marL="0" indent="0">
              <a:lnSpc>
                <a:spcPct val="160000"/>
              </a:lnSpc>
              <a:buNone/>
            </a:pPr>
            <a:r>
              <a:rPr lang="en-GB" dirty="0">
                <a:latin typeface="Helvetica Neue Light" panose="02000403000000020004" pitchFamily="2" charset="0"/>
                <a:ea typeface="Helvetica Neue Light" panose="02000403000000020004" pitchFamily="2" charset="0"/>
              </a:rPr>
              <a:t>We have two options for storing information about Lauren's school. We can choose to add a column to the existing Users table, or we can create a new table. </a:t>
            </a:r>
          </a:p>
          <a:p>
            <a:pPr marL="0" indent="0">
              <a:lnSpc>
                <a:spcPct val="160000"/>
              </a:lnSpc>
              <a:buNone/>
            </a:pPr>
            <a:r>
              <a:rPr lang="en-GB" dirty="0">
                <a:latin typeface="Helvetica Neue Light" panose="02000403000000020004" pitchFamily="2" charset="0"/>
                <a:ea typeface="Helvetica Neue Light" panose="02000403000000020004" pitchFamily="2" charset="0"/>
              </a:rPr>
              <a:t>Let's say we choose to add a column named "school" to the Users table. Depending on our access rights to the database, we may need to talk to the DBA and convince them to add the field. </a:t>
            </a:r>
          </a:p>
          <a:p>
            <a:pPr marL="0" indent="0">
              <a:lnSpc>
                <a:spcPct val="160000"/>
              </a:lnSpc>
              <a:buNone/>
            </a:pPr>
            <a:r>
              <a:rPr lang="en-GB" dirty="0">
                <a:latin typeface="Helvetica Neue Light" panose="02000403000000020004" pitchFamily="2" charset="0"/>
                <a:ea typeface="Helvetica Neue Light" panose="02000403000000020004" pitchFamily="2" charset="0"/>
              </a:rPr>
              <a:t>Most likely, the database will need to be taken down, the "school" column will need to be added, NULL values will be stored in every row in the Users table where a user does not have a school, and the database will need to be brought back up.</a:t>
            </a: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86370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606425" y="241300"/>
            <a:ext cx="4743450" cy="820738"/>
          </a:xfrm>
        </p:spPr>
        <p:txBody>
          <a:bodyPr>
            <a:normAutofit/>
          </a:bodyPr>
          <a:lstStyle/>
          <a:p>
            <a:r>
              <a:rPr lang="en-US" sz="3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MongoDB version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606426" y="1017589"/>
            <a:ext cx="11297076" cy="2297112"/>
          </a:xfrm>
        </p:spPr>
        <p:txBody>
          <a:bodyPr>
            <a:noAutofit/>
          </a:bodyPr>
          <a:lstStyle/>
          <a:p>
            <a:pPr marL="0" indent="0">
              <a:lnSpc>
                <a:spcPct val="160000"/>
              </a:lnSpc>
              <a:buNone/>
            </a:pPr>
            <a:r>
              <a:rPr lang="en-GB" sz="2400" dirty="0">
                <a:latin typeface="Helvetica Neue Light" panose="02000403000000020004" pitchFamily="2" charset="0"/>
                <a:ea typeface="Helvetica Neue Light" panose="02000403000000020004" pitchFamily="2" charset="0"/>
              </a:rPr>
              <a:t>As you can see below, we've added a new field named "school" to Lauren's document. We do not need to make any modifications to Leslie's document when we add the new "school" field to Lauren's document. MongoDB has a flexible schema, so every document in a collection does not need to have the same fields.</a:t>
            </a:r>
          </a:p>
        </p:txBody>
      </p:sp>
      <p:pic>
        <p:nvPicPr>
          <p:cNvPr id="3" name="Picture 2">
            <a:extLst>
              <a:ext uri="{FF2B5EF4-FFF2-40B4-BE49-F238E27FC236}">
                <a16:creationId xmlns:a16="http://schemas.microsoft.com/office/drawing/2014/main" id="{9DFE46A3-29D8-D744-99C1-465E743EC47D}"/>
              </a:ext>
            </a:extLst>
          </p:cNvPr>
          <p:cNvPicPr>
            <a:picLocks noChangeAspect="1"/>
          </p:cNvPicPr>
          <p:nvPr/>
        </p:nvPicPr>
        <p:blipFill rotWithShape="1">
          <a:blip r:embed="rId2"/>
          <a:srcRect t="13447"/>
          <a:stretch/>
        </p:blipFill>
        <p:spPr>
          <a:xfrm>
            <a:off x="606425" y="3543300"/>
            <a:ext cx="5183188" cy="3163055"/>
          </a:xfrm>
          <a:prstGeom prst="rect">
            <a:avLst/>
          </a:prstGeom>
        </p:spPr>
      </p:pic>
      <p:sp>
        <p:nvSpPr>
          <p:cNvPr id="6" name="Content Placeholder 4">
            <a:extLst>
              <a:ext uri="{FF2B5EF4-FFF2-40B4-BE49-F238E27FC236}">
                <a16:creationId xmlns:a16="http://schemas.microsoft.com/office/drawing/2014/main" id="{1DA40FDE-9BFC-6E49-9449-2231F312712E}"/>
              </a:ext>
            </a:extLst>
          </p:cNvPr>
          <p:cNvSpPr txBox="1">
            <a:spLocks/>
          </p:cNvSpPr>
          <p:nvPr/>
        </p:nvSpPr>
        <p:spPr>
          <a:xfrm>
            <a:off x="6067639" y="3429000"/>
            <a:ext cx="5517936" cy="22971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Font typeface="Arial" panose="020B0604020202020204" pitchFamily="34" charset="0"/>
              <a:buNone/>
            </a:pPr>
            <a:r>
              <a:rPr lang="en-GB" sz="2400" b="1" dirty="0">
                <a:solidFill>
                  <a:srgbClr val="D3473F"/>
                </a:solidFill>
                <a:latin typeface="Helvetica Neue Light" panose="02000403000000020004" pitchFamily="2" charset="0"/>
                <a:ea typeface="Helvetica Neue Light" panose="02000403000000020004" pitchFamily="2" charset="0"/>
              </a:rPr>
              <a:t>This can be an unsettling idea coming from a strict SQL background where the schema is locked down.</a:t>
            </a:r>
          </a:p>
        </p:txBody>
      </p:sp>
    </p:spTree>
    <p:extLst>
      <p:ext uri="{BB962C8B-B14F-4D97-AF65-F5344CB8AC3E}">
        <p14:creationId xmlns:p14="http://schemas.microsoft.com/office/powerpoint/2010/main" val="1473356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a:bodyPr>
          <a:lstStyle/>
          <a:p>
            <a:r>
              <a:rPr lang="en-GB" dirty="0">
                <a:solidFill>
                  <a:srgbClr val="D3473F"/>
                </a:solidFill>
                <a:latin typeface="American Typewriter" panose="02090604020004020304" pitchFamily="18" charset="77"/>
              </a:rPr>
              <a:t>To re-enforce </a:t>
            </a:r>
          </a:p>
        </p:txBody>
      </p:sp>
      <p:pic>
        <p:nvPicPr>
          <p:cNvPr id="6" name="Picture 5">
            <a:extLst>
              <a:ext uri="{FF2B5EF4-FFF2-40B4-BE49-F238E27FC236}">
                <a16:creationId xmlns:a16="http://schemas.microsoft.com/office/drawing/2014/main" id="{A970806E-575D-534B-9781-1BD18C4602F4}"/>
              </a:ext>
            </a:extLst>
          </p:cNvPr>
          <p:cNvPicPr>
            <a:picLocks noChangeAspect="1"/>
          </p:cNvPicPr>
          <p:nvPr/>
        </p:nvPicPr>
        <p:blipFill>
          <a:blip r:embed="rId2"/>
          <a:stretch>
            <a:fillRect/>
          </a:stretch>
        </p:blipFill>
        <p:spPr>
          <a:xfrm>
            <a:off x="838200" y="1301749"/>
            <a:ext cx="10263174" cy="4856163"/>
          </a:xfrm>
          <a:prstGeom prst="rect">
            <a:avLst/>
          </a:prstGeom>
        </p:spPr>
      </p:pic>
    </p:spTree>
    <p:extLst>
      <p:ext uri="{BB962C8B-B14F-4D97-AF65-F5344CB8AC3E}">
        <p14:creationId xmlns:p14="http://schemas.microsoft.com/office/powerpoint/2010/main" val="955741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a:bodyPr>
          <a:lstStyle/>
          <a:p>
            <a:r>
              <a:rPr lang="en-GB" dirty="0">
                <a:solidFill>
                  <a:srgbClr val="D3473F"/>
                </a:solidFill>
                <a:latin typeface="American Typewriter" panose="02090604020004020304" pitchFamily="18" charset="77"/>
              </a:rPr>
              <a:t>To re-enforce </a:t>
            </a:r>
          </a:p>
        </p:txBody>
      </p:sp>
      <p:pic>
        <p:nvPicPr>
          <p:cNvPr id="5" name="Picture 4" descr="Graphical user interface, application&#10;&#10;Description automatically generated">
            <a:extLst>
              <a:ext uri="{FF2B5EF4-FFF2-40B4-BE49-F238E27FC236}">
                <a16:creationId xmlns:a16="http://schemas.microsoft.com/office/drawing/2014/main" id="{A063E771-B331-004A-8148-5E41D494EB21}"/>
              </a:ext>
            </a:extLst>
          </p:cNvPr>
          <p:cNvPicPr>
            <a:picLocks noChangeAspect="1"/>
          </p:cNvPicPr>
          <p:nvPr/>
        </p:nvPicPr>
        <p:blipFill>
          <a:blip r:embed="rId2"/>
          <a:stretch>
            <a:fillRect/>
          </a:stretch>
        </p:blipFill>
        <p:spPr>
          <a:xfrm>
            <a:off x="838200" y="1357312"/>
            <a:ext cx="10750637" cy="4800599"/>
          </a:xfrm>
          <a:prstGeom prst="rect">
            <a:avLst/>
          </a:prstGeom>
        </p:spPr>
      </p:pic>
    </p:spTree>
    <p:extLst>
      <p:ext uri="{BB962C8B-B14F-4D97-AF65-F5344CB8AC3E}">
        <p14:creationId xmlns:p14="http://schemas.microsoft.com/office/powerpoint/2010/main" val="113487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a:bodyPr>
          <a:lstStyle/>
          <a:p>
            <a:r>
              <a:rPr lang="en-GB" dirty="0">
                <a:solidFill>
                  <a:srgbClr val="D3473F"/>
                </a:solidFill>
                <a:latin typeface="American Typewriter" panose="02090604020004020304" pitchFamily="18" charset="77"/>
              </a:rPr>
              <a:t>To re-enforce </a:t>
            </a:r>
          </a:p>
        </p:txBody>
      </p:sp>
      <p:pic>
        <p:nvPicPr>
          <p:cNvPr id="3" name="Picture 2">
            <a:extLst>
              <a:ext uri="{FF2B5EF4-FFF2-40B4-BE49-F238E27FC236}">
                <a16:creationId xmlns:a16="http://schemas.microsoft.com/office/drawing/2014/main" id="{BCEF67A3-E334-6F4E-9DFB-44F332D29CC7}"/>
              </a:ext>
            </a:extLst>
          </p:cNvPr>
          <p:cNvPicPr>
            <a:picLocks noChangeAspect="1"/>
          </p:cNvPicPr>
          <p:nvPr/>
        </p:nvPicPr>
        <p:blipFill>
          <a:blip r:embed="rId2"/>
          <a:stretch>
            <a:fillRect/>
          </a:stretch>
        </p:blipFill>
        <p:spPr>
          <a:xfrm>
            <a:off x="838200" y="1185864"/>
            <a:ext cx="9486109" cy="5172074"/>
          </a:xfrm>
          <a:prstGeom prst="rect">
            <a:avLst/>
          </a:prstGeom>
        </p:spPr>
      </p:pic>
    </p:spTree>
    <p:extLst>
      <p:ext uri="{BB962C8B-B14F-4D97-AF65-F5344CB8AC3E}">
        <p14:creationId xmlns:p14="http://schemas.microsoft.com/office/powerpoint/2010/main" val="2746488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20738"/>
          </a:xfrm>
        </p:spPr>
        <p:txBody>
          <a:bodyPr>
            <a:normAutofit/>
          </a:bodyPr>
          <a:lstStyle/>
          <a:p>
            <a:r>
              <a:rPr lang="en-GB" dirty="0">
                <a:solidFill>
                  <a:srgbClr val="D3473F"/>
                </a:solidFill>
                <a:latin typeface="American Typewriter" panose="02090604020004020304" pitchFamily="18" charset="77"/>
              </a:rPr>
              <a:t>To re-enforce </a:t>
            </a:r>
          </a:p>
        </p:txBody>
      </p:sp>
      <p:pic>
        <p:nvPicPr>
          <p:cNvPr id="2" name="Picture 1">
            <a:extLst>
              <a:ext uri="{FF2B5EF4-FFF2-40B4-BE49-F238E27FC236}">
                <a16:creationId xmlns:a16="http://schemas.microsoft.com/office/drawing/2014/main" id="{76153DB5-9CE3-C044-B060-40CDD14F13FC}"/>
              </a:ext>
            </a:extLst>
          </p:cNvPr>
          <p:cNvPicPr>
            <a:picLocks noChangeAspect="1"/>
          </p:cNvPicPr>
          <p:nvPr/>
        </p:nvPicPr>
        <p:blipFill>
          <a:blip r:embed="rId2"/>
          <a:stretch>
            <a:fillRect/>
          </a:stretch>
        </p:blipFill>
        <p:spPr>
          <a:xfrm>
            <a:off x="838200" y="1210448"/>
            <a:ext cx="9520238" cy="5282426"/>
          </a:xfrm>
          <a:prstGeom prst="rect">
            <a:avLst/>
          </a:prstGeom>
        </p:spPr>
      </p:pic>
    </p:spTree>
    <p:extLst>
      <p:ext uri="{BB962C8B-B14F-4D97-AF65-F5344CB8AC3E}">
        <p14:creationId xmlns:p14="http://schemas.microsoft.com/office/powerpoint/2010/main" val="397916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313421" y="221226"/>
            <a:ext cx="10515600" cy="820738"/>
          </a:xfrm>
        </p:spPr>
        <p:txBody>
          <a:bodyPr>
            <a:normAutofit/>
          </a:bodyPr>
          <a:lstStyle/>
          <a:p>
            <a:r>
              <a:rPr lang="en-GB" dirty="0">
                <a:solidFill>
                  <a:srgbClr val="D3473F"/>
                </a:solidFill>
                <a:latin typeface="American Typewriter" panose="02090604020004020304" pitchFamily="18" charset="77"/>
              </a:rPr>
              <a:t>To re-enforce </a:t>
            </a:r>
          </a:p>
        </p:txBody>
      </p:sp>
      <p:pic>
        <p:nvPicPr>
          <p:cNvPr id="3" name="Picture 2">
            <a:extLst>
              <a:ext uri="{FF2B5EF4-FFF2-40B4-BE49-F238E27FC236}">
                <a16:creationId xmlns:a16="http://schemas.microsoft.com/office/drawing/2014/main" id="{ECAED50D-5B95-6246-97ED-442ABA5DAB0E}"/>
              </a:ext>
            </a:extLst>
          </p:cNvPr>
          <p:cNvPicPr>
            <a:picLocks noChangeAspect="1"/>
          </p:cNvPicPr>
          <p:nvPr/>
        </p:nvPicPr>
        <p:blipFill>
          <a:blip r:embed="rId2"/>
          <a:stretch>
            <a:fillRect/>
          </a:stretch>
        </p:blipFill>
        <p:spPr>
          <a:xfrm>
            <a:off x="313421" y="1185864"/>
            <a:ext cx="11565158" cy="5450910"/>
          </a:xfrm>
          <a:prstGeom prst="rect">
            <a:avLst/>
          </a:prstGeom>
        </p:spPr>
      </p:pic>
    </p:spTree>
    <p:extLst>
      <p:ext uri="{BB962C8B-B14F-4D97-AF65-F5344CB8AC3E}">
        <p14:creationId xmlns:p14="http://schemas.microsoft.com/office/powerpoint/2010/main" val="1098713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6959B3D-1F4B-0448-9806-B82D125FCFD7}"/>
              </a:ext>
            </a:extLst>
          </p:cNvPr>
          <p:cNvPicPr>
            <a:picLocks noChangeAspect="1"/>
          </p:cNvPicPr>
          <p:nvPr/>
        </p:nvPicPr>
        <p:blipFill>
          <a:blip r:embed="rId2"/>
          <a:stretch>
            <a:fillRect/>
          </a:stretch>
        </p:blipFill>
        <p:spPr>
          <a:xfrm>
            <a:off x="2322704" y="0"/>
            <a:ext cx="7546592" cy="6858000"/>
          </a:xfrm>
          <a:prstGeom prst="rect">
            <a:avLst/>
          </a:prstGeom>
        </p:spPr>
      </p:pic>
    </p:spTree>
    <p:extLst>
      <p:ext uri="{BB962C8B-B14F-4D97-AF65-F5344CB8AC3E}">
        <p14:creationId xmlns:p14="http://schemas.microsoft.com/office/powerpoint/2010/main" val="3339725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FE3EE7-5E51-4745-8EDC-6E4733203B76}"/>
              </a:ext>
            </a:extLst>
          </p:cNvPr>
          <p:cNvSpPr/>
          <p:nvPr/>
        </p:nvSpPr>
        <p:spPr>
          <a:xfrm>
            <a:off x="274896" y="5691150"/>
            <a:ext cx="9587881" cy="497957"/>
          </a:xfrm>
          <a:prstGeom prst="rect">
            <a:avLst/>
          </a:prstGeom>
        </p:spPr>
        <p:txBody>
          <a:bodyPr wrap="none">
            <a:spAutoFit/>
          </a:bodyPr>
          <a:lstStyle/>
          <a:p>
            <a:pPr>
              <a:lnSpc>
                <a:spcPct val="150000"/>
              </a:lnSpc>
            </a:pP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https://</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www.mongodb.com</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/developer/article/map-terms-concepts-</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sql</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a:t>
            </a:r>
            <a:r>
              <a:rPr lang="en-GB" sz="20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mongodb</a:t>
            </a: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rPr>
              <a:t>/</a:t>
            </a:r>
          </a:p>
        </p:txBody>
      </p:sp>
      <p:pic>
        <p:nvPicPr>
          <p:cNvPr id="3" name="Picture 2">
            <a:extLst>
              <a:ext uri="{FF2B5EF4-FFF2-40B4-BE49-F238E27FC236}">
                <a16:creationId xmlns:a16="http://schemas.microsoft.com/office/drawing/2014/main" id="{C2E712CE-0062-A544-89E3-964CA22B340C}"/>
              </a:ext>
            </a:extLst>
          </p:cNvPr>
          <p:cNvPicPr>
            <a:picLocks noChangeAspect="1"/>
          </p:cNvPicPr>
          <p:nvPr/>
        </p:nvPicPr>
        <p:blipFill>
          <a:blip r:embed="rId2"/>
          <a:stretch>
            <a:fillRect/>
          </a:stretch>
        </p:blipFill>
        <p:spPr>
          <a:xfrm>
            <a:off x="232033" y="454360"/>
            <a:ext cx="11727934" cy="3818397"/>
          </a:xfrm>
          <a:prstGeom prst="rect">
            <a:avLst/>
          </a:prstGeom>
        </p:spPr>
      </p:pic>
      <p:sp>
        <p:nvSpPr>
          <p:cNvPr id="9" name="Content Placeholder 4">
            <a:extLst>
              <a:ext uri="{FF2B5EF4-FFF2-40B4-BE49-F238E27FC236}">
                <a16:creationId xmlns:a16="http://schemas.microsoft.com/office/drawing/2014/main" id="{702B1CA6-85F6-3A45-B27E-FCB101588750}"/>
              </a:ext>
            </a:extLst>
          </p:cNvPr>
          <p:cNvSpPr txBox="1">
            <a:spLocks/>
          </p:cNvSpPr>
          <p:nvPr/>
        </p:nvSpPr>
        <p:spPr>
          <a:xfrm>
            <a:off x="274896" y="4749520"/>
            <a:ext cx="10515600" cy="67349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Full article  can be found below – </a:t>
            </a:r>
            <a:r>
              <a:rPr lang="en-GB" spc="80" dirty="0">
                <a:solidFill>
                  <a:srgbClr val="D3473F"/>
                </a:solidFill>
                <a:latin typeface="Helvetica Neue Light" panose="02000403000000020004" pitchFamily="2" charset="0"/>
                <a:ea typeface="Helvetica Neue Light" panose="02000403000000020004" pitchFamily="2" charset="0"/>
              </a:rPr>
              <a:t>I suggest you read it !!</a:t>
            </a:r>
          </a:p>
          <a:p>
            <a:pPr marL="0" indent="0">
              <a:lnSpc>
                <a:spcPct val="150000"/>
              </a:lnSpc>
              <a:buFont typeface="Arial" panose="020B0604020202020204" pitchFamily="34" charset="0"/>
              <a:buNone/>
            </a:pPr>
            <a:endParaRPr lang="en-GB" spc="80" dirty="0">
              <a:latin typeface="Helvetica Neue Light" panose="02000403000000020004" pitchFamily="2" charset="0"/>
              <a:ea typeface="Helvetica Neue Light" panose="02000403000000020004" pitchFamily="2" charset="0"/>
            </a:endParaRPr>
          </a:p>
          <a:p>
            <a:pPr marL="0" indent="0">
              <a:lnSpc>
                <a:spcPct val="150000"/>
              </a:lnSpc>
              <a:buFont typeface="Arial" panose="020B0604020202020204" pitchFamily="34" charset="0"/>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668148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47136"/>
            <a:ext cx="12192000" cy="5152767"/>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400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p>
        </p:txBody>
      </p:sp>
    </p:spTree>
    <p:extLst>
      <p:ext uri="{BB962C8B-B14F-4D97-AF65-F5344CB8AC3E}">
        <p14:creationId xmlns:p14="http://schemas.microsoft.com/office/powerpoint/2010/main" val="23827415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2143125" y="13768901"/>
            <a:ext cx="12192000" cy="5152767"/>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endParaRPr lang="en-GB" sz="12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
        <p:nvSpPr>
          <p:cNvPr id="2" name="TextBox 1">
            <a:extLst>
              <a:ext uri="{FF2B5EF4-FFF2-40B4-BE49-F238E27FC236}">
                <a16:creationId xmlns:a16="http://schemas.microsoft.com/office/drawing/2014/main" id="{C94F275F-02B6-4F46-A935-08D81DB8459F}"/>
              </a:ext>
            </a:extLst>
          </p:cNvPr>
          <p:cNvSpPr txBox="1"/>
          <p:nvPr/>
        </p:nvSpPr>
        <p:spPr>
          <a:xfrm>
            <a:off x="528637" y="1485901"/>
            <a:ext cx="11229976" cy="4678204"/>
          </a:xfrm>
          <a:prstGeom prst="rect">
            <a:avLst/>
          </a:prstGeom>
          <a:noFill/>
        </p:spPr>
        <p:txBody>
          <a:bodyPr wrap="square" rtlCol="0">
            <a:spAutoFit/>
          </a:bodyPr>
          <a:lstStyle/>
          <a:p>
            <a:r>
              <a:rPr lang="en-US" sz="2800" dirty="0">
                <a:solidFill>
                  <a:schemeClr val="bg2"/>
                </a:solidFill>
                <a:latin typeface="Georgia" panose="02040502050405020303" pitchFamily="18" charset="0"/>
                <a:hlinkClick r:id="rId2">
                  <a:extLst>
                    <a:ext uri="{A12FA001-AC4F-418D-AE19-62706E023703}">
                      <ahyp:hlinkClr xmlns:ahyp="http://schemas.microsoft.com/office/drawing/2018/hyperlinkcolor" val="tx"/>
                    </a:ext>
                  </a:extLst>
                </a:hlinkClick>
              </a:rPr>
              <a:t>https://www.imaginarycloud.com/blog/sql-vs-nosql/</a:t>
            </a:r>
            <a:endParaRPr lang="en-US" sz="2800" dirty="0">
              <a:solidFill>
                <a:schemeClr val="bg2"/>
              </a:solidFill>
              <a:latin typeface="Georgia" panose="02040502050405020303" pitchFamily="18" charset="0"/>
            </a:endParaRPr>
          </a:p>
          <a:p>
            <a:endParaRPr lang="en-US" sz="2800" dirty="0">
              <a:solidFill>
                <a:schemeClr val="bg2"/>
              </a:solidFill>
              <a:latin typeface="Georgia" panose="02040502050405020303" pitchFamily="18" charset="0"/>
            </a:endParaRPr>
          </a:p>
          <a:p>
            <a:r>
              <a:rPr lang="en-US" sz="2800" dirty="0">
                <a:solidFill>
                  <a:schemeClr val="bg2"/>
                </a:solidFill>
                <a:latin typeface="Georgia" panose="02040502050405020303" pitchFamily="18" charset="0"/>
                <a:hlinkClick r:id="rId3">
                  <a:extLst>
                    <a:ext uri="{A12FA001-AC4F-418D-AE19-62706E023703}">
                      <ahyp:hlinkClr xmlns:ahyp="http://schemas.microsoft.com/office/drawing/2018/hyperlinkcolor" val="tx"/>
                    </a:ext>
                  </a:extLst>
                </a:hlinkClick>
              </a:rPr>
              <a:t>https://www.mongodb.com/nosql-explained/nosql-vs-sql</a:t>
            </a:r>
            <a:endParaRPr lang="en-US" sz="2800" dirty="0">
              <a:solidFill>
                <a:schemeClr val="bg2"/>
              </a:solidFill>
              <a:latin typeface="Georgia" panose="02040502050405020303" pitchFamily="18" charset="0"/>
            </a:endParaRPr>
          </a:p>
          <a:p>
            <a:endParaRPr lang="en-US" sz="2800" dirty="0">
              <a:solidFill>
                <a:schemeClr val="bg2"/>
              </a:solidFill>
              <a:latin typeface="Georgia" panose="02040502050405020303" pitchFamily="18" charset="0"/>
            </a:endParaRPr>
          </a:p>
          <a:p>
            <a:r>
              <a:rPr lang="en-US" sz="2800" dirty="0">
                <a:solidFill>
                  <a:schemeClr val="bg2"/>
                </a:solidFill>
                <a:latin typeface="Georgia" panose="02040502050405020303" pitchFamily="18" charset="0"/>
                <a:hlinkClick r:id="rId4">
                  <a:extLst>
                    <a:ext uri="{A12FA001-AC4F-418D-AE19-62706E023703}">
                      <ahyp:hlinkClr xmlns:ahyp="http://schemas.microsoft.com/office/drawing/2018/hyperlinkcolor" val="tx"/>
                    </a:ext>
                  </a:extLst>
                </a:hlinkClick>
              </a:rPr>
              <a:t>https://www.mongodb.com/nosql-explained</a:t>
            </a:r>
            <a:endParaRPr lang="en-US" sz="2800" dirty="0">
              <a:solidFill>
                <a:schemeClr val="bg2"/>
              </a:solidFill>
              <a:latin typeface="Georgia" panose="02040502050405020303" pitchFamily="18" charset="0"/>
            </a:endParaRPr>
          </a:p>
          <a:p>
            <a:endParaRPr lang="en-US" sz="2800" dirty="0">
              <a:solidFill>
                <a:schemeClr val="bg2"/>
              </a:solidFill>
              <a:latin typeface="Georgia" panose="02040502050405020303" pitchFamily="18" charset="0"/>
            </a:endParaRPr>
          </a:p>
          <a:p>
            <a:r>
              <a:rPr lang="en-US" sz="2800" dirty="0">
                <a:solidFill>
                  <a:schemeClr val="bg2"/>
                </a:solidFill>
                <a:latin typeface="Georgia" panose="02040502050405020303" pitchFamily="18" charset="0"/>
                <a:hlinkClick r:id="rId5">
                  <a:extLst>
                    <a:ext uri="{A12FA001-AC4F-418D-AE19-62706E023703}">
                      <ahyp:hlinkClr xmlns:ahyp="http://schemas.microsoft.com/office/drawing/2018/hyperlinkcolor" val="tx"/>
                    </a:ext>
                  </a:extLst>
                </a:hlinkClick>
              </a:rPr>
              <a:t>https://www.geeksforgeeks.org/overview-of-scaling-vertical-and-horizontal-scaling/</a:t>
            </a:r>
            <a:endParaRPr lang="en-US" sz="2800" dirty="0">
              <a:solidFill>
                <a:schemeClr val="bg2"/>
              </a:solidFill>
              <a:latin typeface="Georgia" panose="02040502050405020303" pitchFamily="18" charset="0"/>
            </a:endParaRPr>
          </a:p>
          <a:p>
            <a:endParaRPr lang="en-US" sz="2800" dirty="0">
              <a:solidFill>
                <a:schemeClr val="bg2"/>
              </a:solidFill>
              <a:latin typeface="Georgia" panose="02040502050405020303" pitchFamily="18" charset="0"/>
            </a:endParaRPr>
          </a:p>
          <a:p>
            <a:r>
              <a:rPr lang="en-US" sz="2800" dirty="0">
                <a:solidFill>
                  <a:schemeClr val="bg2"/>
                </a:solidFill>
                <a:latin typeface="Georgia" panose="02040502050405020303" pitchFamily="18" charset="0"/>
                <a:hlinkClick r:id="rId6">
                  <a:extLst>
                    <a:ext uri="{A12FA001-AC4F-418D-AE19-62706E023703}">
                      <ahyp:hlinkClr xmlns:ahyp="http://schemas.microsoft.com/office/drawing/2018/hyperlinkcolor" val="tx"/>
                    </a:ext>
                  </a:extLst>
                </a:hlinkClick>
              </a:rPr>
              <a:t>https://middleware.io/blog/vertical-vs-horizontal-scaling/</a:t>
            </a:r>
            <a:endParaRPr lang="en-US" dirty="0"/>
          </a:p>
          <a:p>
            <a:endParaRPr lang="en-US" dirty="0"/>
          </a:p>
        </p:txBody>
      </p:sp>
      <p:sp>
        <p:nvSpPr>
          <p:cNvPr id="3" name="TextBox 2">
            <a:extLst>
              <a:ext uri="{FF2B5EF4-FFF2-40B4-BE49-F238E27FC236}">
                <a16:creationId xmlns:a16="http://schemas.microsoft.com/office/drawing/2014/main" id="{8A8AAA84-B9A0-344D-8100-BE0011D0A210}"/>
              </a:ext>
            </a:extLst>
          </p:cNvPr>
          <p:cNvSpPr txBox="1"/>
          <p:nvPr/>
        </p:nvSpPr>
        <p:spPr>
          <a:xfrm>
            <a:off x="528637" y="336708"/>
            <a:ext cx="2128083" cy="830997"/>
          </a:xfrm>
          <a:prstGeom prst="rect">
            <a:avLst/>
          </a:prstGeom>
          <a:noFill/>
        </p:spPr>
        <p:txBody>
          <a:bodyPr wrap="none" rtlCol="0">
            <a:spAutoFit/>
          </a:bodyPr>
          <a:lstStyle/>
          <a:p>
            <a:r>
              <a:rPr lang="en-US" sz="4800" dirty="0"/>
              <a:t>Sources</a:t>
            </a:r>
          </a:p>
        </p:txBody>
      </p:sp>
    </p:spTree>
    <p:extLst>
      <p:ext uri="{BB962C8B-B14F-4D97-AF65-F5344CB8AC3E}">
        <p14:creationId xmlns:p14="http://schemas.microsoft.com/office/powerpoint/2010/main" val="384478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685</TotalTime>
  <Words>2540</Words>
  <Application>Microsoft Macintosh PowerPoint</Application>
  <PresentationFormat>Widescreen</PresentationFormat>
  <Paragraphs>153</Paragraphs>
  <Slides>51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51</vt:i4>
      </vt:variant>
    </vt:vector>
  </HeadingPairs>
  <TitlesOfParts>
    <vt:vector size="61" baseType="lpstr">
      <vt:lpstr>akzidenz</vt:lpstr>
      <vt:lpstr>American Typewriter</vt:lpstr>
      <vt:lpstr>Arial</vt:lpstr>
      <vt:lpstr>Calibri</vt:lpstr>
      <vt:lpstr>Calibri Light</vt:lpstr>
      <vt:lpstr>Georgia</vt:lpstr>
      <vt:lpstr>HELVETICA NEUE LIGHT</vt:lpstr>
      <vt:lpstr>HELVETICA NEUE LIGHT</vt:lpstr>
      <vt:lpstr>Helvetica Neue Thin</vt:lpstr>
      <vt:lpstr>Office Theme</vt:lpstr>
      <vt:lpstr>COMP 1842</vt:lpstr>
      <vt:lpstr>Introduction</vt:lpstr>
      <vt:lpstr>SQL recap</vt:lpstr>
      <vt:lpstr>RDBMS</vt:lpstr>
      <vt:lpstr>SQL</vt:lpstr>
      <vt:lpstr>What is NoSQL ?</vt:lpstr>
      <vt:lpstr>Brief history</vt:lpstr>
      <vt:lpstr>Scaling</vt:lpstr>
      <vt:lpstr>What is scaling</vt:lpstr>
      <vt:lpstr>Vertical scaling</vt:lpstr>
      <vt:lpstr>PowerPoint Presentation</vt:lpstr>
      <vt:lpstr>Horizontal scaling</vt:lpstr>
      <vt:lpstr>PowerPoint Presentation</vt:lpstr>
      <vt:lpstr>PowerPoint Presentation</vt:lpstr>
      <vt:lpstr>Back to NoSQL</vt:lpstr>
      <vt:lpstr>Flexible Schema</vt:lpstr>
      <vt:lpstr>Fast Queries</vt:lpstr>
      <vt:lpstr>Types of NoSQL databases</vt:lpstr>
      <vt:lpstr>RDBMS vs NoSQL: Data Modelling Example</vt:lpstr>
      <vt:lpstr>PowerPoint Presentation</vt:lpstr>
      <vt:lpstr>PowerPoint Presentation</vt:lpstr>
      <vt:lpstr>When should NoSQL be used?</vt:lpstr>
      <vt:lpstr>PowerPoint Presentation</vt:lpstr>
      <vt:lpstr>Basic terminology</vt:lpstr>
      <vt:lpstr>PowerPoint Presentation</vt:lpstr>
      <vt:lpstr>PowerPoint Presentation</vt:lpstr>
      <vt:lpstr>PowerPoint Presentation</vt:lpstr>
      <vt:lpstr>Mapping terms and concepts</vt:lpstr>
      <vt:lpstr>PowerPoint Presentation</vt:lpstr>
      <vt:lpstr>Field / Values</vt:lpstr>
      <vt:lpstr>Example Documents</vt:lpstr>
      <vt:lpstr>MongoDB version</vt:lpstr>
      <vt:lpstr>Storing Latitude and Longitude</vt:lpstr>
      <vt:lpstr>MongoDB version</vt:lpstr>
      <vt:lpstr>Storing lists of information</vt:lpstr>
      <vt:lpstr>MongoDB version</vt:lpstr>
      <vt:lpstr>Storing groups of related information</vt:lpstr>
      <vt:lpstr>MongoDB version</vt:lpstr>
      <vt:lpstr>Skipping data and adding new info</vt:lpstr>
      <vt:lpstr>In SQL</vt:lpstr>
      <vt:lpstr>Skipping data and adding new info cont</vt:lpstr>
      <vt:lpstr>MongoDB version</vt:lpstr>
      <vt:lpstr>To re-enforce </vt:lpstr>
      <vt:lpstr>To re-enforce </vt:lpstr>
      <vt:lpstr>To re-enforce </vt:lpstr>
      <vt:lpstr>To re-enforce </vt:lpstr>
      <vt:lpstr>To re-enforce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1321</dc:title>
  <dc:creator>Matthew Prichard</dc:creator>
  <cp:lastModifiedBy>Matthew Prichard</cp:lastModifiedBy>
  <cp:revision>66</cp:revision>
  <dcterms:created xsi:type="dcterms:W3CDTF">2020-06-28T01:46:05Z</dcterms:created>
  <dcterms:modified xsi:type="dcterms:W3CDTF">2024-02-17T13:04:58Z</dcterms:modified>
</cp:coreProperties>
</file>